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11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image" Target="../media/image-1-33.png"/><Relationship Id="rId34" Type="http://schemas.openxmlformats.org/officeDocument/2006/relationships/image" Target="../media/image-1-34.png"/><Relationship Id="rId35" Type="http://schemas.openxmlformats.org/officeDocument/2006/relationships/image" Target="../media/image-1-35.png"/><Relationship Id="rId36" Type="http://schemas.openxmlformats.org/officeDocument/2006/relationships/image" Target="../media/image-1-36.png"/><Relationship Id="rId37" Type="http://schemas.openxmlformats.org/officeDocument/2006/relationships/image" Target="../media/image-1-37.png"/><Relationship Id="rId38" Type="http://schemas.openxmlformats.org/officeDocument/2006/relationships/image" Target="../media/image-1-38.png"/><Relationship Id="rId39" Type="http://schemas.openxmlformats.org/officeDocument/2006/relationships/image" Target="../media/image-1-39.png"/><Relationship Id="rId40" Type="http://schemas.openxmlformats.org/officeDocument/2006/relationships/image" Target="../media/image-1-40.png"/><Relationship Id="rId41" Type="http://schemas.openxmlformats.org/officeDocument/2006/relationships/slideLayout" Target="../slideLayouts/slideLayout1.xml"/><Relationship Id="rId4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54864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PLATFORM ARCHITECTURE — AWS STACK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2062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modern AI/ML solution on AWS — data sources to user-facing AI experiences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89720" y="164592"/>
            <a:ext cx="2743200" cy="420624"/>
          </a:xfrm>
          <a:prstGeom prst="roundRect">
            <a:avLst>
              <a:gd name="adj" fmla="val 13043"/>
            </a:avLst>
          </a:prstGeom>
          <a:solidFill>
            <a:srgbClr val="B865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— to be finalized during detailed design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92608" y="822960"/>
            <a:ext cx="1051560" cy="832104"/>
          </a:xfrm>
          <a:prstGeom prst="roundRect">
            <a:avLst>
              <a:gd name="adj" fmla="val 7692"/>
            </a:avLst>
          </a:prstGeom>
          <a:solidFill>
            <a:srgbClr val="2D6CA0"/>
          </a:solidFill>
          <a:ln/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" y="86868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8328" y="105156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8328" y="1463040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i="1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all data originates</a:t>
            </a:r>
            <a:endParaRPr lang="en-US" sz="630" dirty="0"/>
          </a:p>
        </p:txBody>
      </p:sp>
      <p:sp>
        <p:nvSpPr>
          <p:cNvPr id="10" name="Shape 8"/>
          <p:cNvSpPr/>
          <p:nvPr/>
        </p:nvSpPr>
        <p:spPr>
          <a:xfrm>
            <a:off x="1417320" y="82296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81328" y="886968"/>
            <a:ext cx="219456" cy="219456"/>
          </a:xfrm>
          <a:prstGeom prst="ellipse">
            <a:avLst/>
          </a:prstGeom>
          <a:solidFill>
            <a:srgbClr val="2D6CA0"/>
          </a:solidFill>
          <a:ln/>
        </p:spPr>
      </p:sp>
      <p:pic>
        <p:nvPicPr>
          <p:cNvPr id="12" name="Image 0" descr="/home/claude/aws_arch/icons/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76" y="928116"/>
            <a:ext cx="118872" cy="11887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746504" y="85953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</a:t>
            </a:r>
            <a:endParaRPr lang="en-US" sz="860" dirty="0"/>
          </a:p>
        </p:txBody>
      </p:sp>
      <p:sp>
        <p:nvSpPr>
          <p:cNvPr id="14" name="Text 11"/>
          <p:cNvSpPr/>
          <p:nvPr/>
        </p:nvSpPr>
        <p:spPr>
          <a:xfrm>
            <a:off x="1508760" y="113385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/ Aurora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Redshift, DynamoDB</a:t>
            </a:r>
            <a:endParaRPr lang="en-US" sz="640" dirty="0"/>
          </a:p>
        </p:txBody>
      </p:sp>
      <p:sp>
        <p:nvSpPr>
          <p:cNvPr id="15" name="Shape 12"/>
          <p:cNvSpPr/>
          <p:nvPr/>
        </p:nvSpPr>
        <p:spPr>
          <a:xfrm>
            <a:off x="3328965" y="82296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392973" y="886968"/>
            <a:ext cx="219456" cy="219456"/>
          </a:xfrm>
          <a:prstGeom prst="ellipse">
            <a:avLst/>
          </a:prstGeom>
          <a:solidFill>
            <a:srgbClr val="2D6CA0"/>
          </a:solidFill>
          <a:ln/>
        </p:spPr>
      </p:sp>
      <p:pic>
        <p:nvPicPr>
          <p:cNvPr id="17" name="Image 1" descr="/home/claude/aws_arch/icons/do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121" y="928116"/>
            <a:ext cx="118872" cy="11887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58149" y="85953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/ Semi</a:t>
            </a:r>
            <a:endParaRPr lang="en-US" sz="860" dirty="0"/>
          </a:p>
        </p:txBody>
      </p:sp>
      <p:sp>
        <p:nvSpPr>
          <p:cNvPr id="19" name="Text 15"/>
          <p:cNvSpPr/>
          <p:nvPr/>
        </p:nvSpPr>
        <p:spPr>
          <a:xfrm>
            <a:off x="3420405" y="113385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(PDF, DOCX), notes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JSON, XML</a:t>
            </a:r>
            <a:endParaRPr lang="en-US" sz="640" dirty="0"/>
          </a:p>
        </p:txBody>
      </p:sp>
      <p:sp>
        <p:nvSpPr>
          <p:cNvPr id="20" name="Shape 16"/>
          <p:cNvSpPr/>
          <p:nvPr/>
        </p:nvSpPr>
        <p:spPr>
          <a:xfrm>
            <a:off x="5240609" y="82296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304617" y="886968"/>
            <a:ext cx="219456" cy="219456"/>
          </a:xfrm>
          <a:prstGeom prst="ellipse">
            <a:avLst/>
          </a:prstGeom>
          <a:solidFill>
            <a:srgbClr val="2D6CA0"/>
          </a:solidFill>
          <a:ln/>
        </p:spPr>
      </p:sp>
      <p:pic>
        <p:nvPicPr>
          <p:cNvPr id="22" name="Image 2" descr="/home/claude/aws_arch/icons/ap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765" y="928116"/>
            <a:ext cx="118872" cy="11887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569793" y="85953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&amp; Streams</a:t>
            </a:r>
            <a:endParaRPr lang="en-US" sz="860" dirty="0"/>
          </a:p>
        </p:txBody>
      </p:sp>
      <p:sp>
        <p:nvSpPr>
          <p:cNvPr id="24" name="Text 19"/>
          <p:cNvSpPr/>
          <p:nvPr/>
        </p:nvSpPr>
        <p:spPr>
          <a:xfrm>
            <a:off x="5332049" y="113385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SOAP APIs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Core, Kinesis</a:t>
            </a:r>
            <a:endParaRPr lang="en-US" sz="640" dirty="0"/>
          </a:p>
        </p:txBody>
      </p:sp>
      <p:sp>
        <p:nvSpPr>
          <p:cNvPr id="25" name="Shape 20"/>
          <p:cNvSpPr/>
          <p:nvPr/>
        </p:nvSpPr>
        <p:spPr>
          <a:xfrm>
            <a:off x="7152254" y="82296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216262" y="886968"/>
            <a:ext cx="219456" cy="219456"/>
          </a:xfrm>
          <a:prstGeom prst="ellipse">
            <a:avLst/>
          </a:prstGeom>
          <a:solidFill>
            <a:srgbClr val="2D6CA0"/>
          </a:solidFill>
          <a:ln/>
        </p:spPr>
      </p:sp>
      <p:pic>
        <p:nvPicPr>
          <p:cNvPr id="27" name="Image 3" descr="/home/claude/aws_arch/icons/fil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7410" y="928116"/>
            <a:ext cx="118872" cy="11887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81438" y="85953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&amp; Storage</a:t>
            </a:r>
            <a:endParaRPr lang="en-US" sz="860" dirty="0"/>
          </a:p>
        </p:txBody>
      </p:sp>
      <p:sp>
        <p:nvSpPr>
          <p:cNvPr id="29" name="Text 23"/>
          <p:cNvSpPr/>
          <p:nvPr/>
        </p:nvSpPr>
        <p:spPr>
          <a:xfrm>
            <a:off x="7243694" y="113385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 (landing)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 (SFTP)</a:t>
            </a:r>
            <a:endParaRPr lang="en-US" sz="640" dirty="0"/>
          </a:p>
        </p:txBody>
      </p:sp>
      <p:sp>
        <p:nvSpPr>
          <p:cNvPr id="30" name="Shape 24"/>
          <p:cNvSpPr/>
          <p:nvPr/>
        </p:nvSpPr>
        <p:spPr>
          <a:xfrm>
            <a:off x="9063899" y="82296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9127907" y="886968"/>
            <a:ext cx="219456" cy="219456"/>
          </a:xfrm>
          <a:prstGeom prst="ellipse">
            <a:avLst/>
          </a:prstGeom>
          <a:solidFill>
            <a:srgbClr val="2D6CA0"/>
          </a:solidFill>
          <a:ln/>
        </p:spPr>
      </p:sp>
      <p:pic>
        <p:nvPicPr>
          <p:cNvPr id="32" name="Image 4" descr="/home/claude/aws_arch/icons/strea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9055" y="928116"/>
            <a:ext cx="118872" cy="11887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393083" y="85953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Sources</a:t>
            </a:r>
            <a:endParaRPr lang="en-US" sz="860" dirty="0"/>
          </a:p>
        </p:txBody>
      </p:sp>
      <p:sp>
        <p:nvSpPr>
          <p:cNvPr id="34" name="Text 27"/>
          <p:cNvSpPr/>
          <p:nvPr/>
        </p:nvSpPr>
        <p:spPr>
          <a:xfrm>
            <a:off x="9155339" y="113385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/ network systems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files, mainframe</a:t>
            </a:r>
            <a:endParaRPr lang="en-US" sz="640" dirty="0"/>
          </a:p>
        </p:txBody>
      </p:sp>
      <p:sp>
        <p:nvSpPr>
          <p:cNvPr id="35" name="Shape 28"/>
          <p:cNvSpPr/>
          <p:nvPr/>
        </p:nvSpPr>
        <p:spPr>
          <a:xfrm>
            <a:off x="10938967" y="822960"/>
            <a:ext cx="960120" cy="832104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/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pic>
        <p:nvPicPr>
          <p:cNvPr id="36" name="Image 5" descr="/home/claude/aws_arch/icons/targ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00155" y="886968"/>
            <a:ext cx="237744" cy="23774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0984687" y="1152144"/>
            <a:ext cx="868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available from all enterprise sources</a:t>
            </a:r>
            <a:endParaRPr lang="en-US" sz="680" dirty="0"/>
          </a:p>
        </p:txBody>
      </p:sp>
      <p:sp>
        <p:nvSpPr>
          <p:cNvPr id="38" name="Shape 30"/>
          <p:cNvSpPr/>
          <p:nvPr/>
        </p:nvSpPr>
        <p:spPr>
          <a:xfrm rot="5400000">
            <a:off x="6059272" y="1623060"/>
            <a:ext cx="201168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39" name="Shape 31"/>
          <p:cNvSpPr/>
          <p:nvPr/>
        </p:nvSpPr>
        <p:spPr>
          <a:xfrm>
            <a:off x="292608" y="1719072"/>
            <a:ext cx="1051560" cy="832104"/>
          </a:xfrm>
          <a:prstGeom prst="roundRect">
            <a:avLst>
              <a:gd name="adj" fmla="val 7692"/>
            </a:avLst>
          </a:prstGeom>
          <a:solidFill>
            <a:srgbClr val="1C7A6E"/>
          </a:solidFill>
          <a:ln/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sp>
        <p:nvSpPr>
          <p:cNvPr id="40" name="Text 32"/>
          <p:cNvSpPr/>
          <p:nvPr/>
        </p:nvSpPr>
        <p:spPr>
          <a:xfrm>
            <a:off x="292608" y="176479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338328" y="1947672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338328" y="2359152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i="1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process, transform, store</a:t>
            </a:r>
            <a:endParaRPr lang="en-US" sz="630" dirty="0"/>
          </a:p>
        </p:txBody>
      </p:sp>
      <p:sp>
        <p:nvSpPr>
          <p:cNvPr id="43" name="Shape 35"/>
          <p:cNvSpPr/>
          <p:nvPr/>
        </p:nvSpPr>
        <p:spPr>
          <a:xfrm>
            <a:off x="1417320" y="1719072"/>
            <a:ext cx="2279828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1481328" y="1783080"/>
            <a:ext cx="219456" cy="219456"/>
          </a:xfrm>
          <a:prstGeom prst="ellipse">
            <a:avLst/>
          </a:prstGeom>
          <a:solidFill>
            <a:srgbClr val="1C7A6E"/>
          </a:solidFill>
          <a:ln/>
        </p:spPr>
      </p:sp>
      <p:pic>
        <p:nvPicPr>
          <p:cNvPr id="45" name="Image 6" descr="/home/claude/aws_arch/icons/fac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2476" y="1824228"/>
            <a:ext cx="118872" cy="118872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1746504" y="1755648"/>
            <a:ext cx="187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&amp; Orchestration</a:t>
            </a:r>
            <a:endParaRPr lang="en-US" sz="860" dirty="0"/>
          </a:p>
        </p:txBody>
      </p:sp>
      <p:sp>
        <p:nvSpPr>
          <p:cNvPr id="47" name="Text 38"/>
          <p:cNvSpPr/>
          <p:nvPr/>
        </p:nvSpPr>
        <p:spPr>
          <a:xfrm>
            <a:off x="1508760" y="2029968"/>
            <a:ext cx="211523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Glue (ETL/crawlers)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AppFlow, MWAA</a:t>
            </a:r>
            <a:endParaRPr lang="en-US" sz="640" dirty="0"/>
          </a:p>
        </p:txBody>
      </p:sp>
      <p:sp>
        <p:nvSpPr>
          <p:cNvPr id="48" name="Shape 39"/>
          <p:cNvSpPr/>
          <p:nvPr/>
        </p:nvSpPr>
        <p:spPr>
          <a:xfrm>
            <a:off x="3806876" y="1719072"/>
            <a:ext cx="2279828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49" name="Shape 40"/>
          <p:cNvSpPr/>
          <p:nvPr/>
        </p:nvSpPr>
        <p:spPr>
          <a:xfrm>
            <a:off x="3870884" y="1783080"/>
            <a:ext cx="219456" cy="219456"/>
          </a:xfrm>
          <a:prstGeom prst="ellipse">
            <a:avLst/>
          </a:prstGeom>
          <a:solidFill>
            <a:srgbClr val="1C7A6E"/>
          </a:solidFill>
          <a:ln/>
        </p:spPr>
      </p:sp>
      <p:pic>
        <p:nvPicPr>
          <p:cNvPr id="50" name="Image 7" descr="/home/claude/aws_arch/icons/spar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2032" y="1824228"/>
            <a:ext cx="118872" cy="118872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4136060" y="1755648"/>
            <a:ext cx="187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860" dirty="0"/>
          </a:p>
        </p:txBody>
      </p:sp>
      <p:sp>
        <p:nvSpPr>
          <p:cNvPr id="52" name="Text 42"/>
          <p:cNvSpPr/>
          <p:nvPr/>
        </p:nvSpPr>
        <p:spPr>
          <a:xfrm>
            <a:off x="3898316" y="2029968"/>
            <a:ext cx="211523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Glue / EMR (Spark)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Kinesis Firehose, Step Fn</a:t>
            </a:r>
            <a:endParaRPr lang="en-US" sz="640" dirty="0"/>
          </a:p>
        </p:txBody>
      </p:sp>
      <p:sp>
        <p:nvSpPr>
          <p:cNvPr id="53" name="Shape 43"/>
          <p:cNvSpPr/>
          <p:nvPr/>
        </p:nvSpPr>
        <p:spPr>
          <a:xfrm>
            <a:off x="6196432" y="1719072"/>
            <a:ext cx="2279828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54" name="Shape 44"/>
          <p:cNvSpPr/>
          <p:nvPr/>
        </p:nvSpPr>
        <p:spPr>
          <a:xfrm>
            <a:off x="6260440" y="1783080"/>
            <a:ext cx="219456" cy="219456"/>
          </a:xfrm>
          <a:prstGeom prst="ellipse">
            <a:avLst/>
          </a:prstGeom>
          <a:solidFill>
            <a:srgbClr val="1C7A6E"/>
          </a:solidFill>
          <a:ln/>
        </p:spPr>
      </p:sp>
      <p:pic>
        <p:nvPicPr>
          <p:cNvPr id="55" name="Image 8" descr="/home/claude/aws_arch/icons/medall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1588" y="1824228"/>
            <a:ext cx="118872" cy="118872"/>
          </a:xfrm>
          <a:prstGeom prst="rect">
            <a:avLst/>
          </a:prstGeom>
        </p:spPr>
      </p:pic>
      <p:sp>
        <p:nvSpPr>
          <p:cNvPr id="56" name="Text 45"/>
          <p:cNvSpPr/>
          <p:nvPr/>
        </p:nvSpPr>
        <p:spPr>
          <a:xfrm>
            <a:off x="6525616" y="1755648"/>
            <a:ext cx="187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Lakehouse</a:t>
            </a:r>
            <a:endParaRPr lang="en-US" sz="860" dirty="0"/>
          </a:p>
        </p:txBody>
      </p:sp>
      <p:sp>
        <p:nvSpPr>
          <p:cNvPr id="57" name="Text 46"/>
          <p:cNvSpPr/>
          <p:nvPr/>
        </p:nvSpPr>
        <p:spPr>
          <a:xfrm>
            <a:off x="6287872" y="2029968"/>
            <a:ext cx="211523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→ Silver → Gold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→ cleansed → curated</a:t>
            </a:r>
            <a:endParaRPr lang="en-US" sz="640" dirty="0"/>
          </a:p>
        </p:txBody>
      </p:sp>
      <p:sp>
        <p:nvSpPr>
          <p:cNvPr id="58" name="Shape 47"/>
          <p:cNvSpPr/>
          <p:nvPr/>
        </p:nvSpPr>
        <p:spPr>
          <a:xfrm>
            <a:off x="8585987" y="1719072"/>
            <a:ext cx="2279828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59" name="Shape 48"/>
          <p:cNvSpPr/>
          <p:nvPr/>
        </p:nvSpPr>
        <p:spPr>
          <a:xfrm>
            <a:off x="8649995" y="1783080"/>
            <a:ext cx="219456" cy="219456"/>
          </a:xfrm>
          <a:prstGeom prst="ellipse">
            <a:avLst/>
          </a:prstGeom>
          <a:solidFill>
            <a:srgbClr val="1C7A6E"/>
          </a:solidFill>
          <a:ln/>
        </p:spPr>
      </p:sp>
      <p:pic>
        <p:nvPicPr>
          <p:cNvPr id="60" name="Image 9" descr="/home/claude/aws_arch/icons/lak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91143" y="1824228"/>
            <a:ext cx="118872" cy="118872"/>
          </a:xfrm>
          <a:prstGeom prst="rect">
            <a:avLst/>
          </a:prstGeom>
        </p:spPr>
      </p:pic>
      <p:sp>
        <p:nvSpPr>
          <p:cNvPr id="61" name="Text 49"/>
          <p:cNvSpPr/>
          <p:nvPr/>
        </p:nvSpPr>
        <p:spPr>
          <a:xfrm>
            <a:off x="8915171" y="1755648"/>
            <a:ext cx="187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 Storage</a:t>
            </a:r>
            <a:endParaRPr lang="en-US" sz="860" dirty="0"/>
          </a:p>
        </p:txBody>
      </p:sp>
      <p:sp>
        <p:nvSpPr>
          <p:cNvPr id="62" name="Text 50"/>
          <p:cNvSpPr/>
          <p:nvPr/>
        </p:nvSpPr>
        <p:spPr>
          <a:xfrm>
            <a:off x="8677427" y="2029968"/>
            <a:ext cx="211523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 + Lake Formation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Glue Data Catalog</a:t>
            </a:r>
            <a:endParaRPr lang="en-US" sz="640" dirty="0"/>
          </a:p>
        </p:txBody>
      </p:sp>
      <p:sp>
        <p:nvSpPr>
          <p:cNvPr id="63" name="Shape 51"/>
          <p:cNvSpPr/>
          <p:nvPr/>
        </p:nvSpPr>
        <p:spPr>
          <a:xfrm>
            <a:off x="10938967" y="1719072"/>
            <a:ext cx="960120" cy="832104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/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pic>
        <p:nvPicPr>
          <p:cNvPr id="64" name="Image 10" descr="/home/claude/aws_arch/icons/chec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300155" y="1783080"/>
            <a:ext cx="237744" cy="237744"/>
          </a:xfrm>
          <a:prstGeom prst="rect">
            <a:avLst/>
          </a:prstGeom>
        </p:spPr>
      </p:pic>
      <p:sp>
        <p:nvSpPr>
          <p:cNvPr id="65" name="Text 52"/>
          <p:cNvSpPr/>
          <p:nvPr/>
        </p:nvSpPr>
        <p:spPr>
          <a:xfrm>
            <a:off x="10984687" y="2048256"/>
            <a:ext cx="868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trusted, AI-ready data assets</a:t>
            </a:r>
            <a:endParaRPr lang="en-US" sz="680" dirty="0"/>
          </a:p>
        </p:txBody>
      </p:sp>
      <p:sp>
        <p:nvSpPr>
          <p:cNvPr id="66" name="Shape 53"/>
          <p:cNvSpPr/>
          <p:nvPr/>
        </p:nvSpPr>
        <p:spPr>
          <a:xfrm rot="5400000">
            <a:off x="6059272" y="2519172"/>
            <a:ext cx="201168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67" name="Shape 54"/>
          <p:cNvSpPr/>
          <p:nvPr/>
        </p:nvSpPr>
        <p:spPr>
          <a:xfrm>
            <a:off x="292608" y="2615184"/>
            <a:ext cx="1051560" cy="832104"/>
          </a:xfrm>
          <a:prstGeom prst="roundRect">
            <a:avLst>
              <a:gd name="adj" fmla="val 7692"/>
            </a:avLst>
          </a:prstGeom>
          <a:solidFill>
            <a:srgbClr val="6A3DB8"/>
          </a:solidFill>
          <a:ln/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sp>
        <p:nvSpPr>
          <p:cNvPr id="68" name="Text 55"/>
          <p:cNvSpPr/>
          <p:nvPr/>
        </p:nvSpPr>
        <p:spPr>
          <a:xfrm>
            <a:off x="292608" y="266090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100" dirty="0"/>
          </a:p>
        </p:txBody>
      </p:sp>
      <p:sp>
        <p:nvSpPr>
          <p:cNvPr id="69" name="Text 56"/>
          <p:cNvSpPr/>
          <p:nvPr/>
        </p:nvSpPr>
        <p:spPr>
          <a:xfrm>
            <a:off x="338328" y="284378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BRAIN</a:t>
            </a:r>
            <a:endParaRPr lang="en-US" sz="900" dirty="0"/>
          </a:p>
        </p:txBody>
      </p:sp>
      <p:sp>
        <p:nvSpPr>
          <p:cNvPr id="70" name="Text 57"/>
          <p:cNvSpPr/>
          <p:nvPr/>
        </p:nvSpPr>
        <p:spPr>
          <a:xfrm>
            <a:off x="338328" y="3255264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i="1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intelligence with AWS AI</a:t>
            </a:r>
            <a:endParaRPr lang="en-US" sz="630" dirty="0"/>
          </a:p>
        </p:txBody>
      </p:sp>
      <p:sp>
        <p:nvSpPr>
          <p:cNvPr id="71" name="Shape 58"/>
          <p:cNvSpPr/>
          <p:nvPr/>
        </p:nvSpPr>
        <p:spPr>
          <a:xfrm>
            <a:off x="1417320" y="2615184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72" name="Shape 59"/>
          <p:cNvSpPr/>
          <p:nvPr/>
        </p:nvSpPr>
        <p:spPr>
          <a:xfrm>
            <a:off x="1481328" y="2679192"/>
            <a:ext cx="219456" cy="219456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73" name="Image 11" descr="/home/claude/aws_arch/icons/bedrock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2476" y="2720340"/>
            <a:ext cx="118872" cy="118872"/>
          </a:xfrm>
          <a:prstGeom prst="rect">
            <a:avLst/>
          </a:prstGeom>
        </p:spPr>
      </p:pic>
      <p:sp>
        <p:nvSpPr>
          <p:cNvPr id="74" name="Text 60"/>
          <p:cNvSpPr/>
          <p:nvPr/>
        </p:nvSpPr>
        <p:spPr>
          <a:xfrm>
            <a:off x="1746504" y="2651760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860" dirty="0"/>
          </a:p>
        </p:txBody>
      </p:sp>
      <p:sp>
        <p:nvSpPr>
          <p:cNvPr id="75" name="Text 61"/>
          <p:cNvSpPr/>
          <p:nvPr/>
        </p:nvSpPr>
        <p:spPr>
          <a:xfrm>
            <a:off x="1508760" y="2926080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FMs: Claude, Titan, etc.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Embeddings, Agents</a:t>
            </a:r>
            <a:endParaRPr lang="en-US" sz="640" dirty="0"/>
          </a:p>
        </p:txBody>
      </p:sp>
      <p:sp>
        <p:nvSpPr>
          <p:cNvPr id="76" name="Shape 62"/>
          <p:cNvSpPr/>
          <p:nvPr/>
        </p:nvSpPr>
        <p:spPr>
          <a:xfrm>
            <a:off x="3328965" y="2615184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77" name="Shape 63"/>
          <p:cNvSpPr/>
          <p:nvPr/>
        </p:nvSpPr>
        <p:spPr>
          <a:xfrm>
            <a:off x="3392973" y="2679192"/>
            <a:ext cx="219456" cy="219456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78" name="Image 12" descr="/home/claude/aws_arch/icons/search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34121" y="2720340"/>
            <a:ext cx="118872" cy="118872"/>
          </a:xfrm>
          <a:prstGeom prst="rect">
            <a:avLst/>
          </a:prstGeom>
        </p:spPr>
      </p:pic>
      <p:sp>
        <p:nvSpPr>
          <p:cNvPr id="79" name="Text 64"/>
          <p:cNvSpPr/>
          <p:nvPr/>
        </p:nvSpPr>
        <p:spPr>
          <a:xfrm>
            <a:off x="3658149" y="2651760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OpenSearch / Kendra</a:t>
            </a:r>
            <a:endParaRPr lang="en-US" sz="860" dirty="0"/>
          </a:p>
        </p:txBody>
      </p:sp>
      <p:sp>
        <p:nvSpPr>
          <p:cNvPr id="80" name="Text 65"/>
          <p:cNvSpPr/>
          <p:nvPr/>
        </p:nvSpPr>
        <p:spPr>
          <a:xfrm>
            <a:off x="3420405" y="2926080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&amp; semantic search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640" dirty="0"/>
          </a:p>
        </p:txBody>
      </p:sp>
      <p:sp>
        <p:nvSpPr>
          <p:cNvPr id="81" name="Shape 66"/>
          <p:cNvSpPr/>
          <p:nvPr/>
        </p:nvSpPr>
        <p:spPr>
          <a:xfrm>
            <a:off x="5240609" y="2615184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82" name="Shape 67"/>
          <p:cNvSpPr/>
          <p:nvPr/>
        </p:nvSpPr>
        <p:spPr>
          <a:xfrm>
            <a:off x="5304617" y="2679192"/>
            <a:ext cx="219456" cy="219456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83" name="Image 13" descr="/home/claude/aws_arch/icons/rag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45765" y="2720340"/>
            <a:ext cx="118872" cy="118872"/>
          </a:xfrm>
          <a:prstGeom prst="rect">
            <a:avLst/>
          </a:prstGeom>
        </p:spPr>
      </p:pic>
      <p:sp>
        <p:nvSpPr>
          <p:cNvPr id="84" name="Text 68"/>
          <p:cNvSpPr/>
          <p:nvPr/>
        </p:nvSpPr>
        <p:spPr>
          <a:xfrm>
            <a:off x="5569793" y="2651760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</a:t>
            </a:r>
            <a:endParaRPr lang="en-US" sz="860" dirty="0"/>
          </a:p>
        </p:txBody>
      </p:sp>
      <p:sp>
        <p:nvSpPr>
          <p:cNvPr id="85" name="Text 69"/>
          <p:cNvSpPr/>
          <p:nvPr/>
        </p:nvSpPr>
        <p:spPr>
          <a:xfrm>
            <a:off x="5332049" y="2926080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Retrieve-Augment-Generate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640" dirty="0"/>
          </a:p>
        </p:txBody>
      </p:sp>
      <p:sp>
        <p:nvSpPr>
          <p:cNvPr id="86" name="Shape 70"/>
          <p:cNvSpPr/>
          <p:nvPr/>
        </p:nvSpPr>
        <p:spPr>
          <a:xfrm>
            <a:off x="7152254" y="2615184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87" name="Shape 71"/>
          <p:cNvSpPr/>
          <p:nvPr/>
        </p:nvSpPr>
        <p:spPr>
          <a:xfrm>
            <a:off x="7216262" y="2679192"/>
            <a:ext cx="219456" cy="219456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88" name="Image 14" descr="/home/claude/aws_arch/icons/m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257410" y="2720340"/>
            <a:ext cx="118872" cy="118872"/>
          </a:xfrm>
          <a:prstGeom prst="rect">
            <a:avLst/>
          </a:prstGeom>
        </p:spPr>
      </p:pic>
      <p:sp>
        <p:nvSpPr>
          <p:cNvPr id="89" name="Text 72"/>
          <p:cNvSpPr/>
          <p:nvPr/>
        </p:nvSpPr>
        <p:spPr>
          <a:xfrm>
            <a:off x="7481438" y="2651760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SageMaker</a:t>
            </a:r>
            <a:endParaRPr lang="en-US" sz="860" dirty="0"/>
          </a:p>
        </p:txBody>
      </p:sp>
      <p:sp>
        <p:nvSpPr>
          <p:cNvPr id="90" name="Text 73"/>
          <p:cNvSpPr/>
          <p:nvPr/>
        </p:nvSpPr>
        <p:spPr>
          <a:xfrm>
            <a:off x="7243694" y="2926080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tuning, Feature Store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&amp; batch inference</a:t>
            </a:r>
            <a:endParaRPr lang="en-US" sz="640" dirty="0"/>
          </a:p>
        </p:txBody>
      </p:sp>
      <p:sp>
        <p:nvSpPr>
          <p:cNvPr id="91" name="Shape 74"/>
          <p:cNvSpPr/>
          <p:nvPr/>
        </p:nvSpPr>
        <p:spPr>
          <a:xfrm>
            <a:off x="9063899" y="2615184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92" name="Shape 75"/>
          <p:cNvSpPr/>
          <p:nvPr/>
        </p:nvSpPr>
        <p:spPr>
          <a:xfrm>
            <a:off x="9127907" y="2679192"/>
            <a:ext cx="219456" cy="219456"/>
          </a:xfrm>
          <a:prstGeom prst="ellipse">
            <a:avLst/>
          </a:prstGeom>
          <a:solidFill>
            <a:srgbClr val="6A3DB8"/>
          </a:solidFill>
          <a:ln/>
        </p:spPr>
      </p:sp>
      <p:pic>
        <p:nvPicPr>
          <p:cNvPr id="93" name="Image 15" descr="/home/claude/aws_arch/icons/safety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69055" y="2720340"/>
            <a:ext cx="118872" cy="118872"/>
          </a:xfrm>
          <a:prstGeom prst="rect">
            <a:avLst/>
          </a:prstGeom>
        </p:spPr>
      </p:pic>
      <p:sp>
        <p:nvSpPr>
          <p:cNvPr id="94" name="Text 76"/>
          <p:cNvSpPr/>
          <p:nvPr/>
        </p:nvSpPr>
        <p:spPr>
          <a:xfrm>
            <a:off x="9393083" y="2651760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</a:t>
            </a:r>
            <a:endParaRPr lang="en-US" sz="860" dirty="0"/>
          </a:p>
        </p:txBody>
      </p:sp>
      <p:sp>
        <p:nvSpPr>
          <p:cNvPr id="95" name="Text 77"/>
          <p:cNvSpPr/>
          <p:nvPr/>
        </p:nvSpPr>
        <p:spPr>
          <a:xfrm>
            <a:off x="9155339" y="2926080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Clarify</a:t>
            </a:r>
            <a:endParaRPr lang="en-US" sz="640" dirty="0"/>
          </a:p>
        </p:txBody>
      </p:sp>
      <p:sp>
        <p:nvSpPr>
          <p:cNvPr id="96" name="Shape 78"/>
          <p:cNvSpPr/>
          <p:nvPr/>
        </p:nvSpPr>
        <p:spPr>
          <a:xfrm>
            <a:off x="10938967" y="2615184"/>
            <a:ext cx="960120" cy="832104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/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pic>
        <p:nvPicPr>
          <p:cNvPr id="97" name="Image 16" descr="/home/claude/aws_arch/icons/bulb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300155" y="2679192"/>
            <a:ext cx="237744" cy="237744"/>
          </a:xfrm>
          <a:prstGeom prst="rect">
            <a:avLst/>
          </a:prstGeom>
        </p:spPr>
      </p:pic>
      <p:sp>
        <p:nvSpPr>
          <p:cNvPr id="98" name="Text 79"/>
          <p:cNvSpPr/>
          <p:nvPr/>
        </p:nvSpPr>
        <p:spPr>
          <a:xfrm>
            <a:off x="10984687" y="2944368"/>
            <a:ext cx="868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layer ready to power applications</a:t>
            </a:r>
            <a:endParaRPr lang="en-US" sz="680" dirty="0"/>
          </a:p>
        </p:txBody>
      </p:sp>
      <p:sp>
        <p:nvSpPr>
          <p:cNvPr id="99" name="Shape 80"/>
          <p:cNvSpPr/>
          <p:nvPr/>
        </p:nvSpPr>
        <p:spPr>
          <a:xfrm rot="5400000">
            <a:off x="6059272" y="3415284"/>
            <a:ext cx="201168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100" name="Shape 81"/>
          <p:cNvSpPr/>
          <p:nvPr/>
        </p:nvSpPr>
        <p:spPr>
          <a:xfrm>
            <a:off x="292608" y="3511296"/>
            <a:ext cx="1051560" cy="832104"/>
          </a:xfrm>
          <a:prstGeom prst="roundRect">
            <a:avLst>
              <a:gd name="adj" fmla="val 7692"/>
            </a:avLst>
          </a:prstGeom>
          <a:solidFill>
            <a:srgbClr val="C97A1A"/>
          </a:solidFill>
          <a:ln/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sp>
        <p:nvSpPr>
          <p:cNvPr id="101" name="Text 82"/>
          <p:cNvSpPr/>
          <p:nvPr/>
        </p:nvSpPr>
        <p:spPr>
          <a:xfrm>
            <a:off x="292608" y="355701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100" dirty="0"/>
          </a:p>
        </p:txBody>
      </p:sp>
      <p:sp>
        <p:nvSpPr>
          <p:cNvPr id="102" name="Text 83"/>
          <p:cNvSpPr/>
          <p:nvPr/>
        </p:nvSpPr>
        <p:spPr>
          <a:xfrm>
            <a:off x="338328" y="3739896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/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</a:t>
            </a:r>
            <a:endParaRPr lang="en-US" sz="900" dirty="0"/>
          </a:p>
        </p:txBody>
      </p:sp>
      <p:sp>
        <p:nvSpPr>
          <p:cNvPr id="103" name="Text 84"/>
          <p:cNvSpPr/>
          <p:nvPr/>
        </p:nvSpPr>
        <p:spPr>
          <a:xfrm>
            <a:off x="338328" y="4151376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i="1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deploy, monitor, operate AI</a:t>
            </a:r>
            <a:endParaRPr lang="en-US" sz="630" dirty="0"/>
          </a:p>
        </p:txBody>
      </p:sp>
      <p:sp>
        <p:nvSpPr>
          <p:cNvPr id="104" name="Shape 85"/>
          <p:cNvSpPr/>
          <p:nvPr/>
        </p:nvSpPr>
        <p:spPr>
          <a:xfrm>
            <a:off x="1417320" y="3511296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05" name="Shape 86"/>
          <p:cNvSpPr/>
          <p:nvPr/>
        </p:nvSpPr>
        <p:spPr>
          <a:xfrm>
            <a:off x="1481328" y="3575304"/>
            <a:ext cx="219456" cy="219456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106" name="Image 17" descr="/home/claude/aws_arch/icons/container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22476" y="3616452"/>
            <a:ext cx="118872" cy="118872"/>
          </a:xfrm>
          <a:prstGeom prst="rect">
            <a:avLst/>
          </a:prstGeom>
        </p:spPr>
      </p:pic>
      <p:sp>
        <p:nvSpPr>
          <p:cNvPr id="107" name="Text 87"/>
          <p:cNvSpPr/>
          <p:nvPr/>
        </p:nvSpPr>
        <p:spPr>
          <a:xfrm>
            <a:off x="1746504" y="3547872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Registry</a:t>
            </a:r>
            <a:endParaRPr lang="en-US" sz="860" dirty="0"/>
          </a:p>
        </p:txBody>
      </p:sp>
      <p:sp>
        <p:nvSpPr>
          <p:cNvPr id="108" name="Text 88"/>
          <p:cNvSpPr/>
          <p:nvPr/>
        </p:nvSpPr>
        <p:spPr>
          <a:xfrm>
            <a:off x="1508760" y="3822192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ECR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/ ECS, SM Pipelines</a:t>
            </a:r>
            <a:endParaRPr lang="en-US" sz="640" dirty="0"/>
          </a:p>
        </p:txBody>
      </p:sp>
      <p:sp>
        <p:nvSpPr>
          <p:cNvPr id="109" name="Shape 89"/>
          <p:cNvSpPr/>
          <p:nvPr/>
        </p:nvSpPr>
        <p:spPr>
          <a:xfrm>
            <a:off x="3328965" y="3511296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10" name="Shape 90"/>
          <p:cNvSpPr/>
          <p:nvPr/>
        </p:nvSpPr>
        <p:spPr>
          <a:xfrm>
            <a:off x="3392973" y="3575304"/>
            <a:ext cx="219456" cy="219456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111" name="Image 18" descr="/home/claude/aws_arch/icons/g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34121" y="3616452"/>
            <a:ext cx="118872" cy="118872"/>
          </a:xfrm>
          <a:prstGeom prst="rect">
            <a:avLst/>
          </a:prstGeom>
        </p:spPr>
      </p:pic>
      <p:sp>
        <p:nvSpPr>
          <p:cNvPr id="112" name="Text 91"/>
          <p:cNvSpPr/>
          <p:nvPr/>
        </p:nvSpPr>
        <p:spPr>
          <a:xfrm>
            <a:off x="3658149" y="3547872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&amp; CI/CD</a:t>
            </a:r>
            <a:endParaRPr lang="en-US" sz="860" dirty="0"/>
          </a:p>
        </p:txBody>
      </p:sp>
      <p:sp>
        <p:nvSpPr>
          <p:cNvPr id="113" name="Text 92"/>
          <p:cNvSpPr/>
          <p:nvPr/>
        </p:nvSpPr>
        <p:spPr>
          <a:xfrm>
            <a:off x="3420405" y="3822192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CodeCommit / GitHub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CodePipeline, IaC (CDK)</a:t>
            </a:r>
            <a:endParaRPr lang="en-US" sz="640" dirty="0"/>
          </a:p>
        </p:txBody>
      </p:sp>
      <p:sp>
        <p:nvSpPr>
          <p:cNvPr id="114" name="Shape 93"/>
          <p:cNvSpPr/>
          <p:nvPr/>
        </p:nvSpPr>
        <p:spPr>
          <a:xfrm>
            <a:off x="5240609" y="3511296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15" name="Shape 94"/>
          <p:cNvSpPr/>
          <p:nvPr/>
        </p:nvSpPr>
        <p:spPr>
          <a:xfrm>
            <a:off x="5304617" y="3575304"/>
            <a:ext cx="219456" cy="219456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116" name="Image 19" descr="/home/claude/aws_arch/icons/monit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45765" y="3616452"/>
            <a:ext cx="118872" cy="118872"/>
          </a:xfrm>
          <a:prstGeom prst="rect">
            <a:avLst/>
          </a:prstGeom>
        </p:spPr>
      </p:pic>
      <p:sp>
        <p:nvSpPr>
          <p:cNvPr id="117" name="Text 95"/>
          <p:cNvSpPr/>
          <p:nvPr/>
        </p:nvSpPr>
        <p:spPr>
          <a:xfrm>
            <a:off x="5569793" y="3547872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860" dirty="0"/>
          </a:p>
        </p:txBody>
      </p:sp>
      <p:sp>
        <p:nvSpPr>
          <p:cNvPr id="118" name="Text 96"/>
          <p:cNvSpPr/>
          <p:nvPr/>
        </p:nvSpPr>
        <p:spPr>
          <a:xfrm>
            <a:off x="5332049" y="3822192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(metrics/logs)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 Model Monitor, X-Ray</a:t>
            </a:r>
            <a:endParaRPr lang="en-US" sz="640" dirty="0"/>
          </a:p>
        </p:txBody>
      </p:sp>
      <p:sp>
        <p:nvSpPr>
          <p:cNvPr id="119" name="Shape 97"/>
          <p:cNvSpPr/>
          <p:nvPr/>
        </p:nvSpPr>
        <p:spPr>
          <a:xfrm>
            <a:off x="7152254" y="3511296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20" name="Shape 98"/>
          <p:cNvSpPr/>
          <p:nvPr/>
        </p:nvSpPr>
        <p:spPr>
          <a:xfrm>
            <a:off x="7216262" y="3575304"/>
            <a:ext cx="219456" cy="219456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121" name="Image 20" descr="/home/claude/aws_arch/icons/lineag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257410" y="3616452"/>
            <a:ext cx="118872" cy="118872"/>
          </a:xfrm>
          <a:prstGeom prst="rect">
            <a:avLst/>
          </a:prstGeom>
        </p:spPr>
      </p:pic>
      <p:sp>
        <p:nvSpPr>
          <p:cNvPr id="122" name="Text 99"/>
          <p:cNvSpPr/>
          <p:nvPr/>
        </p:nvSpPr>
        <p:spPr>
          <a:xfrm>
            <a:off x="7481438" y="3547872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860" dirty="0"/>
          </a:p>
        </p:txBody>
      </p:sp>
      <p:sp>
        <p:nvSpPr>
          <p:cNvPr id="123" name="Text 100"/>
          <p:cNvSpPr/>
          <p:nvPr/>
        </p:nvSpPr>
        <p:spPr>
          <a:xfrm>
            <a:off x="7243694" y="3822192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Glue Catalog / DataZone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 Model Registry, lineage</a:t>
            </a:r>
            <a:endParaRPr lang="en-US" sz="640" dirty="0"/>
          </a:p>
        </p:txBody>
      </p:sp>
      <p:sp>
        <p:nvSpPr>
          <p:cNvPr id="124" name="Shape 101"/>
          <p:cNvSpPr/>
          <p:nvPr/>
        </p:nvSpPr>
        <p:spPr>
          <a:xfrm>
            <a:off x="9063899" y="3511296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25" name="Shape 102"/>
          <p:cNvSpPr/>
          <p:nvPr/>
        </p:nvSpPr>
        <p:spPr>
          <a:xfrm>
            <a:off x="9127907" y="3575304"/>
            <a:ext cx="219456" cy="219456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126" name="Image 21" descr="/home/claude/aws_arch/icons/key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169055" y="3616452"/>
            <a:ext cx="118872" cy="118872"/>
          </a:xfrm>
          <a:prstGeom prst="rect">
            <a:avLst/>
          </a:prstGeom>
        </p:spPr>
      </p:pic>
      <p:sp>
        <p:nvSpPr>
          <p:cNvPr id="127" name="Text 103"/>
          <p:cNvSpPr/>
          <p:nvPr/>
        </p:nvSpPr>
        <p:spPr>
          <a:xfrm>
            <a:off x="9393083" y="3547872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Secrets</a:t>
            </a:r>
            <a:endParaRPr lang="en-US" sz="860" dirty="0"/>
          </a:p>
        </p:txBody>
      </p:sp>
      <p:sp>
        <p:nvSpPr>
          <p:cNvPr id="128" name="Text 104"/>
          <p:cNvSpPr/>
          <p:nvPr/>
        </p:nvSpPr>
        <p:spPr>
          <a:xfrm>
            <a:off x="9155339" y="3822192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KMS (encryption)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Manager, IAM</a:t>
            </a:r>
            <a:endParaRPr lang="en-US" sz="640" dirty="0"/>
          </a:p>
        </p:txBody>
      </p:sp>
      <p:sp>
        <p:nvSpPr>
          <p:cNvPr id="129" name="Shape 105"/>
          <p:cNvSpPr/>
          <p:nvPr/>
        </p:nvSpPr>
        <p:spPr>
          <a:xfrm>
            <a:off x="10938967" y="3511296"/>
            <a:ext cx="960120" cy="832104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/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pic>
        <p:nvPicPr>
          <p:cNvPr id="130" name="Image 22" descr="/home/claude/aws_arch/icons/check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300155" y="3575304"/>
            <a:ext cx="237744" cy="237744"/>
          </a:xfrm>
          <a:prstGeom prst="rect">
            <a:avLst/>
          </a:prstGeom>
        </p:spPr>
      </p:pic>
      <p:sp>
        <p:nvSpPr>
          <p:cNvPr id="131" name="Text 106"/>
          <p:cNvSpPr/>
          <p:nvPr/>
        </p:nvSpPr>
        <p:spPr>
          <a:xfrm>
            <a:off x="10984687" y="3840480"/>
            <a:ext cx="868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scalable, monitored AI operations</a:t>
            </a:r>
            <a:endParaRPr lang="en-US" sz="680" dirty="0"/>
          </a:p>
        </p:txBody>
      </p:sp>
      <p:sp>
        <p:nvSpPr>
          <p:cNvPr id="132" name="Shape 107"/>
          <p:cNvSpPr/>
          <p:nvPr/>
        </p:nvSpPr>
        <p:spPr>
          <a:xfrm rot="5400000">
            <a:off x="6059272" y="4311396"/>
            <a:ext cx="201168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133" name="Shape 108"/>
          <p:cNvSpPr/>
          <p:nvPr/>
        </p:nvSpPr>
        <p:spPr>
          <a:xfrm>
            <a:off x="292608" y="4407408"/>
            <a:ext cx="1051560" cy="832104"/>
          </a:xfrm>
          <a:prstGeom prst="roundRect">
            <a:avLst>
              <a:gd name="adj" fmla="val 7692"/>
            </a:avLst>
          </a:prstGeom>
          <a:solidFill>
            <a:srgbClr val="B5396B"/>
          </a:solidFill>
          <a:ln/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sp>
        <p:nvSpPr>
          <p:cNvPr id="134" name="Text 109"/>
          <p:cNvSpPr/>
          <p:nvPr/>
        </p:nvSpPr>
        <p:spPr>
          <a:xfrm>
            <a:off x="292608" y="44531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1100" dirty="0"/>
          </a:p>
        </p:txBody>
      </p:sp>
      <p:sp>
        <p:nvSpPr>
          <p:cNvPr id="135" name="Text 110"/>
          <p:cNvSpPr/>
          <p:nvPr/>
        </p:nvSpPr>
        <p:spPr>
          <a:xfrm>
            <a:off x="338328" y="46360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</a:t>
            </a:r>
            <a:endParaRPr lang="en-US" sz="900" dirty="0"/>
          </a:p>
        </p:txBody>
      </p:sp>
      <p:sp>
        <p:nvSpPr>
          <p:cNvPr id="136" name="Text 111"/>
          <p:cNvSpPr/>
          <p:nvPr/>
        </p:nvSpPr>
        <p:spPr>
          <a:xfrm>
            <a:off x="338328" y="5047488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i="1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AI capabilities as APIs</a:t>
            </a:r>
            <a:endParaRPr lang="en-US" sz="630" dirty="0"/>
          </a:p>
        </p:txBody>
      </p:sp>
      <p:sp>
        <p:nvSpPr>
          <p:cNvPr id="137" name="Shape 112"/>
          <p:cNvSpPr/>
          <p:nvPr/>
        </p:nvSpPr>
        <p:spPr>
          <a:xfrm>
            <a:off x="1417320" y="4407408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38" name="Shape 113"/>
          <p:cNvSpPr/>
          <p:nvPr/>
        </p:nvSpPr>
        <p:spPr>
          <a:xfrm>
            <a:off x="1481328" y="4471416"/>
            <a:ext cx="219456" cy="219456"/>
          </a:xfrm>
          <a:prstGeom prst="ellipse">
            <a:avLst/>
          </a:prstGeom>
          <a:solidFill>
            <a:srgbClr val="B5396B"/>
          </a:solidFill>
          <a:ln/>
        </p:spPr>
      </p:sp>
      <p:pic>
        <p:nvPicPr>
          <p:cNvPr id="139" name="Image 23" descr="/home/claude/aws_arch/icons/gateway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522476" y="4512564"/>
            <a:ext cx="118872" cy="118872"/>
          </a:xfrm>
          <a:prstGeom prst="rect">
            <a:avLst/>
          </a:prstGeom>
        </p:spPr>
      </p:pic>
      <p:sp>
        <p:nvSpPr>
          <p:cNvPr id="140" name="Text 114"/>
          <p:cNvSpPr/>
          <p:nvPr/>
        </p:nvSpPr>
        <p:spPr>
          <a:xfrm>
            <a:off x="1746504" y="4443984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API Gateway</a:t>
            </a:r>
            <a:endParaRPr lang="en-US" sz="860" dirty="0"/>
          </a:p>
        </p:txBody>
      </p:sp>
      <p:sp>
        <p:nvSpPr>
          <p:cNvPr id="141" name="Text 115"/>
          <p:cNvSpPr/>
          <p:nvPr/>
        </p:nvSpPr>
        <p:spPr>
          <a:xfrm>
            <a:off x="1508760" y="4718304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&amp; monitor APIs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WebSocket</a:t>
            </a:r>
            <a:endParaRPr lang="en-US" sz="640" dirty="0"/>
          </a:p>
        </p:txBody>
      </p:sp>
      <p:sp>
        <p:nvSpPr>
          <p:cNvPr id="142" name="Shape 116"/>
          <p:cNvSpPr/>
          <p:nvPr/>
        </p:nvSpPr>
        <p:spPr>
          <a:xfrm>
            <a:off x="3328965" y="4407408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43" name="Shape 117"/>
          <p:cNvSpPr/>
          <p:nvPr/>
        </p:nvSpPr>
        <p:spPr>
          <a:xfrm>
            <a:off x="3392973" y="4471416"/>
            <a:ext cx="219456" cy="219456"/>
          </a:xfrm>
          <a:prstGeom prst="ellipse">
            <a:avLst/>
          </a:prstGeom>
          <a:solidFill>
            <a:srgbClr val="B5396B"/>
          </a:solidFill>
          <a:ln/>
        </p:spPr>
      </p:sp>
      <p:pic>
        <p:nvPicPr>
          <p:cNvPr id="144" name="Image 24" descr="/home/claude/aws_arch/icons/lambda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434121" y="4512564"/>
            <a:ext cx="118872" cy="118872"/>
          </a:xfrm>
          <a:prstGeom prst="rect">
            <a:avLst/>
          </a:prstGeom>
        </p:spPr>
      </p:pic>
      <p:sp>
        <p:nvSpPr>
          <p:cNvPr id="145" name="Text 118"/>
          <p:cNvSpPr/>
          <p:nvPr/>
        </p:nvSpPr>
        <p:spPr>
          <a:xfrm>
            <a:off x="3658149" y="4443984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&amp; Logic</a:t>
            </a:r>
            <a:endParaRPr lang="en-US" sz="860" dirty="0"/>
          </a:p>
        </p:txBody>
      </p:sp>
      <p:sp>
        <p:nvSpPr>
          <p:cNvPr id="146" name="Text 119"/>
          <p:cNvSpPr/>
          <p:nvPr/>
        </p:nvSpPr>
        <p:spPr>
          <a:xfrm>
            <a:off x="3420405" y="4718304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 (serverless)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Fargate, Step Functions</a:t>
            </a:r>
            <a:endParaRPr lang="en-US" sz="640" dirty="0"/>
          </a:p>
        </p:txBody>
      </p:sp>
      <p:sp>
        <p:nvSpPr>
          <p:cNvPr id="147" name="Shape 120"/>
          <p:cNvSpPr/>
          <p:nvPr/>
        </p:nvSpPr>
        <p:spPr>
          <a:xfrm>
            <a:off x="5240609" y="4407408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48" name="Shape 121"/>
          <p:cNvSpPr/>
          <p:nvPr/>
        </p:nvSpPr>
        <p:spPr>
          <a:xfrm>
            <a:off x="5304617" y="4471416"/>
            <a:ext cx="219456" cy="219456"/>
          </a:xfrm>
          <a:prstGeom prst="ellipse">
            <a:avLst/>
          </a:prstGeom>
          <a:solidFill>
            <a:srgbClr val="B5396B"/>
          </a:solidFill>
          <a:ln/>
        </p:spPr>
      </p:sp>
      <p:pic>
        <p:nvPicPr>
          <p:cNvPr id="149" name="Image 25" descr="/home/claude/aws_arch/icons/auth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345765" y="4512564"/>
            <a:ext cx="118872" cy="118872"/>
          </a:xfrm>
          <a:prstGeom prst="rect">
            <a:avLst/>
          </a:prstGeom>
        </p:spPr>
      </p:pic>
      <p:sp>
        <p:nvSpPr>
          <p:cNvPr id="150" name="Text 122"/>
          <p:cNvSpPr/>
          <p:nvPr/>
        </p:nvSpPr>
        <p:spPr>
          <a:xfrm>
            <a:off x="5569793" y="4443984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860" dirty="0"/>
          </a:p>
        </p:txBody>
      </p:sp>
      <p:sp>
        <p:nvSpPr>
          <p:cNvPr id="151" name="Text 123"/>
          <p:cNvSpPr/>
          <p:nvPr/>
        </p:nvSpPr>
        <p:spPr>
          <a:xfrm>
            <a:off x="5332049" y="4718304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Identity Center</a:t>
            </a:r>
            <a:endParaRPr lang="en-US" sz="640" dirty="0"/>
          </a:p>
        </p:txBody>
      </p:sp>
      <p:sp>
        <p:nvSpPr>
          <p:cNvPr id="152" name="Shape 124"/>
          <p:cNvSpPr/>
          <p:nvPr/>
        </p:nvSpPr>
        <p:spPr>
          <a:xfrm>
            <a:off x="7152254" y="4407408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53" name="Shape 125"/>
          <p:cNvSpPr/>
          <p:nvPr/>
        </p:nvSpPr>
        <p:spPr>
          <a:xfrm>
            <a:off x="7216262" y="4471416"/>
            <a:ext cx="219456" cy="219456"/>
          </a:xfrm>
          <a:prstGeom prst="ellipse">
            <a:avLst/>
          </a:prstGeom>
          <a:solidFill>
            <a:srgbClr val="B5396B"/>
          </a:solidFill>
          <a:ln/>
        </p:spPr>
      </p:sp>
      <p:pic>
        <p:nvPicPr>
          <p:cNvPr id="154" name="Image 26" descr="/home/claude/aws_arch/icons/throttl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257410" y="4512564"/>
            <a:ext cx="118872" cy="118872"/>
          </a:xfrm>
          <a:prstGeom prst="rect">
            <a:avLst/>
          </a:prstGeom>
        </p:spPr>
      </p:pic>
      <p:sp>
        <p:nvSpPr>
          <p:cNvPr id="155" name="Text 126"/>
          <p:cNvSpPr/>
          <p:nvPr/>
        </p:nvSpPr>
        <p:spPr>
          <a:xfrm>
            <a:off x="7481438" y="4443984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Policy</a:t>
            </a:r>
            <a:endParaRPr lang="en-US" sz="860" dirty="0"/>
          </a:p>
        </p:txBody>
      </p:sp>
      <p:sp>
        <p:nvSpPr>
          <p:cNvPr id="156" name="Text 127"/>
          <p:cNvSpPr/>
          <p:nvPr/>
        </p:nvSpPr>
        <p:spPr>
          <a:xfrm>
            <a:off x="7243694" y="4718304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plans, throttling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Quotas per consumer</a:t>
            </a:r>
            <a:endParaRPr lang="en-US" sz="640" dirty="0"/>
          </a:p>
        </p:txBody>
      </p:sp>
      <p:sp>
        <p:nvSpPr>
          <p:cNvPr id="157" name="Shape 128"/>
          <p:cNvSpPr/>
          <p:nvPr/>
        </p:nvSpPr>
        <p:spPr>
          <a:xfrm>
            <a:off x="9063899" y="4407408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58" name="Shape 129"/>
          <p:cNvSpPr/>
          <p:nvPr/>
        </p:nvSpPr>
        <p:spPr>
          <a:xfrm>
            <a:off x="9127907" y="4471416"/>
            <a:ext cx="219456" cy="219456"/>
          </a:xfrm>
          <a:prstGeom prst="ellipse">
            <a:avLst/>
          </a:prstGeom>
          <a:solidFill>
            <a:srgbClr val="B5396B"/>
          </a:solidFill>
          <a:ln/>
        </p:spPr>
      </p:sp>
      <p:pic>
        <p:nvPicPr>
          <p:cNvPr id="159" name="Image 27" descr="/home/claude/aws_arch/icons/log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169055" y="4512564"/>
            <a:ext cx="118872" cy="118872"/>
          </a:xfrm>
          <a:prstGeom prst="rect">
            <a:avLst/>
          </a:prstGeom>
        </p:spPr>
      </p:pic>
      <p:sp>
        <p:nvSpPr>
          <p:cNvPr id="160" name="Text 130"/>
          <p:cNvSpPr/>
          <p:nvPr/>
        </p:nvSpPr>
        <p:spPr>
          <a:xfrm>
            <a:off x="9393083" y="4443984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&amp; Telemetry</a:t>
            </a:r>
            <a:endParaRPr lang="en-US" sz="860" dirty="0"/>
          </a:p>
        </p:txBody>
      </p:sp>
      <p:sp>
        <p:nvSpPr>
          <p:cNvPr id="161" name="Text 131"/>
          <p:cNvSpPr/>
          <p:nvPr/>
        </p:nvSpPr>
        <p:spPr>
          <a:xfrm>
            <a:off x="9155339" y="4718304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Logs &amp; traces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 (audit)</a:t>
            </a:r>
            <a:endParaRPr lang="en-US" sz="640" dirty="0"/>
          </a:p>
        </p:txBody>
      </p:sp>
      <p:sp>
        <p:nvSpPr>
          <p:cNvPr id="162" name="Shape 132"/>
          <p:cNvSpPr/>
          <p:nvPr/>
        </p:nvSpPr>
        <p:spPr>
          <a:xfrm>
            <a:off x="10938967" y="4407408"/>
            <a:ext cx="960120" cy="832104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/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pic>
        <p:nvPicPr>
          <p:cNvPr id="163" name="Image 28" descr="/home/claude/aws_arch/icons/lock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300155" y="4471416"/>
            <a:ext cx="237744" cy="237744"/>
          </a:xfrm>
          <a:prstGeom prst="rect">
            <a:avLst/>
          </a:prstGeom>
        </p:spPr>
      </p:pic>
      <p:sp>
        <p:nvSpPr>
          <p:cNvPr id="164" name="Text 133"/>
          <p:cNvSpPr/>
          <p:nvPr/>
        </p:nvSpPr>
        <p:spPr>
          <a:xfrm>
            <a:off x="10984687" y="4736592"/>
            <a:ext cx="868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secure, scalable APIs</a:t>
            </a:r>
            <a:endParaRPr lang="en-US" sz="680" dirty="0"/>
          </a:p>
        </p:txBody>
      </p:sp>
      <p:sp>
        <p:nvSpPr>
          <p:cNvPr id="165" name="Shape 134"/>
          <p:cNvSpPr/>
          <p:nvPr/>
        </p:nvSpPr>
        <p:spPr>
          <a:xfrm rot="5400000">
            <a:off x="6059272" y="5207508"/>
            <a:ext cx="201168" cy="128016"/>
          </a:xfrm>
          <a:prstGeom prst="rightArrow">
            <a:avLst/>
          </a:prstGeom>
          <a:solidFill>
            <a:srgbClr val="5B6B79"/>
          </a:solidFill>
          <a:ln/>
        </p:spPr>
      </p:sp>
      <p:sp>
        <p:nvSpPr>
          <p:cNvPr id="166" name="Shape 135"/>
          <p:cNvSpPr/>
          <p:nvPr/>
        </p:nvSpPr>
        <p:spPr>
          <a:xfrm>
            <a:off x="292608" y="5303520"/>
            <a:ext cx="1051560" cy="832104"/>
          </a:xfrm>
          <a:prstGeom prst="roundRect">
            <a:avLst>
              <a:gd name="adj" fmla="val 7692"/>
            </a:avLst>
          </a:prstGeom>
          <a:solidFill>
            <a:srgbClr val="2C5F8A"/>
          </a:solidFill>
          <a:ln/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sp>
        <p:nvSpPr>
          <p:cNvPr id="167" name="Text 136"/>
          <p:cNvSpPr/>
          <p:nvPr/>
        </p:nvSpPr>
        <p:spPr>
          <a:xfrm>
            <a:off x="292608" y="534924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</a:t>
            </a:r>
            <a:endParaRPr lang="en-US" sz="1100" dirty="0"/>
          </a:p>
        </p:txBody>
      </p:sp>
      <p:sp>
        <p:nvSpPr>
          <p:cNvPr id="168" name="Text 137"/>
          <p:cNvSpPr/>
          <p:nvPr/>
        </p:nvSpPr>
        <p:spPr>
          <a:xfrm>
            <a:off x="338328" y="55321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900" dirty="0"/>
          </a:p>
        </p:txBody>
      </p:sp>
      <p:sp>
        <p:nvSpPr>
          <p:cNvPr id="169" name="Text 138"/>
          <p:cNvSpPr/>
          <p:nvPr/>
        </p:nvSpPr>
        <p:spPr>
          <a:xfrm>
            <a:off x="338328" y="5943600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i="1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experiences for users</a:t>
            </a:r>
            <a:endParaRPr lang="en-US" sz="630" dirty="0"/>
          </a:p>
        </p:txBody>
      </p:sp>
      <p:sp>
        <p:nvSpPr>
          <p:cNvPr id="170" name="Shape 139"/>
          <p:cNvSpPr/>
          <p:nvPr/>
        </p:nvSpPr>
        <p:spPr>
          <a:xfrm>
            <a:off x="1417320" y="530352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71" name="Shape 140"/>
          <p:cNvSpPr/>
          <p:nvPr/>
        </p:nvSpPr>
        <p:spPr>
          <a:xfrm>
            <a:off x="1481328" y="5367528"/>
            <a:ext cx="219456" cy="219456"/>
          </a:xfrm>
          <a:prstGeom prst="ellipse">
            <a:avLst/>
          </a:prstGeom>
          <a:solidFill>
            <a:srgbClr val="2C5F8A"/>
          </a:solidFill>
          <a:ln/>
        </p:spPr>
      </p:sp>
      <p:pic>
        <p:nvPicPr>
          <p:cNvPr id="172" name="Image 29" descr="/home/claude/aws_arch/icons/web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522476" y="5408676"/>
            <a:ext cx="118872" cy="118872"/>
          </a:xfrm>
          <a:prstGeom prst="rect">
            <a:avLst/>
          </a:prstGeom>
        </p:spPr>
      </p:pic>
      <p:sp>
        <p:nvSpPr>
          <p:cNvPr id="173" name="Text 141"/>
          <p:cNvSpPr/>
          <p:nvPr/>
        </p:nvSpPr>
        <p:spPr>
          <a:xfrm>
            <a:off x="1746504" y="534009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860" dirty="0"/>
          </a:p>
        </p:txBody>
      </p:sp>
      <p:sp>
        <p:nvSpPr>
          <p:cNvPr id="174" name="Text 142"/>
          <p:cNvSpPr/>
          <p:nvPr/>
        </p:nvSpPr>
        <p:spPr>
          <a:xfrm>
            <a:off x="1508760" y="561441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/ Next.js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Hosting</a:t>
            </a:r>
            <a:endParaRPr lang="en-US" sz="640" dirty="0"/>
          </a:p>
        </p:txBody>
      </p:sp>
      <p:sp>
        <p:nvSpPr>
          <p:cNvPr id="175" name="Shape 143"/>
          <p:cNvSpPr/>
          <p:nvPr/>
        </p:nvSpPr>
        <p:spPr>
          <a:xfrm>
            <a:off x="3328965" y="530352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76" name="Shape 144"/>
          <p:cNvSpPr/>
          <p:nvPr/>
        </p:nvSpPr>
        <p:spPr>
          <a:xfrm>
            <a:off x="3392973" y="5367528"/>
            <a:ext cx="219456" cy="219456"/>
          </a:xfrm>
          <a:prstGeom prst="ellipse">
            <a:avLst/>
          </a:prstGeom>
          <a:solidFill>
            <a:srgbClr val="2C5F8A"/>
          </a:solidFill>
          <a:ln/>
        </p:spPr>
      </p:sp>
      <p:pic>
        <p:nvPicPr>
          <p:cNvPr id="177" name="Image 30" descr="/home/claude/aws_arch/icons/mobil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434121" y="5408676"/>
            <a:ext cx="118872" cy="118872"/>
          </a:xfrm>
          <a:prstGeom prst="rect">
            <a:avLst/>
          </a:prstGeom>
        </p:spPr>
      </p:pic>
      <p:sp>
        <p:nvSpPr>
          <p:cNvPr id="178" name="Text 145"/>
          <p:cNvSpPr/>
          <p:nvPr/>
        </p:nvSpPr>
        <p:spPr>
          <a:xfrm>
            <a:off x="3658149" y="534009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Application</a:t>
            </a:r>
            <a:endParaRPr lang="en-US" sz="860" dirty="0"/>
          </a:p>
        </p:txBody>
      </p:sp>
      <p:sp>
        <p:nvSpPr>
          <p:cNvPr id="179" name="Text 146"/>
          <p:cNvSpPr/>
          <p:nvPr/>
        </p:nvSpPr>
        <p:spPr>
          <a:xfrm>
            <a:off x="3420405" y="561441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/ iOS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SDK, SNS push</a:t>
            </a:r>
            <a:endParaRPr lang="en-US" sz="640" dirty="0"/>
          </a:p>
        </p:txBody>
      </p:sp>
      <p:sp>
        <p:nvSpPr>
          <p:cNvPr id="180" name="Shape 147"/>
          <p:cNvSpPr/>
          <p:nvPr/>
        </p:nvSpPr>
        <p:spPr>
          <a:xfrm>
            <a:off x="5240609" y="530352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81" name="Shape 148"/>
          <p:cNvSpPr/>
          <p:nvPr/>
        </p:nvSpPr>
        <p:spPr>
          <a:xfrm>
            <a:off x="5304617" y="5367528"/>
            <a:ext cx="219456" cy="219456"/>
          </a:xfrm>
          <a:prstGeom prst="ellipse">
            <a:avLst/>
          </a:prstGeom>
          <a:solidFill>
            <a:srgbClr val="2C5F8A"/>
          </a:solidFill>
          <a:ln/>
        </p:spPr>
      </p:sp>
      <p:pic>
        <p:nvPicPr>
          <p:cNvPr id="182" name="Image 31" descr="/home/claude/aws_arch/icons/chat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345765" y="5408676"/>
            <a:ext cx="118872" cy="118872"/>
          </a:xfrm>
          <a:prstGeom prst="rect">
            <a:avLst/>
          </a:prstGeom>
        </p:spPr>
      </p:pic>
      <p:sp>
        <p:nvSpPr>
          <p:cNvPr id="183" name="Text 149"/>
          <p:cNvSpPr/>
          <p:nvPr/>
        </p:nvSpPr>
        <p:spPr>
          <a:xfrm>
            <a:off x="5569793" y="534009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 Interface</a:t>
            </a:r>
            <a:endParaRPr lang="en-US" sz="860" dirty="0"/>
          </a:p>
        </p:txBody>
      </p:sp>
      <p:sp>
        <p:nvSpPr>
          <p:cNvPr id="184" name="Text 150"/>
          <p:cNvSpPr/>
          <p:nvPr/>
        </p:nvSpPr>
        <p:spPr>
          <a:xfrm>
            <a:off x="5332049" y="561441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UX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Q, Bedrock Agents</a:t>
            </a:r>
            <a:endParaRPr lang="en-US" sz="640" dirty="0"/>
          </a:p>
        </p:txBody>
      </p:sp>
      <p:sp>
        <p:nvSpPr>
          <p:cNvPr id="185" name="Shape 151"/>
          <p:cNvSpPr/>
          <p:nvPr/>
        </p:nvSpPr>
        <p:spPr>
          <a:xfrm>
            <a:off x="7152254" y="530352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86" name="Shape 152"/>
          <p:cNvSpPr/>
          <p:nvPr/>
        </p:nvSpPr>
        <p:spPr>
          <a:xfrm>
            <a:off x="7216262" y="5367528"/>
            <a:ext cx="219456" cy="219456"/>
          </a:xfrm>
          <a:prstGeom prst="ellipse">
            <a:avLst/>
          </a:prstGeom>
          <a:solidFill>
            <a:srgbClr val="2C5F8A"/>
          </a:solidFill>
          <a:ln/>
        </p:spPr>
      </p:sp>
      <p:pic>
        <p:nvPicPr>
          <p:cNvPr id="187" name="Image 32" descr="/home/claude/aws_arch/icons/dashboar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257410" y="5408676"/>
            <a:ext cx="118872" cy="118872"/>
          </a:xfrm>
          <a:prstGeom prst="rect">
            <a:avLst/>
          </a:prstGeom>
        </p:spPr>
      </p:pic>
      <p:sp>
        <p:nvSpPr>
          <p:cNvPr id="188" name="Text 153"/>
          <p:cNvSpPr/>
          <p:nvPr/>
        </p:nvSpPr>
        <p:spPr>
          <a:xfrm>
            <a:off x="7481438" y="534009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860" dirty="0"/>
          </a:p>
        </p:txBody>
      </p:sp>
      <p:sp>
        <p:nvSpPr>
          <p:cNvPr id="189" name="Text 154"/>
          <p:cNvSpPr/>
          <p:nvPr/>
        </p:nvSpPr>
        <p:spPr>
          <a:xfrm>
            <a:off x="7243694" y="561441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QuickSight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Self-serve, embedded BI</a:t>
            </a:r>
            <a:endParaRPr lang="en-US" sz="640" dirty="0"/>
          </a:p>
        </p:txBody>
      </p:sp>
      <p:sp>
        <p:nvSpPr>
          <p:cNvPr id="190" name="Shape 155"/>
          <p:cNvSpPr/>
          <p:nvPr/>
        </p:nvSpPr>
        <p:spPr>
          <a:xfrm>
            <a:off x="9063899" y="5303520"/>
            <a:ext cx="1801917" cy="832104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9525">
            <a:solidFill>
              <a:srgbClr val="D7DEE4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0000"/>
              </a:srgbClr>
            </a:outerShdw>
          </a:effectLst>
        </p:spPr>
      </p:sp>
      <p:sp>
        <p:nvSpPr>
          <p:cNvPr id="191" name="Shape 156"/>
          <p:cNvSpPr/>
          <p:nvPr/>
        </p:nvSpPr>
        <p:spPr>
          <a:xfrm>
            <a:off x="9127907" y="5367528"/>
            <a:ext cx="219456" cy="219456"/>
          </a:xfrm>
          <a:prstGeom prst="ellipse">
            <a:avLst/>
          </a:prstGeom>
          <a:solidFill>
            <a:srgbClr val="2C5F8A"/>
          </a:solidFill>
          <a:ln/>
        </p:spPr>
      </p:sp>
      <p:pic>
        <p:nvPicPr>
          <p:cNvPr id="192" name="Image 33" descr="/home/claude/aws_arch/icons/integrati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169055" y="5408676"/>
            <a:ext cx="118872" cy="118872"/>
          </a:xfrm>
          <a:prstGeom prst="rect">
            <a:avLst/>
          </a:prstGeom>
        </p:spPr>
      </p:pic>
      <p:sp>
        <p:nvSpPr>
          <p:cNvPr id="193" name="Text 157"/>
          <p:cNvSpPr/>
          <p:nvPr/>
        </p:nvSpPr>
        <p:spPr>
          <a:xfrm>
            <a:off x="9393083" y="5340096"/>
            <a:ext cx="13995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62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Integration</a:t>
            </a:r>
            <a:endParaRPr lang="en-US" sz="860" dirty="0"/>
          </a:p>
        </p:txBody>
      </p:sp>
      <p:sp>
        <p:nvSpPr>
          <p:cNvPr id="194" name="Text 158"/>
          <p:cNvSpPr/>
          <p:nvPr/>
        </p:nvSpPr>
        <p:spPr>
          <a:xfrm>
            <a:off x="9155339" y="5614416"/>
            <a:ext cx="163732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(event bus)</a:t>
            </a:r>
            <a:endParaRPr lang="en-US" sz="640" dirty="0"/>
          </a:p>
          <a:p>
            <a:pPr marL="88900" indent="-88900">
              <a:lnSpc>
                <a:spcPct val="98000"/>
              </a:lnSpc>
              <a:spcAft>
                <a:spcPts val="50"/>
              </a:spcAft>
              <a:buSzPct val="100000"/>
              <a:buChar char="•"/>
            </a:pPr>
            <a:r>
              <a:rPr lang="en-US" sz="64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/ B2B connectivity</a:t>
            </a:r>
            <a:endParaRPr lang="en-US" sz="640" dirty="0"/>
          </a:p>
        </p:txBody>
      </p:sp>
      <p:sp>
        <p:nvSpPr>
          <p:cNvPr id="195" name="Shape 159"/>
          <p:cNvSpPr/>
          <p:nvPr/>
        </p:nvSpPr>
        <p:spPr>
          <a:xfrm>
            <a:off x="10938967" y="5303520"/>
            <a:ext cx="960120" cy="832104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/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pic>
        <p:nvPicPr>
          <p:cNvPr id="196" name="Image 34" descr="/home/claude/aws_arch/icons/users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1300155" y="5367528"/>
            <a:ext cx="237744" cy="237744"/>
          </a:xfrm>
          <a:prstGeom prst="rect">
            <a:avLst/>
          </a:prstGeom>
        </p:spPr>
      </p:pic>
      <p:sp>
        <p:nvSpPr>
          <p:cNvPr id="197" name="Text 160"/>
          <p:cNvSpPr/>
          <p:nvPr/>
        </p:nvSpPr>
        <p:spPr>
          <a:xfrm>
            <a:off x="10984687" y="5632704"/>
            <a:ext cx="868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solutions delivered to end users</a:t>
            </a:r>
            <a:endParaRPr lang="en-US" sz="680" dirty="0"/>
          </a:p>
        </p:txBody>
      </p:sp>
      <p:sp>
        <p:nvSpPr>
          <p:cNvPr id="198" name="Shape 161"/>
          <p:cNvSpPr/>
          <p:nvPr/>
        </p:nvSpPr>
        <p:spPr>
          <a:xfrm>
            <a:off x="292608" y="6217920"/>
            <a:ext cx="11606479" cy="384048"/>
          </a:xfrm>
          <a:prstGeom prst="roundRect">
            <a:avLst>
              <a:gd name="adj" fmla="val 14286"/>
            </a:avLst>
          </a:prstGeom>
          <a:solidFill>
            <a:srgbClr val="0B1F33"/>
          </a:solidFill>
          <a:ln/>
        </p:spPr>
      </p:sp>
      <p:sp>
        <p:nvSpPr>
          <p:cNvPr id="199" name="Text 162"/>
          <p:cNvSpPr/>
          <p:nvPr/>
        </p:nvSpPr>
        <p:spPr>
          <a:xfrm>
            <a:off x="429768" y="62179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8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CONCERNS</a:t>
            </a:r>
            <a:endParaRPr lang="en-US" sz="950" dirty="0"/>
          </a:p>
        </p:txBody>
      </p:sp>
      <p:pic>
        <p:nvPicPr>
          <p:cNvPr id="200" name="Image 35" descr="/home/claude/aws_arch/icons/shiel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715768" y="6323076"/>
            <a:ext cx="173736" cy="173736"/>
          </a:xfrm>
          <a:prstGeom prst="rect">
            <a:avLst/>
          </a:prstGeom>
        </p:spPr>
      </p:pic>
      <p:sp>
        <p:nvSpPr>
          <p:cNvPr id="201" name="Text 163"/>
          <p:cNvSpPr/>
          <p:nvPr/>
        </p:nvSpPr>
        <p:spPr>
          <a:xfrm>
            <a:off x="2935224" y="6217920"/>
            <a:ext cx="1562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830" dirty="0"/>
          </a:p>
        </p:txBody>
      </p:sp>
      <p:pic>
        <p:nvPicPr>
          <p:cNvPr id="202" name="Image 36" descr="/home/claude/aws_arch/icons/privacy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534144" y="6323076"/>
            <a:ext cx="173736" cy="173736"/>
          </a:xfrm>
          <a:prstGeom prst="rect">
            <a:avLst/>
          </a:prstGeom>
        </p:spPr>
      </p:pic>
      <p:sp>
        <p:nvSpPr>
          <p:cNvPr id="203" name="Text 164"/>
          <p:cNvSpPr/>
          <p:nvPr/>
        </p:nvSpPr>
        <p:spPr>
          <a:xfrm>
            <a:off x="4753600" y="6217920"/>
            <a:ext cx="1562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(GDPR/HIPAA)</a:t>
            </a:r>
            <a:endParaRPr lang="en-US" sz="830" dirty="0"/>
          </a:p>
        </p:txBody>
      </p:sp>
      <p:pic>
        <p:nvPicPr>
          <p:cNvPr id="204" name="Image 37" descr="/home/claude/aws_arch/icons/cost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352520" y="6323076"/>
            <a:ext cx="173736" cy="173736"/>
          </a:xfrm>
          <a:prstGeom prst="rect">
            <a:avLst/>
          </a:prstGeom>
        </p:spPr>
      </p:pic>
      <p:sp>
        <p:nvSpPr>
          <p:cNvPr id="205" name="Text 165"/>
          <p:cNvSpPr/>
          <p:nvPr/>
        </p:nvSpPr>
        <p:spPr>
          <a:xfrm>
            <a:off x="6571976" y="6217920"/>
            <a:ext cx="1562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Management</a:t>
            </a:r>
            <a:endParaRPr lang="en-US" sz="830" dirty="0"/>
          </a:p>
        </p:txBody>
      </p:sp>
      <p:pic>
        <p:nvPicPr>
          <p:cNvPr id="206" name="Image 38" descr="/home/claude/aws_arch/icons/scal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170896" y="6323076"/>
            <a:ext cx="173736" cy="173736"/>
          </a:xfrm>
          <a:prstGeom prst="rect">
            <a:avLst/>
          </a:prstGeom>
        </p:spPr>
      </p:pic>
      <p:sp>
        <p:nvSpPr>
          <p:cNvPr id="207" name="Text 166"/>
          <p:cNvSpPr/>
          <p:nvPr/>
        </p:nvSpPr>
        <p:spPr>
          <a:xfrm>
            <a:off x="8390352" y="6217920"/>
            <a:ext cx="1562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Performance</a:t>
            </a:r>
            <a:endParaRPr lang="en-US" sz="830" dirty="0"/>
          </a:p>
        </p:txBody>
      </p:sp>
      <p:pic>
        <p:nvPicPr>
          <p:cNvPr id="208" name="Image 39" descr="/home/claude/aws_arch/icons/backup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989271" y="6323076"/>
            <a:ext cx="173736" cy="173736"/>
          </a:xfrm>
          <a:prstGeom prst="rect">
            <a:avLst/>
          </a:prstGeom>
        </p:spPr>
      </p:pic>
      <p:sp>
        <p:nvSpPr>
          <p:cNvPr id="209" name="Text 167"/>
          <p:cNvSpPr/>
          <p:nvPr/>
        </p:nvSpPr>
        <p:spPr>
          <a:xfrm>
            <a:off x="10208727" y="6217920"/>
            <a:ext cx="1562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Disaster Recovery</a:t>
            </a:r>
            <a:endParaRPr lang="en-US" sz="830" dirty="0"/>
          </a:p>
        </p:txBody>
      </p:sp>
      <p:sp>
        <p:nvSpPr>
          <p:cNvPr id="210" name="Text 168"/>
          <p:cNvSpPr/>
          <p:nvPr/>
        </p:nvSpPr>
        <p:spPr>
          <a:xfrm>
            <a:off x="292608" y="671169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 reference architecture  |  Layers map to: Data Sources → Pipeline → AI/ML → MLOps → API → Applications</a:t>
            </a:r>
            <a:endParaRPr lang="en-US" sz="750" dirty="0"/>
          </a:p>
        </p:txBody>
      </p:sp>
      <p:sp>
        <p:nvSpPr>
          <p:cNvPr id="211" name="Text 169"/>
          <p:cNvSpPr/>
          <p:nvPr/>
        </p:nvSpPr>
        <p:spPr>
          <a:xfrm>
            <a:off x="10801807" y="6711696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Enterprise AI Platform Architecture - AWS Stack</dc:title>
  <dc:subject>PptxGenJS Presentation</dc:subject>
  <dc:creator>Enterprise Architecture</dc:creator>
  <cp:lastModifiedBy>Enterprise Architecture</cp:lastModifiedBy>
  <cp:revision>1</cp:revision>
  <dcterms:created xsi:type="dcterms:W3CDTF">2026-06-30T05:24:19Z</dcterms:created>
  <dcterms:modified xsi:type="dcterms:W3CDTF">2026-06-30T05:24:19Z</dcterms:modified>
</cp:coreProperties>
</file>