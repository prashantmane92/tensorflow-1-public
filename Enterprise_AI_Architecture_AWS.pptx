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58" r:id="rId3"/>
    <p:sldId id="257" r:id="rId4"/>
    <p:sldId id="256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97" d="100"/>
          <a:sy n="197" d="100"/>
        </p:scale>
        <p:origin x="163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3171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Educator Buddy AWS RAG architecture. UI: React app on Amplify/CloudFront, upload &amp; chat. Auth/API Gateway + Cognito live in cross-cutting services row, not duplicated in UI. RAG orchestration: Retrieval (queries vector DB) and Mapping table (manual, DynamoDB) run in parallel, feeding the Input assembler which builds the request JSON, which feeds the Bedrock Agent. Agent calls a separate LLM layer (Claude, Titan, Llama on Bedrock + Guardrails). Output: draft artefacts, citations and sources, and follow-up chat which loops back into the agent for refinement. Ingestion pipeline: trainer-provided docs/PDFs/URLs land in S3, extracted via Textract, chunked via Lambda, embedded via Titan, stored in a Vector DB (OpenSearch) that Retrieval queries directly. Icons are simple placeholders (network access to fetch official AWS icons was unavailable in this environment) — swap in the official AWS Architecture Icons pack for a final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079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Educator Buddy: AWS-based RAG. UI (Amplify/CloudFront) -&gt; orchestration (API Gateway/Cognito -&gt; Lambda input assembler -&gt; Bedrock Agent -&gt; OpenSearch Serverless retrieval -&gt; Bedrock + Guardrails generation) -&gt; outputs. Ingestion pipeline (S3 -&gt; Textract/BDA -&gt; chunk -&gt; Titan embeddings -&gt; OpenSearch) runs in the background. Retrieval store is OpenSearch Serverless only (no managed Bedrock KB). Glue + DynamoDB/Aurora hold ontology and mappings.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91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0083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18" Type="http://schemas.openxmlformats.org/officeDocument/2006/relationships/image" Target="../media/image37.png"/><Relationship Id="rId26" Type="http://schemas.openxmlformats.org/officeDocument/2006/relationships/image" Target="../media/image11.png"/><Relationship Id="rId3" Type="http://schemas.openxmlformats.org/officeDocument/2006/relationships/image" Target="../media/image23.png"/><Relationship Id="rId21" Type="http://schemas.openxmlformats.org/officeDocument/2006/relationships/image" Target="../media/image39.png"/><Relationship Id="rId34" Type="http://schemas.openxmlformats.org/officeDocument/2006/relationships/image" Target="../media/image48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5" Type="http://schemas.openxmlformats.org/officeDocument/2006/relationships/image" Target="../media/image42.png"/><Relationship Id="rId33" Type="http://schemas.openxmlformats.org/officeDocument/2006/relationships/image" Target="../media/image4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5.png"/><Relationship Id="rId20" Type="http://schemas.openxmlformats.org/officeDocument/2006/relationships/image" Target="../media/image7.png"/><Relationship Id="rId29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24" Type="http://schemas.openxmlformats.org/officeDocument/2006/relationships/image" Target="../media/image13.png"/><Relationship Id="rId32" Type="http://schemas.openxmlformats.org/officeDocument/2006/relationships/image" Target="../media/image46.png"/><Relationship Id="rId5" Type="http://schemas.openxmlformats.org/officeDocument/2006/relationships/image" Target="../media/image25.png"/><Relationship Id="rId15" Type="http://schemas.openxmlformats.org/officeDocument/2006/relationships/image" Target="../media/image34.png"/><Relationship Id="rId23" Type="http://schemas.openxmlformats.org/officeDocument/2006/relationships/image" Target="../media/image41.png"/><Relationship Id="rId28" Type="http://schemas.openxmlformats.org/officeDocument/2006/relationships/image" Target="../media/image44.png"/><Relationship Id="rId36" Type="http://schemas.openxmlformats.org/officeDocument/2006/relationships/image" Target="../media/image50.png"/><Relationship Id="rId10" Type="http://schemas.openxmlformats.org/officeDocument/2006/relationships/image" Target="../media/image30.png"/><Relationship Id="rId19" Type="http://schemas.openxmlformats.org/officeDocument/2006/relationships/image" Target="../media/image38.png"/><Relationship Id="rId31" Type="http://schemas.openxmlformats.org/officeDocument/2006/relationships/image" Target="../media/image4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3.png"/><Relationship Id="rId22" Type="http://schemas.openxmlformats.org/officeDocument/2006/relationships/image" Target="../media/image40.png"/><Relationship Id="rId27" Type="http://schemas.openxmlformats.org/officeDocument/2006/relationships/image" Target="../media/image43.png"/><Relationship Id="rId30" Type="http://schemas.openxmlformats.org/officeDocument/2006/relationships/image" Target="../media/image12.png"/><Relationship Id="rId35" Type="http://schemas.openxmlformats.org/officeDocument/2006/relationships/image" Target="../media/image49.png"/><Relationship Id="rId8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36.png"/><Relationship Id="rId26" Type="http://schemas.openxmlformats.org/officeDocument/2006/relationships/image" Target="../media/image6.png"/><Relationship Id="rId39" Type="http://schemas.openxmlformats.org/officeDocument/2006/relationships/image" Target="../media/image49.png"/><Relationship Id="rId21" Type="http://schemas.openxmlformats.org/officeDocument/2006/relationships/image" Target="../media/image41.png"/><Relationship Id="rId34" Type="http://schemas.openxmlformats.org/officeDocument/2006/relationships/image" Target="../media/image42.png"/><Relationship Id="rId7" Type="http://schemas.openxmlformats.org/officeDocument/2006/relationships/image" Target="../media/image53.png"/><Relationship Id="rId12" Type="http://schemas.openxmlformats.org/officeDocument/2006/relationships/image" Target="../media/image31.png"/><Relationship Id="rId17" Type="http://schemas.openxmlformats.org/officeDocument/2006/relationships/image" Target="../media/image15.png"/><Relationship Id="rId25" Type="http://schemas.openxmlformats.org/officeDocument/2006/relationships/image" Target="../media/image44.png"/><Relationship Id="rId33" Type="http://schemas.openxmlformats.org/officeDocument/2006/relationships/image" Target="../media/image11.png"/><Relationship Id="rId38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8.png"/><Relationship Id="rId20" Type="http://schemas.openxmlformats.org/officeDocument/2006/relationships/image" Target="../media/image40.png"/><Relationship Id="rId29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30.png"/><Relationship Id="rId24" Type="http://schemas.openxmlformats.org/officeDocument/2006/relationships/image" Target="../media/image13.png"/><Relationship Id="rId32" Type="http://schemas.openxmlformats.org/officeDocument/2006/relationships/image" Target="../media/image56.png"/><Relationship Id="rId37" Type="http://schemas.openxmlformats.org/officeDocument/2006/relationships/image" Target="../media/image46.png"/><Relationship Id="rId40" Type="http://schemas.openxmlformats.org/officeDocument/2006/relationships/image" Target="../media/image50.png"/><Relationship Id="rId5" Type="http://schemas.openxmlformats.org/officeDocument/2006/relationships/image" Target="../media/image51.png"/><Relationship Id="rId15" Type="http://schemas.openxmlformats.org/officeDocument/2006/relationships/image" Target="../media/image4.png"/><Relationship Id="rId23" Type="http://schemas.openxmlformats.org/officeDocument/2006/relationships/image" Target="../media/image22.png"/><Relationship Id="rId28" Type="http://schemas.openxmlformats.org/officeDocument/2006/relationships/image" Target="../media/image32.png"/><Relationship Id="rId36" Type="http://schemas.openxmlformats.org/officeDocument/2006/relationships/image" Target="../media/image57.png"/><Relationship Id="rId10" Type="http://schemas.openxmlformats.org/officeDocument/2006/relationships/image" Target="../media/image29.png"/><Relationship Id="rId19" Type="http://schemas.openxmlformats.org/officeDocument/2006/relationships/image" Target="../media/image55.png"/><Relationship Id="rId31" Type="http://schemas.openxmlformats.org/officeDocument/2006/relationships/image" Target="../media/image43.png"/><Relationship Id="rId4" Type="http://schemas.openxmlformats.org/officeDocument/2006/relationships/image" Target="../media/image9.png"/><Relationship Id="rId9" Type="http://schemas.openxmlformats.org/officeDocument/2006/relationships/image" Target="../media/image28.png"/><Relationship Id="rId14" Type="http://schemas.openxmlformats.org/officeDocument/2006/relationships/image" Target="../media/image37.png"/><Relationship Id="rId22" Type="http://schemas.openxmlformats.org/officeDocument/2006/relationships/image" Target="../media/image35.png"/><Relationship Id="rId27" Type="http://schemas.openxmlformats.org/officeDocument/2006/relationships/image" Target="../media/image12.png"/><Relationship Id="rId30" Type="http://schemas.openxmlformats.org/officeDocument/2006/relationships/image" Target="../media/image14.png"/><Relationship Id="rId35" Type="http://schemas.openxmlformats.org/officeDocument/2006/relationships/image" Target="../media/image26.png"/><Relationship Id="rId8" Type="http://schemas.openxmlformats.org/officeDocument/2006/relationships/image" Target="../media/image54.pn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 Buddy — AWS RAG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Source-backed generation for trainers and learners, grounded in governed VET content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2003162"/>
            <a:ext cx="3017520" cy="1920240"/>
          </a:xfrm>
          <a:prstGeom prst="roundRect">
            <a:avLst>
              <a:gd name="adj" fmla="val 3333"/>
            </a:avLst>
          </a:prstGeom>
          <a:solidFill>
            <a:srgbClr val="FAFAF8"/>
          </a:solidFill>
          <a:ln w="12700">
            <a:solidFill>
              <a:srgbClr val="DEDC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49040" y="2003162"/>
            <a:ext cx="4206240" cy="3438144"/>
          </a:xfrm>
          <a:prstGeom prst="roundRect">
            <a:avLst>
              <a:gd name="adj" fmla="val 1862"/>
            </a:avLst>
          </a:prstGeom>
          <a:solidFill>
            <a:srgbClr val="FAFAF8"/>
          </a:solidFill>
          <a:ln w="12700">
            <a:solidFill>
              <a:srgbClr val="DEDC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0" y="2003162"/>
            <a:ext cx="3474720" cy="2514600"/>
          </a:xfrm>
          <a:prstGeom prst="roundRect">
            <a:avLst>
              <a:gd name="adj" fmla="val 2545"/>
            </a:avLst>
          </a:prstGeom>
          <a:solidFill>
            <a:srgbClr val="FAFAF8"/>
          </a:solidFill>
          <a:ln w="12700">
            <a:solidFill>
              <a:srgbClr val="DEDC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58026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 (REACT)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13632" y="2058026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ORCHESTRATION FLOW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394192" y="2058026"/>
            <a:ext cx="3145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2405498"/>
            <a:ext cx="27432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11" name="Image 0" descr="/home/claude/icons/end_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501510"/>
            <a:ext cx="310896" cy="31089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61288" y="2405498"/>
            <a:ext cx="2066544" cy="502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2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users</a:t>
            </a:r>
            <a:endParaRPr lang="en-US" sz="12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9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Trainers, learners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4360" y="3036434"/>
            <a:ext cx="27432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14" name="Image 1" descr="/home/claude/icons/react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132446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61288" y="3036434"/>
            <a:ext cx="2066544" cy="502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2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web app</a:t>
            </a:r>
            <a:endParaRPr lang="en-US" sz="12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9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+ CloudFront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667370"/>
            <a:ext cx="27432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17" name="Image 2" descr="/home/claude/icons/upload_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3763382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61288" y="3667370"/>
            <a:ext cx="2066544" cy="502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2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&amp; chat</a:t>
            </a:r>
            <a:endParaRPr lang="en-US" sz="12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9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+ prompts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3886200" y="2405498"/>
            <a:ext cx="1920240" cy="484632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20" name="Image 3" descr="/home/claude/icons/retriev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2492366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453128" y="2405498"/>
            <a:ext cx="1243584" cy="48463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2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2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9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vector DB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897880" y="2405498"/>
            <a:ext cx="1920240" cy="484632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23" name="Image 4" descr="/home/claude/icons/mapping_tab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25896" y="2492366"/>
            <a:ext cx="310896" cy="31089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464808" y="2405498"/>
            <a:ext cx="1243584" cy="48463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2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table</a:t>
            </a:r>
            <a:endParaRPr lang="en-US" sz="12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9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(DynamoDB)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3886200" y="2999858"/>
            <a:ext cx="3931920" cy="484632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26" name="Image 5" descr="/home/claude/icons/input_assembl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14216" y="3086726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453128" y="2999858"/>
            <a:ext cx="3255264" cy="48463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2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assembler</a:t>
            </a:r>
            <a:endParaRPr lang="en-US" sz="12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9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request JSON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3886200" y="3594218"/>
            <a:ext cx="3931920" cy="484632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29" name="Image 6" descr="/home/claude/icons/bedrock_ag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14216" y="3681086"/>
            <a:ext cx="310896" cy="310896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453128" y="3594218"/>
            <a:ext cx="3255264" cy="48463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2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Agent</a:t>
            </a:r>
            <a:endParaRPr lang="en-US" sz="12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9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the request</a:t>
            </a:r>
            <a:endParaRPr lang="en-US" sz="1250" dirty="0"/>
          </a:p>
        </p:txBody>
      </p:sp>
      <p:sp>
        <p:nvSpPr>
          <p:cNvPr id="31" name="Shape 22"/>
          <p:cNvSpPr/>
          <p:nvPr/>
        </p:nvSpPr>
        <p:spPr>
          <a:xfrm>
            <a:off x="4846320" y="2890130"/>
            <a:ext cx="0" cy="109728"/>
          </a:xfrm>
          <a:prstGeom prst="line">
            <a:avLst/>
          </a:prstGeom>
          <a:noFill/>
          <a:ln w="15875">
            <a:solidFill>
              <a:srgbClr val="9A988E"/>
            </a:solidFill>
            <a:prstDash val="solid"/>
            <a:tailEnd type="triangle"/>
          </a:ln>
        </p:spPr>
      </p:sp>
      <p:sp>
        <p:nvSpPr>
          <p:cNvPr id="32" name="Shape 23"/>
          <p:cNvSpPr/>
          <p:nvPr/>
        </p:nvSpPr>
        <p:spPr>
          <a:xfrm>
            <a:off x="6858000" y="2890130"/>
            <a:ext cx="0" cy="109728"/>
          </a:xfrm>
          <a:prstGeom prst="line">
            <a:avLst/>
          </a:prstGeom>
          <a:noFill/>
          <a:ln w="15875">
            <a:solidFill>
              <a:srgbClr val="9A988E"/>
            </a:solidFill>
            <a:prstDash val="solid"/>
            <a:tailEnd type="triangle"/>
          </a:ln>
        </p:spPr>
      </p:sp>
      <p:sp>
        <p:nvSpPr>
          <p:cNvPr id="33" name="Shape 24"/>
          <p:cNvSpPr/>
          <p:nvPr/>
        </p:nvSpPr>
        <p:spPr>
          <a:xfrm>
            <a:off x="5852160" y="3484490"/>
            <a:ext cx="0" cy="109728"/>
          </a:xfrm>
          <a:prstGeom prst="line">
            <a:avLst/>
          </a:prstGeom>
          <a:noFill/>
          <a:ln w="15875">
            <a:solidFill>
              <a:srgbClr val="9A988E"/>
            </a:solidFill>
            <a:prstDash val="solid"/>
            <a:tailEnd type="triangle"/>
          </a:ln>
        </p:spPr>
      </p:sp>
      <p:sp>
        <p:nvSpPr>
          <p:cNvPr id="34" name="Shape 25"/>
          <p:cNvSpPr/>
          <p:nvPr/>
        </p:nvSpPr>
        <p:spPr>
          <a:xfrm>
            <a:off x="3749040" y="4334882"/>
            <a:ext cx="4206240" cy="1005840"/>
          </a:xfrm>
          <a:prstGeom prst="roundRect">
            <a:avLst>
              <a:gd name="adj" fmla="val 6364"/>
            </a:avLst>
          </a:prstGeom>
          <a:solidFill>
            <a:srgbClr val="FAFAF8"/>
          </a:solidFill>
          <a:ln w="12700">
            <a:solidFill>
              <a:srgbClr val="DEDCD3"/>
            </a:solidFill>
            <a:prstDash val="dash"/>
          </a:ln>
        </p:spPr>
      </p:sp>
      <p:sp>
        <p:nvSpPr>
          <p:cNvPr id="35" name="Text 26"/>
          <p:cNvSpPr/>
          <p:nvPr/>
        </p:nvSpPr>
        <p:spPr>
          <a:xfrm>
            <a:off x="3913632" y="4389746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LAYER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3886200" y="4618346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37" name="Image 7" descr="/home/claude/icons/llm_lay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14216" y="4746362"/>
            <a:ext cx="310896" cy="310896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4453128" y="4618346"/>
            <a:ext cx="3255264" cy="56692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30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Titan · Llama</a:t>
            </a:r>
            <a:endParaRPr lang="en-US" sz="130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9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Bedrock Guardrails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5852160" y="4078850"/>
            <a:ext cx="0" cy="539496"/>
          </a:xfrm>
          <a:prstGeom prst="line">
            <a:avLst/>
          </a:prstGeom>
          <a:noFill/>
          <a:ln w="15875">
            <a:solidFill>
              <a:srgbClr val="9A988E"/>
            </a:solidFill>
            <a:prstDash val="solid"/>
            <a:tailEnd type="triangle"/>
          </a:ln>
        </p:spPr>
      </p:sp>
      <p:sp>
        <p:nvSpPr>
          <p:cNvPr id="40" name="Shape 30"/>
          <p:cNvSpPr/>
          <p:nvPr/>
        </p:nvSpPr>
        <p:spPr>
          <a:xfrm>
            <a:off x="8366760" y="2405498"/>
            <a:ext cx="32004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41" name="Image 8" descr="/home/claude/icons/draft_artefact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4776" y="2501510"/>
            <a:ext cx="310896" cy="310896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8933688" y="2405498"/>
            <a:ext cx="2523744" cy="502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2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artefacts</a:t>
            </a:r>
            <a:endParaRPr lang="en-US" sz="12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9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Scenario, task, email, roleplay</a:t>
            </a:r>
            <a:endParaRPr lang="en-US" sz="1250" dirty="0"/>
          </a:p>
        </p:txBody>
      </p:sp>
      <p:sp>
        <p:nvSpPr>
          <p:cNvPr id="43" name="Shape 32"/>
          <p:cNvSpPr/>
          <p:nvPr/>
        </p:nvSpPr>
        <p:spPr>
          <a:xfrm>
            <a:off x="8366760" y="3036434"/>
            <a:ext cx="32004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44" name="Image 9" descr="/home/claude/icons/citati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94776" y="3132446"/>
            <a:ext cx="310896" cy="31089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8933688" y="3036434"/>
            <a:ext cx="2523744" cy="502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2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&amp; sources</a:t>
            </a:r>
            <a:endParaRPr lang="en-US" sz="12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9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traceable</a:t>
            </a:r>
            <a:endParaRPr lang="en-US" sz="1250" dirty="0"/>
          </a:p>
        </p:txBody>
      </p:sp>
      <p:sp>
        <p:nvSpPr>
          <p:cNvPr id="46" name="Shape 34"/>
          <p:cNvSpPr/>
          <p:nvPr/>
        </p:nvSpPr>
        <p:spPr>
          <a:xfrm>
            <a:off x="8366760" y="3667370"/>
            <a:ext cx="32004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47" name="Image 10" descr="/home/claude/icons/followup_ch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94776" y="3763382"/>
            <a:ext cx="310896" cy="310896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8933688" y="3667370"/>
            <a:ext cx="2523744" cy="502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2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chat</a:t>
            </a:r>
            <a:endParaRPr lang="en-US" sz="12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9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back to the agent</a:t>
            </a:r>
            <a:endParaRPr lang="en-US" sz="1250" dirty="0"/>
          </a:p>
        </p:txBody>
      </p:sp>
      <p:sp>
        <p:nvSpPr>
          <p:cNvPr id="49" name="Shape 36"/>
          <p:cNvSpPr/>
          <p:nvPr/>
        </p:nvSpPr>
        <p:spPr>
          <a:xfrm>
            <a:off x="7818120" y="3836534"/>
            <a:ext cx="228600" cy="0"/>
          </a:xfrm>
          <a:prstGeom prst="line">
            <a:avLst/>
          </a:prstGeom>
          <a:noFill/>
          <a:ln w="15875">
            <a:solidFill>
              <a:srgbClr val="9A988E"/>
            </a:solidFill>
            <a:prstDash val="solid"/>
          </a:ln>
        </p:spPr>
      </p:sp>
      <p:sp>
        <p:nvSpPr>
          <p:cNvPr id="50" name="Shape 37"/>
          <p:cNvSpPr/>
          <p:nvPr/>
        </p:nvSpPr>
        <p:spPr>
          <a:xfrm>
            <a:off x="8046720" y="2656958"/>
            <a:ext cx="0" cy="1179576"/>
          </a:xfrm>
          <a:prstGeom prst="line">
            <a:avLst/>
          </a:prstGeom>
          <a:noFill/>
          <a:ln w="15875">
            <a:solidFill>
              <a:srgbClr val="9A988E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8046720" y="2656958"/>
            <a:ext cx="301752" cy="0"/>
          </a:xfrm>
          <a:prstGeom prst="line">
            <a:avLst/>
          </a:prstGeom>
          <a:noFill/>
          <a:ln w="15875">
            <a:solidFill>
              <a:srgbClr val="9A988E"/>
            </a:solidFill>
            <a:prstDash val="solid"/>
            <a:tailEnd type="triangle"/>
          </a:ln>
        </p:spPr>
      </p:sp>
      <p:sp>
        <p:nvSpPr>
          <p:cNvPr id="52" name="Shape 39"/>
          <p:cNvSpPr/>
          <p:nvPr/>
        </p:nvSpPr>
        <p:spPr>
          <a:xfrm>
            <a:off x="8138160" y="3918830"/>
            <a:ext cx="210312" cy="0"/>
          </a:xfrm>
          <a:prstGeom prst="line">
            <a:avLst/>
          </a:prstGeom>
          <a:noFill/>
          <a:ln w="15875">
            <a:solidFill>
              <a:srgbClr val="9A988E"/>
            </a:solidFill>
            <a:prstDash val="dash"/>
          </a:ln>
        </p:spPr>
      </p:sp>
      <p:sp>
        <p:nvSpPr>
          <p:cNvPr id="53" name="Shape 40"/>
          <p:cNvSpPr/>
          <p:nvPr/>
        </p:nvSpPr>
        <p:spPr>
          <a:xfrm>
            <a:off x="8138160" y="3836534"/>
            <a:ext cx="0" cy="82296"/>
          </a:xfrm>
          <a:prstGeom prst="line">
            <a:avLst/>
          </a:prstGeom>
          <a:noFill/>
          <a:ln w="15875">
            <a:solidFill>
              <a:srgbClr val="9A988E"/>
            </a:solidFill>
            <a:prstDash val="dash"/>
          </a:ln>
        </p:spPr>
      </p:sp>
      <p:sp>
        <p:nvSpPr>
          <p:cNvPr id="54" name="Shape 41"/>
          <p:cNvSpPr/>
          <p:nvPr/>
        </p:nvSpPr>
        <p:spPr>
          <a:xfrm>
            <a:off x="8138160" y="3836534"/>
            <a:ext cx="0" cy="0"/>
          </a:xfrm>
          <a:prstGeom prst="line">
            <a:avLst/>
          </a:prstGeom>
          <a:noFill/>
          <a:ln w="15875">
            <a:solidFill>
              <a:srgbClr val="9A988E"/>
            </a:solidFill>
            <a:prstDash val="dash"/>
            <a:tailEnd type="triangle"/>
          </a:ln>
        </p:spPr>
      </p:sp>
      <p:sp>
        <p:nvSpPr>
          <p:cNvPr id="82" name="Shape 61"/>
          <p:cNvSpPr/>
          <p:nvPr/>
        </p:nvSpPr>
        <p:spPr>
          <a:xfrm>
            <a:off x="3794760" y="2890130"/>
            <a:ext cx="0" cy="2999232"/>
          </a:xfrm>
          <a:prstGeom prst="line">
            <a:avLst/>
          </a:prstGeom>
          <a:noFill/>
          <a:ln w="15875">
            <a:solidFill>
              <a:srgbClr val="9A988E"/>
            </a:solidFill>
            <a:prstDash val="dash"/>
          </a:ln>
        </p:spPr>
      </p:sp>
      <p:sp>
        <p:nvSpPr>
          <p:cNvPr id="83" name="Shape 62"/>
          <p:cNvSpPr/>
          <p:nvPr/>
        </p:nvSpPr>
        <p:spPr>
          <a:xfrm>
            <a:off x="3794760" y="2890130"/>
            <a:ext cx="82296" cy="0"/>
          </a:xfrm>
          <a:prstGeom prst="line">
            <a:avLst/>
          </a:prstGeom>
          <a:noFill/>
          <a:ln w="15875">
            <a:solidFill>
              <a:srgbClr val="9A988E"/>
            </a:solidFill>
            <a:prstDash val="dash"/>
            <a:tailEnd type="triangle"/>
          </a:ln>
        </p:spPr>
      </p:sp>
      <p:sp>
        <p:nvSpPr>
          <p:cNvPr id="84" name="Shape 63"/>
          <p:cNvSpPr/>
          <p:nvPr/>
        </p:nvSpPr>
        <p:spPr>
          <a:xfrm>
            <a:off x="457200" y="5577840"/>
            <a:ext cx="11247120" cy="731520"/>
          </a:xfrm>
          <a:prstGeom prst="roundRect">
            <a:avLst>
              <a:gd name="adj" fmla="val 8750"/>
            </a:avLst>
          </a:prstGeom>
          <a:solidFill>
            <a:srgbClr val="FAFAF8"/>
          </a:solidFill>
          <a:ln w="12700">
            <a:solidFill>
              <a:srgbClr val="DEDCD3"/>
            </a:solidFill>
            <a:prstDash val="solid"/>
          </a:ln>
        </p:spPr>
      </p:sp>
      <p:sp>
        <p:nvSpPr>
          <p:cNvPr id="85" name="Text 64"/>
          <p:cNvSpPr/>
          <p:nvPr/>
        </p:nvSpPr>
        <p:spPr>
          <a:xfrm>
            <a:off x="621792" y="5632704"/>
            <a:ext cx="10917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SERVICES</a:t>
            </a:r>
            <a:endParaRPr lang="en-US" sz="1250" dirty="0"/>
          </a:p>
        </p:txBody>
      </p:sp>
      <p:sp>
        <p:nvSpPr>
          <p:cNvPr id="86" name="Shape 65"/>
          <p:cNvSpPr/>
          <p:nvPr/>
        </p:nvSpPr>
        <p:spPr>
          <a:xfrm>
            <a:off x="658368" y="5897880"/>
            <a:ext cx="19659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87" name="Image 19" descr="/home/claude/icons/auth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6384" y="5971032"/>
            <a:ext cx="237744" cy="237744"/>
          </a:xfrm>
          <a:prstGeom prst="rect">
            <a:avLst/>
          </a:prstGeom>
        </p:spPr>
      </p:pic>
      <p:sp>
        <p:nvSpPr>
          <p:cNvPr id="88" name="Text 66"/>
          <p:cNvSpPr/>
          <p:nvPr/>
        </p:nvSpPr>
        <p:spPr>
          <a:xfrm>
            <a:off x="1152144" y="5897880"/>
            <a:ext cx="136245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0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0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8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</a:t>
            </a:r>
            <a:endParaRPr lang="en-US" sz="1050" dirty="0"/>
          </a:p>
        </p:txBody>
      </p:sp>
      <p:sp>
        <p:nvSpPr>
          <p:cNvPr id="89" name="Shape 67"/>
          <p:cNvSpPr/>
          <p:nvPr/>
        </p:nvSpPr>
        <p:spPr>
          <a:xfrm>
            <a:off x="2788920" y="5897880"/>
            <a:ext cx="19659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90" name="Image 20" descr="/home/claude/icons/acces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16936" y="5971032"/>
            <a:ext cx="237744" cy="237744"/>
          </a:xfrm>
          <a:prstGeom prst="rect">
            <a:avLst/>
          </a:prstGeom>
        </p:spPr>
      </p:pic>
      <p:sp>
        <p:nvSpPr>
          <p:cNvPr id="91" name="Text 68"/>
          <p:cNvSpPr/>
          <p:nvPr/>
        </p:nvSpPr>
        <p:spPr>
          <a:xfrm>
            <a:off x="3282696" y="5897880"/>
            <a:ext cx="136245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0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0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8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</a:t>
            </a:r>
            <a:endParaRPr lang="en-US" sz="1050" dirty="0"/>
          </a:p>
        </p:txBody>
      </p:sp>
      <p:sp>
        <p:nvSpPr>
          <p:cNvPr id="92" name="Shape 69"/>
          <p:cNvSpPr/>
          <p:nvPr/>
        </p:nvSpPr>
        <p:spPr>
          <a:xfrm>
            <a:off x="4919472" y="5897880"/>
            <a:ext cx="19659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93" name="Image 21" descr="/home/claude/icons/encryption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47488" y="5971032"/>
            <a:ext cx="237744" cy="237744"/>
          </a:xfrm>
          <a:prstGeom prst="rect">
            <a:avLst/>
          </a:prstGeom>
        </p:spPr>
      </p:pic>
      <p:sp>
        <p:nvSpPr>
          <p:cNvPr id="94" name="Text 70"/>
          <p:cNvSpPr/>
          <p:nvPr/>
        </p:nvSpPr>
        <p:spPr>
          <a:xfrm>
            <a:off x="5413248" y="5897880"/>
            <a:ext cx="136245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0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0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8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KMS</a:t>
            </a:r>
            <a:endParaRPr lang="en-US" sz="1050" dirty="0"/>
          </a:p>
        </p:txBody>
      </p:sp>
      <p:sp>
        <p:nvSpPr>
          <p:cNvPr id="95" name="Shape 71"/>
          <p:cNvSpPr/>
          <p:nvPr/>
        </p:nvSpPr>
        <p:spPr>
          <a:xfrm>
            <a:off x="7050024" y="5897880"/>
            <a:ext cx="19659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96" name="Image 22" descr="/home/claude/icons/monitoring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78040" y="5971032"/>
            <a:ext cx="237744" cy="237744"/>
          </a:xfrm>
          <a:prstGeom prst="rect">
            <a:avLst/>
          </a:prstGeom>
        </p:spPr>
      </p:pic>
      <p:sp>
        <p:nvSpPr>
          <p:cNvPr id="97" name="Text 72"/>
          <p:cNvSpPr/>
          <p:nvPr/>
        </p:nvSpPr>
        <p:spPr>
          <a:xfrm>
            <a:off x="7543800" y="5897880"/>
            <a:ext cx="136245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0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8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CloudWatch</a:t>
            </a:r>
            <a:endParaRPr lang="en-US" sz="1050" dirty="0"/>
          </a:p>
        </p:txBody>
      </p:sp>
      <p:sp>
        <p:nvSpPr>
          <p:cNvPr id="98" name="Shape 73"/>
          <p:cNvSpPr/>
          <p:nvPr/>
        </p:nvSpPr>
        <p:spPr>
          <a:xfrm>
            <a:off x="9180576" y="5897880"/>
            <a:ext cx="19659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3E1D8"/>
            </a:solidFill>
            <a:prstDash val="solid"/>
          </a:ln>
        </p:spPr>
      </p:sp>
      <p:pic>
        <p:nvPicPr>
          <p:cNvPr id="99" name="Image 23" descr="/home/claude/icons/audi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08592" y="5971032"/>
            <a:ext cx="237744" cy="237744"/>
          </a:xfrm>
          <a:prstGeom prst="rect">
            <a:avLst/>
          </a:prstGeom>
        </p:spPr>
      </p:pic>
      <p:sp>
        <p:nvSpPr>
          <p:cNvPr id="100" name="Text 74"/>
          <p:cNvSpPr/>
          <p:nvPr/>
        </p:nvSpPr>
        <p:spPr>
          <a:xfrm>
            <a:off x="9674352" y="5897880"/>
            <a:ext cx="136245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05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50" dirty="0"/>
          </a:p>
          <a:p>
            <a:pPr marL="0" indent="0" algn="l">
              <a:lnSpc>
                <a:spcPct val="97000"/>
              </a:lnSpc>
              <a:buNone/>
            </a:pPr>
            <a:r>
              <a:rPr lang="en-US" sz="8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CloudTrail</a:t>
            </a:r>
            <a:endParaRPr lang="en-US" sz="1050" dirty="0"/>
          </a:p>
        </p:txBody>
      </p:sp>
      <p:grpSp>
        <p:nvGrpSpPr>
          <p:cNvPr id="103" name="Group 102"/>
          <p:cNvGrpSpPr/>
          <p:nvPr/>
        </p:nvGrpSpPr>
        <p:grpSpPr>
          <a:xfrm>
            <a:off x="459835" y="893716"/>
            <a:ext cx="11247120" cy="1005840"/>
            <a:chOff x="457200" y="4434840"/>
            <a:chExt cx="11247120" cy="1005840"/>
          </a:xfrm>
        </p:grpSpPr>
        <p:sp>
          <p:nvSpPr>
            <p:cNvPr id="104" name="Shape 42"/>
            <p:cNvSpPr/>
            <p:nvPr/>
          </p:nvSpPr>
          <p:spPr>
            <a:xfrm>
              <a:off x="457200" y="4434840"/>
              <a:ext cx="11247120" cy="1005840"/>
            </a:xfrm>
            <a:prstGeom prst="roundRect">
              <a:avLst>
                <a:gd name="adj" fmla="val 6364"/>
              </a:avLst>
            </a:prstGeom>
            <a:solidFill>
              <a:srgbClr val="FAFAF8"/>
            </a:solidFill>
            <a:ln w="12700">
              <a:solidFill>
                <a:srgbClr val="DEDCD3"/>
              </a:solidFill>
              <a:prstDash val="dash"/>
            </a:ln>
          </p:spPr>
        </p:sp>
        <p:sp>
          <p:nvSpPr>
            <p:cNvPr id="105" name="Text 43"/>
            <p:cNvSpPr/>
            <p:nvPr/>
          </p:nvSpPr>
          <p:spPr>
            <a:xfrm>
              <a:off x="621792" y="4489704"/>
              <a:ext cx="1091793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50" b="1" dirty="0">
                  <a:solidFill>
                    <a:srgbClr val="2F485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KNOWLEDGE INGESTION PIPELINE  ·  builds the vector DB</a:t>
              </a:r>
              <a:endParaRPr lang="en-US" sz="1250" dirty="0"/>
            </a:p>
          </p:txBody>
        </p:sp>
        <p:sp>
          <p:nvSpPr>
            <p:cNvPr id="106" name="Shape 44"/>
            <p:cNvSpPr/>
            <p:nvPr/>
          </p:nvSpPr>
          <p:spPr>
            <a:xfrm>
              <a:off x="594360" y="4800600"/>
              <a:ext cx="1600200" cy="512064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9525">
              <a:solidFill>
                <a:srgbClr val="E3E1D8"/>
              </a:solidFill>
              <a:prstDash val="solid"/>
            </a:ln>
          </p:spPr>
        </p:sp>
        <p:pic>
          <p:nvPicPr>
            <p:cNvPr id="107" name="Image 11" descr="/home/claude/icons/doc_icon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22376" y="4864608"/>
              <a:ext cx="182880" cy="182880"/>
            </a:xfrm>
            <a:prstGeom prst="rect">
              <a:avLst/>
            </a:prstGeom>
          </p:spPr>
        </p:pic>
        <p:pic>
          <p:nvPicPr>
            <p:cNvPr id="108" name="Image 12" descr="/home/claude/icons/pdf_icon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41832" y="4864608"/>
              <a:ext cx="182880" cy="182880"/>
            </a:xfrm>
            <a:prstGeom prst="rect">
              <a:avLst/>
            </a:prstGeom>
          </p:spPr>
        </p:pic>
        <p:pic>
          <p:nvPicPr>
            <p:cNvPr id="109" name="Image 13" descr="/home/claude/icons/url_icon.pn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161288" y="4864608"/>
              <a:ext cx="182880" cy="182880"/>
            </a:xfrm>
            <a:prstGeom prst="rect">
              <a:avLst/>
            </a:prstGeom>
          </p:spPr>
        </p:pic>
        <p:sp>
          <p:nvSpPr>
            <p:cNvPr id="110" name="Text 45"/>
            <p:cNvSpPr/>
            <p:nvPr/>
          </p:nvSpPr>
          <p:spPr>
            <a:xfrm>
              <a:off x="685800" y="5047488"/>
              <a:ext cx="1417320" cy="265176"/>
            </a:xfrm>
            <a:prstGeom prst="rect">
              <a:avLst/>
            </a:prstGeom>
            <a:noFill/>
            <a:ln/>
          </p:spPr>
          <p:txBody>
            <a:bodyPr wrap="square" lIns="12700" tIns="12700" rIns="12700" bIns="12700" rtlCol="0" anchor="t"/>
            <a:lstStyle/>
            <a:p>
              <a:pPr marL="0" indent="0" algn="l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1B1B1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Docs, PDFs, URLs</a:t>
              </a:r>
              <a:endParaRPr lang="en-US" sz="1050" dirty="0"/>
            </a:p>
            <a:p>
              <a:pPr marL="0" indent="0" algn="l">
                <a:lnSpc>
                  <a:spcPct val="95000"/>
                </a:lnSpc>
                <a:buNone/>
              </a:pPr>
              <a:r>
                <a:rPr lang="en-US" sz="850" dirty="0">
                  <a:solidFill>
                    <a:srgbClr val="6B6A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Provided by trainer</a:t>
              </a:r>
              <a:endParaRPr lang="en-US" sz="1050" dirty="0"/>
            </a:p>
          </p:txBody>
        </p:sp>
        <p:sp>
          <p:nvSpPr>
            <p:cNvPr id="111" name="Shape 46"/>
            <p:cNvSpPr/>
            <p:nvPr/>
          </p:nvSpPr>
          <p:spPr>
            <a:xfrm>
              <a:off x="2331720" y="4800600"/>
              <a:ext cx="1600200" cy="512064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9525">
              <a:solidFill>
                <a:srgbClr val="E3E1D8"/>
              </a:solidFill>
              <a:prstDash val="solid"/>
            </a:ln>
          </p:spPr>
        </p:sp>
        <p:pic>
          <p:nvPicPr>
            <p:cNvPr id="112" name="Image 14" descr="/home/claude/icons/s3_bucket.pn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2459736" y="4901184"/>
              <a:ext cx="310896" cy="310896"/>
            </a:xfrm>
            <a:prstGeom prst="rect">
              <a:avLst/>
            </a:prstGeom>
          </p:spPr>
        </p:pic>
        <p:sp>
          <p:nvSpPr>
            <p:cNvPr id="113" name="Text 47"/>
            <p:cNvSpPr/>
            <p:nvPr/>
          </p:nvSpPr>
          <p:spPr>
            <a:xfrm>
              <a:off x="2898648" y="4800600"/>
              <a:ext cx="923544" cy="512064"/>
            </a:xfrm>
            <a:prstGeom prst="rect">
              <a:avLst/>
            </a:prstGeom>
            <a:noFill/>
            <a:ln/>
          </p:spPr>
          <p:txBody>
            <a:bodyPr wrap="square" lIns="12700" tIns="12700" rIns="12700" bIns="12700" rtlCol="0" anchor="ctr"/>
            <a:lstStyle/>
            <a:p>
              <a:pPr marL="0" indent="0" algn="l">
                <a:lnSpc>
                  <a:spcPct val="97000"/>
                </a:lnSpc>
                <a:buNone/>
              </a:pPr>
              <a:r>
                <a:rPr lang="en-US" sz="1100" b="1" dirty="0">
                  <a:solidFill>
                    <a:srgbClr val="1B1B1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Amazon S3</a:t>
              </a:r>
              <a:endParaRPr lang="en-US" sz="1100" dirty="0"/>
            </a:p>
            <a:p>
              <a:pPr marL="0" indent="0" algn="l">
                <a:lnSpc>
                  <a:spcPct val="97000"/>
                </a:lnSpc>
                <a:buNone/>
              </a:pPr>
              <a:r>
                <a:rPr lang="en-US" sz="850" dirty="0">
                  <a:solidFill>
                    <a:srgbClr val="6B6A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Landing zone</a:t>
              </a:r>
              <a:endParaRPr lang="en-US" sz="1100" dirty="0"/>
            </a:p>
          </p:txBody>
        </p:sp>
        <p:sp>
          <p:nvSpPr>
            <p:cNvPr id="114" name="Shape 48"/>
            <p:cNvSpPr/>
            <p:nvPr/>
          </p:nvSpPr>
          <p:spPr>
            <a:xfrm>
              <a:off x="4069080" y="4800600"/>
              <a:ext cx="1600200" cy="512064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9525">
              <a:solidFill>
                <a:srgbClr val="E3E1D8"/>
              </a:solidFill>
              <a:prstDash val="solid"/>
            </a:ln>
          </p:spPr>
        </p:sp>
        <p:pic>
          <p:nvPicPr>
            <p:cNvPr id="115" name="Image 15" descr="/home/claude/icons/extract.pn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197096" y="4901184"/>
              <a:ext cx="310896" cy="310896"/>
            </a:xfrm>
            <a:prstGeom prst="rect">
              <a:avLst/>
            </a:prstGeom>
          </p:spPr>
        </p:pic>
        <p:sp>
          <p:nvSpPr>
            <p:cNvPr id="116" name="Text 49"/>
            <p:cNvSpPr/>
            <p:nvPr/>
          </p:nvSpPr>
          <p:spPr>
            <a:xfrm>
              <a:off x="4636008" y="4800600"/>
              <a:ext cx="923544" cy="512064"/>
            </a:xfrm>
            <a:prstGeom prst="rect">
              <a:avLst/>
            </a:prstGeom>
            <a:noFill/>
            <a:ln/>
          </p:spPr>
          <p:txBody>
            <a:bodyPr wrap="square" lIns="12700" tIns="12700" rIns="12700" bIns="12700" rtlCol="0" anchor="ctr"/>
            <a:lstStyle/>
            <a:p>
              <a:pPr marL="0" indent="0" algn="l">
                <a:lnSpc>
                  <a:spcPct val="97000"/>
                </a:lnSpc>
                <a:buNone/>
              </a:pPr>
              <a:r>
                <a:rPr lang="en-US" sz="1100" b="1" dirty="0">
                  <a:solidFill>
                    <a:srgbClr val="1B1B1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Extract</a:t>
              </a:r>
              <a:endParaRPr lang="en-US" sz="1100" dirty="0"/>
            </a:p>
            <a:p>
              <a:pPr marL="0" indent="0" algn="l">
                <a:lnSpc>
                  <a:spcPct val="97000"/>
                </a:lnSpc>
                <a:buNone/>
              </a:pPr>
              <a:r>
                <a:rPr lang="en-US" sz="850" dirty="0">
                  <a:solidFill>
                    <a:srgbClr val="6B6A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Textract</a:t>
              </a:r>
              <a:endParaRPr lang="en-US" sz="1100" dirty="0"/>
            </a:p>
          </p:txBody>
        </p:sp>
        <p:sp>
          <p:nvSpPr>
            <p:cNvPr id="117" name="Shape 50"/>
            <p:cNvSpPr/>
            <p:nvPr/>
          </p:nvSpPr>
          <p:spPr>
            <a:xfrm>
              <a:off x="5806440" y="4800600"/>
              <a:ext cx="1600200" cy="512064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9525">
              <a:solidFill>
                <a:srgbClr val="E3E1D8"/>
              </a:solidFill>
              <a:prstDash val="solid"/>
            </a:ln>
          </p:spPr>
        </p:sp>
        <p:pic>
          <p:nvPicPr>
            <p:cNvPr id="118" name="Image 16" descr="/home/claude/icons/chunk.pn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5934456" y="4901184"/>
              <a:ext cx="310896" cy="310896"/>
            </a:xfrm>
            <a:prstGeom prst="rect">
              <a:avLst/>
            </a:prstGeom>
          </p:spPr>
        </p:pic>
        <p:sp>
          <p:nvSpPr>
            <p:cNvPr id="119" name="Text 51"/>
            <p:cNvSpPr/>
            <p:nvPr/>
          </p:nvSpPr>
          <p:spPr>
            <a:xfrm>
              <a:off x="6373368" y="4800600"/>
              <a:ext cx="923544" cy="512064"/>
            </a:xfrm>
            <a:prstGeom prst="rect">
              <a:avLst/>
            </a:prstGeom>
            <a:noFill/>
            <a:ln/>
          </p:spPr>
          <p:txBody>
            <a:bodyPr wrap="square" lIns="12700" tIns="12700" rIns="12700" bIns="12700" rtlCol="0" anchor="ctr"/>
            <a:lstStyle/>
            <a:p>
              <a:pPr marL="0" indent="0" algn="l">
                <a:lnSpc>
                  <a:spcPct val="97000"/>
                </a:lnSpc>
                <a:buNone/>
              </a:pPr>
              <a:r>
                <a:rPr lang="en-US" sz="1100" b="1" dirty="0">
                  <a:solidFill>
                    <a:srgbClr val="1B1B1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Chunk</a:t>
              </a:r>
              <a:endParaRPr lang="en-US" sz="1100" dirty="0"/>
            </a:p>
            <a:p>
              <a:pPr marL="0" indent="0" algn="l">
                <a:lnSpc>
                  <a:spcPct val="97000"/>
                </a:lnSpc>
                <a:buNone/>
              </a:pPr>
              <a:r>
                <a:rPr lang="en-US" sz="850" dirty="0">
                  <a:solidFill>
                    <a:srgbClr val="6B6A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AWS Lambda</a:t>
              </a:r>
              <a:endParaRPr lang="en-US" sz="1100" dirty="0"/>
            </a:p>
          </p:txBody>
        </p:sp>
        <p:sp>
          <p:nvSpPr>
            <p:cNvPr id="120" name="Shape 52"/>
            <p:cNvSpPr/>
            <p:nvPr/>
          </p:nvSpPr>
          <p:spPr>
            <a:xfrm>
              <a:off x="7543800" y="4800600"/>
              <a:ext cx="1600200" cy="512064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9525">
              <a:solidFill>
                <a:srgbClr val="E3E1D8"/>
              </a:solidFill>
              <a:prstDash val="solid"/>
            </a:ln>
          </p:spPr>
        </p:sp>
        <p:pic>
          <p:nvPicPr>
            <p:cNvPr id="121" name="Image 17" descr="/home/claude/icons/embed.pn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7671816" y="4901184"/>
              <a:ext cx="310896" cy="310896"/>
            </a:xfrm>
            <a:prstGeom prst="rect">
              <a:avLst/>
            </a:prstGeom>
          </p:spPr>
        </p:pic>
        <p:sp>
          <p:nvSpPr>
            <p:cNvPr id="122" name="Text 53"/>
            <p:cNvSpPr/>
            <p:nvPr/>
          </p:nvSpPr>
          <p:spPr>
            <a:xfrm>
              <a:off x="8110728" y="4800600"/>
              <a:ext cx="923544" cy="512064"/>
            </a:xfrm>
            <a:prstGeom prst="rect">
              <a:avLst/>
            </a:prstGeom>
            <a:noFill/>
            <a:ln/>
          </p:spPr>
          <p:txBody>
            <a:bodyPr wrap="square" lIns="12700" tIns="12700" rIns="12700" bIns="12700" rtlCol="0" anchor="ctr"/>
            <a:lstStyle/>
            <a:p>
              <a:pPr marL="0" indent="0" algn="l">
                <a:lnSpc>
                  <a:spcPct val="97000"/>
                </a:lnSpc>
                <a:buNone/>
              </a:pPr>
              <a:r>
                <a:rPr lang="en-US" sz="1100" b="1" dirty="0">
                  <a:solidFill>
                    <a:srgbClr val="1B1B1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Embed</a:t>
              </a:r>
              <a:endParaRPr lang="en-US" sz="1100" dirty="0"/>
            </a:p>
            <a:p>
              <a:pPr marL="0" indent="0" algn="l">
                <a:lnSpc>
                  <a:spcPct val="97000"/>
                </a:lnSpc>
                <a:buNone/>
              </a:pPr>
              <a:r>
                <a:rPr lang="en-US" sz="850" dirty="0">
                  <a:solidFill>
                    <a:srgbClr val="6B6A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Titan (Bedrock)</a:t>
              </a:r>
              <a:endParaRPr lang="en-US" sz="1100" dirty="0"/>
            </a:p>
          </p:txBody>
        </p:sp>
        <p:sp>
          <p:nvSpPr>
            <p:cNvPr id="123" name="Shape 54"/>
            <p:cNvSpPr/>
            <p:nvPr/>
          </p:nvSpPr>
          <p:spPr>
            <a:xfrm>
              <a:off x="9281160" y="4800600"/>
              <a:ext cx="1600200" cy="512064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9525">
              <a:solidFill>
                <a:srgbClr val="E3E1D8"/>
              </a:solidFill>
              <a:prstDash val="solid"/>
            </a:ln>
          </p:spPr>
        </p:sp>
        <p:pic>
          <p:nvPicPr>
            <p:cNvPr id="124" name="Image 18" descr="/home/claude/icons/vector_db.pn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409176" y="4901184"/>
              <a:ext cx="310896" cy="310896"/>
            </a:xfrm>
            <a:prstGeom prst="rect">
              <a:avLst/>
            </a:prstGeom>
          </p:spPr>
        </p:pic>
        <p:sp>
          <p:nvSpPr>
            <p:cNvPr id="125" name="Text 55"/>
            <p:cNvSpPr/>
            <p:nvPr/>
          </p:nvSpPr>
          <p:spPr>
            <a:xfrm>
              <a:off x="9848088" y="4800600"/>
              <a:ext cx="923544" cy="512064"/>
            </a:xfrm>
            <a:prstGeom prst="rect">
              <a:avLst/>
            </a:prstGeom>
            <a:noFill/>
            <a:ln/>
          </p:spPr>
          <p:txBody>
            <a:bodyPr wrap="square" lIns="12700" tIns="12700" rIns="12700" bIns="12700" rtlCol="0" anchor="ctr"/>
            <a:lstStyle/>
            <a:p>
              <a:pPr marL="0" indent="0" algn="l">
                <a:lnSpc>
                  <a:spcPct val="97000"/>
                </a:lnSpc>
                <a:buNone/>
              </a:pPr>
              <a:r>
                <a:rPr lang="en-US" sz="1100" b="1" dirty="0">
                  <a:solidFill>
                    <a:srgbClr val="1B1B1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Vector DB</a:t>
              </a:r>
              <a:endParaRPr lang="en-US" sz="1100" dirty="0"/>
            </a:p>
            <a:p>
              <a:pPr marL="0" indent="0" algn="l">
                <a:lnSpc>
                  <a:spcPct val="97000"/>
                </a:lnSpc>
                <a:buNone/>
              </a:pPr>
              <a:r>
                <a:rPr lang="en-US" sz="850" dirty="0">
                  <a:solidFill>
                    <a:srgbClr val="6B6A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OpenSearch</a:t>
              </a:r>
              <a:endParaRPr lang="en-US" sz="1100" dirty="0"/>
            </a:p>
          </p:txBody>
        </p:sp>
        <p:sp>
          <p:nvSpPr>
            <p:cNvPr id="126" name="Shape 56"/>
            <p:cNvSpPr/>
            <p:nvPr/>
          </p:nvSpPr>
          <p:spPr>
            <a:xfrm>
              <a:off x="2194560" y="5056632"/>
              <a:ext cx="137160" cy="0"/>
            </a:xfrm>
            <a:prstGeom prst="line">
              <a:avLst/>
            </a:prstGeom>
            <a:noFill/>
            <a:ln w="15875">
              <a:solidFill>
                <a:srgbClr val="9A988E"/>
              </a:solidFill>
              <a:prstDash val="solid"/>
              <a:tailEnd type="triangle"/>
            </a:ln>
          </p:spPr>
        </p:sp>
        <p:sp>
          <p:nvSpPr>
            <p:cNvPr id="127" name="Shape 57"/>
            <p:cNvSpPr/>
            <p:nvPr/>
          </p:nvSpPr>
          <p:spPr>
            <a:xfrm>
              <a:off x="3931920" y="5056632"/>
              <a:ext cx="137160" cy="0"/>
            </a:xfrm>
            <a:prstGeom prst="line">
              <a:avLst/>
            </a:prstGeom>
            <a:noFill/>
            <a:ln w="15875">
              <a:solidFill>
                <a:srgbClr val="9A988E"/>
              </a:solidFill>
              <a:prstDash val="solid"/>
              <a:tailEnd type="triangle"/>
            </a:ln>
          </p:spPr>
        </p:sp>
        <p:sp>
          <p:nvSpPr>
            <p:cNvPr id="128" name="Shape 58"/>
            <p:cNvSpPr/>
            <p:nvPr/>
          </p:nvSpPr>
          <p:spPr>
            <a:xfrm>
              <a:off x="5669280" y="5056632"/>
              <a:ext cx="137160" cy="0"/>
            </a:xfrm>
            <a:prstGeom prst="line">
              <a:avLst/>
            </a:prstGeom>
            <a:noFill/>
            <a:ln w="15875">
              <a:solidFill>
                <a:srgbClr val="9A988E"/>
              </a:solidFill>
              <a:prstDash val="solid"/>
              <a:tailEnd type="triangle"/>
            </a:ln>
          </p:spPr>
        </p:sp>
        <p:sp>
          <p:nvSpPr>
            <p:cNvPr id="129" name="Shape 59"/>
            <p:cNvSpPr/>
            <p:nvPr/>
          </p:nvSpPr>
          <p:spPr>
            <a:xfrm>
              <a:off x="7406640" y="5056632"/>
              <a:ext cx="137160" cy="0"/>
            </a:xfrm>
            <a:prstGeom prst="line">
              <a:avLst/>
            </a:prstGeom>
            <a:noFill/>
            <a:ln w="15875">
              <a:solidFill>
                <a:srgbClr val="9A988E"/>
              </a:solidFill>
              <a:prstDash val="solid"/>
              <a:tailEnd type="triangle"/>
            </a:ln>
          </p:spPr>
        </p:sp>
        <p:sp>
          <p:nvSpPr>
            <p:cNvPr id="130" name="Shape 60"/>
            <p:cNvSpPr/>
            <p:nvPr/>
          </p:nvSpPr>
          <p:spPr>
            <a:xfrm>
              <a:off x="9144000" y="5056632"/>
              <a:ext cx="137160" cy="0"/>
            </a:xfrm>
            <a:prstGeom prst="line">
              <a:avLst/>
            </a:prstGeom>
            <a:noFill/>
            <a:ln w="15875">
              <a:solidFill>
                <a:srgbClr val="9A988E"/>
              </a:solidFill>
              <a:prstDash val="solid"/>
              <a:tailEnd type="triangle"/>
            </a:ln>
          </p:spPr>
        </p:sp>
      </p:grpSp>
    </p:spTree>
    <p:extLst>
      <p:ext uri="{BB962C8B-B14F-4D97-AF65-F5344CB8AC3E}">
        <p14:creationId xmlns:p14="http://schemas.microsoft.com/office/powerpoint/2010/main" val="2449711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1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 Buddy — AWS RAG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Source-backed generation for trainers and learners, grounded in governed VET content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3017520" cy="3108960"/>
          </a:xfrm>
          <a:prstGeom prst="roundRect">
            <a:avLst>
              <a:gd name="adj" fmla="val 2424"/>
            </a:avLst>
          </a:prstGeom>
          <a:solidFill>
            <a:srgbClr val="F5F9FE"/>
          </a:solidFill>
          <a:ln w="12700">
            <a:solidFill>
              <a:srgbClr val="D6E5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932688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0FAF6"/>
          </a:solidFill>
          <a:ln w="12700">
            <a:solidFill>
              <a:srgbClr val="D3ED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49040" y="932688"/>
            <a:ext cx="4206240" cy="3438144"/>
          </a:xfrm>
          <a:prstGeom prst="roundRect">
            <a:avLst>
              <a:gd name="adj" fmla="val 2128"/>
            </a:avLst>
          </a:prstGeom>
          <a:solidFill>
            <a:srgbClr val="F6F5FD"/>
          </a:solidFill>
          <a:ln w="12700">
            <a:solidFill>
              <a:srgbClr val="DAD7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987552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13632" y="987552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orchestration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94192" y="987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1353312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E6F1FB"/>
          </a:solidFill>
          <a:ln w="12700">
            <a:solidFill>
              <a:srgbClr val="378ADD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" y="1353312"/>
            <a:ext cx="2596896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users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trainers, learners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1984248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E6F1FB"/>
          </a:solidFill>
          <a:ln w="12700">
            <a:solidFill>
              <a:srgbClr val="378ADD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" y="1984248"/>
            <a:ext cx="2596896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Amplify + CloudFront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2615184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E6F1FB"/>
          </a:solidFill>
          <a:ln w="12700">
            <a:solidFill>
              <a:srgbClr val="378ADD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7512" y="2615184"/>
            <a:ext cx="2596896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Dropdowns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element, PC, output type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24612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E6F1FB"/>
          </a:solidFill>
          <a:ln w="12700">
            <a:solidFill>
              <a:srgbClr val="378ADD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" y="3246120"/>
            <a:ext cx="2596896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&amp; chat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+ prompts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886200" y="1353312"/>
            <a:ext cx="3931920" cy="484632"/>
          </a:xfrm>
          <a:prstGeom prst="roundRect">
            <a:avLst>
              <a:gd name="adj" fmla="val 11321"/>
            </a:avLst>
          </a:prstGeom>
          <a:solidFill>
            <a:srgbClr val="EEEDFE"/>
          </a:solidFill>
          <a:ln w="12700">
            <a:solidFill>
              <a:srgbClr val="7F77DD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959352" y="1353312"/>
            <a:ext cx="3785616" cy="4846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&amp; auth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API Gateway + Cognito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86200" y="1938528"/>
            <a:ext cx="3931920" cy="484632"/>
          </a:xfrm>
          <a:prstGeom prst="roundRect">
            <a:avLst>
              <a:gd name="adj" fmla="val 11321"/>
            </a:avLst>
          </a:prstGeom>
          <a:solidFill>
            <a:srgbClr val="EEEDFE"/>
          </a:solidFill>
          <a:ln w="12700">
            <a:solidFill>
              <a:srgbClr val="7F77DD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959352" y="1938528"/>
            <a:ext cx="3785616" cy="4846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assembler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 builds request JSON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886200" y="2523744"/>
            <a:ext cx="3931920" cy="484632"/>
          </a:xfrm>
          <a:prstGeom prst="roundRect">
            <a:avLst>
              <a:gd name="adj" fmla="val 11321"/>
            </a:avLst>
          </a:prstGeom>
          <a:solidFill>
            <a:srgbClr val="EEEDFE"/>
          </a:solidFill>
          <a:ln w="12700">
            <a:solidFill>
              <a:srgbClr val="7F77DD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959352" y="2523744"/>
            <a:ext cx="3785616" cy="4846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Agent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+ prompt assembly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86200" y="3108960"/>
            <a:ext cx="3931920" cy="484632"/>
          </a:xfrm>
          <a:prstGeom prst="roundRect">
            <a:avLst>
              <a:gd name="adj" fmla="val 11321"/>
            </a:avLst>
          </a:prstGeom>
          <a:solidFill>
            <a:srgbClr val="EEEDFE"/>
          </a:solidFill>
          <a:ln w="12700">
            <a:solidFill>
              <a:srgbClr val="7F77DD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959352" y="3108960"/>
            <a:ext cx="3785616" cy="4846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OpenSearch Serverless (vector + semantic)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886200" y="3694176"/>
            <a:ext cx="3931920" cy="484632"/>
          </a:xfrm>
          <a:prstGeom prst="roundRect">
            <a:avLst>
              <a:gd name="adj" fmla="val 11321"/>
            </a:avLst>
          </a:prstGeom>
          <a:solidFill>
            <a:srgbClr val="EEEDFE"/>
          </a:solidFill>
          <a:ln w="12700">
            <a:solidFill>
              <a:srgbClr val="7F77DD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959352" y="3694176"/>
            <a:ext cx="3785616" cy="4846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generation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+ Guardrails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366760" y="1353312"/>
            <a:ext cx="3200400" cy="502920"/>
          </a:xfrm>
          <a:prstGeom prst="roundRect">
            <a:avLst>
              <a:gd name="adj" fmla="val 10909"/>
            </a:avLst>
          </a:prstGeom>
          <a:solidFill>
            <a:srgbClr val="E1F5EE"/>
          </a:solidFill>
          <a:ln w="12700">
            <a:solidFill>
              <a:srgbClr val="1D9E75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39912" y="1353312"/>
            <a:ext cx="3054096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artefacts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scenario, task, email, roleplay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366760" y="1984248"/>
            <a:ext cx="3200400" cy="502920"/>
          </a:xfrm>
          <a:prstGeom prst="roundRect">
            <a:avLst>
              <a:gd name="adj" fmla="val 10909"/>
            </a:avLst>
          </a:prstGeom>
          <a:solidFill>
            <a:srgbClr val="E1F5EE"/>
          </a:solidFill>
          <a:ln w="12700">
            <a:solidFill>
              <a:srgbClr val="1D9E75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39912" y="1984248"/>
            <a:ext cx="3054096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&amp; sources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traceable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366760" y="2615184"/>
            <a:ext cx="3200400" cy="502920"/>
          </a:xfrm>
          <a:prstGeom prst="roundRect">
            <a:avLst>
              <a:gd name="adj" fmla="val 10909"/>
            </a:avLst>
          </a:prstGeom>
          <a:solidFill>
            <a:srgbClr val="E1F5EE"/>
          </a:solidFill>
          <a:ln w="12700">
            <a:solidFill>
              <a:srgbClr val="1D9E75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39912" y="2615184"/>
            <a:ext cx="3054096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 dashboard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validate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366760" y="3246120"/>
            <a:ext cx="3200400" cy="502920"/>
          </a:xfrm>
          <a:prstGeom prst="roundRect">
            <a:avLst>
              <a:gd name="adj" fmla="val 10909"/>
            </a:avLst>
          </a:prstGeom>
          <a:solidFill>
            <a:srgbClr val="E1F5EE"/>
          </a:solidFill>
          <a:ln w="12700">
            <a:solidFill>
              <a:srgbClr val="1D9E75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439912" y="3246120"/>
            <a:ext cx="3054096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chat</a:t>
            </a:r>
            <a:endParaRPr lang="en-US" sz="13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 outputs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474720" y="1920240"/>
            <a:ext cx="274320" cy="0"/>
          </a:xfrm>
          <a:prstGeom prst="line">
            <a:avLst/>
          </a:prstGeom>
          <a:noFill/>
          <a:ln w="22225">
            <a:solidFill>
              <a:srgbClr val="534AB7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955280" y="1920240"/>
            <a:ext cx="274320" cy="0"/>
          </a:xfrm>
          <a:prstGeom prst="line">
            <a:avLst/>
          </a:prstGeom>
          <a:noFill/>
          <a:ln w="22225">
            <a:solidFill>
              <a:srgbClr val="534AB7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57200" y="4498848"/>
            <a:ext cx="11247120" cy="941832"/>
          </a:xfrm>
          <a:prstGeom prst="roundRect">
            <a:avLst>
              <a:gd name="adj" fmla="val 7767"/>
            </a:avLst>
          </a:prstGeom>
          <a:solidFill>
            <a:srgbClr val="F7F6F1"/>
          </a:solidFill>
          <a:ln w="12700">
            <a:solidFill>
              <a:srgbClr val="C9C7BE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621792" y="4553712"/>
            <a:ext cx="10917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ingestion pipeline  ·  runs in the background to build the retrieval store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04672" y="4864608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77824" y="4864608"/>
            <a:ext cx="181965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docs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953512" y="4864608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026664" y="4864608"/>
            <a:ext cx="181965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Textract / BDA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102352" y="4864608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175504" y="4864608"/>
            <a:ext cx="181965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251192" y="4864608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7324344" y="4864608"/>
            <a:ext cx="181965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 (Bedrock)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400032" y="4864608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9473184" y="4864608"/>
            <a:ext cx="181965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OpenSearch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2770632" y="5093208"/>
            <a:ext cx="182880" cy="0"/>
          </a:xfrm>
          <a:prstGeom prst="line">
            <a:avLst/>
          </a:prstGeom>
          <a:noFill/>
          <a:ln w="22225">
            <a:solidFill>
              <a:srgbClr val="888780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4919472" y="5093208"/>
            <a:ext cx="182880" cy="0"/>
          </a:xfrm>
          <a:prstGeom prst="line">
            <a:avLst/>
          </a:prstGeom>
          <a:noFill/>
          <a:ln w="22225">
            <a:solidFill>
              <a:srgbClr val="8887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7068312" y="5093208"/>
            <a:ext cx="182880" cy="0"/>
          </a:xfrm>
          <a:prstGeom prst="line">
            <a:avLst/>
          </a:prstGeom>
          <a:noFill/>
          <a:ln w="22225">
            <a:solidFill>
              <a:srgbClr val="888780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217152" y="5093208"/>
            <a:ext cx="182880" cy="0"/>
          </a:xfrm>
          <a:prstGeom prst="line">
            <a:avLst/>
          </a:prstGeom>
          <a:noFill/>
          <a:ln w="22225">
            <a:solidFill>
              <a:srgbClr val="888780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5852160" y="4498848"/>
            <a:ext cx="0" cy="0"/>
          </a:xfrm>
          <a:prstGeom prst="line">
            <a:avLst/>
          </a:prstGeom>
          <a:noFill/>
          <a:ln w="22225">
            <a:solidFill>
              <a:srgbClr val="888780"/>
            </a:solidFill>
            <a:prstDash val="dash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457200" y="5550408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7F6F1"/>
          </a:solidFill>
          <a:ln w="12700">
            <a:solidFill>
              <a:srgbClr val="C9C7B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21792" y="5605272"/>
            <a:ext cx="10917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services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804672" y="5815584"/>
            <a:ext cx="1965960" cy="384048"/>
          </a:xfrm>
          <a:prstGeom prst="roundRect">
            <a:avLst>
              <a:gd name="adj" fmla="val 14286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877824" y="5815584"/>
            <a:ext cx="1819656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0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953512" y="5815584"/>
            <a:ext cx="1965960" cy="384048"/>
          </a:xfrm>
          <a:prstGeom prst="roundRect">
            <a:avLst>
              <a:gd name="adj" fmla="val 14286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026664" y="5815584"/>
            <a:ext cx="1819656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0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5102352" y="5815584"/>
            <a:ext cx="1965960" cy="384048"/>
          </a:xfrm>
          <a:prstGeom prst="roundRect">
            <a:avLst>
              <a:gd name="adj" fmla="val 14286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5175504" y="5815584"/>
            <a:ext cx="1819656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0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KMS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7251192" y="5815584"/>
            <a:ext cx="1965960" cy="384048"/>
          </a:xfrm>
          <a:prstGeom prst="roundRect">
            <a:avLst>
              <a:gd name="adj" fmla="val 14286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7324344" y="5815584"/>
            <a:ext cx="1819656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CloudWatch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9400032" y="5815584"/>
            <a:ext cx="1965960" cy="384048"/>
          </a:xfrm>
          <a:prstGeom prst="roundRect">
            <a:avLst>
              <a:gd name="adj" fmla="val 14286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9473184" y="5815584"/>
            <a:ext cx="1819656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CloudTrail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A8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&amp; ontology — AQF level, Bloom's level, DigComp mapping, output templates and learner state — live in AWS Glue Data Catalog + Amazon DynamoDB/Aurora, read by the input assembler so competency data is never guessed.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62748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PLATFORM ARCHITECTURE — AWS STACK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274320" y="402336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to cloud — ingestion, lakehouse, ML &amp; GenAI, operations, and consumption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9281160" y="146304"/>
            <a:ext cx="2697480" cy="420624"/>
          </a:xfrm>
          <a:prstGeom prst="roundRect">
            <a:avLst>
              <a:gd name="adj" fmla="val 13043"/>
            </a:avLst>
          </a:prstGeom>
          <a:solidFill>
            <a:srgbClr val="B8650F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0" y="14630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— to be finalized during detailed design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786384"/>
            <a:ext cx="1417320" cy="219456"/>
          </a:xfrm>
          <a:prstGeom prst="roundRect">
            <a:avLst>
              <a:gd name="adj" fmla="val 20833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56032" y="78638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LEGACY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1060704"/>
            <a:ext cx="141732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5B6B79"/>
            </a:solidFill>
            <a:prstDash val="solid"/>
          </a:ln>
        </p:spPr>
      </p:sp>
      <p:pic>
        <p:nvPicPr>
          <p:cNvPr id="10" name="Image 0" descr="/home/claude/aws_arch/icons/legacy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17957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85216" y="1060704"/>
            <a:ext cx="1033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73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/ On-Prem Databases</a:t>
            </a:r>
            <a:endParaRPr lang="en-US" sz="730" dirty="0"/>
          </a:p>
        </p:txBody>
      </p:sp>
      <p:sp>
        <p:nvSpPr>
          <p:cNvPr id="12" name="Shape 9"/>
          <p:cNvSpPr/>
          <p:nvPr/>
        </p:nvSpPr>
        <p:spPr>
          <a:xfrm>
            <a:off x="256032" y="1554480"/>
            <a:ext cx="141732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5B6B79"/>
            </a:solidFill>
            <a:prstDash val="solid"/>
          </a:ln>
        </p:spPr>
      </p:sp>
      <p:pic>
        <p:nvPicPr>
          <p:cNvPr id="13" name="Image 1" descr="/home/claude/aws_arch/icons/main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1673352"/>
            <a:ext cx="182880" cy="1828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85216" y="1554480"/>
            <a:ext cx="1033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73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Mainframe Systems</a:t>
            </a:r>
            <a:endParaRPr lang="en-US" sz="730" dirty="0"/>
          </a:p>
        </p:txBody>
      </p:sp>
      <p:sp>
        <p:nvSpPr>
          <p:cNvPr id="15" name="Shape 11"/>
          <p:cNvSpPr/>
          <p:nvPr/>
        </p:nvSpPr>
        <p:spPr>
          <a:xfrm>
            <a:off x="256032" y="2048256"/>
            <a:ext cx="141732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5B6B79"/>
            </a:solidFill>
            <a:prstDash val="solid"/>
          </a:ln>
        </p:spPr>
      </p:sp>
      <p:pic>
        <p:nvPicPr>
          <p:cNvPr id="16" name="Image 2" descr="/home/claude/aws_arch/icons/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2167128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85216" y="2048256"/>
            <a:ext cx="1033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73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Servers / Shares</a:t>
            </a:r>
            <a:endParaRPr lang="en-US" sz="730" dirty="0"/>
          </a:p>
        </p:txBody>
      </p:sp>
      <p:sp>
        <p:nvSpPr>
          <p:cNvPr id="18" name="Shape 13"/>
          <p:cNvSpPr/>
          <p:nvPr/>
        </p:nvSpPr>
        <p:spPr>
          <a:xfrm rot="5400000">
            <a:off x="891540" y="2478024"/>
            <a:ext cx="182880" cy="128016"/>
          </a:xfrm>
          <a:prstGeom prst="rightArrow">
            <a:avLst/>
          </a:prstGeom>
          <a:solidFill>
            <a:srgbClr val="2D6CA0"/>
          </a:solidFill>
          <a:ln/>
        </p:spPr>
      </p:sp>
      <p:sp>
        <p:nvSpPr>
          <p:cNvPr id="19" name="Shape 14"/>
          <p:cNvSpPr/>
          <p:nvPr/>
        </p:nvSpPr>
        <p:spPr>
          <a:xfrm>
            <a:off x="256032" y="2651760"/>
            <a:ext cx="1417320" cy="566928"/>
          </a:xfrm>
          <a:prstGeom prst="roundRect">
            <a:avLst>
              <a:gd name="adj" fmla="val 9677"/>
            </a:avLst>
          </a:prstGeom>
          <a:solidFill>
            <a:srgbClr val="2D6CA0"/>
          </a:solidFill>
          <a:ln/>
          <a:effectLst>
            <a:outerShdw blurRad="38100" dist="127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20" name="Image 3" descr="/home/claude/aws_arch/icons/migr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" y="2734056"/>
            <a:ext cx="182880" cy="1828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85216" y="2688336"/>
            <a:ext cx="1033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&amp; Ingestion</a:t>
            </a:r>
            <a:endParaRPr lang="en-US" sz="760" dirty="0"/>
          </a:p>
        </p:txBody>
      </p:sp>
      <p:sp>
        <p:nvSpPr>
          <p:cNvPr id="22" name="Text 16"/>
          <p:cNvSpPr/>
          <p:nvPr/>
        </p:nvSpPr>
        <p:spPr>
          <a:xfrm>
            <a:off x="347472" y="2962656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4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 • DataSync • Direct Connect / VPN</a:t>
            </a:r>
            <a:endParaRPr lang="en-US" sz="640" dirty="0"/>
          </a:p>
        </p:txBody>
      </p:sp>
      <p:pic>
        <p:nvPicPr>
          <p:cNvPr id="23" name="Image 4" descr="/home/claude/aws_arch/icons/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" y="3328416"/>
            <a:ext cx="237744" cy="1828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256032" y="35204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Cloud Boundary</a:t>
            </a:r>
            <a:endParaRPr lang="en-US" sz="630" dirty="0"/>
          </a:p>
        </p:txBody>
      </p:sp>
      <p:sp>
        <p:nvSpPr>
          <p:cNvPr id="25" name="Shape 18"/>
          <p:cNvSpPr/>
          <p:nvPr/>
        </p:nvSpPr>
        <p:spPr>
          <a:xfrm>
            <a:off x="1728216" y="786384"/>
            <a:ext cx="0" cy="4919472"/>
          </a:xfrm>
          <a:prstGeom prst="line">
            <a:avLst/>
          </a:prstGeom>
          <a:noFill/>
          <a:ln w="15875">
            <a:solidFill>
              <a:srgbClr val="9AAAB6"/>
            </a:solidFill>
            <a:prstDash val="dash"/>
          </a:ln>
        </p:spPr>
      </p:sp>
      <p:sp>
        <p:nvSpPr>
          <p:cNvPr id="26" name="Shape 19"/>
          <p:cNvSpPr/>
          <p:nvPr/>
        </p:nvSpPr>
        <p:spPr>
          <a:xfrm>
            <a:off x="1709928" y="1357884"/>
            <a:ext cx="109728" cy="137160"/>
          </a:xfrm>
          <a:prstGeom prst="rightArrow">
            <a:avLst/>
          </a:prstGeom>
          <a:solidFill>
            <a:srgbClr val="2D6CA0"/>
          </a:solidFill>
          <a:ln/>
        </p:spPr>
      </p:sp>
      <p:sp>
        <p:nvSpPr>
          <p:cNvPr id="27" name="Shape 20"/>
          <p:cNvSpPr/>
          <p:nvPr/>
        </p:nvSpPr>
        <p:spPr>
          <a:xfrm>
            <a:off x="1783080" y="786384"/>
            <a:ext cx="8625535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5875">
            <a:solidFill>
              <a:srgbClr val="1C7A6E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1783080" y="786384"/>
            <a:ext cx="8625535" cy="237744"/>
          </a:xfrm>
          <a:prstGeom prst="roundRect">
            <a:avLst>
              <a:gd name="adj" fmla="val 23077"/>
            </a:avLst>
          </a:prstGeom>
          <a:solidFill>
            <a:srgbClr val="1C7A6E"/>
          </a:solidFill>
          <a:ln/>
        </p:spPr>
      </p:sp>
      <p:sp>
        <p:nvSpPr>
          <p:cNvPr id="29" name="Shape 22"/>
          <p:cNvSpPr/>
          <p:nvPr/>
        </p:nvSpPr>
        <p:spPr>
          <a:xfrm>
            <a:off x="1783080" y="932688"/>
            <a:ext cx="8625535" cy="91440"/>
          </a:xfrm>
          <a:prstGeom prst="rect">
            <a:avLst/>
          </a:prstGeom>
          <a:solidFill>
            <a:srgbClr val="1C7A6E"/>
          </a:solidFill>
          <a:ln/>
        </p:spPr>
      </p:sp>
      <p:sp>
        <p:nvSpPr>
          <p:cNvPr id="30" name="Text 23"/>
          <p:cNvSpPr/>
          <p:nvPr/>
        </p:nvSpPr>
        <p:spPr>
          <a:xfrm>
            <a:off x="1874520" y="786384"/>
            <a:ext cx="8442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 &amp; LAKEHOUSE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1874520" y="1078992"/>
            <a:ext cx="2042084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1929384" y="1133856"/>
            <a:ext cx="201168" cy="201168"/>
          </a:xfrm>
          <a:prstGeom prst="ellipse">
            <a:avLst/>
          </a:prstGeom>
          <a:solidFill>
            <a:srgbClr val="1C7A6E"/>
          </a:solidFill>
          <a:ln/>
        </p:spPr>
      </p:sp>
      <p:pic>
        <p:nvPicPr>
          <p:cNvPr id="33" name="Image 5" descr="/home/claude/aws_arch/icons/factor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70532" y="1175004"/>
            <a:ext cx="118872" cy="11887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2176272" y="1106424"/>
            <a:ext cx="1676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&amp; Orchestrate</a:t>
            </a:r>
            <a:endParaRPr lang="en-US" sz="820" dirty="0"/>
          </a:p>
        </p:txBody>
      </p:sp>
      <p:sp>
        <p:nvSpPr>
          <p:cNvPr id="35" name="Text 27"/>
          <p:cNvSpPr/>
          <p:nvPr/>
        </p:nvSpPr>
        <p:spPr>
          <a:xfrm>
            <a:off x="1956816" y="1371600"/>
            <a:ext cx="18957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Glue (ETL/crawlers)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AppFlow • MWAA • Step Fn</a:t>
            </a:r>
            <a:endParaRPr lang="en-US" sz="630" dirty="0"/>
          </a:p>
        </p:txBody>
      </p:sp>
      <p:sp>
        <p:nvSpPr>
          <p:cNvPr id="36" name="Shape 28"/>
          <p:cNvSpPr/>
          <p:nvPr/>
        </p:nvSpPr>
        <p:spPr>
          <a:xfrm>
            <a:off x="4008044" y="1078992"/>
            <a:ext cx="2042084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4062908" y="1133856"/>
            <a:ext cx="201168" cy="201168"/>
          </a:xfrm>
          <a:prstGeom prst="ellipse">
            <a:avLst/>
          </a:prstGeom>
          <a:solidFill>
            <a:srgbClr val="1C7A6E"/>
          </a:solidFill>
          <a:ln/>
        </p:spPr>
      </p:sp>
      <p:pic>
        <p:nvPicPr>
          <p:cNvPr id="38" name="Image 6" descr="/home/claude/aws_arch/icons/sp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04056" y="1175004"/>
            <a:ext cx="118872" cy="118872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4309796" y="1106424"/>
            <a:ext cx="1676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(Batch/RT)</a:t>
            </a:r>
            <a:endParaRPr lang="en-US" sz="820" dirty="0"/>
          </a:p>
        </p:txBody>
      </p:sp>
      <p:sp>
        <p:nvSpPr>
          <p:cNvPr id="40" name="Text 31"/>
          <p:cNvSpPr/>
          <p:nvPr/>
        </p:nvSpPr>
        <p:spPr>
          <a:xfrm>
            <a:off x="4090340" y="1371600"/>
            <a:ext cx="18957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Glue / EMR (Spark)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Kinesis • Firehose</a:t>
            </a:r>
            <a:endParaRPr lang="en-US" sz="630" dirty="0"/>
          </a:p>
        </p:txBody>
      </p:sp>
      <p:sp>
        <p:nvSpPr>
          <p:cNvPr id="41" name="Shape 32"/>
          <p:cNvSpPr/>
          <p:nvPr/>
        </p:nvSpPr>
        <p:spPr>
          <a:xfrm>
            <a:off x="6141568" y="1078992"/>
            <a:ext cx="2042084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2" name="Shape 33"/>
          <p:cNvSpPr/>
          <p:nvPr/>
        </p:nvSpPr>
        <p:spPr>
          <a:xfrm>
            <a:off x="6196432" y="1133856"/>
            <a:ext cx="201168" cy="201168"/>
          </a:xfrm>
          <a:prstGeom prst="ellipse">
            <a:avLst/>
          </a:prstGeom>
          <a:solidFill>
            <a:srgbClr val="1C7A6E"/>
          </a:solidFill>
          <a:ln/>
        </p:spPr>
      </p:sp>
      <p:pic>
        <p:nvPicPr>
          <p:cNvPr id="43" name="Image 7" descr="/home/claude/aws_arch/icons/medalli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7580" y="1175004"/>
            <a:ext cx="118872" cy="118872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6443320" y="1106424"/>
            <a:ext cx="1676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Lakehouse</a:t>
            </a:r>
            <a:endParaRPr lang="en-US" sz="820" dirty="0"/>
          </a:p>
        </p:txBody>
      </p:sp>
      <p:sp>
        <p:nvSpPr>
          <p:cNvPr id="45" name="Text 35"/>
          <p:cNvSpPr/>
          <p:nvPr/>
        </p:nvSpPr>
        <p:spPr>
          <a:xfrm>
            <a:off x="6223864" y="1371600"/>
            <a:ext cx="18957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→ Silver → Gold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+ Lake Formation</a:t>
            </a:r>
            <a:endParaRPr lang="en-US" sz="630" dirty="0"/>
          </a:p>
        </p:txBody>
      </p:sp>
      <p:sp>
        <p:nvSpPr>
          <p:cNvPr id="46" name="Shape 36"/>
          <p:cNvSpPr/>
          <p:nvPr/>
        </p:nvSpPr>
        <p:spPr>
          <a:xfrm>
            <a:off x="8275091" y="1078992"/>
            <a:ext cx="2042084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Shape 37"/>
          <p:cNvSpPr/>
          <p:nvPr/>
        </p:nvSpPr>
        <p:spPr>
          <a:xfrm>
            <a:off x="8329955" y="1133856"/>
            <a:ext cx="201168" cy="201168"/>
          </a:xfrm>
          <a:prstGeom prst="ellipse">
            <a:avLst/>
          </a:prstGeom>
          <a:solidFill>
            <a:srgbClr val="1C7A6E"/>
          </a:solidFill>
          <a:ln/>
        </p:spPr>
      </p:sp>
      <p:pic>
        <p:nvPicPr>
          <p:cNvPr id="48" name="Image 8" descr="/home/claude/aws_arch/icons/lak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1103" y="1175004"/>
            <a:ext cx="118872" cy="118872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8576843" y="1106424"/>
            <a:ext cx="1676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&amp; Governance</a:t>
            </a:r>
            <a:endParaRPr lang="en-US" sz="820" dirty="0"/>
          </a:p>
        </p:txBody>
      </p:sp>
      <p:sp>
        <p:nvSpPr>
          <p:cNvPr id="50" name="Text 39"/>
          <p:cNvSpPr/>
          <p:nvPr/>
        </p:nvSpPr>
        <p:spPr>
          <a:xfrm>
            <a:off x="8357387" y="1371600"/>
            <a:ext cx="18957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Glue Data Catalog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DataZone • Lineage</a:t>
            </a:r>
            <a:endParaRPr lang="en-US" sz="630" dirty="0"/>
          </a:p>
        </p:txBody>
      </p:sp>
      <p:sp>
        <p:nvSpPr>
          <p:cNvPr id="51" name="Shape 40"/>
          <p:cNvSpPr/>
          <p:nvPr/>
        </p:nvSpPr>
        <p:spPr>
          <a:xfrm rot="5400000">
            <a:off x="6022696" y="2048256"/>
            <a:ext cx="182880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52" name="Shape 41"/>
          <p:cNvSpPr/>
          <p:nvPr/>
        </p:nvSpPr>
        <p:spPr>
          <a:xfrm>
            <a:off x="10422331" y="3182112"/>
            <a:ext cx="82296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53" name="Shape 42"/>
          <p:cNvSpPr/>
          <p:nvPr/>
        </p:nvSpPr>
        <p:spPr>
          <a:xfrm>
            <a:off x="1783080" y="2157984"/>
            <a:ext cx="4248760" cy="2176272"/>
          </a:xfrm>
          <a:prstGeom prst="roundRect">
            <a:avLst>
              <a:gd name="adj" fmla="val 2521"/>
            </a:avLst>
          </a:prstGeom>
          <a:solidFill>
            <a:srgbClr val="FFFFFF"/>
          </a:solidFill>
          <a:ln w="15875">
            <a:solidFill>
              <a:srgbClr val="C97A1A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4" name="Shape 43"/>
          <p:cNvSpPr/>
          <p:nvPr/>
        </p:nvSpPr>
        <p:spPr>
          <a:xfrm>
            <a:off x="1783080" y="2157984"/>
            <a:ext cx="4248760" cy="237744"/>
          </a:xfrm>
          <a:prstGeom prst="roundRect">
            <a:avLst>
              <a:gd name="adj" fmla="val 23077"/>
            </a:avLst>
          </a:prstGeom>
          <a:solidFill>
            <a:srgbClr val="C97A1A"/>
          </a:solidFill>
          <a:ln/>
        </p:spPr>
      </p:sp>
      <p:sp>
        <p:nvSpPr>
          <p:cNvPr id="55" name="Shape 44"/>
          <p:cNvSpPr/>
          <p:nvPr/>
        </p:nvSpPr>
        <p:spPr>
          <a:xfrm>
            <a:off x="1783080" y="2304288"/>
            <a:ext cx="4248760" cy="91440"/>
          </a:xfrm>
          <a:prstGeom prst="rect">
            <a:avLst/>
          </a:prstGeom>
          <a:solidFill>
            <a:srgbClr val="C97A1A"/>
          </a:solidFill>
          <a:ln/>
        </p:spPr>
      </p:sp>
      <p:sp>
        <p:nvSpPr>
          <p:cNvPr id="56" name="Text 45"/>
          <p:cNvSpPr/>
          <p:nvPr/>
        </p:nvSpPr>
        <p:spPr>
          <a:xfrm>
            <a:off x="1874520" y="2157984"/>
            <a:ext cx="406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950" dirty="0"/>
          </a:p>
        </p:txBody>
      </p:sp>
      <p:sp>
        <p:nvSpPr>
          <p:cNvPr id="57" name="Shape 46"/>
          <p:cNvSpPr/>
          <p:nvPr/>
        </p:nvSpPr>
        <p:spPr>
          <a:xfrm>
            <a:off x="1874520" y="2450592"/>
            <a:ext cx="130042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8" name="Shape 47"/>
          <p:cNvSpPr/>
          <p:nvPr/>
        </p:nvSpPr>
        <p:spPr>
          <a:xfrm>
            <a:off x="1929384" y="2505456"/>
            <a:ext cx="201168" cy="201168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59" name="Image 9" descr="/home/claude/aws_arch/icons/featur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70532" y="2546604"/>
            <a:ext cx="118872" cy="118872"/>
          </a:xfrm>
          <a:prstGeom prst="rect">
            <a:avLst/>
          </a:prstGeom>
        </p:spPr>
      </p:pic>
      <p:sp>
        <p:nvSpPr>
          <p:cNvPr id="60" name="Text 48"/>
          <p:cNvSpPr/>
          <p:nvPr/>
        </p:nvSpPr>
        <p:spPr>
          <a:xfrm>
            <a:off x="2176272" y="2478024"/>
            <a:ext cx="9346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820" dirty="0"/>
          </a:p>
        </p:txBody>
      </p:sp>
      <p:sp>
        <p:nvSpPr>
          <p:cNvPr id="61" name="Text 49"/>
          <p:cNvSpPr/>
          <p:nvPr/>
        </p:nvSpPr>
        <p:spPr>
          <a:xfrm>
            <a:off x="1956816" y="2743200"/>
            <a:ext cx="115412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Feature Store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Wrangler</a:t>
            </a:r>
            <a:endParaRPr lang="en-US" sz="630" dirty="0"/>
          </a:p>
        </p:txBody>
      </p:sp>
      <p:sp>
        <p:nvSpPr>
          <p:cNvPr id="62" name="Shape 50"/>
          <p:cNvSpPr/>
          <p:nvPr/>
        </p:nvSpPr>
        <p:spPr>
          <a:xfrm>
            <a:off x="1874520" y="3438144"/>
            <a:ext cx="1300429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3" name="Shape 51"/>
          <p:cNvSpPr/>
          <p:nvPr/>
        </p:nvSpPr>
        <p:spPr>
          <a:xfrm>
            <a:off x="1929384" y="3493008"/>
            <a:ext cx="201168" cy="201168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64" name="Image 10" descr="/home/claude/aws_arch/icons/line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70532" y="3534156"/>
            <a:ext cx="118872" cy="118872"/>
          </a:xfrm>
          <a:prstGeom prst="rect">
            <a:avLst/>
          </a:prstGeom>
        </p:spPr>
      </p:pic>
      <p:sp>
        <p:nvSpPr>
          <p:cNvPr id="65" name="Text 52"/>
          <p:cNvSpPr/>
          <p:nvPr/>
        </p:nvSpPr>
        <p:spPr>
          <a:xfrm>
            <a:off x="2176272" y="3465576"/>
            <a:ext cx="9346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</a:t>
            </a:r>
            <a:endParaRPr lang="en-US" sz="820" dirty="0"/>
          </a:p>
        </p:txBody>
      </p:sp>
      <p:sp>
        <p:nvSpPr>
          <p:cNvPr id="66" name="Text 53"/>
          <p:cNvSpPr/>
          <p:nvPr/>
        </p:nvSpPr>
        <p:spPr>
          <a:xfrm>
            <a:off x="1956816" y="3730752"/>
            <a:ext cx="11541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Experiments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630" dirty="0"/>
          </a:p>
        </p:txBody>
      </p:sp>
      <p:sp>
        <p:nvSpPr>
          <p:cNvPr id="67" name="Shape 54"/>
          <p:cNvSpPr/>
          <p:nvPr/>
        </p:nvSpPr>
        <p:spPr>
          <a:xfrm>
            <a:off x="3257245" y="2450592"/>
            <a:ext cx="130042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8" name="Shape 55"/>
          <p:cNvSpPr/>
          <p:nvPr/>
        </p:nvSpPr>
        <p:spPr>
          <a:xfrm>
            <a:off x="3312109" y="2505456"/>
            <a:ext cx="201168" cy="201168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69" name="Image 11" descr="/home/claude/aws_arch/icons/trai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53257" y="2546604"/>
            <a:ext cx="118872" cy="118872"/>
          </a:xfrm>
          <a:prstGeom prst="rect">
            <a:avLst/>
          </a:prstGeom>
        </p:spPr>
      </p:pic>
      <p:sp>
        <p:nvSpPr>
          <p:cNvPr id="70" name="Text 56"/>
          <p:cNvSpPr/>
          <p:nvPr/>
        </p:nvSpPr>
        <p:spPr>
          <a:xfrm>
            <a:off x="3558997" y="2478024"/>
            <a:ext cx="9346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Development</a:t>
            </a:r>
            <a:endParaRPr lang="en-US" sz="820" dirty="0"/>
          </a:p>
        </p:txBody>
      </p:sp>
      <p:sp>
        <p:nvSpPr>
          <p:cNvPr id="71" name="Text 57"/>
          <p:cNvSpPr/>
          <p:nvPr/>
        </p:nvSpPr>
        <p:spPr>
          <a:xfrm>
            <a:off x="3339541" y="2743200"/>
            <a:ext cx="115412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Training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</a:t>
            </a:r>
            <a:endParaRPr lang="en-US" sz="630" dirty="0"/>
          </a:p>
        </p:txBody>
      </p:sp>
      <p:sp>
        <p:nvSpPr>
          <p:cNvPr id="72" name="Shape 58"/>
          <p:cNvSpPr/>
          <p:nvPr/>
        </p:nvSpPr>
        <p:spPr>
          <a:xfrm>
            <a:off x="3257245" y="3438144"/>
            <a:ext cx="1300429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3" name="Shape 59"/>
          <p:cNvSpPr/>
          <p:nvPr/>
        </p:nvSpPr>
        <p:spPr>
          <a:xfrm>
            <a:off x="3312109" y="3493008"/>
            <a:ext cx="201168" cy="201168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74" name="Image 12" descr="/home/claude/aws_arch/icons/deploy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53257" y="3534156"/>
            <a:ext cx="118872" cy="118872"/>
          </a:xfrm>
          <a:prstGeom prst="rect">
            <a:avLst/>
          </a:prstGeom>
        </p:spPr>
      </p:pic>
      <p:sp>
        <p:nvSpPr>
          <p:cNvPr id="75" name="Text 60"/>
          <p:cNvSpPr/>
          <p:nvPr/>
        </p:nvSpPr>
        <p:spPr>
          <a:xfrm>
            <a:off x="3558997" y="3465576"/>
            <a:ext cx="9346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820" dirty="0"/>
          </a:p>
        </p:txBody>
      </p:sp>
      <p:sp>
        <p:nvSpPr>
          <p:cNvPr id="76" name="Text 61"/>
          <p:cNvSpPr/>
          <p:nvPr/>
        </p:nvSpPr>
        <p:spPr>
          <a:xfrm>
            <a:off x="3339541" y="3730752"/>
            <a:ext cx="11541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&amp; batch endpoints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Pipelines</a:t>
            </a:r>
            <a:endParaRPr lang="en-US" sz="630" dirty="0"/>
          </a:p>
        </p:txBody>
      </p:sp>
      <p:sp>
        <p:nvSpPr>
          <p:cNvPr id="77" name="Shape 62"/>
          <p:cNvSpPr/>
          <p:nvPr/>
        </p:nvSpPr>
        <p:spPr>
          <a:xfrm>
            <a:off x="4639970" y="2450592"/>
            <a:ext cx="130042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8" name="Shape 63"/>
          <p:cNvSpPr/>
          <p:nvPr/>
        </p:nvSpPr>
        <p:spPr>
          <a:xfrm>
            <a:off x="4694834" y="2505456"/>
            <a:ext cx="201168" cy="201168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79" name="Image 13" descr="/home/claude/aws_arch/icons/monitor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35982" y="2546604"/>
            <a:ext cx="118872" cy="118872"/>
          </a:xfrm>
          <a:prstGeom prst="rect">
            <a:avLst/>
          </a:prstGeom>
        </p:spPr>
      </p:pic>
      <p:sp>
        <p:nvSpPr>
          <p:cNvPr id="80" name="Text 64"/>
          <p:cNvSpPr/>
          <p:nvPr/>
        </p:nvSpPr>
        <p:spPr>
          <a:xfrm>
            <a:off x="4941722" y="2478024"/>
            <a:ext cx="9346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820" dirty="0"/>
          </a:p>
        </p:txBody>
      </p:sp>
      <p:sp>
        <p:nvSpPr>
          <p:cNvPr id="81" name="Text 65"/>
          <p:cNvSpPr/>
          <p:nvPr/>
        </p:nvSpPr>
        <p:spPr>
          <a:xfrm>
            <a:off x="4722266" y="2743200"/>
            <a:ext cx="115412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Model Monitor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&amp; quality checks</a:t>
            </a:r>
            <a:endParaRPr lang="en-US" sz="630" dirty="0"/>
          </a:p>
        </p:txBody>
      </p:sp>
      <p:sp>
        <p:nvSpPr>
          <p:cNvPr id="82" name="Shape 66"/>
          <p:cNvSpPr/>
          <p:nvPr/>
        </p:nvSpPr>
        <p:spPr>
          <a:xfrm>
            <a:off x="4639970" y="3438144"/>
            <a:ext cx="1300429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3" name="Shape 67"/>
          <p:cNvSpPr/>
          <p:nvPr/>
        </p:nvSpPr>
        <p:spPr>
          <a:xfrm>
            <a:off x="4694834" y="3493008"/>
            <a:ext cx="201168" cy="201168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84" name="Image 14" descr="/home/claude/aws_arch/icons/safety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35982" y="3534156"/>
            <a:ext cx="118872" cy="118872"/>
          </a:xfrm>
          <a:prstGeom prst="rect">
            <a:avLst/>
          </a:prstGeom>
        </p:spPr>
      </p:pic>
      <p:sp>
        <p:nvSpPr>
          <p:cNvPr id="85" name="Text 68"/>
          <p:cNvSpPr/>
          <p:nvPr/>
        </p:nvSpPr>
        <p:spPr>
          <a:xfrm>
            <a:off x="4941722" y="3465576"/>
            <a:ext cx="9346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820" dirty="0"/>
          </a:p>
        </p:txBody>
      </p:sp>
      <p:sp>
        <p:nvSpPr>
          <p:cNvPr id="86" name="Text 69"/>
          <p:cNvSpPr/>
          <p:nvPr/>
        </p:nvSpPr>
        <p:spPr>
          <a:xfrm>
            <a:off x="4722266" y="3730752"/>
            <a:ext cx="11541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Clarify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detection</a:t>
            </a:r>
            <a:endParaRPr lang="en-US" sz="630" dirty="0"/>
          </a:p>
        </p:txBody>
      </p:sp>
      <p:sp>
        <p:nvSpPr>
          <p:cNvPr id="87" name="Shape 70"/>
          <p:cNvSpPr/>
          <p:nvPr/>
        </p:nvSpPr>
        <p:spPr>
          <a:xfrm>
            <a:off x="6159856" y="2157984"/>
            <a:ext cx="4248760" cy="2176272"/>
          </a:xfrm>
          <a:prstGeom prst="roundRect">
            <a:avLst>
              <a:gd name="adj" fmla="val 2521"/>
            </a:avLst>
          </a:prstGeom>
          <a:solidFill>
            <a:srgbClr val="FFFFFF"/>
          </a:solidFill>
          <a:ln w="15875">
            <a:solidFill>
              <a:srgbClr val="6A3DB8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8" name="Shape 71"/>
          <p:cNvSpPr/>
          <p:nvPr/>
        </p:nvSpPr>
        <p:spPr>
          <a:xfrm>
            <a:off x="6159856" y="2157984"/>
            <a:ext cx="4248760" cy="237744"/>
          </a:xfrm>
          <a:prstGeom prst="roundRect">
            <a:avLst>
              <a:gd name="adj" fmla="val 23077"/>
            </a:avLst>
          </a:prstGeom>
          <a:solidFill>
            <a:srgbClr val="6A3DB8"/>
          </a:solidFill>
          <a:ln/>
        </p:spPr>
      </p:sp>
      <p:sp>
        <p:nvSpPr>
          <p:cNvPr id="89" name="Shape 72"/>
          <p:cNvSpPr/>
          <p:nvPr/>
        </p:nvSpPr>
        <p:spPr>
          <a:xfrm>
            <a:off x="6159856" y="2304288"/>
            <a:ext cx="4248760" cy="91440"/>
          </a:xfrm>
          <a:prstGeom prst="rect">
            <a:avLst/>
          </a:prstGeom>
          <a:solidFill>
            <a:srgbClr val="6A3DB8"/>
          </a:solidFill>
          <a:ln/>
        </p:spPr>
      </p:sp>
      <p:sp>
        <p:nvSpPr>
          <p:cNvPr id="90" name="Text 73"/>
          <p:cNvSpPr/>
          <p:nvPr/>
        </p:nvSpPr>
        <p:spPr>
          <a:xfrm>
            <a:off x="6251296" y="2157984"/>
            <a:ext cx="406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950" dirty="0"/>
          </a:p>
        </p:txBody>
      </p:sp>
      <p:sp>
        <p:nvSpPr>
          <p:cNvPr id="91" name="Shape 74"/>
          <p:cNvSpPr/>
          <p:nvPr/>
        </p:nvSpPr>
        <p:spPr>
          <a:xfrm>
            <a:off x="6251296" y="2450592"/>
            <a:ext cx="130042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2" name="Shape 75"/>
          <p:cNvSpPr/>
          <p:nvPr/>
        </p:nvSpPr>
        <p:spPr>
          <a:xfrm>
            <a:off x="6306160" y="2505456"/>
            <a:ext cx="201168" cy="201168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93" name="Image 15" descr="/home/claude/aws_arch/icons/bedro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47308" y="2546604"/>
            <a:ext cx="118872" cy="118872"/>
          </a:xfrm>
          <a:prstGeom prst="rect">
            <a:avLst/>
          </a:prstGeom>
        </p:spPr>
      </p:pic>
      <p:sp>
        <p:nvSpPr>
          <p:cNvPr id="94" name="Text 76"/>
          <p:cNvSpPr/>
          <p:nvPr/>
        </p:nvSpPr>
        <p:spPr>
          <a:xfrm>
            <a:off x="6553048" y="2478024"/>
            <a:ext cx="9346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</a:t>
            </a:r>
            <a:endParaRPr lang="en-US" sz="820" dirty="0"/>
          </a:p>
        </p:txBody>
      </p:sp>
      <p:sp>
        <p:nvSpPr>
          <p:cNvPr id="95" name="Text 77"/>
          <p:cNvSpPr/>
          <p:nvPr/>
        </p:nvSpPr>
        <p:spPr>
          <a:xfrm>
            <a:off x="6333592" y="2743200"/>
            <a:ext cx="115412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Titan, etc.</a:t>
            </a:r>
            <a:endParaRPr lang="en-US" sz="630" dirty="0"/>
          </a:p>
        </p:txBody>
      </p:sp>
      <p:sp>
        <p:nvSpPr>
          <p:cNvPr id="96" name="Shape 78"/>
          <p:cNvSpPr/>
          <p:nvPr/>
        </p:nvSpPr>
        <p:spPr>
          <a:xfrm>
            <a:off x="6251296" y="3438144"/>
            <a:ext cx="1300429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7" name="Shape 79"/>
          <p:cNvSpPr/>
          <p:nvPr/>
        </p:nvSpPr>
        <p:spPr>
          <a:xfrm>
            <a:off x="6306160" y="3493008"/>
            <a:ext cx="201168" cy="201168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98" name="Image 16" descr="/home/claude/aws_arch/icons/vector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47308" y="3534156"/>
            <a:ext cx="118872" cy="118872"/>
          </a:xfrm>
          <a:prstGeom prst="rect">
            <a:avLst/>
          </a:prstGeom>
        </p:spPr>
      </p:pic>
      <p:sp>
        <p:nvSpPr>
          <p:cNvPr id="99" name="Text 80"/>
          <p:cNvSpPr/>
          <p:nvPr/>
        </p:nvSpPr>
        <p:spPr>
          <a:xfrm>
            <a:off x="6553048" y="3465576"/>
            <a:ext cx="9346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820" dirty="0"/>
          </a:p>
        </p:txBody>
      </p:sp>
      <p:sp>
        <p:nvSpPr>
          <p:cNvPr id="100" name="Text 81"/>
          <p:cNvSpPr/>
          <p:nvPr/>
        </p:nvSpPr>
        <p:spPr>
          <a:xfrm>
            <a:off x="6333592" y="3730752"/>
            <a:ext cx="11541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OpenSearch Serverless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630" dirty="0"/>
          </a:p>
        </p:txBody>
      </p:sp>
      <p:sp>
        <p:nvSpPr>
          <p:cNvPr id="101" name="Shape 82"/>
          <p:cNvSpPr/>
          <p:nvPr/>
        </p:nvSpPr>
        <p:spPr>
          <a:xfrm>
            <a:off x="7634021" y="2450592"/>
            <a:ext cx="130042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2" name="Shape 83"/>
          <p:cNvSpPr/>
          <p:nvPr/>
        </p:nvSpPr>
        <p:spPr>
          <a:xfrm>
            <a:off x="7688885" y="2505456"/>
            <a:ext cx="201168" cy="201168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103" name="Image 17" descr="/home/claude/aws_arch/icons/rag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730033" y="2546604"/>
            <a:ext cx="118872" cy="118872"/>
          </a:xfrm>
          <a:prstGeom prst="rect">
            <a:avLst/>
          </a:prstGeom>
        </p:spPr>
      </p:pic>
      <p:sp>
        <p:nvSpPr>
          <p:cNvPr id="104" name="Text 84"/>
          <p:cNvSpPr/>
          <p:nvPr/>
        </p:nvSpPr>
        <p:spPr>
          <a:xfrm>
            <a:off x="7935773" y="2478024"/>
            <a:ext cx="9346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</a:t>
            </a:r>
            <a:endParaRPr lang="en-US" sz="820" dirty="0"/>
          </a:p>
        </p:txBody>
      </p:sp>
      <p:sp>
        <p:nvSpPr>
          <p:cNvPr id="105" name="Text 85"/>
          <p:cNvSpPr/>
          <p:nvPr/>
        </p:nvSpPr>
        <p:spPr>
          <a:xfrm>
            <a:off x="7716317" y="2743200"/>
            <a:ext cx="115412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Retrieve-Augment-Generate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&amp; embeddings</a:t>
            </a:r>
            <a:endParaRPr lang="en-US" sz="630" dirty="0"/>
          </a:p>
        </p:txBody>
      </p:sp>
      <p:sp>
        <p:nvSpPr>
          <p:cNvPr id="106" name="Shape 86"/>
          <p:cNvSpPr/>
          <p:nvPr/>
        </p:nvSpPr>
        <p:spPr>
          <a:xfrm>
            <a:off x="7634021" y="3438144"/>
            <a:ext cx="1300429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7" name="Shape 87"/>
          <p:cNvSpPr/>
          <p:nvPr/>
        </p:nvSpPr>
        <p:spPr>
          <a:xfrm>
            <a:off x="7688885" y="3493008"/>
            <a:ext cx="201168" cy="201168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108" name="Image 18" descr="/home/claude/aws_arch/icons/agent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30033" y="3534156"/>
            <a:ext cx="118872" cy="118872"/>
          </a:xfrm>
          <a:prstGeom prst="rect">
            <a:avLst/>
          </a:prstGeom>
        </p:spPr>
      </p:pic>
      <p:sp>
        <p:nvSpPr>
          <p:cNvPr id="109" name="Text 88"/>
          <p:cNvSpPr/>
          <p:nvPr/>
        </p:nvSpPr>
        <p:spPr>
          <a:xfrm>
            <a:off x="7935773" y="3465576"/>
            <a:ext cx="9346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820" dirty="0"/>
          </a:p>
        </p:txBody>
      </p:sp>
      <p:sp>
        <p:nvSpPr>
          <p:cNvPr id="110" name="Text 89"/>
          <p:cNvSpPr/>
          <p:nvPr/>
        </p:nvSpPr>
        <p:spPr>
          <a:xfrm>
            <a:off x="7716317" y="3730752"/>
            <a:ext cx="11541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for Bedrock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orchestration</a:t>
            </a:r>
            <a:endParaRPr lang="en-US" sz="630" dirty="0"/>
          </a:p>
        </p:txBody>
      </p:sp>
      <p:sp>
        <p:nvSpPr>
          <p:cNvPr id="111" name="Shape 90"/>
          <p:cNvSpPr/>
          <p:nvPr/>
        </p:nvSpPr>
        <p:spPr>
          <a:xfrm>
            <a:off x="9016746" y="2450592"/>
            <a:ext cx="130042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2" name="Shape 91"/>
          <p:cNvSpPr/>
          <p:nvPr/>
        </p:nvSpPr>
        <p:spPr>
          <a:xfrm>
            <a:off x="9071610" y="2505456"/>
            <a:ext cx="201168" cy="201168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113" name="Image 19" descr="/home/claude/aws_arch/icons/llm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12758" y="2546604"/>
            <a:ext cx="118872" cy="118872"/>
          </a:xfrm>
          <a:prstGeom prst="rect">
            <a:avLst/>
          </a:prstGeom>
        </p:spPr>
      </p:pic>
      <p:sp>
        <p:nvSpPr>
          <p:cNvPr id="114" name="Text 92"/>
          <p:cNvSpPr/>
          <p:nvPr/>
        </p:nvSpPr>
        <p:spPr>
          <a:xfrm>
            <a:off x="9318498" y="2478024"/>
            <a:ext cx="9346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820" dirty="0"/>
          </a:p>
        </p:txBody>
      </p:sp>
      <p:sp>
        <p:nvSpPr>
          <p:cNvPr id="115" name="Text 93"/>
          <p:cNvSpPr/>
          <p:nvPr/>
        </p:nvSpPr>
        <p:spPr>
          <a:xfrm>
            <a:off x="9099042" y="2743200"/>
            <a:ext cx="115412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management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orchestration</a:t>
            </a:r>
            <a:endParaRPr lang="en-US" sz="630" dirty="0"/>
          </a:p>
        </p:txBody>
      </p:sp>
      <p:sp>
        <p:nvSpPr>
          <p:cNvPr id="116" name="Shape 94"/>
          <p:cNvSpPr/>
          <p:nvPr/>
        </p:nvSpPr>
        <p:spPr>
          <a:xfrm>
            <a:off x="9016746" y="3438144"/>
            <a:ext cx="1300429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7" name="Shape 95"/>
          <p:cNvSpPr/>
          <p:nvPr/>
        </p:nvSpPr>
        <p:spPr>
          <a:xfrm>
            <a:off x="9071610" y="3493008"/>
            <a:ext cx="201168" cy="201168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118" name="Image 20" descr="/home/claude/aws_arch/icons/safety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12758" y="3534156"/>
            <a:ext cx="118872" cy="118872"/>
          </a:xfrm>
          <a:prstGeom prst="rect">
            <a:avLst/>
          </a:prstGeom>
        </p:spPr>
      </p:pic>
      <p:sp>
        <p:nvSpPr>
          <p:cNvPr id="119" name="Text 96"/>
          <p:cNvSpPr/>
          <p:nvPr/>
        </p:nvSpPr>
        <p:spPr>
          <a:xfrm>
            <a:off x="9318498" y="3465576"/>
            <a:ext cx="9346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</a:t>
            </a:r>
            <a:endParaRPr lang="en-US" sz="820" dirty="0"/>
          </a:p>
        </p:txBody>
      </p:sp>
      <p:sp>
        <p:nvSpPr>
          <p:cNvPr id="120" name="Text 97"/>
          <p:cNvSpPr/>
          <p:nvPr/>
        </p:nvSpPr>
        <p:spPr>
          <a:xfrm>
            <a:off x="9099042" y="3730752"/>
            <a:ext cx="11541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filtering</a:t>
            </a:r>
            <a:endParaRPr lang="en-US" sz="630" dirty="0"/>
          </a:p>
        </p:txBody>
      </p:sp>
      <p:sp>
        <p:nvSpPr>
          <p:cNvPr id="121" name="Shape 98"/>
          <p:cNvSpPr/>
          <p:nvPr/>
        </p:nvSpPr>
        <p:spPr>
          <a:xfrm rot="5400000">
            <a:off x="6022696" y="4315968"/>
            <a:ext cx="182880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122" name="Shape 99"/>
          <p:cNvSpPr/>
          <p:nvPr/>
        </p:nvSpPr>
        <p:spPr>
          <a:xfrm>
            <a:off x="1783080" y="4425696"/>
            <a:ext cx="8625535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3" name="Shape 100"/>
          <p:cNvSpPr/>
          <p:nvPr/>
        </p:nvSpPr>
        <p:spPr>
          <a:xfrm>
            <a:off x="1783080" y="4425696"/>
            <a:ext cx="8625535" cy="237744"/>
          </a:xfrm>
          <a:prstGeom prst="roundRect">
            <a:avLst>
              <a:gd name="adj" fmla="val 23077"/>
            </a:avLst>
          </a:prstGeom>
          <a:solidFill>
            <a:srgbClr val="1F4E79"/>
          </a:solidFill>
          <a:ln/>
        </p:spPr>
      </p:sp>
      <p:sp>
        <p:nvSpPr>
          <p:cNvPr id="124" name="Shape 101"/>
          <p:cNvSpPr/>
          <p:nvPr/>
        </p:nvSpPr>
        <p:spPr>
          <a:xfrm>
            <a:off x="1783080" y="4572000"/>
            <a:ext cx="8625535" cy="9144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25" name="Text 102"/>
          <p:cNvSpPr/>
          <p:nvPr/>
        </p:nvSpPr>
        <p:spPr>
          <a:xfrm>
            <a:off x="1874520" y="4425696"/>
            <a:ext cx="8442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— ML &amp; AI (MLOps / LLMOps)</a:t>
            </a:r>
            <a:endParaRPr lang="en-US" sz="950" dirty="0"/>
          </a:p>
        </p:txBody>
      </p:sp>
      <p:sp>
        <p:nvSpPr>
          <p:cNvPr id="126" name="Shape 103"/>
          <p:cNvSpPr/>
          <p:nvPr/>
        </p:nvSpPr>
        <p:spPr>
          <a:xfrm>
            <a:off x="1874520" y="4718304"/>
            <a:ext cx="2042084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7" name="Shape 104"/>
          <p:cNvSpPr/>
          <p:nvPr/>
        </p:nvSpPr>
        <p:spPr>
          <a:xfrm>
            <a:off x="1929384" y="4773168"/>
            <a:ext cx="201168" cy="201168"/>
          </a:xfrm>
          <a:prstGeom prst="ellipse">
            <a:avLst/>
          </a:prstGeom>
          <a:solidFill>
            <a:srgbClr val="1F4E79"/>
          </a:solidFill>
          <a:ln/>
        </p:spPr>
      </p:sp>
      <p:pic>
        <p:nvPicPr>
          <p:cNvPr id="128" name="Image 21" descr="/home/claude/aws_arch/icons/container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970532" y="4814316"/>
            <a:ext cx="118872" cy="118872"/>
          </a:xfrm>
          <a:prstGeom prst="rect">
            <a:avLst/>
          </a:prstGeom>
        </p:spPr>
      </p:pic>
      <p:sp>
        <p:nvSpPr>
          <p:cNvPr id="129" name="Text 105"/>
          <p:cNvSpPr/>
          <p:nvPr/>
        </p:nvSpPr>
        <p:spPr>
          <a:xfrm>
            <a:off x="2176272" y="4745736"/>
            <a:ext cx="1676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Registry</a:t>
            </a:r>
            <a:endParaRPr lang="en-US" sz="820" dirty="0"/>
          </a:p>
        </p:txBody>
      </p:sp>
      <p:sp>
        <p:nvSpPr>
          <p:cNvPr id="130" name="Text 106"/>
          <p:cNvSpPr/>
          <p:nvPr/>
        </p:nvSpPr>
        <p:spPr>
          <a:xfrm>
            <a:off x="1956816" y="5010912"/>
            <a:ext cx="18957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ECR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/ ECS</a:t>
            </a:r>
            <a:endParaRPr lang="en-US" sz="630" dirty="0"/>
          </a:p>
        </p:txBody>
      </p:sp>
      <p:sp>
        <p:nvSpPr>
          <p:cNvPr id="131" name="Shape 107"/>
          <p:cNvSpPr/>
          <p:nvPr/>
        </p:nvSpPr>
        <p:spPr>
          <a:xfrm>
            <a:off x="4008044" y="4718304"/>
            <a:ext cx="2042084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2" name="Shape 108"/>
          <p:cNvSpPr/>
          <p:nvPr/>
        </p:nvSpPr>
        <p:spPr>
          <a:xfrm>
            <a:off x="4062908" y="4773168"/>
            <a:ext cx="201168" cy="201168"/>
          </a:xfrm>
          <a:prstGeom prst="ellipse">
            <a:avLst/>
          </a:prstGeom>
          <a:solidFill>
            <a:srgbClr val="1F4E79"/>
          </a:solidFill>
          <a:ln/>
        </p:spPr>
      </p:sp>
      <p:pic>
        <p:nvPicPr>
          <p:cNvPr id="133" name="Image 22" descr="/home/claude/aws_arch/icons/git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104056" y="4814316"/>
            <a:ext cx="118872" cy="118872"/>
          </a:xfrm>
          <a:prstGeom prst="rect">
            <a:avLst/>
          </a:prstGeom>
        </p:spPr>
      </p:pic>
      <p:sp>
        <p:nvSpPr>
          <p:cNvPr id="134" name="Text 109"/>
          <p:cNvSpPr/>
          <p:nvPr/>
        </p:nvSpPr>
        <p:spPr>
          <a:xfrm>
            <a:off x="4309796" y="4745736"/>
            <a:ext cx="1676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820" dirty="0"/>
          </a:p>
        </p:txBody>
      </p:sp>
      <p:sp>
        <p:nvSpPr>
          <p:cNvPr id="135" name="Text 110"/>
          <p:cNvSpPr/>
          <p:nvPr/>
        </p:nvSpPr>
        <p:spPr>
          <a:xfrm>
            <a:off x="4090340" y="5010912"/>
            <a:ext cx="18957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CodePipeline / GitHub Actions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(CDK/Terraform)</a:t>
            </a:r>
            <a:endParaRPr lang="en-US" sz="630" dirty="0"/>
          </a:p>
        </p:txBody>
      </p:sp>
      <p:sp>
        <p:nvSpPr>
          <p:cNvPr id="136" name="Shape 111"/>
          <p:cNvSpPr/>
          <p:nvPr/>
        </p:nvSpPr>
        <p:spPr>
          <a:xfrm>
            <a:off x="6141568" y="4718304"/>
            <a:ext cx="2042084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7" name="Shape 112"/>
          <p:cNvSpPr/>
          <p:nvPr/>
        </p:nvSpPr>
        <p:spPr>
          <a:xfrm>
            <a:off x="6196432" y="4773168"/>
            <a:ext cx="201168" cy="201168"/>
          </a:xfrm>
          <a:prstGeom prst="ellipse">
            <a:avLst/>
          </a:prstGeom>
          <a:solidFill>
            <a:srgbClr val="1F4E79"/>
          </a:solidFill>
          <a:ln/>
        </p:spPr>
      </p:sp>
      <p:pic>
        <p:nvPicPr>
          <p:cNvPr id="138" name="Image 23" descr="/home/claude/aws_arch/icons/op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37580" y="4814316"/>
            <a:ext cx="118872" cy="118872"/>
          </a:xfrm>
          <a:prstGeom prst="rect">
            <a:avLst/>
          </a:prstGeom>
        </p:spPr>
      </p:pic>
      <p:sp>
        <p:nvSpPr>
          <p:cNvPr id="139" name="Text 113"/>
          <p:cNvSpPr/>
          <p:nvPr/>
        </p:nvSpPr>
        <p:spPr>
          <a:xfrm>
            <a:off x="6443320" y="4745736"/>
            <a:ext cx="1676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820" dirty="0"/>
          </a:p>
        </p:txBody>
      </p:sp>
      <p:sp>
        <p:nvSpPr>
          <p:cNvPr id="140" name="Text 114"/>
          <p:cNvSpPr/>
          <p:nvPr/>
        </p:nvSpPr>
        <p:spPr>
          <a:xfrm>
            <a:off x="6223864" y="5010912"/>
            <a:ext cx="18957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• X-Ray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&amp; LLM monitoring</a:t>
            </a:r>
            <a:endParaRPr lang="en-US" sz="630" dirty="0"/>
          </a:p>
        </p:txBody>
      </p:sp>
      <p:sp>
        <p:nvSpPr>
          <p:cNvPr id="141" name="Shape 115"/>
          <p:cNvSpPr/>
          <p:nvPr/>
        </p:nvSpPr>
        <p:spPr>
          <a:xfrm>
            <a:off x="8275091" y="4718304"/>
            <a:ext cx="2042084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2" name="Shape 116"/>
          <p:cNvSpPr/>
          <p:nvPr/>
        </p:nvSpPr>
        <p:spPr>
          <a:xfrm>
            <a:off x="8329955" y="4773168"/>
            <a:ext cx="201168" cy="201168"/>
          </a:xfrm>
          <a:prstGeom prst="ellipse">
            <a:avLst/>
          </a:prstGeom>
          <a:solidFill>
            <a:srgbClr val="1F4E79"/>
          </a:solidFill>
          <a:ln/>
        </p:spPr>
      </p:sp>
      <p:pic>
        <p:nvPicPr>
          <p:cNvPr id="143" name="Image 24" descr="/home/claude/aws_arch/icons/key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71103" y="4814316"/>
            <a:ext cx="118872" cy="118872"/>
          </a:xfrm>
          <a:prstGeom prst="rect">
            <a:avLst/>
          </a:prstGeom>
        </p:spPr>
      </p:pic>
      <p:sp>
        <p:nvSpPr>
          <p:cNvPr id="144" name="Text 117"/>
          <p:cNvSpPr/>
          <p:nvPr/>
        </p:nvSpPr>
        <p:spPr>
          <a:xfrm>
            <a:off x="8576843" y="4745736"/>
            <a:ext cx="1676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&amp; Access</a:t>
            </a:r>
            <a:endParaRPr lang="en-US" sz="820" dirty="0"/>
          </a:p>
        </p:txBody>
      </p:sp>
      <p:sp>
        <p:nvSpPr>
          <p:cNvPr id="145" name="Text 118"/>
          <p:cNvSpPr/>
          <p:nvPr/>
        </p:nvSpPr>
        <p:spPr>
          <a:xfrm>
            <a:off x="8357387" y="5010912"/>
            <a:ext cx="18957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KMS</a:t>
            </a:r>
            <a:endParaRPr lang="en-US" sz="630" dirty="0"/>
          </a:p>
          <a:p>
            <a:pPr marL="88900" indent="-88900">
              <a:lnSpc>
                <a:spcPct val="95000"/>
              </a:lnSpc>
              <a:spcAft>
                <a:spcPts val="50"/>
              </a:spcAft>
              <a:buSzPct val="100000"/>
              <a:buChar char="•"/>
            </a:pPr>
            <a:r>
              <a:rPr lang="en-US" sz="63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 • IAM</a:t>
            </a:r>
            <a:endParaRPr lang="en-US" sz="630" dirty="0"/>
          </a:p>
        </p:txBody>
      </p:sp>
      <p:sp>
        <p:nvSpPr>
          <p:cNvPr id="146" name="Shape 119"/>
          <p:cNvSpPr/>
          <p:nvPr/>
        </p:nvSpPr>
        <p:spPr>
          <a:xfrm rot="5400000">
            <a:off x="6022696" y="5696712"/>
            <a:ext cx="182880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147" name="Shape 120"/>
          <p:cNvSpPr/>
          <p:nvPr/>
        </p:nvSpPr>
        <p:spPr>
          <a:xfrm>
            <a:off x="10518343" y="786384"/>
            <a:ext cx="1417320" cy="219456"/>
          </a:xfrm>
          <a:prstGeom prst="roundRect">
            <a:avLst>
              <a:gd name="adj" fmla="val 20833"/>
            </a:avLst>
          </a:prstGeom>
          <a:solidFill>
            <a:srgbClr val="B5396B"/>
          </a:solidFill>
          <a:ln/>
        </p:spPr>
      </p:sp>
      <p:sp>
        <p:nvSpPr>
          <p:cNvPr id="148" name="Text 121"/>
          <p:cNvSpPr/>
          <p:nvPr/>
        </p:nvSpPr>
        <p:spPr>
          <a:xfrm>
            <a:off x="10518343" y="78638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CONSUMPTION</a:t>
            </a:r>
            <a:endParaRPr lang="en-US" sz="820" dirty="0"/>
          </a:p>
        </p:txBody>
      </p:sp>
      <p:sp>
        <p:nvSpPr>
          <p:cNvPr id="149" name="Shape 122"/>
          <p:cNvSpPr/>
          <p:nvPr/>
        </p:nvSpPr>
        <p:spPr>
          <a:xfrm>
            <a:off x="10518343" y="1060704"/>
            <a:ext cx="141732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B5396B"/>
            </a:solidFill>
            <a:prstDash val="solid"/>
          </a:ln>
        </p:spPr>
      </p:sp>
      <p:pic>
        <p:nvPicPr>
          <p:cNvPr id="150" name="Image 25" descr="/home/claude/aws_arch/icons/dashboar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591495" y="1124712"/>
            <a:ext cx="164592" cy="164592"/>
          </a:xfrm>
          <a:prstGeom prst="rect">
            <a:avLst/>
          </a:prstGeom>
        </p:spPr>
      </p:pic>
      <p:sp>
        <p:nvSpPr>
          <p:cNvPr id="151" name="Text 123"/>
          <p:cNvSpPr/>
          <p:nvPr/>
        </p:nvSpPr>
        <p:spPr>
          <a:xfrm>
            <a:off x="10792663" y="1097280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Dashboards</a:t>
            </a:r>
            <a:endParaRPr lang="en-US" sz="710" dirty="0"/>
          </a:p>
        </p:txBody>
      </p:sp>
      <p:sp>
        <p:nvSpPr>
          <p:cNvPr id="152" name="Text 124"/>
          <p:cNvSpPr/>
          <p:nvPr/>
        </p:nvSpPr>
        <p:spPr>
          <a:xfrm>
            <a:off x="10591495" y="1307592"/>
            <a:ext cx="1289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9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QuickSight, embedded BI</a:t>
            </a:r>
            <a:endParaRPr lang="en-US" sz="590" dirty="0"/>
          </a:p>
        </p:txBody>
      </p:sp>
      <p:sp>
        <p:nvSpPr>
          <p:cNvPr id="153" name="Shape 125"/>
          <p:cNvSpPr/>
          <p:nvPr/>
        </p:nvSpPr>
        <p:spPr>
          <a:xfrm>
            <a:off x="10518343" y="1554480"/>
            <a:ext cx="141732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B5396B"/>
            </a:solidFill>
            <a:prstDash val="solid"/>
          </a:ln>
        </p:spPr>
      </p:sp>
      <p:pic>
        <p:nvPicPr>
          <p:cNvPr id="154" name="Image 26" descr="/home/claude/aws_arch/icons/chat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91495" y="1618488"/>
            <a:ext cx="164592" cy="164592"/>
          </a:xfrm>
          <a:prstGeom prst="rect">
            <a:avLst/>
          </a:prstGeom>
        </p:spPr>
      </p:pic>
      <p:sp>
        <p:nvSpPr>
          <p:cNvPr id="155" name="Text 126"/>
          <p:cNvSpPr/>
          <p:nvPr/>
        </p:nvSpPr>
        <p:spPr>
          <a:xfrm>
            <a:off x="10792663" y="1591056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 Interfaces</a:t>
            </a:r>
            <a:endParaRPr lang="en-US" sz="710" dirty="0"/>
          </a:p>
        </p:txBody>
      </p:sp>
      <p:sp>
        <p:nvSpPr>
          <p:cNvPr id="156" name="Text 127"/>
          <p:cNvSpPr/>
          <p:nvPr/>
        </p:nvSpPr>
        <p:spPr>
          <a:xfrm>
            <a:off x="10591495" y="1801368"/>
            <a:ext cx="1289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9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Q, Bedrock Agents</a:t>
            </a:r>
            <a:endParaRPr lang="en-US" sz="590" dirty="0"/>
          </a:p>
        </p:txBody>
      </p:sp>
      <p:sp>
        <p:nvSpPr>
          <p:cNvPr id="157" name="Shape 128"/>
          <p:cNvSpPr/>
          <p:nvPr/>
        </p:nvSpPr>
        <p:spPr>
          <a:xfrm>
            <a:off x="10518343" y="2048256"/>
            <a:ext cx="141732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B5396B"/>
            </a:solidFill>
            <a:prstDash val="solid"/>
          </a:ln>
        </p:spPr>
      </p:sp>
      <p:pic>
        <p:nvPicPr>
          <p:cNvPr id="158" name="Image 27" descr="/home/claude/aws_arch/icons/web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591495" y="2112264"/>
            <a:ext cx="164592" cy="164592"/>
          </a:xfrm>
          <a:prstGeom prst="rect">
            <a:avLst/>
          </a:prstGeom>
        </p:spPr>
      </p:pic>
      <p:sp>
        <p:nvSpPr>
          <p:cNvPr id="159" name="Text 129"/>
          <p:cNvSpPr/>
          <p:nvPr/>
        </p:nvSpPr>
        <p:spPr>
          <a:xfrm>
            <a:off x="10792663" y="2084832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&amp; Mobile Apps</a:t>
            </a:r>
            <a:endParaRPr lang="en-US" sz="710" dirty="0"/>
          </a:p>
        </p:txBody>
      </p:sp>
      <p:sp>
        <p:nvSpPr>
          <p:cNvPr id="160" name="Text 130"/>
          <p:cNvSpPr/>
          <p:nvPr/>
        </p:nvSpPr>
        <p:spPr>
          <a:xfrm>
            <a:off x="10591495" y="2295144"/>
            <a:ext cx="1289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9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Amplify, React / Next.js</a:t>
            </a:r>
            <a:endParaRPr lang="en-US" sz="590" dirty="0"/>
          </a:p>
        </p:txBody>
      </p:sp>
      <p:sp>
        <p:nvSpPr>
          <p:cNvPr id="161" name="Shape 131"/>
          <p:cNvSpPr/>
          <p:nvPr/>
        </p:nvSpPr>
        <p:spPr>
          <a:xfrm>
            <a:off x="10518343" y="2542032"/>
            <a:ext cx="141732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B5396B"/>
            </a:solidFill>
            <a:prstDash val="solid"/>
          </a:ln>
        </p:spPr>
      </p:sp>
      <p:pic>
        <p:nvPicPr>
          <p:cNvPr id="162" name="Image 28" descr="/home/claude/aws_arch/icons/gateway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591495" y="2606040"/>
            <a:ext cx="164592" cy="164592"/>
          </a:xfrm>
          <a:prstGeom prst="rect">
            <a:avLst/>
          </a:prstGeom>
        </p:spPr>
      </p:pic>
      <p:sp>
        <p:nvSpPr>
          <p:cNvPr id="163" name="Text 132"/>
          <p:cNvSpPr/>
          <p:nvPr/>
        </p:nvSpPr>
        <p:spPr>
          <a:xfrm>
            <a:off x="10792663" y="257860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for Partners</a:t>
            </a:r>
            <a:endParaRPr lang="en-US" sz="710" dirty="0"/>
          </a:p>
        </p:txBody>
      </p:sp>
      <p:sp>
        <p:nvSpPr>
          <p:cNvPr id="164" name="Text 133"/>
          <p:cNvSpPr/>
          <p:nvPr/>
        </p:nvSpPr>
        <p:spPr>
          <a:xfrm>
            <a:off x="10591495" y="2788920"/>
            <a:ext cx="1289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9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exposed APIs</a:t>
            </a:r>
            <a:endParaRPr lang="en-US" sz="590" dirty="0"/>
          </a:p>
        </p:txBody>
      </p:sp>
      <p:sp>
        <p:nvSpPr>
          <p:cNvPr id="165" name="Shape 134"/>
          <p:cNvSpPr/>
          <p:nvPr/>
        </p:nvSpPr>
        <p:spPr>
          <a:xfrm>
            <a:off x="10518343" y="3035808"/>
            <a:ext cx="141732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B5396B"/>
            </a:solidFill>
            <a:prstDash val="solid"/>
          </a:ln>
        </p:spPr>
      </p:sp>
      <p:pic>
        <p:nvPicPr>
          <p:cNvPr id="166" name="Image 29" descr="/home/claude/aws_arch/icons/integr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1495" y="3099816"/>
            <a:ext cx="164592" cy="164592"/>
          </a:xfrm>
          <a:prstGeom prst="rect">
            <a:avLst/>
          </a:prstGeom>
        </p:spPr>
      </p:pic>
      <p:sp>
        <p:nvSpPr>
          <p:cNvPr id="167" name="Text 135"/>
          <p:cNvSpPr/>
          <p:nvPr/>
        </p:nvSpPr>
        <p:spPr>
          <a:xfrm>
            <a:off x="10792663" y="3072384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Integration</a:t>
            </a:r>
            <a:endParaRPr lang="en-US" sz="710" dirty="0"/>
          </a:p>
        </p:txBody>
      </p:sp>
      <p:sp>
        <p:nvSpPr>
          <p:cNvPr id="168" name="Text 136"/>
          <p:cNvSpPr/>
          <p:nvPr/>
        </p:nvSpPr>
        <p:spPr>
          <a:xfrm>
            <a:off x="10591495" y="3282696"/>
            <a:ext cx="1289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9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EventBridge, B2B feeds</a:t>
            </a:r>
            <a:endParaRPr lang="en-US" sz="590" dirty="0"/>
          </a:p>
        </p:txBody>
      </p:sp>
      <p:sp>
        <p:nvSpPr>
          <p:cNvPr id="169" name="Shape 137"/>
          <p:cNvSpPr/>
          <p:nvPr/>
        </p:nvSpPr>
        <p:spPr>
          <a:xfrm>
            <a:off x="256032" y="5815584"/>
            <a:ext cx="11679631" cy="868680"/>
          </a:xfrm>
          <a:prstGeom prst="roundRect">
            <a:avLst>
              <a:gd name="adj" fmla="val 6316"/>
            </a:avLst>
          </a:prstGeom>
          <a:solidFill>
            <a:srgbClr val="13293D"/>
          </a:solidFill>
          <a:ln/>
          <a:effectLst>
            <a:outerShdw blurRad="38100" dist="127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0" name="Text 138"/>
          <p:cNvSpPr/>
          <p:nvPr/>
        </p:nvSpPr>
        <p:spPr>
          <a:xfrm>
            <a:off x="384048" y="58704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PLATFORM SERVICES</a:t>
            </a:r>
            <a:endParaRPr lang="en-US" sz="1000" dirty="0"/>
          </a:p>
        </p:txBody>
      </p:sp>
      <p:sp>
        <p:nvSpPr>
          <p:cNvPr id="171" name="Text 139"/>
          <p:cNvSpPr/>
          <p:nvPr/>
        </p:nvSpPr>
        <p:spPr>
          <a:xfrm>
            <a:off x="384048" y="6089904"/>
            <a:ext cx="219693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9F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660" dirty="0"/>
          </a:p>
        </p:txBody>
      </p:sp>
      <p:pic>
        <p:nvPicPr>
          <p:cNvPr id="172" name="Image 30" descr="/home/claude/aws_arch/icons/gateway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84048" y="6263640"/>
            <a:ext cx="118872" cy="118872"/>
          </a:xfrm>
          <a:prstGeom prst="rect">
            <a:avLst/>
          </a:prstGeom>
        </p:spPr>
      </p:pic>
      <p:sp>
        <p:nvSpPr>
          <p:cNvPr id="173" name="Text 140"/>
          <p:cNvSpPr/>
          <p:nvPr/>
        </p:nvSpPr>
        <p:spPr>
          <a:xfrm>
            <a:off x="548640" y="6231636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660" dirty="0"/>
          </a:p>
        </p:txBody>
      </p:sp>
      <p:pic>
        <p:nvPicPr>
          <p:cNvPr id="174" name="Image 31" descr="/home/claude/aws_arch/icons/lambda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84048" y="6414516"/>
            <a:ext cx="118872" cy="118872"/>
          </a:xfrm>
          <a:prstGeom prst="rect">
            <a:avLst/>
          </a:prstGeom>
        </p:spPr>
      </p:pic>
      <p:sp>
        <p:nvSpPr>
          <p:cNvPr id="175" name="Text 141"/>
          <p:cNvSpPr/>
          <p:nvPr/>
        </p:nvSpPr>
        <p:spPr>
          <a:xfrm>
            <a:off x="548640" y="6382512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/ Fargate</a:t>
            </a:r>
            <a:endParaRPr lang="en-US" sz="660" dirty="0"/>
          </a:p>
        </p:txBody>
      </p:sp>
      <p:pic>
        <p:nvPicPr>
          <p:cNvPr id="176" name="Image 32" descr="/home/claude/aws_arch/icons/throttl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4048" y="6565392"/>
            <a:ext cx="118872" cy="118872"/>
          </a:xfrm>
          <a:prstGeom prst="rect">
            <a:avLst/>
          </a:prstGeom>
        </p:spPr>
      </p:pic>
      <p:sp>
        <p:nvSpPr>
          <p:cNvPr id="177" name="Text 142"/>
          <p:cNvSpPr/>
          <p:nvPr/>
        </p:nvSpPr>
        <p:spPr>
          <a:xfrm>
            <a:off x="548640" y="6533388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660" dirty="0"/>
          </a:p>
        </p:txBody>
      </p:sp>
      <p:sp>
        <p:nvSpPr>
          <p:cNvPr id="178" name="Text 143"/>
          <p:cNvSpPr/>
          <p:nvPr/>
        </p:nvSpPr>
        <p:spPr>
          <a:xfrm>
            <a:off x="2690713" y="6089904"/>
            <a:ext cx="219693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9F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IDENTITY</a:t>
            </a:r>
            <a:endParaRPr lang="en-US" sz="660" dirty="0"/>
          </a:p>
        </p:txBody>
      </p:sp>
      <p:pic>
        <p:nvPicPr>
          <p:cNvPr id="179" name="Image 33" descr="/home/claude/aws_arch/icons/auth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690713" y="6263640"/>
            <a:ext cx="118872" cy="118872"/>
          </a:xfrm>
          <a:prstGeom prst="rect">
            <a:avLst/>
          </a:prstGeom>
        </p:spPr>
      </p:pic>
      <p:sp>
        <p:nvSpPr>
          <p:cNvPr id="180" name="Text 144"/>
          <p:cNvSpPr/>
          <p:nvPr/>
        </p:nvSpPr>
        <p:spPr>
          <a:xfrm>
            <a:off x="2855305" y="6231636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IAM</a:t>
            </a:r>
            <a:endParaRPr lang="en-US" sz="660" dirty="0"/>
          </a:p>
        </p:txBody>
      </p:sp>
      <p:pic>
        <p:nvPicPr>
          <p:cNvPr id="181" name="Image 34" descr="/home/claude/aws_arch/icons/key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690713" y="6414516"/>
            <a:ext cx="118872" cy="118872"/>
          </a:xfrm>
          <a:prstGeom prst="rect">
            <a:avLst/>
          </a:prstGeom>
        </p:spPr>
      </p:pic>
      <p:sp>
        <p:nvSpPr>
          <p:cNvPr id="182" name="Text 145"/>
          <p:cNvSpPr/>
          <p:nvPr/>
        </p:nvSpPr>
        <p:spPr>
          <a:xfrm>
            <a:off x="2855305" y="6382512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/ Secrets Mgr</a:t>
            </a:r>
            <a:endParaRPr lang="en-US" sz="660" dirty="0"/>
          </a:p>
        </p:txBody>
      </p:sp>
      <p:pic>
        <p:nvPicPr>
          <p:cNvPr id="183" name="Image 35" descr="/home/claude/aws_arch/icons/shiel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90713" y="6565392"/>
            <a:ext cx="118872" cy="118872"/>
          </a:xfrm>
          <a:prstGeom prst="rect">
            <a:avLst/>
          </a:prstGeom>
        </p:spPr>
      </p:pic>
      <p:sp>
        <p:nvSpPr>
          <p:cNvPr id="184" name="Text 146"/>
          <p:cNvSpPr/>
          <p:nvPr/>
        </p:nvSpPr>
        <p:spPr>
          <a:xfrm>
            <a:off x="2855305" y="6533388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/ GuardDuty</a:t>
            </a:r>
            <a:endParaRPr lang="en-US" sz="660" dirty="0"/>
          </a:p>
        </p:txBody>
      </p:sp>
      <p:sp>
        <p:nvSpPr>
          <p:cNvPr id="185" name="Text 147"/>
          <p:cNvSpPr/>
          <p:nvPr/>
        </p:nvSpPr>
        <p:spPr>
          <a:xfrm>
            <a:off x="4997379" y="6089904"/>
            <a:ext cx="219693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9F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LOGGING</a:t>
            </a:r>
            <a:endParaRPr lang="en-US" sz="660" dirty="0"/>
          </a:p>
        </p:txBody>
      </p:sp>
      <p:pic>
        <p:nvPicPr>
          <p:cNvPr id="186" name="Image 36" descr="/home/claude/aws_arch/icons/log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997379" y="6263640"/>
            <a:ext cx="118872" cy="118872"/>
          </a:xfrm>
          <a:prstGeom prst="rect">
            <a:avLst/>
          </a:prstGeom>
        </p:spPr>
      </p:pic>
      <p:sp>
        <p:nvSpPr>
          <p:cNvPr id="187" name="Text 148"/>
          <p:cNvSpPr/>
          <p:nvPr/>
        </p:nvSpPr>
        <p:spPr>
          <a:xfrm>
            <a:off x="5161971" y="6231636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Logs</a:t>
            </a:r>
            <a:endParaRPr lang="en-US" sz="660" dirty="0"/>
          </a:p>
        </p:txBody>
      </p:sp>
      <p:pic>
        <p:nvPicPr>
          <p:cNvPr id="188" name="Image 37" descr="/home/claude/aws_arch/icons/monitor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97379" y="6414516"/>
            <a:ext cx="118872" cy="118872"/>
          </a:xfrm>
          <a:prstGeom prst="rect">
            <a:avLst/>
          </a:prstGeom>
        </p:spPr>
      </p:pic>
      <p:sp>
        <p:nvSpPr>
          <p:cNvPr id="189" name="Text 149"/>
          <p:cNvSpPr/>
          <p:nvPr/>
        </p:nvSpPr>
        <p:spPr>
          <a:xfrm>
            <a:off x="5161971" y="6382512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 / X-Ray</a:t>
            </a:r>
            <a:endParaRPr lang="en-US" sz="660" dirty="0"/>
          </a:p>
        </p:txBody>
      </p:sp>
      <p:pic>
        <p:nvPicPr>
          <p:cNvPr id="190" name="Image 38" descr="/home/claude/aws_arch/icons/line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97379" y="6565392"/>
            <a:ext cx="118872" cy="118872"/>
          </a:xfrm>
          <a:prstGeom prst="rect">
            <a:avLst/>
          </a:prstGeom>
        </p:spPr>
      </p:pic>
      <p:sp>
        <p:nvSpPr>
          <p:cNvPr id="191" name="Text 150"/>
          <p:cNvSpPr/>
          <p:nvPr/>
        </p:nvSpPr>
        <p:spPr>
          <a:xfrm>
            <a:off x="5161971" y="6533388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Lineage</a:t>
            </a:r>
            <a:endParaRPr lang="en-US" sz="660" dirty="0"/>
          </a:p>
        </p:txBody>
      </p:sp>
      <p:sp>
        <p:nvSpPr>
          <p:cNvPr id="192" name="Text 151"/>
          <p:cNvSpPr/>
          <p:nvPr/>
        </p:nvSpPr>
        <p:spPr>
          <a:xfrm>
            <a:off x="7304044" y="6089904"/>
            <a:ext cx="219693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9F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COMPLIANCE</a:t>
            </a:r>
            <a:endParaRPr lang="en-US" sz="660" dirty="0"/>
          </a:p>
        </p:txBody>
      </p:sp>
      <p:pic>
        <p:nvPicPr>
          <p:cNvPr id="193" name="Image 39" descr="/home/claude/aws_arch/icons/privacy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304044" y="6263640"/>
            <a:ext cx="118872" cy="118872"/>
          </a:xfrm>
          <a:prstGeom prst="rect">
            <a:avLst/>
          </a:prstGeom>
        </p:spPr>
      </p:pic>
      <p:sp>
        <p:nvSpPr>
          <p:cNvPr id="194" name="Text 152"/>
          <p:cNvSpPr/>
          <p:nvPr/>
        </p:nvSpPr>
        <p:spPr>
          <a:xfrm>
            <a:off x="7468636" y="6231636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/ HIPAA</a:t>
            </a:r>
            <a:endParaRPr lang="en-US" sz="660" dirty="0"/>
          </a:p>
        </p:txBody>
      </p:sp>
      <p:pic>
        <p:nvPicPr>
          <p:cNvPr id="195" name="Image 40" descr="/home/claude/aws_arch/icons/check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304044" y="6414516"/>
            <a:ext cx="118872" cy="118872"/>
          </a:xfrm>
          <a:prstGeom prst="rect">
            <a:avLst/>
          </a:prstGeom>
        </p:spPr>
      </p:pic>
      <p:sp>
        <p:nvSpPr>
          <p:cNvPr id="196" name="Text 153"/>
          <p:cNvSpPr/>
          <p:nvPr/>
        </p:nvSpPr>
        <p:spPr>
          <a:xfrm>
            <a:off x="7468636" y="6382512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&amp; Controls</a:t>
            </a:r>
            <a:endParaRPr lang="en-US" sz="660" dirty="0"/>
          </a:p>
        </p:txBody>
      </p:sp>
      <p:pic>
        <p:nvPicPr>
          <p:cNvPr id="197" name="Image 41" descr="/home/claude/aws_arch/icons/safety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04044" y="6565392"/>
            <a:ext cx="118872" cy="118872"/>
          </a:xfrm>
          <a:prstGeom prst="rect">
            <a:avLst/>
          </a:prstGeom>
        </p:spPr>
      </p:pic>
      <p:sp>
        <p:nvSpPr>
          <p:cNvPr id="198" name="Text 154"/>
          <p:cNvSpPr/>
          <p:nvPr/>
        </p:nvSpPr>
        <p:spPr>
          <a:xfrm>
            <a:off x="7468636" y="6533388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</a:t>
            </a:r>
            <a:endParaRPr lang="en-US" sz="660" dirty="0"/>
          </a:p>
        </p:txBody>
      </p:sp>
      <p:sp>
        <p:nvSpPr>
          <p:cNvPr id="199" name="Text 155"/>
          <p:cNvSpPr/>
          <p:nvPr/>
        </p:nvSpPr>
        <p:spPr>
          <a:xfrm>
            <a:off x="9610710" y="6089904"/>
            <a:ext cx="219693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9F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RELIABILITY</a:t>
            </a:r>
            <a:endParaRPr lang="en-US" sz="660" dirty="0"/>
          </a:p>
        </p:txBody>
      </p:sp>
      <p:pic>
        <p:nvPicPr>
          <p:cNvPr id="200" name="Image 42" descr="/home/claude/aws_arch/icons/cost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610710" y="6263640"/>
            <a:ext cx="118872" cy="118872"/>
          </a:xfrm>
          <a:prstGeom prst="rect">
            <a:avLst/>
          </a:prstGeom>
        </p:spPr>
      </p:pic>
      <p:sp>
        <p:nvSpPr>
          <p:cNvPr id="201" name="Text 156"/>
          <p:cNvSpPr/>
          <p:nvPr/>
        </p:nvSpPr>
        <p:spPr>
          <a:xfrm>
            <a:off x="9775302" y="6231636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Explorer / Budgets</a:t>
            </a:r>
            <a:endParaRPr lang="en-US" sz="660" dirty="0"/>
          </a:p>
        </p:txBody>
      </p:sp>
      <p:pic>
        <p:nvPicPr>
          <p:cNvPr id="202" name="Image 43" descr="/home/claude/aws_arch/icons/scal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610710" y="6414516"/>
            <a:ext cx="118872" cy="118872"/>
          </a:xfrm>
          <a:prstGeom prst="rect">
            <a:avLst/>
          </a:prstGeom>
        </p:spPr>
      </p:pic>
      <p:sp>
        <p:nvSpPr>
          <p:cNvPr id="203" name="Text 157"/>
          <p:cNvSpPr/>
          <p:nvPr/>
        </p:nvSpPr>
        <p:spPr>
          <a:xfrm>
            <a:off x="9775302" y="6382512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Scaling</a:t>
            </a:r>
            <a:endParaRPr lang="en-US" sz="660" dirty="0"/>
          </a:p>
        </p:txBody>
      </p:sp>
      <p:pic>
        <p:nvPicPr>
          <p:cNvPr id="204" name="Image 44" descr="/home/claude/aws_arch/icons/backup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610710" y="6565392"/>
            <a:ext cx="118872" cy="118872"/>
          </a:xfrm>
          <a:prstGeom prst="rect">
            <a:avLst/>
          </a:prstGeom>
        </p:spPr>
      </p:pic>
      <p:sp>
        <p:nvSpPr>
          <p:cNvPr id="205" name="Text 158"/>
          <p:cNvSpPr/>
          <p:nvPr/>
        </p:nvSpPr>
        <p:spPr>
          <a:xfrm>
            <a:off x="9775302" y="6533388"/>
            <a:ext cx="201405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DR</a:t>
            </a:r>
            <a:endParaRPr lang="en-US" sz="660" dirty="0"/>
          </a:p>
        </p:txBody>
      </p:sp>
      <p:sp>
        <p:nvSpPr>
          <p:cNvPr id="206" name="Text 159"/>
          <p:cNvSpPr/>
          <p:nvPr/>
        </p:nvSpPr>
        <p:spPr>
          <a:xfrm>
            <a:off x="256032" y="6693408"/>
            <a:ext cx="8686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 reference architecture  |  Legacy → Ingestion → Lakehouse → ML / GenAI → Operations → Consumption</a:t>
            </a:r>
            <a:endParaRPr lang="en-US" sz="700" dirty="0"/>
          </a:p>
        </p:txBody>
      </p:sp>
      <p:sp>
        <p:nvSpPr>
          <p:cNvPr id="207" name="Text 160"/>
          <p:cNvSpPr/>
          <p:nvPr/>
        </p:nvSpPr>
        <p:spPr>
          <a:xfrm>
            <a:off x="10838383" y="669340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896306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PLATFORM ARCHITECTURE — AWS STACK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2062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modern AI/ML solution on AWS — data sources to user-facing AI experiences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89720" y="164592"/>
            <a:ext cx="2743200" cy="420624"/>
          </a:xfrm>
          <a:prstGeom prst="roundRect">
            <a:avLst>
              <a:gd name="adj" fmla="val 13043"/>
            </a:avLst>
          </a:prstGeom>
          <a:solidFill>
            <a:srgbClr val="B8650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— to be finalized during detailed design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92608" y="822960"/>
            <a:ext cx="1051560" cy="832104"/>
          </a:xfrm>
          <a:prstGeom prst="roundRect">
            <a:avLst>
              <a:gd name="adj" fmla="val 7692"/>
            </a:avLst>
          </a:prstGeom>
          <a:solidFill>
            <a:srgbClr val="2D6CA0"/>
          </a:solidFill>
          <a:ln/>
          <a:effectLst>
            <a:outerShdw blurRad="508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" y="86868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8328" y="105156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8328" y="1463040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i="1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all data originates</a:t>
            </a:r>
            <a:endParaRPr lang="en-US" sz="630" dirty="0"/>
          </a:p>
        </p:txBody>
      </p:sp>
      <p:sp>
        <p:nvSpPr>
          <p:cNvPr id="10" name="Shape 8"/>
          <p:cNvSpPr/>
          <p:nvPr/>
        </p:nvSpPr>
        <p:spPr>
          <a:xfrm>
            <a:off x="1417320" y="82296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81328" y="886968"/>
            <a:ext cx="219456" cy="219456"/>
          </a:xfrm>
          <a:prstGeom prst="ellipse">
            <a:avLst/>
          </a:prstGeom>
          <a:solidFill>
            <a:srgbClr val="2D6CA0"/>
          </a:solidFill>
          <a:ln/>
        </p:spPr>
      </p:sp>
      <p:pic>
        <p:nvPicPr>
          <p:cNvPr id="12" name="Image 0" descr="/home/claude/aws_arch/icons/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476" y="928116"/>
            <a:ext cx="118872" cy="11887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746504" y="85953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</a:t>
            </a:r>
            <a:endParaRPr lang="en-US" sz="860" dirty="0"/>
          </a:p>
        </p:txBody>
      </p:sp>
      <p:sp>
        <p:nvSpPr>
          <p:cNvPr id="14" name="Text 11"/>
          <p:cNvSpPr/>
          <p:nvPr/>
        </p:nvSpPr>
        <p:spPr>
          <a:xfrm>
            <a:off x="1508760" y="113385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/ Aurora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Redshift, DynamoDB</a:t>
            </a:r>
            <a:endParaRPr lang="en-US" sz="640" dirty="0"/>
          </a:p>
        </p:txBody>
      </p:sp>
      <p:sp>
        <p:nvSpPr>
          <p:cNvPr id="15" name="Shape 12"/>
          <p:cNvSpPr/>
          <p:nvPr/>
        </p:nvSpPr>
        <p:spPr>
          <a:xfrm>
            <a:off x="3328965" y="82296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392973" y="886968"/>
            <a:ext cx="219456" cy="219456"/>
          </a:xfrm>
          <a:prstGeom prst="ellipse">
            <a:avLst/>
          </a:prstGeom>
          <a:solidFill>
            <a:srgbClr val="2D6CA0"/>
          </a:solidFill>
          <a:ln/>
        </p:spPr>
      </p:sp>
      <p:pic>
        <p:nvPicPr>
          <p:cNvPr id="17" name="Image 1" descr="/home/claude/aws_arch/icons/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4121" y="928116"/>
            <a:ext cx="118872" cy="11887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58149" y="85953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/ Semi</a:t>
            </a:r>
            <a:endParaRPr lang="en-US" sz="860" dirty="0"/>
          </a:p>
        </p:txBody>
      </p:sp>
      <p:sp>
        <p:nvSpPr>
          <p:cNvPr id="19" name="Text 15"/>
          <p:cNvSpPr/>
          <p:nvPr/>
        </p:nvSpPr>
        <p:spPr>
          <a:xfrm>
            <a:off x="3420405" y="113385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(PDF, DOCX), notes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JSON, XML</a:t>
            </a:r>
            <a:endParaRPr lang="en-US" sz="640" dirty="0"/>
          </a:p>
        </p:txBody>
      </p:sp>
      <p:sp>
        <p:nvSpPr>
          <p:cNvPr id="20" name="Shape 16"/>
          <p:cNvSpPr/>
          <p:nvPr/>
        </p:nvSpPr>
        <p:spPr>
          <a:xfrm>
            <a:off x="5240609" y="82296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304617" y="886968"/>
            <a:ext cx="219456" cy="219456"/>
          </a:xfrm>
          <a:prstGeom prst="ellipse">
            <a:avLst/>
          </a:prstGeom>
          <a:solidFill>
            <a:srgbClr val="2D6CA0"/>
          </a:solidFill>
          <a:ln/>
        </p:spPr>
      </p:sp>
      <p:pic>
        <p:nvPicPr>
          <p:cNvPr id="22" name="Image 2" descr="/home/claude/aws_arch/icons/ap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5765" y="928116"/>
            <a:ext cx="118872" cy="11887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569793" y="85953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&amp; Streams</a:t>
            </a:r>
            <a:endParaRPr lang="en-US" sz="860" dirty="0"/>
          </a:p>
        </p:txBody>
      </p:sp>
      <p:sp>
        <p:nvSpPr>
          <p:cNvPr id="24" name="Text 19"/>
          <p:cNvSpPr/>
          <p:nvPr/>
        </p:nvSpPr>
        <p:spPr>
          <a:xfrm>
            <a:off x="5332049" y="113385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SOAP APIs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Core, Kinesis</a:t>
            </a:r>
            <a:endParaRPr lang="en-US" sz="640" dirty="0"/>
          </a:p>
        </p:txBody>
      </p:sp>
      <p:sp>
        <p:nvSpPr>
          <p:cNvPr id="25" name="Shape 20"/>
          <p:cNvSpPr/>
          <p:nvPr/>
        </p:nvSpPr>
        <p:spPr>
          <a:xfrm>
            <a:off x="7152254" y="82296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216262" y="886968"/>
            <a:ext cx="219456" cy="219456"/>
          </a:xfrm>
          <a:prstGeom prst="ellipse">
            <a:avLst/>
          </a:prstGeom>
          <a:solidFill>
            <a:srgbClr val="2D6CA0"/>
          </a:solidFill>
          <a:ln/>
        </p:spPr>
      </p:sp>
      <p:pic>
        <p:nvPicPr>
          <p:cNvPr id="27" name="Image 3" descr="/home/claude/aws_arch/icons/f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7410" y="928116"/>
            <a:ext cx="118872" cy="11887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81438" y="85953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&amp; Storage</a:t>
            </a:r>
            <a:endParaRPr lang="en-US" sz="860" dirty="0"/>
          </a:p>
        </p:txBody>
      </p:sp>
      <p:sp>
        <p:nvSpPr>
          <p:cNvPr id="29" name="Text 23"/>
          <p:cNvSpPr/>
          <p:nvPr/>
        </p:nvSpPr>
        <p:spPr>
          <a:xfrm>
            <a:off x="7243694" y="113385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 (landing)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 (SFTP)</a:t>
            </a:r>
            <a:endParaRPr lang="en-US" sz="640" dirty="0"/>
          </a:p>
        </p:txBody>
      </p:sp>
      <p:sp>
        <p:nvSpPr>
          <p:cNvPr id="30" name="Shape 24"/>
          <p:cNvSpPr/>
          <p:nvPr/>
        </p:nvSpPr>
        <p:spPr>
          <a:xfrm>
            <a:off x="9063899" y="82296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9127907" y="886968"/>
            <a:ext cx="219456" cy="219456"/>
          </a:xfrm>
          <a:prstGeom prst="ellipse">
            <a:avLst/>
          </a:prstGeom>
          <a:solidFill>
            <a:srgbClr val="2D6CA0"/>
          </a:solidFill>
          <a:ln/>
        </p:spPr>
      </p:sp>
      <p:pic>
        <p:nvPicPr>
          <p:cNvPr id="32" name="Image 4" descr="/home/claude/aws_arch/icons/stre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9055" y="928116"/>
            <a:ext cx="118872" cy="11887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393083" y="85953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Sources</a:t>
            </a:r>
            <a:endParaRPr lang="en-US" sz="860" dirty="0"/>
          </a:p>
        </p:txBody>
      </p:sp>
      <p:sp>
        <p:nvSpPr>
          <p:cNvPr id="34" name="Text 27"/>
          <p:cNvSpPr/>
          <p:nvPr/>
        </p:nvSpPr>
        <p:spPr>
          <a:xfrm>
            <a:off x="9155339" y="113385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/ network systems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files, mainframe</a:t>
            </a:r>
            <a:endParaRPr lang="en-US" sz="640" dirty="0"/>
          </a:p>
        </p:txBody>
      </p:sp>
      <p:sp>
        <p:nvSpPr>
          <p:cNvPr id="35" name="Shape 28"/>
          <p:cNvSpPr/>
          <p:nvPr/>
        </p:nvSpPr>
        <p:spPr>
          <a:xfrm>
            <a:off x="10938967" y="822960"/>
            <a:ext cx="960120" cy="832104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/>
          <a:effectLst>
            <a:outerShdw blurRad="50800" dist="127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6" name="Image 5" descr="/home/claude/aws_arch/icons/targ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00155" y="886968"/>
            <a:ext cx="237744" cy="23774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0984687" y="1152144"/>
            <a:ext cx="868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available from all enterprise sources</a:t>
            </a:r>
            <a:endParaRPr lang="en-US" sz="680" dirty="0"/>
          </a:p>
        </p:txBody>
      </p:sp>
      <p:sp>
        <p:nvSpPr>
          <p:cNvPr id="38" name="Shape 30"/>
          <p:cNvSpPr/>
          <p:nvPr/>
        </p:nvSpPr>
        <p:spPr>
          <a:xfrm rot="5400000">
            <a:off x="6059272" y="1623060"/>
            <a:ext cx="201168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39" name="Shape 31"/>
          <p:cNvSpPr/>
          <p:nvPr/>
        </p:nvSpPr>
        <p:spPr>
          <a:xfrm>
            <a:off x="292608" y="1719072"/>
            <a:ext cx="1051560" cy="832104"/>
          </a:xfrm>
          <a:prstGeom prst="roundRect">
            <a:avLst>
              <a:gd name="adj" fmla="val 7692"/>
            </a:avLst>
          </a:prstGeom>
          <a:solidFill>
            <a:srgbClr val="1C7A6E"/>
          </a:solidFill>
          <a:ln/>
          <a:effectLst>
            <a:outerShdw blurRad="508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0" name="Text 32"/>
          <p:cNvSpPr/>
          <p:nvPr/>
        </p:nvSpPr>
        <p:spPr>
          <a:xfrm>
            <a:off x="292608" y="176479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338328" y="1947672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338328" y="2359152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i="1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process, transform, store</a:t>
            </a:r>
            <a:endParaRPr lang="en-US" sz="630" dirty="0"/>
          </a:p>
        </p:txBody>
      </p:sp>
      <p:sp>
        <p:nvSpPr>
          <p:cNvPr id="43" name="Shape 35"/>
          <p:cNvSpPr/>
          <p:nvPr/>
        </p:nvSpPr>
        <p:spPr>
          <a:xfrm>
            <a:off x="1417320" y="1719072"/>
            <a:ext cx="2279828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1481328" y="1783080"/>
            <a:ext cx="219456" cy="219456"/>
          </a:xfrm>
          <a:prstGeom prst="ellipse">
            <a:avLst/>
          </a:prstGeom>
          <a:solidFill>
            <a:srgbClr val="1C7A6E"/>
          </a:solidFill>
          <a:ln/>
        </p:spPr>
      </p:sp>
      <p:pic>
        <p:nvPicPr>
          <p:cNvPr id="45" name="Image 6" descr="/home/claude/aws_arch/icons/facto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2476" y="1824228"/>
            <a:ext cx="118872" cy="118872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1746504" y="1755648"/>
            <a:ext cx="187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&amp; Orchestration</a:t>
            </a:r>
            <a:endParaRPr lang="en-US" sz="860" dirty="0"/>
          </a:p>
        </p:txBody>
      </p:sp>
      <p:sp>
        <p:nvSpPr>
          <p:cNvPr id="47" name="Text 38"/>
          <p:cNvSpPr/>
          <p:nvPr/>
        </p:nvSpPr>
        <p:spPr>
          <a:xfrm>
            <a:off x="1508760" y="2029968"/>
            <a:ext cx="211523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Glue (ETL/crawlers)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AppFlow, MWAA</a:t>
            </a:r>
            <a:endParaRPr lang="en-US" sz="640" dirty="0"/>
          </a:p>
        </p:txBody>
      </p:sp>
      <p:sp>
        <p:nvSpPr>
          <p:cNvPr id="48" name="Shape 39"/>
          <p:cNvSpPr/>
          <p:nvPr/>
        </p:nvSpPr>
        <p:spPr>
          <a:xfrm>
            <a:off x="3806876" y="1719072"/>
            <a:ext cx="2279828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Shape 40"/>
          <p:cNvSpPr/>
          <p:nvPr/>
        </p:nvSpPr>
        <p:spPr>
          <a:xfrm>
            <a:off x="3870884" y="1783080"/>
            <a:ext cx="219456" cy="219456"/>
          </a:xfrm>
          <a:prstGeom prst="ellipse">
            <a:avLst/>
          </a:prstGeom>
          <a:solidFill>
            <a:srgbClr val="1C7A6E"/>
          </a:solidFill>
          <a:ln/>
        </p:spPr>
      </p:sp>
      <p:pic>
        <p:nvPicPr>
          <p:cNvPr id="50" name="Image 7" descr="/home/claude/aws_arch/icons/sp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12032" y="1824228"/>
            <a:ext cx="118872" cy="118872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4136060" y="1755648"/>
            <a:ext cx="187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860" dirty="0"/>
          </a:p>
        </p:txBody>
      </p:sp>
      <p:sp>
        <p:nvSpPr>
          <p:cNvPr id="52" name="Text 42"/>
          <p:cNvSpPr/>
          <p:nvPr/>
        </p:nvSpPr>
        <p:spPr>
          <a:xfrm>
            <a:off x="3898316" y="2029968"/>
            <a:ext cx="211523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Glue / EMR (Spark)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Kinesis Firehose, Step Fn</a:t>
            </a:r>
            <a:endParaRPr lang="en-US" sz="640" dirty="0"/>
          </a:p>
        </p:txBody>
      </p:sp>
      <p:sp>
        <p:nvSpPr>
          <p:cNvPr id="53" name="Shape 43"/>
          <p:cNvSpPr/>
          <p:nvPr/>
        </p:nvSpPr>
        <p:spPr>
          <a:xfrm>
            <a:off x="6196432" y="1719072"/>
            <a:ext cx="2279828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4" name="Shape 44"/>
          <p:cNvSpPr/>
          <p:nvPr/>
        </p:nvSpPr>
        <p:spPr>
          <a:xfrm>
            <a:off x="6260440" y="1783080"/>
            <a:ext cx="219456" cy="219456"/>
          </a:xfrm>
          <a:prstGeom prst="ellipse">
            <a:avLst/>
          </a:prstGeom>
          <a:solidFill>
            <a:srgbClr val="1C7A6E"/>
          </a:solidFill>
          <a:ln/>
        </p:spPr>
      </p:sp>
      <p:pic>
        <p:nvPicPr>
          <p:cNvPr id="55" name="Image 8" descr="/home/claude/aws_arch/icons/medalli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1588" y="1824228"/>
            <a:ext cx="118872" cy="118872"/>
          </a:xfrm>
          <a:prstGeom prst="rect">
            <a:avLst/>
          </a:prstGeom>
        </p:spPr>
      </p:pic>
      <p:sp>
        <p:nvSpPr>
          <p:cNvPr id="56" name="Text 45"/>
          <p:cNvSpPr/>
          <p:nvPr/>
        </p:nvSpPr>
        <p:spPr>
          <a:xfrm>
            <a:off x="6525616" y="1755648"/>
            <a:ext cx="187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Lakehouse</a:t>
            </a:r>
            <a:endParaRPr lang="en-US" sz="860" dirty="0"/>
          </a:p>
        </p:txBody>
      </p:sp>
      <p:sp>
        <p:nvSpPr>
          <p:cNvPr id="57" name="Text 46"/>
          <p:cNvSpPr/>
          <p:nvPr/>
        </p:nvSpPr>
        <p:spPr>
          <a:xfrm>
            <a:off x="6287872" y="2029968"/>
            <a:ext cx="211523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→ Silver → Gold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→ cleansed → curated</a:t>
            </a:r>
            <a:endParaRPr lang="en-US" sz="640" dirty="0"/>
          </a:p>
        </p:txBody>
      </p:sp>
      <p:sp>
        <p:nvSpPr>
          <p:cNvPr id="58" name="Shape 47"/>
          <p:cNvSpPr/>
          <p:nvPr/>
        </p:nvSpPr>
        <p:spPr>
          <a:xfrm>
            <a:off x="8585987" y="1719072"/>
            <a:ext cx="2279828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9" name="Shape 48"/>
          <p:cNvSpPr/>
          <p:nvPr/>
        </p:nvSpPr>
        <p:spPr>
          <a:xfrm>
            <a:off x="8649995" y="1783080"/>
            <a:ext cx="219456" cy="219456"/>
          </a:xfrm>
          <a:prstGeom prst="ellipse">
            <a:avLst/>
          </a:prstGeom>
          <a:solidFill>
            <a:srgbClr val="1C7A6E"/>
          </a:solidFill>
          <a:ln/>
        </p:spPr>
      </p:sp>
      <p:pic>
        <p:nvPicPr>
          <p:cNvPr id="60" name="Image 9" descr="/home/claude/aws_arch/icons/lak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1143" y="1824228"/>
            <a:ext cx="118872" cy="118872"/>
          </a:xfrm>
          <a:prstGeom prst="rect">
            <a:avLst/>
          </a:prstGeom>
        </p:spPr>
      </p:pic>
      <p:sp>
        <p:nvSpPr>
          <p:cNvPr id="61" name="Text 49"/>
          <p:cNvSpPr/>
          <p:nvPr/>
        </p:nvSpPr>
        <p:spPr>
          <a:xfrm>
            <a:off x="8915171" y="1755648"/>
            <a:ext cx="187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 Storage</a:t>
            </a:r>
            <a:endParaRPr lang="en-US" sz="860" dirty="0"/>
          </a:p>
        </p:txBody>
      </p:sp>
      <p:sp>
        <p:nvSpPr>
          <p:cNvPr id="62" name="Text 50"/>
          <p:cNvSpPr/>
          <p:nvPr/>
        </p:nvSpPr>
        <p:spPr>
          <a:xfrm>
            <a:off x="8677427" y="2029968"/>
            <a:ext cx="211523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 + Lake Formation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Glue Data Catalog</a:t>
            </a:r>
            <a:endParaRPr lang="en-US" sz="640" dirty="0"/>
          </a:p>
        </p:txBody>
      </p:sp>
      <p:sp>
        <p:nvSpPr>
          <p:cNvPr id="63" name="Shape 51"/>
          <p:cNvSpPr/>
          <p:nvPr/>
        </p:nvSpPr>
        <p:spPr>
          <a:xfrm>
            <a:off x="10938967" y="1719072"/>
            <a:ext cx="960120" cy="832104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/>
          <a:effectLst>
            <a:outerShdw blurRad="50800" dist="127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64" name="Image 10" descr="/home/claude/aws_arch/icons/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00155" y="1783080"/>
            <a:ext cx="237744" cy="237744"/>
          </a:xfrm>
          <a:prstGeom prst="rect">
            <a:avLst/>
          </a:prstGeom>
        </p:spPr>
      </p:pic>
      <p:sp>
        <p:nvSpPr>
          <p:cNvPr id="65" name="Text 52"/>
          <p:cNvSpPr/>
          <p:nvPr/>
        </p:nvSpPr>
        <p:spPr>
          <a:xfrm>
            <a:off x="10984687" y="2048256"/>
            <a:ext cx="868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trusted, AI-ready data assets</a:t>
            </a:r>
            <a:endParaRPr lang="en-US" sz="680" dirty="0"/>
          </a:p>
        </p:txBody>
      </p:sp>
      <p:sp>
        <p:nvSpPr>
          <p:cNvPr id="66" name="Shape 53"/>
          <p:cNvSpPr/>
          <p:nvPr/>
        </p:nvSpPr>
        <p:spPr>
          <a:xfrm rot="5400000">
            <a:off x="6059272" y="2519172"/>
            <a:ext cx="201168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67" name="Shape 54"/>
          <p:cNvSpPr/>
          <p:nvPr/>
        </p:nvSpPr>
        <p:spPr>
          <a:xfrm>
            <a:off x="292608" y="2615184"/>
            <a:ext cx="1051560" cy="832104"/>
          </a:xfrm>
          <a:prstGeom prst="roundRect">
            <a:avLst>
              <a:gd name="adj" fmla="val 7692"/>
            </a:avLst>
          </a:prstGeom>
          <a:solidFill>
            <a:srgbClr val="6A3DB8"/>
          </a:solidFill>
          <a:ln/>
          <a:effectLst>
            <a:outerShdw blurRad="508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8" name="Text 55"/>
          <p:cNvSpPr/>
          <p:nvPr/>
        </p:nvSpPr>
        <p:spPr>
          <a:xfrm>
            <a:off x="292608" y="266090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100" dirty="0"/>
          </a:p>
        </p:txBody>
      </p:sp>
      <p:sp>
        <p:nvSpPr>
          <p:cNvPr id="69" name="Text 56"/>
          <p:cNvSpPr/>
          <p:nvPr/>
        </p:nvSpPr>
        <p:spPr>
          <a:xfrm>
            <a:off x="338328" y="284378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BRAIN</a:t>
            </a:r>
            <a:endParaRPr lang="en-US" sz="900" dirty="0"/>
          </a:p>
        </p:txBody>
      </p:sp>
      <p:sp>
        <p:nvSpPr>
          <p:cNvPr id="70" name="Text 57"/>
          <p:cNvSpPr/>
          <p:nvPr/>
        </p:nvSpPr>
        <p:spPr>
          <a:xfrm>
            <a:off x="338328" y="3255264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i="1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intelligence with AWS AI</a:t>
            </a:r>
            <a:endParaRPr lang="en-US" sz="630" dirty="0"/>
          </a:p>
        </p:txBody>
      </p:sp>
      <p:sp>
        <p:nvSpPr>
          <p:cNvPr id="71" name="Shape 58"/>
          <p:cNvSpPr/>
          <p:nvPr/>
        </p:nvSpPr>
        <p:spPr>
          <a:xfrm>
            <a:off x="1417320" y="2615184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2" name="Shape 59"/>
          <p:cNvSpPr/>
          <p:nvPr/>
        </p:nvSpPr>
        <p:spPr>
          <a:xfrm>
            <a:off x="1481328" y="2679192"/>
            <a:ext cx="219456" cy="219456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73" name="Image 11" descr="/home/claude/aws_arch/icons/bedrock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2476" y="2720340"/>
            <a:ext cx="118872" cy="118872"/>
          </a:xfrm>
          <a:prstGeom prst="rect">
            <a:avLst/>
          </a:prstGeom>
        </p:spPr>
      </p:pic>
      <p:sp>
        <p:nvSpPr>
          <p:cNvPr id="74" name="Text 60"/>
          <p:cNvSpPr/>
          <p:nvPr/>
        </p:nvSpPr>
        <p:spPr>
          <a:xfrm>
            <a:off x="1746504" y="2651760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860" dirty="0"/>
          </a:p>
        </p:txBody>
      </p:sp>
      <p:sp>
        <p:nvSpPr>
          <p:cNvPr id="75" name="Text 61"/>
          <p:cNvSpPr/>
          <p:nvPr/>
        </p:nvSpPr>
        <p:spPr>
          <a:xfrm>
            <a:off x="1508760" y="2926080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FMs: Claude, Titan, etc.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Embeddings, Agents</a:t>
            </a:r>
            <a:endParaRPr lang="en-US" sz="640" dirty="0"/>
          </a:p>
        </p:txBody>
      </p:sp>
      <p:sp>
        <p:nvSpPr>
          <p:cNvPr id="76" name="Shape 62"/>
          <p:cNvSpPr/>
          <p:nvPr/>
        </p:nvSpPr>
        <p:spPr>
          <a:xfrm>
            <a:off x="3328965" y="2615184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7" name="Shape 63"/>
          <p:cNvSpPr/>
          <p:nvPr/>
        </p:nvSpPr>
        <p:spPr>
          <a:xfrm>
            <a:off x="3392973" y="2679192"/>
            <a:ext cx="219456" cy="219456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78" name="Image 12" descr="/home/claude/aws_arch/icons/search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34121" y="2720340"/>
            <a:ext cx="118872" cy="118872"/>
          </a:xfrm>
          <a:prstGeom prst="rect">
            <a:avLst/>
          </a:prstGeom>
        </p:spPr>
      </p:pic>
      <p:sp>
        <p:nvSpPr>
          <p:cNvPr id="79" name="Text 64"/>
          <p:cNvSpPr/>
          <p:nvPr/>
        </p:nvSpPr>
        <p:spPr>
          <a:xfrm>
            <a:off x="3658149" y="2651760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OpenSearch / Kendra</a:t>
            </a:r>
            <a:endParaRPr lang="en-US" sz="860" dirty="0"/>
          </a:p>
        </p:txBody>
      </p:sp>
      <p:sp>
        <p:nvSpPr>
          <p:cNvPr id="80" name="Text 65"/>
          <p:cNvSpPr/>
          <p:nvPr/>
        </p:nvSpPr>
        <p:spPr>
          <a:xfrm>
            <a:off x="3420405" y="2926080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&amp; semantic search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640" dirty="0"/>
          </a:p>
        </p:txBody>
      </p:sp>
      <p:sp>
        <p:nvSpPr>
          <p:cNvPr id="81" name="Shape 66"/>
          <p:cNvSpPr/>
          <p:nvPr/>
        </p:nvSpPr>
        <p:spPr>
          <a:xfrm>
            <a:off x="5240609" y="2615184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2" name="Shape 67"/>
          <p:cNvSpPr/>
          <p:nvPr/>
        </p:nvSpPr>
        <p:spPr>
          <a:xfrm>
            <a:off x="5304617" y="2679192"/>
            <a:ext cx="219456" cy="219456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83" name="Image 13" descr="/home/claude/aws_arch/icons/rag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45765" y="2720340"/>
            <a:ext cx="118872" cy="118872"/>
          </a:xfrm>
          <a:prstGeom prst="rect">
            <a:avLst/>
          </a:prstGeom>
        </p:spPr>
      </p:pic>
      <p:sp>
        <p:nvSpPr>
          <p:cNvPr id="84" name="Text 68"/>
          <p:cNvSpPr/>
          <p:nvPr/>
        </p:nvSpPr>
        <p:spPr>
          <a:xfrm>
            <a:off x="5569793" y="2651760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</a:t>
            </a:r>
            <a:endParaRPr lang="en-US" sz="860" dirty="0"/>
          </a:p>
        </p:txBody>
      </p:sp>
      <p:sp>
        <p:nvSpPr>
          <p:cNvPr id="85" name="Text 69"/>
          <p:cNvSpPr/>
          <p:nvPr/>
        </p:nvSpPr>
        <p:spPr>
          <a:xfrm>
            <a:off x="5332049" y="2926080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Retrieve-Augment-Generate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640" dirty="0"/>
          </a:p>
        </p:txBody>
      </p:sp>
      <p:sp>
        <p:nvSpPr>
          <p:cNvPr id="86" name="Shape 70"/>
          <p:cNvSpPr/>
          <p:nvPr/>
        </p:nvSpPr>
        <p:spPr>
          <a:xfrm>
            <a:off x="7152254" y="2615184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7" name="Shape 71"/>
          <p:cNvSpPr/>
          <p:nvPr/>
        </p:nvSpPr>
        <p:spPr>
          <a:xfrm>
            <a:off x="7216262" y="2679192"/>
            <a:ext cx="219456" cy="219456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88" name="Image 14" descr="/home/claude/aws_arch/icons/ml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57410" y="2720340"/>
            <a:ext cx="118872" cy="118872"/>
          </a:xfrm>
          <a:prstGeom prst="rect">
            <a:avLst/>
          </a:prstGeom>
        </p:spPr>
      </p:pic>
      <p:sp>
        <p:nvSpPr>
          <p:cNvPr id="89" name="Text 72"/>
          <p:cNvSpPr/>
          <p:nvPr/>
        </p:nvSpPr>
        <p:spPr>
          <a:xfrm>
            <a:off x="7481438" y="2651760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SageMaker</a:t>
            </a:r>
            <a:endParaRPr lang="en-US" sz="860" dirty="0"/>
          </a:p>
        </p:txBody>
      </p:sp>
      <p:sp>
        <p:nvSpPr>
          <p:cNvPr id="90" name="Text 73"/>
          <p:cNvSpPr/>
          <p:nvPr/>
        </p:nvSpPr>
        <p:spPr>
          <a:xfrm>
            <a:off x="7243694" y="2926080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tuning, Feature Store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&amp; batch inference</a:t>
            </a:r>
            <a:endParaRPr lang="en-US" sz="640" dirty="0"/>
          </a:p>
        </p:txBody>
      </p:sp>
      <p:sp>
        <p:nvSpPr>
          <p:cNvPr id="91" name="Shape 74"/>
          <p:cNvSpPr/>
          <p:nvPr/>
        </p:nvSpPr>
        <p:spPr>
          <a:xfrm>
            <a:off x="9063899" y="2615184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2" name="Shape 75"/>
          <p:cNvSpPr/>
          <p:nvPr/>
        </p:nvSpPr>
        <p:spPr>
          <a:xfrm>
            <a:off x="9127907" y="2679192"/>
            <a:ext cx="219456" cy="219456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93" name="Image 15" descr="/home/claude/aws_arch/icons/safety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69055" y="2720340"/>
            <a:ext cx="118872" cy="118872"/>
          </a:xfrm>
          <a:prstGeom prst="rect">
            <a:avLst/>
          </a:prstGeom>
        </p:spPr>
      </p:pic>
      <p:sp>
        <p:nvSpPr>
          <p:cNvPr id="94" name="Text 76"/>
          <p:cNvSpPr/>
          <p:nvPr/>
        </p:nvSpPr>
        <p:spPr>
          <a:xfrm>
            <a:off x="9393083" y="2651760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</a:t>
            </a:r>
            <a:endParaRPr lang="en-US" sz="860" dirty="0"/>
          </a:p>
        </p:txBody>
      </p:sp>
      <p:sp>
        <p:nvSpPr>
          <p:cNvPr id="95" name="Text 77"/>
          <p:cNvSpPr/>
          <p:nvPr/>
        </p:nvSpPr>
        <p:spPr>
          <a:xfrm>
            <a:off x="9155339" y="2926080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Clarify</a:t>
            </a:r>
            <a:endParaRPr lang="en-US" sz="640" dirty="0"/>
          </a:p>
        </p:txBody>
      </p:sp>
      <p:sp>
        <p:nvSpPr>
          <p:cNvPr id="96" name="Shape 78"/>
          <p:cNvSpPr/>
          <p:nvPr/>
        </p:nvSpPr>
        <p:spPr>
          <a:xfrm>
            <a:off x="10938967" y="2615184"/>
            <a:ext cx="960120" cy="832104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/>
          <a:effectLst>
            <a:outerShdw blurRad="50800" dist="127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7" name="Image 16" descr="/home/claude/aws_arch/icons/bulb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300155" y="2679192"/>
            <a:ext cx="237744" cy="237744"/>
          </a:xfrm>
          <a:prstGeom prst="rect">
            <a:avLst/>
          </a:prstGeom>
        </p:spPr>
      </p:pic>
      <p:sp>
        <p:nvSpPr>
          <p:cNvPr id="98" name="Text 79"/>
          <p:cNvSpPr/>
          <p:nvPr/>
        </p:nvSpPr>
        <p:spPr>
          <a:xfrm>
            <a:off x="10984687" y="2944368"/>
            <a:ext cx="868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layer ready to power applications</a:t>
            </a:r>
            <a:endParaRPr lang="en-US" sz="680" dirty="0"/>
          </a:p>
        </p:txBody>
      </p:sp>
      <p:sp>
        <p:nvSpPr>
          <p:cNvPr id="99" name="Shape 80"/>
          <p:cNvSpPr/>
          <p:nvPr/>
        </p:nvSpPr>
        <p:spPr>
          <a:xfrm rot="5400000">
            <a:off x="6059272" y="3415284"/>
            <a:ext cx="201168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100" name="Shape 81"/>
          <p:cNvSpPr/>
          <p:nvPr/>
        </p:nvSpPr>
        <p:spPr>
          <a:xfrm>
            <a:off x="292608" y="3511296"/>
            <a:ext cx="1051560" cy="832104"/>
          </a:xfrm>
          <a:prstGeom prst="roundRect">
            <a:avLst>
              <a:gd name="adj" fmla="val 7692"/>
            </a:avLst>
          </a:prstGeom>
          <a:solidFill>
            <a:srgbClr val="C97A1A"/>
          </a:solidFill>
          <a:ln/>
          <a:effectLst>
            <a:outerShdw blurRad="508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1" name="Text 82"/>
          <p:cNvSpPr/>
          <p:nvPr/>
        </p:nvSpPr>
        <p:spPr>
          <a:xfrm>
            <a:off x="292608" y="355701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100" dirty="0"/>
          </a:p>
        </p:txBody>
      </p:sp>
      <p:sp>
        <p:nvSpPr>
          <p:cNvPr id="102" name="Text 83"/>
          <p:cNvSpPr/>
          <p:nvPr/>
        </p:nvSpPr>
        <p:spPr>
          <a:xfrm>
            <a:off x="338328" y="3739896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/</a:t>
            </a:r>
            <a:endParaRPr lang="en-US" sz="9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</a:t>
            </a:r>
            <a:endParaRPr lang="en-US" sz="900" dirty="0"/>
          </a:p>
        </p:txBody>
      </p:sp>
      <p:sp>
        <p:nvSpPr>
          <p:cNvPr id="103" name="Text 84"/>
          <p:cNvSpPr/>
          <p:nvPr/>
        </p:nvSpPr>
        <p:spPr>
          <a:xfrm>
            <a:off x="338328" y="4151376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i="1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deploy, monitor, operate AI</a:t>
            </a:r>
            <a:endParaRPr lang="en-US" sz="630" dirty="0"/>
          </a:p>
        </p:txBody>
      </p:sp>
      <p:sp>
        <p:nvSpPr>
          <p:cNvPr id="104" name="Shape 85"/>
          <p:cNvSpPr/>
          <p:nvPr/>
        </p:nvSpPr>
        <p:spPr>
          <a:xfrm>
            <a:off x="1417320" y="3511296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5" name="Shape 86"/>
          <p:cNvSpPr/>
          <p:nvPr/>
        </p:nvSpPr>
        <p:spPr>
          <a:xfrm>
            <a:off x="1481328" y="3575304"/>
            <a:ext cx="219456" cy="219456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106" name="Image 17" descr="/home/claude/aws_arch/icons/container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22476" y="3616452"/>
            <a:ext cx="118872" cy="118872"/>
          </a:xfrm>
          <a:prstGeom prst="rect">
            <a:avLst/>
          </a:prstGeom>
        </p:spPr>
      </p:pic>
      <p:sp>
        <p:nvSpPr>
          <p:cNvPr id="107" name="Text 87"/>
          <p:cNvSpPr/>
          <p:nvPr/>
        </p:nvSpPr>
        <p:spPr>
          <a:xfrm>
            <a:off x="1746504" y="3547872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Registry</a:t>
            </a:r>
            <a:endParaRPr lang="en-US" sz="860" dirty="0"/>
          </a:p>
        </p:txBody>
      </p:sp>
      <p:sp>
        <p:nvSpPr>
          <p:cNvPr id="108" name="Text 88"/>
          <p:cNvSpPr/>
          <p:nvPr/>
        </p:nvSpPr>
        <p:spPr>
          <a:xfrm>
            <a:off x="1508760" y="3822192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ECR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/ ECS, SM Pipelines</a:t>
            </a:r>
            <a:endParaRPr lang="en-US" sz="640" dirty="0"/>
          </a:p>
        </p:txBody>
      </p:sp>
      <p:sp>
        <p:nvSpPr>
          <p:cNvPr id="109" name="Shape 89"/>
          <p:cNvSpPr/>
          <p:nvPr/>
        </p:nvSpPr>
        <p:spPr>
          <a:xfrm>
            <a:off x="3328965" y="3511296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0" name="Shape 90"/>
          <p:cNvSpPr/>
          <p:nvPr/>
        </p:nvSpPr>
        <p:spPr>
          <a:xfrm>
            <a:off x="3392973" y="3575304"/>
            <a:ext cx="219456" cy="219456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111" name="Image 18" descr="/home/claude/aws_arch/icons/git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434121" y="3616452"/>
            <a:ext cx="118872" cy="118872"/>
          </a:xfrm>
          <a:prstGeom prst="rect">
            <a:avLst/>
          </a:prstGeom>
        </p:spPr>
      </p:pic>
      <p:sp>
        <p:nvSpPr>
          <p:cNvPr id="112" name="Text 91"/>
          <p:cNvSpPr/>
          <p:nvPr/>
        </p:nvSpPr>
        <p:spPr>
          <a:xfrm>
            <a:off x="3658149" y="3547872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&amp; CI/CD</a:t>
            </a:r>
            <a:endParaRPr lang="en-US" sz="860" dirty="0"/>
          </a:p>
        </p:txBody>
      </p:sp>
      <p:sp>
        <p:nvSpPr>
          <p:cNvPr id="113" name="Text 92"/>
          <p:cNvSpPr/>
          <p:nvPr/>
        </p:nvSpPr>
        <p:spPr>
          <a:xfrm>
            <a:off x="3420405" y="3822192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CodeCommit / GitHub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CodePipeline, IaC (CDK)</a:t>
            </a:r>
            <a:endParaRPr lang="en-US" sz="640" dirty="0"/>
          </a:p>
        </p:txBody>
      </p:sp>
      <p:sp>
        <p:nvSpPr>
          <p:cNvPr id="114" name="Shape 93"/>
          <p:cNvSpPr/>
          <p:nvPr/>
        </p:nvSpPr>
        <p:spPr>
          <a:xfrm>
            <a:off x="5240609" y="3511296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5" name="Shape 94"/>
          <p:cNvSpPr/>
          <p:nvPr/>
        </p:nvSpPr>
        <p:spPr>
          <a:xfrm>
            <a:off x="5304617" y="3575304"/>
            <a:ext cx="219456" cy="219456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116" name="Image 19" descr="/home/claude/aws_arch/icons/monitor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345765" y="3616452"/>
            <a:ext cx="118872" cy="118872"/>
          </a:xfrm>
          <a:prstGeom prst="rect">
            <a:avLst/>
          </a:prstGeom>
        </p:spPr>
      </p:pic>
      <p:sp>
        <p:nvSpPr>
          <p:cNvPr id="117" name="Text 95"/>
          <p:cNvSpPr/>
          <p:nvPr/>
        </p:nvSpPr>
        <p:spPr>
          <a:xfrm>
            <a:off x="5569793" y="3547872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860" dirty="0"/>
          </a:p>
        </p:txBody>
      </p:sp>
      <p:sp>
        <p:nvSpPr>
          <p:cNvPr id="118" name="Text 96"/>
          <p:cNvSpPr/>
          <p:nvPr/>
        </p:nvSpPr>
        <p:spPr>
          <a:xfrm>
            <a:off x="5332049" y="3822192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(metrics/logs)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 Model Monitor, X-Ray</a:t>
            </a:r>
            <a:endParaRPr lang="en-US" sz="640" dirty="0"/>
          </a:p>
        </p:txBody>
      </p:sp>
      <p:sp>
        <p:nvSpPr>
          <p:cNvPr id="119" name="Shape 97"/>
          <p:cNvSpPr/>
          <p:nvPr/>
        </p:nvSpPr>
        <p:spPr>
          <a:xfrm>
            <a:off x="7152254" y="3511296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0" name="Shape 98"/>
          <p:cNvSpPr/>
          <p:nvPr/>
        </p:nvSpPr>
        <p:spPr>
          <a:xfrm>
            <a:off x="7216262" y="3575304"/>
            <a:ext cx="219456" cy="219456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121" name="Image 20" descr="/home/claude/aws_arch/icons/line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257410" y="3616452"/>
            <a:ext cx="118872" cy="118872"/>
          </a:xfrm>
          <a:prstGeom prst="rect">
            <a:avLst/>
          </a:prstGeom>
        </p:spPr>
      </p:pic>
      <p:sp>
        <p:nvSpPr>
          <p:cNvPr id="122" name="Text 99"/>
          <p:cNvSpPr/>
          <p:nvPr/>
        </p:nvSpPr>
        <p:spPr>
          <a:xfrm>
            <a:off x="7481438" y="3547872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860" dirty="0"/>
          </a:p>
        </p:txBody>
      </p:sp>
      <p:sp>
        <p:nvSpPr>
          <p:cNvPr id="123" name="Text 100"/>
          <p:cNvSpPr/>
          <p:nvPr/>
        </p:nvSpPr>
        <p:spPr>
          <a:xfrm>
            <a:off x="7243694" y="3822192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Glue Catalog / DataZone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 Model Registry, lineage</a:t>
            </a:r>
            <a:endParaRPr lang="en-US" sz="640" dirty="0"/>
          </a:p>
        </p:txBody>
      </p:sp>
      <p:sp>
        <p:nvSpPr>
          <p:cNvPr id="124" name="Shape 101"/>
          <p:cNvSpPr/>
          <p:nvPr/>
        </p:nvSpPr>
        <p:spPr>
          <a:xfrm>
            <a:off x="9063899" y="3511296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5" name="Shape 102"/>
          <p:cNvSpPr/>
          <p:nvPr/>
        </p:nvSpPr>
        <p:spPr>
          <a:xfrm>
            <a:off x="9127907" y="3575304"/>
            <a:ext cx="219456" cy="219456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126" name="Image 21" descr="/home/claude/aws_arch/icons/key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169055" y="3616452"/>
            <a:ext cx="118872" cy="118872"/>
          </a:xfrm>
          <a:prstGeom prst="rect">
            <a:avLst/>
          </a:prstGeom>
        </p:spPr>
      </p:pic>
      <p:sp>
        <p:nvSpPr>
          <p:cNvPr id="127" name="Text 103"/>
          <p:cNvSpPr/>
          <p:nvPr/>
        </p:nvSpPr>
        <p:spPr>
          <a:xfrm>
            <a:off x="9393083" y="3547872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Secrets</a:t>
            </a:r>
            <a:endParaRPr lang="en-US" sz="860" dirty="0"/>
          </a:p>
        </p:txBody>
      </p:sp>
      <p:sp>
        <p:nvSpPr>
          <p:cNvPr id="128" name="Text 104"/>
          <p:cNvSpPr/>
          <p:nvPr/>
        </p:nvSpPr>
        <p:spPr>
          <a:xfrm>
            <a:off x="9155339" y="3822192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KMS (encryption)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Manager, IAM</a:t>
            </a:r>
            <a:endParaRPr lang="en-US" sz="640" dirty="0"/>
          </a:p>
        </p:txBody>
      </p:sp>
      <p:sp>
        <p:nvSpPr>
          <p:cNvPr id="129" name="Shape 105"/>
          <p:cNvSpPr/>
          <p:nvPr/>
        </p:nvSpPr>
        <p:spPr>
          <a:xfrm>
            <a:off x="10938967" y="3511296"/>
            <a:ext cx="960120" cy="832104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/>
          <a:effectLst>
            <a:outerShdw blurRad="50800" dist="127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30" name="Image 22" descr="/home/claude/aws_arch/icons/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00155" y="3575304"/>
            <a:ext cx="237744" cy="237744"/>
          </a:xfrm>
          <a:prstGeom prst="rect">
            <a:avLst/>
          </a:prstGeom>
        </p:spPr>
      </p:pic>
      <p:sp>
        <p:nvSpPr>
          <p:cNvPr id="131" name="Text 106"/>
          <p:cNvSpPr/>
          <p:nvPr/>
        </p:nvSpPr>
        <p:spPr>
          <a:xfrm>
            <a:off x="10984687" y="3840480"/>
            <a:ext cx="868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scalable, monitored AI operations</a:t>
            </a:r>
            <a:endParaRPr lang="en-US" sz="680" dirty="0"/>
          </a:p>
        </p:txBody>
      </p:sp>
      <p:sp>
        <p:nvSpPr>
          <p:cNvPr id="132" name="Shape 107"/>
          <p:cNvSpPr/>
          <p:nvPr/>
        </p:nvSpPr>
        <p:spPr>
          <a:xfrm rot="5400000">
            <a:off x="6059272" y="4311396"/>
            <a:ext cx="201168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133" name="Shape 108"/>
          <p:cNvSpPr/>
          <p:nvPr/>
        </p:nvSpPr>
        <p:spPr>
          <a:xfrm>
            <a:off x="292608" y="4407408"/>
            <a:ext cx="1051560" cy="832104"/>
          </a:xfrm>
          <a:prstGeom prst="roundRect">
            <a:avLst>
              <a:gd name="adj" fmla="val 7692"/>
            </a:avLst>
          </a:prstGeom>
          <a:solidFill>
            <a:srgbClr val="B5396B"/>
          </a:solidFill>
          <a:ln/>
          <a:effectLst>
            <a:outerShdw blurRad="508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4" name="Text 109"/>
          <p:cNvSpPr/>
          <p:nvPr/>
        </p:nvSpPr>
        <p:spPr>
          <a:xfrm>
            <a:off x="292608" y="44531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1100" dirty="0"/>
          </a:p>
        </p:txBody>
      </p:sp>
      <p:sp>
        <p:nvSpPr>
          <p:cNvPr id="135" name="Text 110"/>
          <p:cNvSpPr/>
          <p:nvPr/>
        </p:nvSpPr>
        <p:spPr>
          <a:xfrm>
            <a:off x="338328" y="46360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</a:t>
            </a:r>
            <a:endParaRPr lang="en-US" sz="900" dirty="0"/>
          </a:p>
        </p:txBody>
      </p:sp>
      <p:sp>
        <p:nvSpPr>
          <p:cNvPr id="136" name="Text 111"/>
          <p:cNvSpPr/>
          <p:nvPr/>
        </p:nvSpPr>
        <p:spPr>
          <a:xfrm>
            <a:off x="338328" y="5047488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i="1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AI capabilities as APIs</a:t>
            </a:r>
            <a:endParaRPr lang="en-US" sz="630" dirty="0"/>
          </a:p>
        </p:txBody>
      </p:sp>
      <p:sp>
        <p:nvSpPr>
          <p:cNvPr id="137" name="Shape 112"/>
          <p:cNvSpPr/>
          <p:nvPr/>
        </p:nvSpPr>
        <p:spPr>
          <a:xfrm>
            <a:off x="1417320" y="4407408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8" name="Shape 113"/>
          <p:cNvSpPr/>
          <p:nvPr/>
        </p:nvSpPr>
        <p:spPr>
          <a:xfrm>
            <a:off x="1481328" y="4471416"/>
            <a:ext cx="219456" cy="219456"/>
          </a:xfrm>
          <a:prstGeom prst="ellipse">
            <a:avLst/>
          </a:prstGeom>
          <a:solidFill>
            <a:srgbClr val="B5396B"/>
          </a:solidFill>
          <a:ln/>
        </p:spPr>
      </p:sp>
      <p:pic>
        <p:nvPicPr>
          <p:cNvPr id="139" name="Image 23" descr="/home/claude/aws_arch/icons/gateway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522476" y="4512564"/>
            <a:ext cx="118872" cy="118872"/>
          </a:xfrm>
          <a:prstGeom prst="rect">
            <a:avLst/>
          </a:prstGeom>
        </p:spPr>
      </p:pic>
      <p:sp>
        <p:nvSpPr>
          <p:cNvPr id="140" name="Text 114"/>
          <p:cNvSpPr/>
          <p:nvPr/>
        </p:nvSpPr>
        <p:spPr>
          <a:xfrm>
            <a:off x="1746504" y="4443984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API Gateway</a:t>
            </a:r>
            <a:endParaRPr lang="en-US" sz="860" dirty="0"/>
          </a:p>
        </p:txBody>
      </p:sp>
      <p:sp>
        <p:nvSpPr>
          <p:cNvPr id="141" name="Text 115"/>
          <p:cNvSpPr/>
          <p:nvPr/>
        </p:nvSpPr>
        <p:spPr>
          <a:xfrm>
            <a:off x="1508760" y="4718304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&amp; monitor APIs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WebSocket</a:t>
            </a:r>
            <a:endParaRPr lang="en-US" sz="640" dirty="0"/>
          </a:p>
        </p:txBody>
      </p:sp>
      <p:sp>
        <p:nvSpPr>
          <p:cNvPr id="142" name="Shape 116"/>
          <p:cNvSpPr/>
          <p:nvPr/>
        </p:nvSpPr>
        <p:spPr>
          <a:xfrm>
            <a:off x="3328965" y="4407408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3" name="Shape 117"/>
          <p:cNvSpPr/>
          <p:nvPr/>
        </p:nvSpPr>
        <p:spPr>
          <a:xfrm>
            <a:off x="3392973" y="4471416"/>
            <a:ext cx="219456" cy="219456"/>
          </a:xfrm>
          <a:prstGeom prst="ellipse">
            <a:avLst/>
          </a:prstGeom>
          <a:solidFill>
            <a:srgbClr val="B5396B"/>
          </a:solidFill>
          <a:ln/>
        </p:spPr>
      </p:sp>
      <p:pic>
        <p:nvPicPr>
          <p:cNvPr id="144" name="Image 24" descr="/home/claude/aws_arch/icons/lambd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434121" y="4512564"/>
            <a:ext cx="118872" cy="118872"/>
          </a:xfrm>
          <a:prstGeom prst="rect">
            <a:avLst/>
          </a:prstGeom>
        </p:spPr>
      </p:pic>
      <p:sp>
        <p:nvSpPr>
          <p:cNvPr id="145" name="Text 118"/>
          <p:cNvSpPr/>
          <p:nvPr/>
        </p:nvSpPr>
        <p:spPr>
          <a:xfrm>
            <a:off x="3658149" y="4443984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&amp; Logic</a:t>
            </a:r>
            <a:endParaRPr lang="en-US" sz="860" dirty="0"/>
          </a:p>
        </p:txBody>
      </p:sp>
      <p:sp>
        <p:nvSpPr>
          <p:cNvPr id="146" name="Text 119"/>
          <p:cNvSpPr/>
          <p:nvPr/>
        </p:nvSpPr>
        <p:spPr>
          <a:xfrm>
            <a:off x="3420405" y="4718304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 (serverless)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Fargate, Step Functions</a:t>
            </a:r>
            <a:endParaRPr lang="en-US" sz="640" dirty="0"/>
          </a:p>
        </p:txBody>
      </p:sp>
      <p:sp>
        <p:nvSpPr>
          <p:cNvPr id="147" name="Shape 120"/>
          <p:cNvSpPr/>
          <p:nvPr/>
        </p:nvSpPr>
        <p:spPr>
          <a:xfrm>
            <a:off x="5240609" y="4407408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8" name="Shape 121"/>
          <p:cNvSpPr/>
          <p:nvPr/>
        </p:nvSpPr>
        <p:spPr>
          <a:xfrm>
            <a:off x="5304617" y="4471416"/>
            <a:ext cx="219456" cy="219456"/>
          </a:xfrm>
          <a:prstGeom prst="ellipse">
            <a:avLst/>
          </a:prstGeom>
          <a:solidFill>
            <a:srgbClr val="B5396B"/>
          </a:solidFill>
          <a:ln/>
        </p:spPr>
      </p:sp>
      <p:pic>
        <p:nvPicPr>
          <p:cNvPr id="149" name="Image 25" descr="/home/claude/aws_arch/icons/auth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345765" y="4512564"/>
            <a:ext cx="118872" cy="118872"/>
          </a:xfrm>
          <a:prstGeom prst="rect">
            <a:avLst/>
          </a:prstGeom>
        </p:spPr>
      </p:pic>
      <p:sp>
        <p:nvSpPr>
          <p:cNvPr id="150" name="Text 122"/>
          <p:cNvSpPr/>
          <p:nvPr/>
        </p:nvSpPr>
        <p:spPr>
          <a:xfrm>
            <a:off x="5569793" y="4443984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860" dirty="0"/>
          </a:p>
        </p:txBody>
      </p:sp>
      <p:sp>
        <p:nvSpPr>
          <p:cNvPr id="151" name="Text 123"/>
          <p:cNvSpPr/>
          <p:nvPr/>
        </p:nvSpPr>
        <p:spPr>
          <a:xfrm>
            <a:off x="5332049" y="4718304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Identity Center</a:t>
            </a:r>
            <a:endParaRPr lang="en-US" sz="640" dirty="0"/>
          </a:p>
        </p:txBody>
      </p:sp>
      <p:sp>
        <p:nvSpPr>
          <p:cNvPr id="152" name="Shape 124"/>
          <p:cNvSpPr/>
          <p:nvPr/>
        </p:nvSpPr>
        <p:spPr>
          <a:xfrm>
            <a:off x="7152254" y="4407408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3" name="Shape 125"/>
          <p:cNvSpPr/>
          <p:nvPr/>
        </p:nvSpPr>
        <p:spPr>
          <a:xfrm>
            <a:off x="7216262" y="4471416"/>
            <a:ext cx="219456" cy="219456"/>
          </a:xfrm>
          <a:prstGeom prst="ellipse">
            <a:avLst/>
          </a:prstGeom>
          <a:solidFill>
            <a:srgbClr val="B5396B"/>
          </a:solidFill>
          <a:ln/>
        </p:spPr>
      </p:sp>
      <p:pic>
        <p:nvPicPr>
          <p:cNvPr id="154" name="Image 26" descr="/home/claude/aws_arch/icons/throttl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257410" y="4512564"/>
            <a:ext cx="118872" cy="118872"/>
          </a:xfrm>
          <a:prstGeom prst="rect">
            <a:avLst/>
          </a:prstGeom>
        </p:spPr>
      </p:pic>
      <p:sp>
        <p:nvSpPr>
          <p:cNvPr id="155" name="Text 126"/>
          <p:cNvSpPr/>
          <p:nvPr/>
        </p:nvSpPr>
        <p:spPr>
          <a:xfrm>
            <a:off x="7481438" y="4443984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Policy</a:t>
            </a:r>
            <a:endParaRPr lang="en-US" sz="860" dirty="0"/>
          </a:p>
        </p:txBody>
      </p:sp>
      <p:sp>
        <p:nvSpPr>
          <p:cNvPr id="156" name="Text 127"/>
          <p:cNvSpPr/>
          <p:nvPr/>
        </p:nvSpPr>
        <p:spPr>
          <a:xfrm>
            <a:off x="7243694" y="4718304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plans, throttling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Quotas per consumer</a:t>
            </a:r>
            <a:endParaRPr lang="en-US" sz="640" dirty="0"/>
          </a:p>
        </p:txBody>
      </p:sp>
      <p:sp>
        <p:nvSpPr>
          <p:cNvPr id="157" name="Shape 128"/>
          <p:cNvSpPr/>
          <p:nvPr/>
        </p:nvSpPr>
        <p:spPr>
          <a:xfrm>
            <a:off x="9063899" y="4407408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8" name="Shape 129"/>
          <p:cNvSpPr/>
          <p:nvPr/>
        </p:nvSpPr>
        <p:spPr>
          <a:xfrm>
            <a:off x="9127907" y="4471416"/>
            <a:ext cx="219456" cy="219456"/>
          </a:xfrm>
          <a:prstGeom prst="ellipse">
            <a:avLst/>
          </a:prstGeom>
          <a:solidFill>
            <a:srgbClr val="B5396B"/>
          </a:solidFill>
          <a:ln/>
        </p:spPr>
      </p:sp>
      <p:pic>
        <p:nvPicPr>
          <p:cNvPr id="159" name="Image 27" descr="/home/claude/aws_arch/icons/log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169055" y="4512564"/>
            <a:ext cx="118872" cy="118872"/>
          </a:xfrm>
          <a:prstGeom prst="rect">
            <a:avLst/>
          </a:prstGeom>
        </p:spPr>
      </p:pic>
      <p:sp>
        <p:nvSpPr>
          <p:cNvPr id="160" name="Text 130"/>
          <p:cNvSpPr/>
          <p:nvPr/>
        </p:nvSpPr>
        <p:spPr>
          <a:xfrm>
            <a:off x="9393083" y="4443984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&amp; Telemetry</a:t>
            </a:r>
            <a:endParaRPr lang="en-US" sz="860" dirty="0"/>
          </a:p>
        </p:txBody>
      </p:sp>
      <p:sp>
        <p:nvSpPr>
          <p:cNvPr id="161" name="Text 131"/>
          <p:cNvSpPr/>
          <p:nvPr/>
        </p:nvSpPr>
        <p:spPr>
          <a:xfrm>
            <a:off x="9155339" y="4718304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Logs &amp; traces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 (audit)</a:t>
            </a:r>
            <a:endParaRPr lang="en-US" sz="640" dirty="0"/>
          </a:p>
        </p:txBody>
      </p:sp>
      <p:sp>
        <p:nvSpPr>
          <p:cNvPr id="162" name="Shape 132"/>
          <p:cNvSpPr/>
          <p:nvPr/>
        </p:nvSpPr>
        <p:spPr>
          <a:xfrm>
            <a:off x="10938967" y="4407408"/>
            <a:ext cx="960120" cy="832104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/>
          <a:effectLst>
            <a:outerShdw blurRad="50800" dist="127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63" name="Image 28" descr="/home/claude/aws_arch/icons/lock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1300155" y="4471416"/>
            <a:ext cx="237744" cy="237744"/>
          </a:xfrm>
          <a:prstGeom prst="rect">
            <a:avLst/>
          </a:prstGeom>
        </p:spPr>
      </p:pic>
      <p:sp>
        <p:nvSpPr>
          <p:cNvPr id="164" name="Text 133"/>
          <p:cNvSpPr/>
          <p:nvPr/>
        </p:nvSpPr>
        <p:spPr>
          <a:xfrm>
            <a:off x="10984687" y="4736592"/>
            <a:ext cx="868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secure, scalable APIs</a:t>
            </a:r>
            <a:endParaRPr lang="en-US" sz="680" dirty="0"/>
          </a:p>
        </p:txBody>
      </p:sp>
      <p:sp>
        <p:nvSpPr>
          <p:cNvPr id="165" name="Shape 134"/>
          <p:cNvSpPr/>
          <p:nvPr/>
        </p:nvSpPr>
        <p:spPr>
          <a:xfrm rot="5400000">
            <a:off x="6059272" y="5207508"/>
            <a:ext cx="201168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166" name="Shape 135"/>
          <p:cNvSpPr/>
          <p:nvPr/>
        </p:nvSpPr>
        <p:spPr>
          <a:xfrm>
            <a:off x="292608" y="5303520"/>
            <a:ext cx="1051560" cy="832104"/>
          </a:xfrm>
          <a:prstGeom prst="roundRect">
            <a:avLst>
              <a:gd name="adj" fmla="val 7692"/>
            </a:avLst>
          </a:prstGeom>
          <a:solidFill>
            <a:srgbClr val="2C5F8A"/>
          </a:solidFill>
          <a:ln/>
          <a:effectLst>
            <a:outerShdw blurRad="508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7" name="Text 136"/>
          <p:cNvSpPr/>
          <p:nvPr/>
        </p:nvSpPr>
        <p:spPr>
          <a:xfrm>
            <a:off x="292608" y="534924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</a:t>
            </a:r>
            <a:endParaRPr lang="en-US" sz="1100" dirty="0"/>
          </a:p>
        </p:txBody>
      </p:sp>
      <p:sp>
        <p:nvSpPr>
          <p:cNvPr id="168" name="Text 137"/>
          <p:cNvSpPr/>
          <p:nvPr/>
        </p:nvSpPr>
        <p:spPr>
          <a:xfrm>
            <a:off x="338328" y="55321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</a:t>
            </a:r>
            <a:endParaRPr lang="en-US" sz="9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900" dirty="0"/>
          </a:p>
        </p:txBody>
      </p:sp>
      <p:sp>
        <p:nvSpPr>
          <p:cNvPr id="169" name="Text 138"/>
          <p:cNvSpPr/>
          <p:nvPr/>
        </p:nvSpPr>
        <p:spPr>
          <a:xfrm>
            <a:off x="338328" y="5943600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i="1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experiences for users</a:t>
            </a:r>
            <a:endParaRPr lang="en-US" sz="630" dirty="0"/>
          </a:p>
        </p:txBody>
      </p:sp>
      <p:sp>
        <p:nvSpPr>
          <p:cNvPr id="170" name="Shape 139"/>
          <p:cNvSpPr/>
          <p:nvPr/>
        </p:nvSpPr>
        <p:spPr>
          <a:xfrm>
            <a:off x="1417320" y="530352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1" name="Shape 140"/>
          <p:cNvSpPr/>
          <p:nvPr/>
        </p:nvSpPr>
        <p:spPr>
          <a:xfrm>
            <a:off x="1481328" y="5367528"/>
            <a:ext cx="219456" cy="219456"/>
          </a:xfrm>
          <a:prstGeom prst="ellipse">
            <a:avLst/>
          </a:prstGeom>
          <a:solidFill>
            <a:srgbClr val="2C5F8A"/>
          </a:solidFill>
          <a:ln/>
        </p:spPr>
      </p:sp>
      <p:pic>
        <p:nvPicPr>
          <p:cNvPr id="172" name="Image 29" descr="/home/claude/aws_arch/icons/web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522476" y="5408676"/>
            <a:ext cx="118872" cy="118872"/>
          </a:xfrm>
          <a:prstGeom prst="rect">
            <a:avLst/>
          </a:prstGeom>
        </p:spPr>
      </p:pic>
      <p:sp>
        <p:nvSpPr>
          <p:cNvPr id="173" name="Text 141"/>
          <p:cNvSpPr/>
          <p:nvPr/>
        </p:nvSpPr>
        <p:spPr>
          <a:xfrm>
            <a:off x="1746504" y="534009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860" dirty="0"/>
          </a:p>
        </p:txBody>
      </p:sp>
      <p:sp>
        <p:nvSpPr>
          <p:cNvPr id="174" name="Text 142"/>
          <p:cNvSpPr/>
          <p:nvPr/>
        </p:nvSpPr>
        <p:spPr>
          <a:xfrm>
            <a:off x="1508760" y="561441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/ Next.js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Hosting</a:t>
            </a:r>
            <a:endParaRPr lang="en-US" sz="640" dirty="0"/>
          </a:p>
        </p:txBody>
      </p:sp>
      <p:sp>
        <p:nvSpPr>
          <p:cNvPr id="175" name="Shape 143"/>
          <p:cNvSpPr/>
          <p:nvPr/>
        </p:nvSpPr>
        <p:spPr>
          <a:xfrm>
            <a:off x="3328965" y="530352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6" name="Shape 144"/>
          <p:cNvSpPr/>
          <p:nvPr/>
        </p:nvSpPr>
        <p:spPr>
          <a:xfrm>
            <a:off x="3392973" y="5367528"/>
            <a:ext cx="219456" cy="219456"/>
          </a:xfrm>
          <a:prstGeom prst="ellipse">
            <a:avLst/>
          </a:prstGeom>
          <a:solidFill>
            <a:srgbClr val="2C5F8A"/>
          </a:solidFill>
          <a:ln/>
        </p:spPr>
      </p:sp>
      <p:pic>
        <p:nvPicPr>
          <p:cNvPr id="177" name="Image 30" descr="/home/claude/aws_arch/icons/mobil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434121" y="5408676"/>
            <a:ext cx="118872" cy="118872"/>
          </a:xfrm>
          <a:prstGeom prst="rect">
            <a:avLst/>
          </a:prstGeom>
        </p:spPr>
      </p:pic>
      <p:sp>
        <p:nvSpPr>
          <p:cNvPr id="178" name="Text 145"/>
          <p:cNvSpPr/>
          <p:nvPr/>
        </p:nvSpPr>
        <p:spPr>
          <a:xfrm>
            <a:off x="3658149" y="534009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Application</a:t>
            </a:r>
            <a:endParaRPr lang="en-US" sz="860" dirty="0"/>
          </a:p>
        </p:txBody>
      </p:sp>
      <p:sp>
        <p:nvSpPr>
          <p:cNvPr id="179" name="Text 146"/>
          <p:cNvSpPr/>
          <p:nvPr/>
        </p:nvSpPr>
        <p:spPr>
          <a:xfrm>
            <a:off x="3420405" y="561441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/ iOS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SDK, SNS push</a:t>
            </a:r>
            <a:endParaRPr lang="en-US" sz="640" dirty="0"/>
          </a:p>
        </p:txBody>
      </p:sp>
      <p:sp>
        <p:nvSpPr>
          <p:cNvPr id="180" name="Shape 147"/>
          <p:cNvSpPr/>
          <p:nvPr/>
        </p:nvSpPr>
        <p:spPr>
          <a:xfrm>
            <a:off x="5240609" y="530352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1" name="Shape 148"/>
          <p:cNvSpPr/>
          <p:nvPr/>
        </p:nvSpPr>
        <p:spPr>
          <a:xfrm>
            <a:off x="5304617" y="5367528"/>
            <a:ext cx="219456" cy="219456"/>
          </a:xfrm>
          <a:prstGeom prst="ellipse">
            <a:avLst/>
          </a:prstGeom>
          <a:solidFill>
            <a:srgbClr val="2C5F8A"/>
          </a:solidFill>
          <a:ln/>
        </p:spPr>
      </p:sp>
      <p:pic>
        <p:nvPicPr>
          <p:cNvPr id="182" name="Image 31" descr="/home/claude/aws_arch/icons/chat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345765" y="5408676"/>
            <a:ext cx="118872" cy="118872"/>
          </a:xfrm>
          <a:prstGeom prst="rect">
            <a:avLst/>
          </a:prstGeom>
        </p:spPr>
      </p:pic>
      <p:sp>
        <p:nvSpPr>
          <p:cNvPr id="183" name="Text 149"/>
          <p:cNvSpPr/>
          <p:nvPr/>
        </p:nvSpPr>
        <p:spPr>
          <a:xfrm>
            <a:off x="5569793" y="534009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 Interface</a:t>
            </a:r>
            <a:endParaRPr lang="en-US" sz="860" dirty="0"/>
          </a:p>
        </p:txBody>
      </p:sp>
      <p:sp>
        <p:nvSpPr>
          <p:cNvPr id="184" name="Text 150"/>
          <p:cNvSpPr/>
          <p:nvPr/>
        </p:nvSpPr>
        <p:spPr>
          <a:xfrm>
            <a:off x="5332049" y="561441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UX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Q, Bedrock Agents</a:t>
            </a:r>
            <a:endParaRPr lang="en-US" sz="640" dirty="0"/>
          </a:p>
        </p:txBody>
      </p:sp>
      <p:sp>
        <p:nvSpPr>
          <p:cNvPr id="185" name="Shape 151"/>
          <p:cNvSpPr/>
          <p:nvPr/>
        </p:nvSpPr>
        <p:spPr>
          <a:xfrm>
            <a:off x="7152254" y="530352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6" name="Shape 152"/>
          <p:cNvSpPr/>
          <p:nvPr/>
        </p:nvSpPr>
        <p:spPr>
          <a:xfrm>
            <a:off x="7216262" y="5367528"/>
            <a:ext cx="219456" cy="219456"/>
          </a:xfrm>
          <a:prstGeom prst="ellipse">
            <a:avLst/>
          </a:prstGeom>
          <a:solidFill>
            <a:srgbClr val="2C5F8A"/>
          </a:solidFill>
          <a:ln/>
        </p:spPr>
      </p:sp>
      <p:pic>
        <p:nvPicPr>
          <p:cNvPr id="187" name="Image 32" descr="/home/claude/aws_arch/icons/dashboar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257410" y="5408676"/>
            <a:ext cx="118872" cy="118872"/>
          </a:xfrm>
          <a:prstGeom prst="rect">
            <a:avLst/>
          </a:prstGeom>
        </p:spPr>
      </p:pic>
      <p:sp>
        <p:nvSpPr>
          <p:cNvPr id="188" name="Text 153"/>
          <p:cNvSpPr/>
          <p:nvPr/>
        </p:nvSpPr>
        <p:spPr>
          <a:xfrm>
            <a:off x="7481438" y="534009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860" dirty="0"/>
          </a:p>
        </p:txBody>
      </p:sp>
      <p:sp>
        <p:nvSpPr>
          <p:cNvPr id="189" name="Text 154"/>
          <p:cNvSpPr/>
          <p:nvPr/>
        </p:nvSpPr>
        <p:spPr>
          <a:xfrm>
            <a:off x="7243694" y="561441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QuickSight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Self-serve, embedded BI</a:t>
            </a:r>
            <a:endParaRPr lang="en-US" sz="640" dirty="0"/>
          </a:p>
        </p:txBody>
      </p:sp>
      <p:sp>
        <p:nvSpPr>
          <p:cNvPr id="190" name="Shape 155"/>
          <p:cNvSpPr/>
          <p:nvPr/>
        </p:nvSpPr>
        <p:spPr>
          <a:xfrm>
            <a:off x="9063899" y="530352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blurRad="38100" dist="127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1" name="Shape 156"/>
          <p:cNvSpPr/>
          <p:nvPr/>
        </p:nvSpPr>
        <p:spPr>
          <a:xfrm>
            <a:off x="9127907" y="5367528"/>
            <a:ext cx="219456" cy="219456"/>
          </a:xfrm>
          <a:prstGeom prst="ellipse">
            <a:avLst/>
          </a:prstGeom>
          <a:solidFill>
            <a:srgbClr val="2C5F8A"/>
          </a:solidFill>
          <a:ln/>
        </p:spPr>
      </p:sp>
      <p:pic>
        <p:nvPicPr>
          <p:cNvPr id="192" name="Image 33" descr="/home/claude/aws_arch/icons/integration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169055" y="5408676"/>
            <a:ext cx="118872" cy="118872"/>
          </a:xfrm>
          <a:prstGeom prst="rect">
            <a:avLst/>
          </a:prstGeom>
        </p:spPr>
      </p:pic>
      <p:sp>
        <p:nvSpPr>
          <p:cNvPr id="193" name="Text 157"/>
          <p:cNvSpPr/>
          <p:nvPr/>
        </p:nvSpPr>
        <p:spPr>
          <a:xfrm>
            <a:off x="9393083" y="534009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Integration</a:t>
            </a:r>
            <a:endParaRPr lang="en-US" sz="860" dirty="0"/>
          </a:p>
        </p:txBody>
      </p:sp>
      <p:sp>
        <p:nvSpPr>
          <p:cNvPr id="194" name="Text 158"/>
          <p:cNvSpPr/>
          <p:nvPr/>
        </p:nvSpPr>
        <p:spPr>
          <a:xfrm>
            <a:off x="9155339" y="561441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(event bus)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/ B2B connectivity</a:t>
            </a:r>
            <a:endParaRPr lang="en-US" sz="640" dirty="0"/>
          </a:p>
        </p:txBody>
      </p:sp>
      <p:sp>
        <p:nvSpPr>
          <p:cNvPr id="195" name="Shape 159"/>
          <p:cNvSpPr/>
          <p:nvPr/>
        </p:nvSpPr>
        <p:spPr>
          <a:xfrm>
            <a:off x="10938967" y="5303520"/>
            <a:ext cx="960120" cy="832104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/>
          <a:effectLst>
            <a:outerShdw blurRad="50800" dist="127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96" name="Image 34" descr="/home/claude/aws_arch/icons/users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1300155" y="5367528"/>
            <a:ext cx="237744" cy="237744"/>
          </a:xfrm>
          <a:prstGeom prst="rect">
            <a:avLst/>
          </a:prstGeom>
        </p:spPr>
      </p:pic>
      <p:sp>
        <p:nvSpPr>
          <p:cNvPr id="197" name="Text 160"/>
          <p:cNvSpPr/>
          <p:nvPr/>
        </p:nvSpPr>
        <p:spPr>
          <a:xfrm>
            <a:off x="10984687" y="5632704"/>
            <a:ext cx="868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solutions delivered to end users</a:t>
            </a:r>
            <a:endParaRPr lang="en-US" sz="680" dirty="0"/>
          </a:p>
        </p:txBody>
      </p:sp>
      <p:sp>
        <p:nvSpPr>
          <p:cNvPr id="198" name="Shape 161"/>
          <p:cNvSpPr/>
          <p:nvPr/>
        </p:nvSpPr>
        <p:spPr>
          <a:xfrm>
            <a:off x="292608" y="6217920"/>
            <a:ext cx="11606479" cy="384048"/>
          </a:xfrm>
          <a:prstGeom prst="roundRect">
            <a:avLst>
              <a:gd name="adj" fmla="val 14286"/>
            </a:avLst>
          </a:prstGeom>
          <a:solidFill>
            <a:srgbClr val="0B1F33"/>
          </a:solidFill>
          <a:ln/>
        </p:spPr>
      </p:sp>
      <p:sp>
        <p:nvSpPr>
          <p:cNvPr id="199" name="Text 162"/>
          <p:cNvSpPr/>
          <p:nvPr/>
        </p:nvSpPr>
        <p:spPr>
          <a:xfrm>
            <a:off x="429768" y="62179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8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CONCERNS</a:t>
            </a:r>
            <a:endParaRPr lang="en-US" sz="950" dirty="0"/>
          </a:p>
        </p:txBody>
      </p:sp>
      <p:pic>
        <p:nvPicPr>
          <p:cNvPr id="200" name="Image 35" descr="/home/claude/aws_arch/icons/shiel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715768" y="6323076"/>
            <a:ext cx="173736" cy="173736"/>
          </a:xfrm>
          <a:prstGeom prst="rect">
            <a:avLst/>
          </a:prstGeom>
        </p:spPr>
      </p:pic>
      <p:sp>
        <p:nvSpPr>
          <p:cNvPr id="201" name="Text 163"/>
          <p:cNvSpPr/>
          <p:nvPr/>
        </p:nvSpPr>
        <p:spPr>
          <a:xfrm>
            <a:off x="2935224" y="6217920"/>
            <a:ext cx="1562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830" dirty="0"/>
          </a:p>
        </p:txBody>
      </p:sp>
      <p:pic>
        <p:nvPicPr>
          <p:cNvPr id="202" name="Image 36" descr="/home/claude/aws_arch/icons/privacy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534144" y="6323076"/>
            <a:ext cx="173736" cy="173736"/>
          </a:xfrm>
          <a:prstGeom prst="rect">
            <a:avLst/>
          </a:prstGeom>
        </p:spPr>
      </p:pic>
      <p:sp>
        <p:nvSpPr>
          <p:cNvPr id="203" name="Text 164"/>
          <p:cNvSpPr/>
          <p:nvPr/>
        </p:nvSpPr>
        <p:spPr>
          <a:xfrm>
            <a:off x="4753600" y="6217920"/>
            <a:ext cx="1562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(GDPR/HIPAA)</a:t>
            </a:r>
            <a:endParaRPr lang="en-US" sz="830" dirty="0"/>
          </a:p>
        </p:txBody>
      </p:sp>
      <p:pic>
        <p:nvPicPr>
          <p:cNvPr id="204" name="Image 37" descr="/home/claude/aws_arch/icons/cost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352520" y="6323076"/>
            <a:ext cx="173736" cy="173736"/>
          </a:xfrm>
          <a:prstGeom prst="rect">
            <a:avLst/>
          </a:prstGeom>
        </p:spPr>
      </p:pic>
      <p:sp>
        <p:nvSpPr>
          <p:cNvPr id="205" name="Text 165"/>
          <p:cNvSpPr/>
          <p:nvPr/>
        </p:nvSpPr>
        <p:spPr>
          <a:xfrm>
            <a:off x="6571976" y="6217920"/>
            <a:ext cx="1562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Management</a:t>
            </a:r>
            <a:endParaRPr lang="en-US" sz="830" dirty="0"/>
          </a:p>
        </p:txBody>
      </p:sp>
      <p:pic>
        <p:nvPicPr>
          <p:cNvPr id="206" name="Image 38" descr="/home/claude/aws_arch/icons/scal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170896" y="6323076"/>
            <a:ext cx="173736" cy="173736"/>
          </a:xfrm>
          <a:prstGeom prst="rect">
            <a:avLst/>
          </a:prstGeom>
        </p:spPr>
      </p:pic>
      <p:sp>
        <p:nvSpPr>
          <p:cNvPr id="207" name="Text 166"/>
          <p:cNvSpPr/>
          <p:nvPr/>
        </p:nvSpPr>
        <p:spPr>
          <a:xfrm>
            <a:off x="8390352" y="6217920"/>
            <a:ext cx="1562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Performance</a:t>
            </a:r>
            <a:endParaRPr lang="en-US" sz="830" dirty="0"/>
          </a:p>
        </p:txBody>
      </p:sp>
      <p:pic>
        <p:nvPicPr>
          <p:cNvPr id="208" name="Image 39" descr="/home/claude/aws_arch/icons/backup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989271" y="6323076"/>
            <a:ext cx="173736" cy="173736"/>
          </a:xfrm>
          <a:prstGeom prst="rect">
            <a:avLst/>
          </a:prstGeom>
        </p:spPr>
      </p:pic>
      <p:sp>
        <p:nvSpPr>
          <p:cNvPr id="209" name="Text 167"/>
          <p:cNvSpPr/>
          <p:nvPr/>
        </p:nvSpPr>
        <p:spPr>
          <a:xfrm>
            <a:off x="10208727" y="6217920"/>
            <a:ext cx="1562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Disaster Recovery</a:t>
            </a:r>
            <a:endParaRPr lang="en-US" sz="830" dirty="0"/>
          </a:p>
        </p:txBody>
      </p:sp>
      <p:sp>
        <p:nvSpPr>
          <p:cNvPr id="210" name="Text 168"/>
          <p:cNvSpPr/>
          <p:nvPr/>
        </p:nvSpPr>
        <p:spPr>
          <a:xfrm>
            <a:off x="292608" y="671169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 reference architecture  |  Layers map to: Data Sources → Pipeline → AI/ML → MLOps → API → Applications</a:t>
            </a:r>
            <a:endParaRPr lang="en-US" sz="750" dirty="0"/>
          </a:p>
        </p:txBody>
      </p:sp>
      <p:sp>
        <p:nvSpPr>
          <p:cNvPr id="211" name="Text 169"/>
          <p:cNvSpPr/>
          <p:nvPr/>
        </p:nvSpPr>
        <p:spPr>
          <a:xfrm>
            <a:off x="10801807" y="6711696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1410</Words>
  <Application>Microsoft Office PowerPoint</Application>
  <PresentationFormat>Widescreen</PresentationFormat>
  <Paragraphs>345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Enterprise AI Platform Architecture - AWS Stack</dc:title>
  <dc:subject>PptxGenJS Presentation</dc:subject>
  <dc:creator>Enterprise Architecture</dc:creator>
  <cp:lastModifiedBy>Windows User</cp:lastModifiedBy>
  <cp:revision>5</cp:revision>
  <dcterms:created xsi:type="dcterms:W3CDTF">2026-06-30T05:24:19Z</dcterms:created>
  <dcterms:modified xsi:type="dcterms:W3CDTF">2026-07-07T12:45:00Z</dcterms:modified>
</cp:coreProperties>
</file>