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4" r:id="rId31"/>
    <p:sldId id="286" r:id="rId32"/>
    <p:sldId id="287" r:id="rId33"/>
    <p:sldId id="288" r:id="rId34"/>
    <p:sldId id="289" r:id="rId35"/>
    <p:sldId id="290"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8898" autoAdjust="0"/>
  </p:normalViewPr>
  <p:slideViewPr>
    <p:cSldViewPr snapToGrid="0" snapToObjects="1">
      <p:cViewPr varScale="1">
        <p:scale>
          <a:sx n="150" d="100"/>
          <a:sy n="150" d="100"/>
        </p:scale>
        <p:origin x="2098"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798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Goal </a:t>
            </a:r>
            <a:r>
              <a:rPr lang="en-US" dirty="0"/>
              <a:t>is NOT to make them data scientists but confident, responsible AI users as they start their internship. </a:t>
            </a:r>
            <a:endParaRPr lang="en-US" dirty="0" smtClean="0"/>
          </a:p>
          <a:p>
            <a:r>
              <a:rPr lang="en-US" dirty="0" smtClean="0"/>
              <a:t>Reassure</a:t>
            </a:r>
            <a:r>
              <a:rPr lang="en-US" dirty="0"/>
              <a:t>: no maths, no coding, everyday language throughout. </a:t>
            </a:r>
            <a:endParaRPr lang="en-US" dirty="0" smtClean="0"/>
          </a:p>
          <a:p>
            <a:r>
              <a:rPr lang="en-US" dirty="0" smtClean="0"/>
              <a:t>Mention </a:t>
            </a:r>
            <a:r>
              <a:rPr lang="en-US" dirty="0"/>
              <a:t>how the session runs online </a:t>
            </a:r>
            <a:r>
              <a:rPr lang="en-US" dirty="0" smtClean="0"/>
              <a:t>— quiz, </a:t>
            </a:r>
            <a:r>
              <a:rPr lang="en-US" dirty="0"/>
              <a:t>chat and emoji reactions, so they should keep the chat handy</a:t>
            </a:r>
            <a:r>
              <a:rPr lang="en-US" dirty="0" smtClean="0"/>
              <a:t>.</a:t>
            </a:r>
            <a:endParaRPr lang="en-US" dirty="0"/>
          </a:p>
          <a:p>
            <a:r>
              <a:rPr lang="en-US" dirty="0" smtClean="0"/>
              <a:t>Let me show you where we're headed for the next 90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t>
            </a:r>
            <a:r>
              <a:rPr lang="en-US" dirty="0"/>
              <a:t>is a working session, not a lecture — respond in chat, use reactions</a:t>
            </a:r>
            <a:r>
              <a:rPr lang="en-US" dirty="0" smtClean="0"/>
              <a:t>.</a:t>
            </a:r>
          </a:p>
          <a:p>
            <a:r>
              <a:rPr lang="en-US" dirty="0" smtClean="0"/>
              <a:t>Speaking of the chat — let's use it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Almost </a:t>
            </a:r>
            <a:r>
              <a:rPr lang="en-US" dirty="0"/>
              <a:t>everyone uses AI already</a:t>
            </a:r>
            <a:r>
              <a:rPr lang="en-US" dirty="0" smtClean="0"/>
              <a:t>. What most people never learn is how to use it </a:t>
            </a:r>
            <a:r>
              <a:rPr lang="en-US" i="1" dirty="0" smtClean="0"/>
              <a:t>well</a:t>
            </a:r>
            <a:r>
              <a:rPr lang="en-US" dirty="0" smtClean="0"/>
              <a:t>, and how to use it </a:t>
            </a:r>
            <a:r>
              <a:rPr lang="en-US" i="1" dirty="0" smtClean="0"/>
              <a:t>safely</a:t>
            </a:r>
            <a:r>
              <a:rPr lang="en-US" dirty="0" smtClean="0"/>
              <a:t>. That gap is exactly what this session will close.</a:t>
            </a:r>
          </a:p>
          <a:p>
            <a:r>
              <a:rPr lang="en-US" dirty="0" smtClean="0"/>
              <a:t>Using it for a college assignment and using it at Deloitte are two very different things.</a:t>
            </a:r>
          </a:p>
          <a:p>
            <a:r>
              <a:rPr lang="en-US" dirty="0" smtClean="0"/>
              <a:t>So — we all use it. But what </a:t>
            </a:r>
            <a:r>
              <a:rPr lang="en-US" i="1" dirty="0" smtClean="0"/>
              <a:t>is</a:t>
            </a:r>
            <a:r>
              <a:rPr lang="en-US" dirty="0" smtClean="0"/>
              <a:t> AI, actually?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AI' might be the most overused word in business right now. Let's make sure we all mean the same thing by it.</a:t>
            </a:r>
          </a:p>
          <a:p>
            <a:r>
              <a:rPr lang="en-US" dirty="0" smtClean="0"/>
              <a:t>Anytime a machine does something we'd normally need a human brain for — recognizing a face, understanding a sentence, predicting what you'll buy — that's AI.</a:t>
            </a:r>
          </a:p>
          <a:p>
            <a:r>
              <a:rPr lang="en-US" dirty="0" smtClean="0"/>
              <a:t>When I say AI, a lot of people picture a robot from a movie that thinks and feels. That is </a:t>
            </a:r>
            <a:r>
              <a:rPr lang="en-US" i="1" dirty="0" smtClean="0"/>
              <a:t>not</a:t>
            </a:r>
            <a:r>
              <a:rPr lang="en-US" dirty="0" smtClean="0"/>
              <a:t> what any of this is. Every AI on earth today is </a:t>
            </a:r>
            <a:r>
              <a:rPr lang="en-US" i="1" dirty="0" smtClean="0"/>
              <a:t>narrow</a:t>
            </a:r>
            <a:r>
              <a:rPr lang="en-US" dirty="0" smtClean="0"/>
              <a:t> — freakishly good at one task and useless outside it. </a:t>
            </a:r>
          </a:p>
          <a:p>
            <a:r>
              <a:rPr lang="en-US" dirty="0" smtClean="0"/>
              <a:t>The chess AI can't drive your car. </a:t>
            </a:r>
          </a:p>
          <a:p>
            <a:r>
              <a:rPr lang="en-US" dirty="0" smtClean="0"/>
              <a:t>The human-like 'general' AI from the movies? Doesn't exist. Not yet, maybe not for a long time.</a:t>
            </a:r>
          </a:p>
          <a:p>
            <a:r>
              <a:rPr lang="en-US" dirty="0" smtClean="0"/>
              <a:t>Why </a:t>
            </a:r>
            <a:r>
              <a:rPr lang="en-US" dirty="0"/>
              <a:t>now — </a:t>
            </a:r>
            <a:r>
              <a:rPr lang="en-US" dirty="0" smtClean="0"/>
              <a:t>The core ideas are about 70 years old. What changed recently is that three things collided — we finally have enough data, cheap enough computing, and better methods. That's why AI feels like it appeared overnight when it really didn't.</a:t>
            </a:r>
          </a:p>
          <a:p>
            <a:r>
              <a:rPr lang="en-US" dirty="0" smtClean="0"/>
              <a:t>AI is mostly </a:t>
            </a:r>
            <a:r>
              <a:rPr lang="en-US" dirty="0"/>
              <a:t>invisible software making predictions.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slide — the nesting model. </a:t>
            </a:r>
            <a:endParaRPr lang="en-US" dirty="0" smtClean="0"/>
          </a:p>
          <a:p>
            <a:r>
              <a:rPr lang="en-US" dirty="0" smtClean="0"/>
              <a:t>Each </a:t>
            </a:r>
            <a:r>
              <a:rPr lang="en-US" dirty="0"/>
              <a:t>is a subset of the one before: AI contains ML, ML contains Deep Learning, and Generative AI is a type of deep learning. </a:t>
            </a:r>
            <a:endParaRPr lang="en-US" dirty="0" smtClean="0"/>
          </a:p>
          <a:p>
            <a:r>
              <a:rPr lang="en-US" dirty="0" smtClean="0"/>
              <a:t>When </a:t>
            </a:r>
            <a:r>
              <a:rPr lang="en-US" dirty="0"/>
              <a:t>people say 'AI' today they usually mean the green box — Generative AI, where ChatGPT/Copilot/Gemini/Claude live. </a:t>
            </a:r>
            <a:endParaRPr lang="en-US" dirty="0" smtClean="0"/>
          </a:p>
          <a:p>
            <a:r>
              <a:rPr lang="en-US" dirty="0" smtClean="0"/>
              <a:t>One example </a:t>
            </a:r>
            <a:r>
              <a:rPr lang="en-US" dirty="0"/>
              <a:t>per ring </a:t>
            </a:r>
            <a:r>
              <a:rPr lang="en-US" dirty="0" smtClean="0"/>
              <a:t>(</a:t>
            </a:r>
            <a:r>
              <a:rPr lang="en-US" dirty="0"/>
              <a:t>fraud detection = ML, face unlock = deep learning, ChatGPT = </a:t>
            </a:r>
            <a:r>
              <a:rPr lang="en-US" dirty="0" err="1"/>
              <a:t>GenAI</a:t>
            </a:r>
            <a:r>
              <a:rPr lang="en-US"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the email says free money and comes from a stranger, mark it spam.' The problem? Spammers change tactics daily, and you'd be writing rules forever and always one step behind.</a:t>
            </a:r>
          </a:p>
          <a:p>
            <a:r>
              <a:rPr lang="en-US" dirty="0" smtClean="0"/>
              <a:t>ML </a:t>
            </a:r>
            <a:r>
              <a:rPr lang="en-US" dirty="0"/>
              <a:t>is not 'programmed' with rules; nobody writes them explicitly</a:t>
            </a:r>
            <a:r>
              <a:rPr lang="en-US" dirty="0" smtClean="0"/>
              <a:t>.</a:t>
            </a:r>
          </a:p>
          <a:p>
            <a:r>
              <a:rPr lang="en-US" dirty="0" smtClean="0"/>
              <a:t>quality and quantity of the examples drive quality of results — 'garbage in, garbage out.' And it means if you feed it biased or bad examples, it learns bad patterns.</a:t>
            </a:r>
          </a:p>
          <a:p>
            <a:r>
              <a:rPr lang="en-US" dirty="0" smtClean="0"/>
              <a:t>Past hiring data favors male candidates because of historical hiring practices. A hiring model may learn to prefer men.</a:t>
            </a:r>
          </a:p>
          <a:p>
            <a:r>
              <a:rPr lang="en-US" dirty="0" smtClean="0"/>
              <a:t>A fraud detection dataset has 99% legitimate transactions and 1% fraudulent ones. The model may struggle to identify fraud.</a:t>
            </a:r>
          </a:p>
          <a:p>
            <a:r>
              <a:rPr lang="en-US" dirty="0" smtClean="0"/>
              <a:t>There are a few flavors of this learning. Here are the three names you'll actually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Supervised </a:t>
            </a:r>
            <a:r>
              <a:rPr lang="en-US" dirty="0"/>
              <a:t>= labelled data (most common in business). </a:t>
            </a:r>
            <a:r>
              <a:rPr lang="en-US" dirty="0" smtClean="0"/>
              <a:t>You give it the answers to study from — labelled examples. 'These 10,000 emails are spam, these aren't.</a:t>
            </a:r>
          </a:p>
          <a:p>
            <a:r>
              <a:rPr lang="en-US" dirty="0" smtClean="0"/>
              <a:t>Unsupervised </a:t>
            </a:r>
            <a:r>
              <a:rPr lang="en-US" dirty="0"/>
              <a:t>= finding structure without labels. </a:t>
            </a:r>
            <a:r>
              <a:rPr lang="en-US" dirty="0" smtClean="0"/>
              <a:t>You give it </a:t>
            </a:r>
            <a:r>
              <a:rPr lang="en-US" i="1" dirty="0" smtClean="0"/>
              <a:t>no</a:t>
            </a:r>
            <a:r>
              <a:rPr lang="en-US" dirty="0" smtClean="0"/>
              <a:t> answers and say 'find the patterns.' It might cluster your customers into groups you never knew existed.</a:t>
            </a:r>
          </a:p>
          <a:p>
            <a:r>
              <a:rPr lang="en-US" dirty="0" smtClean="0"/>
              <a:t>Reinforcement </a:t>
            </a:r>
            <a:r>
              <a:rPr lang="en-US" dirty="0"/>
              <a:t>= trial-and-error with rewards</a:t>
            </a:r>
            <a:r>
              <a:rPr lang="en-US" dirty="0" smtClean="0"/>
              <a:t>. Learning by trial and error with rewards — like training a dog with treats. It's how AI learns to play games or optimize a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First</a:t>
            </a:r>
            <a:r>
              <a:rPr lang="en-US" dirty="0"/>
              <a:t>, training vs inference: training happens once and is costly (the model 'studies'); using it afterwards is fast and cheap. </a:t>
            </a:r>
            <a:endParaRPr lang="en-US" dirty="0" smtClean="0"/>
          </a:p>
          <a:p>
            <a:r>
              <a:rPr lang="en-US" dirty="0" smtClean="0"/>
              <a:t>This </a:t>
            </a:r>
            <a:r>
              <a:rPr lang="en-US" dirty="0"/>
              <a:t>explains why powerful models can be offered so widely. </a:t>
            </a:r>
            <a:endParaRPr lang="en-US" dirty="0" smtClean="0"/>
          </a:p>
          <a:p>
            <a:r>
              <a:rPr lang="en-US" dirty="0" smtClean="0"/>
              <a:t>Second</a:t>
            </a:r>
            <a:r>
              <a:rPr lang="en-US" dirty="0"/>
              <a:t>, deep learning = neural networks, great at unstructured data (images, audio, text). </a:t>
            </a:r>
            <a:endParaRPr lang="en-US" dirty="0" smtClean="0"/>
          </a:p>
          <a:p>
            <a:r>
              <a:rPr lang="en-US" dirty="0" smtClean="0"/>
              <a:t>Deep </a:t>
            </a:r>
            <a:r>
              <a:rPr lang="en-US" dirty="0"/>
              <a:t>learning trained on enormous text is exactly what gave us LLMs and Generative AI</a:t>
            </a:r>
            <a:r>
              <a:rPr lang="en-US"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predictive </a:t>
            </a:r>
            <a:r>
              <a:rPr lang="en-US" dirty="0"/>
              <a:t>AI answers 'which category / how </a:t>
            </a:r>
            <a:r>
              <a:rPr lang="en-US" dirty="0" smtClean="0"/>
              <a:t>much / is this </a:t>
            </a:r>
            <a:r>
              <a:rPr lang="en-US" dirty="0" err="1" smtClean="0"/>
              <a:t>smap</a:t>
            </a:r>
            <a:r>
              <a:rPr lang="en-US" dirty="0" smtClean="0"/>
              <a:t>? / what wil</a:t>
            </a:r>
            <a:r>
              <a:rPr lang="en-US" baseline="0" dirty="0" smtClean="0"/>
              <a:t>l be next months sale?</a:t>
            </a:r>
            <a:r>
              <a:rPr lang="en-US" dirty="0" smtClean="0"/>
              <a:t>';</a:t>
            </a:r>
          </a:p>
          <a:p>
            <a:r>
              <a:rPr lang="en-US" dirty="0" smtClean="0"/>
              <a:t>Generative </a:t>
            </a:r>
            <a:r>
              <a:rPr lang="en-US" dirty="0"/>
              <a:t>AI </a:t>
            </a:r>
            <a:r>
              <a:rPr lang="en-US" dirty="0" smtClean="0"/>
              <a:t>produces/creates </a:t>
            </a:r>
            <a:r>
              <a:rPr lang="en-US" dirty="0"/>
              <a:t>new content (text, images, code). </a:t>
            </a:r>
            <a:endParaRPr lang="en-US" dirty="0" smtClean="0"/>
          </a:p>
          <a:p>
            <a:r>
              <a:rPr lang="en-US" dirty="0" smtClean="0"/>
              <a:t>Most </a:t>
            </a:r>
            <a:r>
              <a:rPr lang="en-US" dirty="0"/>
              <a:t>business AI until recently was predictive; the excitement now is </a:t>
            </a:r>
            <a:r>
              <a:rPr lang="en-US" dirty="0" smtClean="0"/>
              <a:t>generative because of this creative creation part.</a:t>
            </a:r>
          </a:p>
          <a:p>
            <a:r>
              <a:rPr lang="en-US" dirty="0" smtClean="0"/>
              <a:t>And the engine behind the text version of this is the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Understand this one idea and the AI stops being magic — and, oddly, you'll trust it </a:t>
            </a:r>
            <a:r>
              <a:rPr lang="en-US" i="1" dirty="0" smtClean="0"/>
              <a:t>more appropriately</a:t>
            </a:r>
            <a:r>
              <a:rPr lang="en-US" dirty="0" smtClean="0"/>
              <a:t> afterwards.</a:t>
            </a:r>
          </a:p>
          <a:p>
            <a:r>
              <a:rPr lang="en-US" dirty="0" smtClean="0"/>
              <a:t>The </a:t>
            </a:r>
            <a:r>
              <a:rPr lang="en-US" dirty="0"/>
              <a:t>most useful mental model of the day: an LLM is a next-word predictor at massive scale — 'super-autocomplete.' </a:t>
            </a:r>
            <a:endParaRPr lang="en-US" dirty="0" smtClean="0"/>
          </a:p>
          <a:p>
            <a:r>
              <a:rPr lang="en-US" dirty="0" smtClean="0"/>
              <a:t>You already know this tool. It's the autocomplete on your phone. The only difference is your phone read your text messages; this thing read a library the size of the internet. So its guesses are shockingly good.</a:t>
            </a:r>
          </a:p>
          <a:p>
            <a:r>
              <a:rPr lang="en-US" dirty="0" smtClean="0"/>
              <a:t>The </a:t>
            </a:r>
            <a:r>
              <a:rPr lang="en-US" dirty="0"/>
              <a:t>'brilliant well-read intern' analogy previews its limits: articulate and fast, but confidently wrong sometimes and blind to anything it wasn't trained on. </a:t>
            </a:r>
            <a:endParaRPr lang="en-US" dirty="0" smtClean="0"/>
          </a:p>
          <a:p>
            <a:r>
              <a:rPr lang="en-US" dirty="0" smtClean="0"/>
              <a:t>That 'confidently wrong' thing actually has a name — </a:t>
            </a:r>
            <a:r>
              <a:rPr lang="en-US" dirty="0" err="1" smtClean="0"/>
              <a:t>Hallcinations</a:t>
            </a:r>
            <a:endParaRPr lang="en-US" dirty="0" smtClean="0"/>
          </a:p>
          <a:p>
            <a:r>
              <a:rPr lang="en-US" dirty="0" smtClean="0"/>
              <a:t>LLM </a:t>
            </a:r>
            <a:r>
              <a:rPr lang="en-US" dirty="0"/>
              <a:t>is NOT a database or a search engine — it generates language, it doesn't look up verified facts by default</a:t>
            </a:r>
            <a:r>
              <a:rPr lang="en-US" dirty="0" smtClean="0"/>
              <a:t>.</a:t>
            </a:r>
          </a:p>
          <a:p>
            <a:endParaRPr lang="en-US" dirty="0" smtClean="0"/>
          </a:p>
          <a:p>
            <a:r>
              <a:rPr lang="en-US" dirty="0" smtClean="0"/>
              <a:t>https://chatgpt.com/share/6a458321-7e3c-83ee-a71e-14e1747eb47d</a:t>
            </a:r>
          </a:p>
          <a:p>
            <a:r>
              <a:rPr lang="en-US" dirty="0" smtClean="0"/>
              <a:t>https://chatgpt.com/share/6a458388-6b30-83ee-ab33-06402fa9513f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It reads and writes in chunks called tokens — roughly ¾ of a word. Only reason to care: that's often how usage gets measured and billed.</a:t>
            </a:r>
          </a:p>
          <a:p>
            <a:r>
              <a:rPr lang="en-US" dirty="0" smtClean="0"/>
              <a:t>How much it can hold in its head at once. Paste a 200-page document into a small window and it literally forgets the beginning by the time it reaches the end.</a:t>
            </a:r>
          </a:p>
          <a:p>
            <a:r>
              <a:rPr lang="en-US" dirty="0" smtClean="0"/>
              <a:t>Multimodal</a:t>
            </a:r>
            <a:r>
              <a:rPr lang="en-US" baseline="0" dirty="0" smtClean="0"/>
              <a:t> - </a:t>
            </a:r>
            <a:r>
              <a:rPr lang="en-US" dirty="0" smtClean="0"/>
              <a:t>Newer models handle images, audio, and files too — not just text.</a:t>
            </a:r>
          </a:p>
          <a:p>
            <a:r>
              <a:rPr lang="en-US" dirty="0" smtClean="0"/>
              <a:t>Hallucination. A confident, beautifully-written answer that is simply </a:t>
            </a:r>
            <a:r>
              <a:rPr lang="en-US" i="1" dirty="0" smtClean="0"/>
              <a:t>false</a:t>
            </a:r>
            <a:r>
              <a:rPr lang="en-US" dirty="0" smtClean="0"/>
              <a:t> — a made-up statistic, a fake source, a law that doesn't exist. LLM predicts plausible words, it doesn't verify facts. So — confident </a:t>
            </a:r>
            <a:r>
              <a:rPr lang="en-US" dirty="0"/>
              <a:t>≠ correct. </a:t>
            </a:r>
            <a:endParaRPr lang="en-US" dirty="0" smtClean="0"/>
          </a:p>
          <a:p>
            <a:r>
              <a:rPr lang="en-US" dirty="0" smtClean="0"/>
              <a:t>Everything </a:t>
            </a:r>
            <a:r>
              <a:rPr lang="en-US" dirty="0"/>
              <a:t>you send must be verified</a:t>
            </a:r>
            <a:r>
              <a:rPr lang="en-US" dirty="0" smtClean="0"/>
              <a:t>.</a:t>
            </a:r>
          </a:p>
          <a:p>
            <a:r>
              <a:rPr lang="en-US" dirty="0" smtClean="0"/>
              <a:t>Other </a:t>
            </a:r>
            <a:r>
              <a:rPr lang="en-US" dirty="0"/>
              <a:t>misconceptions to name: it doesn't have live internet knowledge by default, and the same prompt can give different answers (it's probabilistic</a:t>
            </a:r>
            <a:r>
              <a:rPr lang="en-US" dirty="0" smtClean="0"/>
              <a:t>).</a:t>
            </a:r>
          </a:p>
          <a:p>
            <a:r>
              <a:rPr lang="en-US" dirty="0" smtClean="0"/>
              <a:t>Okay — you now understand the machine. Here's how you get genuinely great stuff out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Same tool, same model, in front of two people — one gets gold, one gets garbage. The only difference is </a:t>
            </a:r>
            <a:r>
              <a:rPr lang="en-US" i="1" dirty="0" smtClean="0"/>
              <a:t>how they asked</a:t>
            </a:r>
            <a:r>
              <a:rPr lang="en-US" dirty="0" smtClean="0"/>
              <a:t>.</a:t>
            </a:r>
          </a:p>
          <a:p>
            <a:r>
              <a:rPr lang="en-US" dirty="0" smtClean="0"/>
              <a:t>Prompt </a:t>
            </a:r>
            <a:r>
              <a:rPr lang="en-US" dirty="0"/>
              <a:t>engineering is not a technical or coding skill — it's structured communication, a writing skill everyone in this room can do. </a:t>
            </a:r>
            <a:endParaRPr lang="en-US" dirty="0" smtClean="0"/>
          </a:p>
          <a:p>
            <a:r>
              <a:rPr lang="en-US" dirty="0" smtClean="0"/>
              <a:t>The trick is to treat the AI like a brand-new, very capable team member who knows </a:t>
            </a:r>
            <a:r>
              <a:rPr lang="en-US" i="1" dirty="0" smtClean="0"/>
              <a:t>nothing</a:t>
            </a:r>
            <a:r>
              <a:rPr lang="en-US" dirty="0" smtClean="0"/>
              <a:t> about you. It's brilliant, but it has zero context. It doesn't know your client, your goal, your audience, or what 'good' looks like — unless you tell it. Most bad AI output isn't the AI being dumb; it's us giving a lazy brief.</a:t>
            </a:r>
          </a:p>
          <a:p>
            <a:r>
              <a:rPr lang="en-US" dirty="0" smtClean="0"/>
              <a:t>A little </a:t>
            </a:r>
            <a:r>
              <a:rPr lang="en-US" dirty="0"/>
              <a:t>effort up front saves lots of editing later</a:t>
            </a:r>
            <a:r>
              <a:rPr lang="en-US" dirty="0" smtClean="0"/>
              <a:t>.</a:t>
            </a:r>
          </a:p>
          <a:p>
            <a:r>
              <a:rPr lang="en-US" dirty="0" smtClean="0"/>
              <a:t>Let's break a good prompt into its ingredients.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blocks are the raw ingredients — every framework that follows is just a memorable way to combine them. </a:t>
            </a:r>
            <a:endParaRPr lang="en-US" dirty="0" smtClean="0"/>
          </a:p>
          <a:p>
            <a:r>
              <a:rPr lang="en-US" dirty="0" err="1" smtClean="0"/>
              <a:t>Emphasise</a:t>
            </a:r>
            <a:r>
              <a:rPr lang="en-US" dirty="0" smtClean="0"/>
              <a:t> </a:t>
            </a:r>
            <a:r>
              <a:rPr lang="en-US" dirty="0"/>
              <a:t>Role, Context and Format as the three that most people skip and that most improve output. </a:t>
            </a:r>
            <a:endParaRPr lang="en-US" dirty="0" smtClean="0"/>
          </a:p>
          <a:p>
            <a:r>
              <a:rPr lang="en-US" dirty="0" smtClean="0"/>
              <a:t>Tell </a:t>
            </a:r>
            <a:r>
              <a:rPr lang="en-US" dirty="0"/>
              <a:t>them: you don't need all six every time, but the more of these you include, the better and more usable the result. </a:t>
            </a:r>
            <a:endParaRPr lang="en-US" dirty="0" smtClean="0"/>
          </a:p>
          <a:p>
            <a:r>
              <a:rPr lang="en-US" dirty="0" smtClean="0"/>
              <a:t>This </a:t>
            </a:r>
            <a:r>
              <a:rPr lang="en-US" dirty="0"/>
              <a:t>slide primes them for TAG / RACE / RTCROS next.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 is the simplest framework — three parts: Task, Action, Goal. </a:t>
            </a:r>
            <a:endParaRPr lang="en-US" dirty="0" smtClean="0"/>
          </a:p>
          <a:p>
            <a:r>
              <a:rPr lang="en-US" dirty="0" smtClean="0"/>
              <a:t>Best </a:t>
            </a:r>
            <a:r>
              <a:rPr lang="en-US" dirty="0"/>
              <a:t>for quick, everyday requests where a full role/context isn't needed. </a:t>
            </a:r>
            <a:endParaRPr lang="en-US" dirty="0" smtClean="0"/>
          </a:p>
          <a:p>
            <a:r>
              <a:rPr lang="en-US" dirty="0" smtClean="0"/>
              <a:t>Short Prompt</a:t>
            </a:r>
            <a:r>
              <a:rPr lang="en-US" baseline="0" dirty="0" smtClean="0"/>
              <a:t> - </a:t>
            </a:r>
            <a:r>
              <a:rPr lang="en-US" dirty="0" smtClean="0"/>
              <a:t>'explain </a:t>
            </a:r>
            <a:r>
              <a:rPr lang="en-US" dirty="0"/>
              <a:t>neural networks.' </a:t>
            </a:r>
            <a:endParaRPr lang="en-US" dirty="0" smtClean="0"/>
          </a:p>
          <a:p>
            <a:r>
              <a:rPr lang="en-US" dirty="0" smtClean="0"/>
              <a:t>TAG version: 'explain neural networks with instructions for beginners, use a real-world analogy, under 300 words, no </a:t>
            </a:r>
            <a:r>
              <a:rPr lang="en-US" dirty="0" err="1" smtClean="0"/>
              <a:t>maths</a:t>
            </a:r>
            <a:r>
              <a:rPr lang="en-US" dirty="0" smtClean="0"/>
              <a:t>.’</a:t>
            </a:r>
          </a:p>
          <a:p>
            <a:r>
              <a:rPr lang="en-US" dirty="0" smtClean="0"/>
              <a:t>When the work needs an </a:t>
            </a:r>
            <a:r>
              <a:rPr lang="en-US" i="1" dirty="0" smtClean="0"/>
              <a:t>expert</a:t>
            </a:r>
            <a:r>
              <a:rPr lang="en-US" dirty="0" smtClean="0"/>
              <a:t>, you step up to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RACE = Role, Action, Context, Expectations. </a:t>
            </a:r>
            <a:endParaRPr lang="en-US" dirty="0" smtClean="0"/>
          </a:p>
          <a:p>
            <a:r>
              <a:rPr lang="en-US" dirty="0" smtClean="0"/>
              <a:t>Adding </a:t>
            </a:r>
            <a:r>
              <a:rPr lang="en-US" dirty="0"/>
              <a:t>an explicit Role is the big upgrade over TAG — a defined persona ('senior tax consultant', 'financial analyst') consistently raises the depth and relevance of output for specialist work. </a:t>
            </a:r>
            <a:endParaRPr lang="en-US" dirty="0" smtClean="0"/>
          </a:p>
          <a:p>
            <a:r>
              <a:rPr lang="en-US" dirty="0" smtClean="0"/>
              <a:t>Use </a:t>
            </a:r>
            <a:r>
              <a:rPr lang="en-US" dirty="0"/>
              <a:t>RACE when domain expertise matters: analysis, technical writing, client-facing drafts. </a:t>
            </a:r>
            <a:endParaRPr lang="en-US" dirty="0" smtClean="0"/>
          </a:p>
          <a:p>
            <a:r>
              <a:rPr lang="en-US" dirty="0" smtClean="0"/>
              <a:t>Note</a:t>
            </a:r>
            <a:r>
              <a:rPr lang="en-US" dirty="0"/>
              <a:t>: some sources write the E as 'Execute' — same idea (how to deliver). </a:t>
            </a:r>
            <a:endParaRPr lang="en-US" dirty="0" smtClean="0"/>
          </a:p>
          <a:p>
            <a:r>
              <a:rPr lang="en-US" dirty="0" smtClean="0"/>
              <a:t>Read </a:t>
            </a:r>
            <a:r>
              <a:rPr lang="en-US" dirty="0"/>
              <a:t>the example and highlight how Role + Context together mimic briefing a real colleague.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RTCROS = </a:t>
            </a:r>
            <a:r>
              <a:rPr lang="en-US" dirty="0" smtClean="0"/>
              <a:t>the </a:t>
            </a:r>
            <a:r>
              <a:rPr lang="en-US" dirty="0"/>
              <a:t>most thorough of the three, for high-stakes or complex work. </a:t>
            </a:r>
            <a:endParaRPr lang="en-US" dirty="0" smtClean="0"/>
          </a:p>
          <a:p>
            <a:r>
              <a:rPr lang="en-US" dirty="0" smtClean="0"/>
              <a:t>Not </a:t>
            </a:r>
            <a:r>
              <a:rPr lang="en-US" dirty="0"/>
              <a:t>seen before </a:t>
            </a:r>
            <a:r>
              <a:rPr lang="en-US" dirty="0" smtClean="0"/>
              <a:t>= </a:t>
            </a:r>
            <a:r>
              <a:rPr lang="en-US" dirty="0"/>
              <a:t>Reasoning (tell it to explain its steps and validate its own work — this measurably cuts errors) and Stop conditions (define when the task is complete). </a:t>
            </a:r>
            <a:endParaRPr lang="en-US" dirty="0" smtClean="0"/>
          </a:p>
          <a:p>
            <a:r>
              <a:rPr lang="en-US" dirty="0" smtClean="0"/>
              <a:t>Note </a:t>
            </a:r>
            <a:r>
              <a:rPr lang="en-US" dirty="0"/>
              <a:t>the honest caveat: a variant expands R/S as Rules and Style/Scope — either is fine; the point is structure. </a:t>
            </a:r>
            <a:endParaRPr lang="en-US" dirty="0" smtClean="0"/>
          </a:p>
          <a:p>
            <a:r>
              <a:rPr lang="en-US" dirty="0" smtClean="0"/>
              <a:t>Start </a:t>
            </a:r>
            <a:r>
              <a:rPr lang="en-US" dirty="0"/>
              <a:t>with TAG, graduate to RACE for expert tasks, use RTCROS when accuracy really matters</a:t>
            </a:r>
            <a:r>
              <a:rPr lang="en-US" dirty="0" smtClean="0"/>
              <a:t>.</a:t>
            </a:r>
          </a:p>
          <a:p>
            <a:endParaRPr lang="en-US" dirty="0" smtClean="0"/>
          </a:p>
          <a:p>
            <a:r>
              <a:rPr lang="en-US" dirty="0" smtClean="0"/>
              <a:t>Now three techniques that work </a:t>
            </a:r>
            <a:r>
              <a:rPr lang="en-US" i="1" dirty="0" smtClean="0"/>
              <a:t>with</a:t>
            </a:r>
            <a:r>
              <a:rPr lang="en-US" dirty="0" smtClean="0"/>
              <a:t> any of them — starting with the most powerful and least-used.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Zero-shot </a:t>
            </a:r>
            <a:r>
              <a:rPr lang="en-US" dirty="0"/>
              <a:t>= just ask (fine for common tasks). </a:t>
            </a:r>
            <a:endParaRPr lang="en-US" dirty="0" smtClean="0"/>
          </a:p>
          <a:p>
            <a:r>
              <a:rPr lang="en-US" dirty="0" smtClean="0"/>
              <a:t>One-shot </a:t>
            </a:r>
            <a:r>
              <a:rPr lang="en-US" dirty="0"/>
              <a:t>= give a single example so it copies the pattern. </a:t>
            </a:r>
            <a:endParaRPr lang="en-US" dirty="0" smtClean="0"/>
          </a:p>
          <a:p>
            <a:r>
              <a:rPr lang="en-US" dirty="0" smtClean="0"/>
              <a:t>Few-shot </a:t>
            </a:r>
            <a:r>
              <a:rPr lang="en-US" dirty="0"/>
              <a:t>= give 2–5 examples for tricky formats or a specific style. </a:t>
            </a:r>
            <a:endParaRPr lang="en-US" dirty="0" smtClean="0"/>
          </a:p>
          <a:p>
            <a:endParaRPr lang="en-US" dirty="0" smtClean="0"/>
          </a:p>
          <a:p>
            <a:r>
              <a:rPr lang="en-US" dirty="0" smtClean="0"/>
              <a:t>showing is easier than </a:t>
            </a:r>
            <a:r>
              <a:rPr lang="en-US" dirty="0"/>
              <a:t>telling — </a:t>
            </a:r>
            <a:r>
              <a:rPr lang="en-US" dirty="0" smtClean="0"/>
              <a:t>If you're struggling to </a:t>
            </a:r>
            <a:r>
              <a:rPr lang="en-US" i="1" dirty="0" smtClean="0"/>
              <a:t>describe</a:t>
            </a:r>
            <a:r>
              <a:rPr lang="en-US" dirty="0" smtClean="0"/>
              <a:t> the format you want in words — stop. Just paste one good example. It'll match it instantly.</a:t>
            </a:r>
          </a:p>
          <a:p>
            <a:r>
              <a:rPr lang="en-US" dirty="0" smtClean="0"/>
              <a:t>a </a:t>
            </a:r>
            <a:r>
              <a:rPr lang="en-US" dirty="0"/>
              <a:t>couple of good examples often fix a wonky output faster than more instructions. </a:t>
            </a:r>
            <a:endParaRPr lang="en-US" dirty="0" smtClean="0"/>
          </a:p>
          <a:p>
            <a:r>
              <a:rPr lang="en-US" dirty="0" smtClean="0"/>
              <a:t>Tie </a:t>
            </a:r>
            <a:r>
              <a:rPr lang="en-US" dirty="0"/>
              <a:t>back: examples were one of the six building blocks; this is how to use them deliberately.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Chain-of-thought</a:t>
            </a:r>
            <a:r>
              <a:rPr lang="en-US" dirty="0"/>
              <a:t>: simply asking it to 'think step by step' improves reasoning tasks a lot. </a:t>
            </a:r>
            <a:endParaRPr lang="en-US" dirty="0" smtClean="0"/>
          </a:p>
          <a:p>
            <a:r>
              <a:rPr lang="en-US" dirty="0" smtClean="0"/>
              <a:t>Role </a:t>
            </a:r>
            <a:r>
              <a:rPr lang="en-US" dirty="0"/>
              <a:t>prompting: 'act as a…' focuses the answer (reinforces RACE/RTCROS). </a:t>
            </a:r>
            <a:endParaRPr lang="en-US" dirty="0" smtClean="0"/>
          </a:p>
          <a:p>
            <a:r>
              <a:rPr lang="en-US" dirty="0" smtClean="0"/>
              <a:t>Iterative refinement: don't accept </a:t>
            </a:r>
            <a:r>
              <a:rPr lang="en-US" dirty="0"/>
              <a:t>the first draft — say 'make it shorter / more formal / add data.' Prompting is a conversation, not a one-shot lottery. These plus zero/one/few-shot are the full technique toolkit.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Read </a:t>
            </a:r>
            <a:r>
              <a:rPr lang="en-US" dirty="0"/>
              <a:t>the weak prompt, then the strong one, and note everything that changed: role, specific task, audience, format, length. </a:t>
            </a:r>
            <a:endParaRPr lang="en-US" dirty="0" smtClean="0"/>
          </a:p>
          <a:p>
            <a:r>
              <a:rPr lang="en-US" dirty="0" smtClean="0"/>
              <a:t>Punchline</a:t>
            </a:r>
            <a:r>
              <a:rPr lang="en-US" dirty="0"/>
              <a:t>: identical tool, wildly different output, purely from the prompt. </a:t>
            </a:r>
            <a:endParaRPr lang="en-US" dirty="0" smtClean="0"/>
          </a:p>
          <a:p>
            <a:endParaRPr lang="en-US" dirty="0" smtClean="0"/>
          </a:p>
          <a:p>
            <a:r>
              <a:rPr lang="en-US" dirty="0" smtClean="0"/>
              <a:t>Here are the mistakes I see constantly — and the fix for each</a:t>
            </a:r>
            <a:r>
              <a:rPr lang="en-US" dirty="0" smtClean="0"/>
              <a:t>.</a:t>
            </a:r>
          </a:p>
          <a:p>
            <a:endParaRPr lang="en-US" dirty="0" smtClean="0"/>
          </a:p>
          <a:p>
            <a:r>
              <a:rPr lang="en-US" dirty="0" smtClean="0"/>
              <a:t>GST</a:t>
            </a:r>
          </a:p>
          <a:p>
            <a:r>
              <a:rPr lang="en-US" dirty="0" smtClean="0"/>
              <a:t>Bad</a:t>
            </a:r>
            <a:r>
              <a:rPr lang="en-US" baseline="0" dirty="0" smtClean="0"/>
              <a:t> - </a:t>
            </a:r>
            <a:r>
              <a:rPr lang="en-US" dirty="0" smtClean="0"/>
              <a:t>https://chatgpt.com/share/6a458847-5fc4-83e8-b903-250e2c3eb90c</a:t>
            </a:r>
          </a:p>
          <a:p>
            <a:r>
              <a:rPr lang="en-US" dirty="0" smtClean="0"/>
              <a:t>Good - https://chatgpt.com/share/6a458866-d61c-83ee-8d86-585c8e72fb59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smtClean="0"/>
              <a:t>Emphasise</a:t>
            </a:r>
            <a:r>
              <a:rPr lang="en-US" dirty="0" smtClean="0"/>
              <a:t> 'verify every fact' too. </a:t>
            </a:r>
          </a:p>
          <a:p>
            <a:r>
              <a:rPr lang="en-US" dirty="0" smtClean="0"/>
              <a:t>The </a:t>
            </a:r>
            <a:r>
              <a:rPr lang="en-US" dirty="0"/>
              <a:t>last row is the critical one and bridges to Responsible AI: never paste confidential, client or personal data into public/unapproved tools. </a:t>
            </a:r>
            <a:endParaRPr lang="en-US" dirty="0" smtClean="0"/>
          </a:p>
          <a:p>
            <a:endParaRPr lang="en-US" dirty="0" smtClean="0"/>
          </a:p>
          <a:p>
            <a:r>
              <a:rPr lang="en-US" dirty="0" smtClean="0"/>
              <a:t>Frame </a:t>
            </a:r>
            <a:r>
              <a:rPr lang="en-US" dirty="0"/>
              <a:t>positively: each mistake has an easy fix, and the fixes are just the frameworks and techniques we've covered.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a:t>
            </a:r>
            <a:r>
              <a:rPr lang="en-US" dirty="0"/>
              <a:t>20-second investment in the prompt just saved a 20-minute rewrite.' </a:t>
            </a:r>
            <a:endParaRPr lang="en-US" dirty="0" smtClean="0"/>
          </a:p>
          <a:p>
            <a:endParaRPr lang="en-US" dirty="0" smtClean="0"/>
          </a:p>
          <a:p>
            <a:r>
              <a:rPr lang="en-US" dirty="0" smtClean="0"/>
              <a:t>Bad - https://chatgpt.com/share/6a458a36-d7c0-83ee-a6ec-6909387c7c90</a:t>
            </a:r>
          </a:p>
          <a:p>
            <a:r>
              <a:rPr lang="en-US" dirty="0" smtClean="0"/>
              <a:t>Good - https://chatgpt.com/share/6a458a4a-cecc-83e8-b4b8-ff4d594941d4</a:t>
            </a:r>
            <a:endParaRPr lang="en-US" dirty="0" smtClean="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section — you'll drop in Deloitte's own use-case slides here. When you present, the key framing to say aloud (even without slides): AI is a productivity MULTIPLIER, best at first drafts, summarising, structuring and ideation — with a human reviewing and owning the output. The reliable pattern is: AI drafts → you refine → you approve. For interns specifically, that means research, summarising, drafting, formatting and learning faster — but your mentor still expects your judgement, not raw AI output. Consider a quick chat prompt: 'one task in your internship you'd use AI for, and one thing you'd still verify.'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Using </a:t>
            </a:r>
            <a:r>
              <a:rPr lang="en-US" dirty="0"/>
              <a:t>ChatGPT for a college assignment and using it at Deloitte are NOT the same — as a student, a mistake only affected you; as an intern, a careless paste or an unchecked figure can cause a real confidentiality or reputational issue. </a:t>
            </a: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looks like a compliance slide. It isn't — read each one as a </a:t>
            </a:r>
            <a:r>
              <a:rPr lang="en-US" i="1" dirty="0" smtClean="0"/>
              <a:t>behavior</a:t>
            </a:r>
            <a:r>
              <a:rPr lang="en-US" dirty="0" smtClean="0"/>
              <a:t>, something you personally do.</a:t>
            </a:r>
          </a:p>
          <a:p>
            <a:r>
              <a:rPr lang="en-US" dirty="0" smtClean="0"/>
              <a:t>Three clusters.</a:t>
            </a:r>
          </a:p>
          <a:p>
            <a:r>
              <a:rPr lang="en-US" i="1" dirty="0" smtClean="0"/>
              <a:t>Protect</a:t>
            </a:r>
            <a:r>
              <a:rPr lang="en-US" dirty="0" smtClean="0"/>
              <a:t> — privacy and security: only approved tools, never sensitive data. </a:t>
            </a:r>
          </a:p>
          <a:p>
            <a:r>
              <a:rPr lang="en-US" i="1" dirty="0" smtClean="0"/>
              <a:t>Check</a:t>
            </a:r>
            <a:r>
              <a:rPr lang="en-US" dirty="0" smtClean="0"/>
              <a:t> — reliability and fairness: verify outputs, watch for bias. </a:t>
            </a:r>
          </a:p>
          <a:p>
            <a:r>
              <a:rPr lang="en-US" i="1" dirty="0" smtClean="0"/>
              <a:t>Answer for it</a:t>
            </a:r>
            <a:r>
              <a:rPr lang="en-US" dirty="0" smtClean="0"/>
              <a:t> — transparency and accountability: be able to explain how you used it, and own the result.</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Verify </a:t>
            </a:r>
            <a:r>
              <a:rPr lang="en-US" dirty="0"/>
              <a:t>(confident ≠ correct), </a:t>
            </a:r>
            <a:r>
              <a:rPr lang="en-US" dirty="0" smtClean="0"/>
              <a:t>It hallucinates with a straight face. Check every fact, figure, name, and citation.</a:t>
            </a:r>
          </a:p>
          <a:p>
            <a:r>
              <a:rPr lang="en-US" dirty="0" smtClean="0"/>
              <a:t>Protect </a:t>
            </a:r>
            <a:r>
              <a:rPr lang="en-US" dirty="0"/>
              <a:t>(data confidentiality — the biggest real risk for interns), </a:t>
            </a:r>
            <a:r>
              <a:rPr lang="en-US" dirty="0" smtClean="0"/>
              <a:t>If it's confidential, client, or personal — it does not go into a public tool. Full stop. </a:t>
            </a:r>
          </a:p>
          <a:p>
            <a:r>
              <a:rPr lang="en-US" dirty="0" smtClean="0"/>
              <a:t>Own </a:t>
            </a:r>
            <a:r>
              <a:rPr lang="en-US" dirty="0"/>
              <a:t>(accountability stays human), </a:t>
            </a:r>
            <a:r>
              <a:rPr lang="en-US" dirty="0" smtClean="0"/>
              <a:t>The AI's name isn't on the deliverable. Yours is. You're accountable for every word you pass on.</a:t>
            </a:r>
          </a:p>
          <a:p>
            <a:r>
              <a:rPr lang="en-US" dirty="0" smtClean="0"/>
              <a:t>Disclose </a:t>
            </a:r>
            <a:r>
              <a:rPr lang="en-US" dirty="0"/>
              <a:t>(per firm guidance). </a:t>
            </a:r>
            <a:endParaRPr lang="en-US" dirty="0" smtClean="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Two-part close for Responsible AI. First, do the live hallucination demo — ask for an obscure stat or citation; when it fabricates one, that's your proof for 'always verify.' Keep it non-confidential and quick. Then run Red/Green flag: show each scenario and have the room react 🟢 (okay) or 🔴 (not okay), then reveal. Discuss the tricky ones — especially that 'anonymising' data or the tool merely allowing something does NOT make it compliant. The live split on screen makes the debate stick.</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'AI </a:t>
            </a:r>
            <a:r>
              <a:rPr lang="en-US" dirty="0"/>
              <a:t>drafts, you decide, you're accountable.'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smtClean="0">
                <a:solidFill>
                  <a:srgbClr val="7A7D81"/>
                </a:solidFill>
                <a:latin typeface="Calibri" pitchFamily="34" charset="0"/>
                <a:ea typeface="Calibri" pitchFamily="34" charset="-122"/>
                <a:cs typeface="Calibri" pitchFamily="34" charset="-120"/>
              </a:rPr>
              <a:t>(Answers: AI  ·  next-word prediction  ·  hallucination  ·  you.)</a:t>
            </a:r>
            <a:endParaRPr lang="en-US" sz="1200" dirty="0" smtClean="0"/>
          </a:p>
          <a:p>
            <a:endParaRPr lang="en-US" dirty="0" smtClean="0"/>
          </a:p>
          <a:p>
            <a:endParaRPr lang="en-US" dirty="0" smtClean="0"/>
          </a:p>
          <a:p>
            <a:endParaRPr lang="en-US" dirty="0" smtClean="0"/>
          </a:p>
          <a:p>
            <a:r>
              <a:rPr lang="en-US" dirty="0" smtClean="0"/>
              <a:t>Run </a:t>
            </a:r>
            <a:r>
              <a:rPr lang="en-US" dirty="0"/>
              <a:t>4–6 questions as a live quiz with a leaderboard for a high-energy finish. Full 6-question set with answer key is in the curriculum (Section 9.1). These four cover the load-bearing concepts: the nesting model, how LLMs work, hallucination, and accountability. Read the answers aloud after each. Celebrate the leaderboard top few. This doubles as your knowledge check that the outcomes were met.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and take questions from the chat. Leave the 'confident, responsible user' line up as the closing thought — it ties back to the session goal. Remind them the one-page cheat sheet and resource links will be shared. Thank them and, if relevant, tell them where to give feedback. Don't oversell continued engagement — just a warm close.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them to the practical resources — replace the placeholders with your actual internal links before delivery: approved-tools list, the GenAI/Trustworthy AI policy, any curated prompt library, and the named escalation contact for AI/data questions. Reinforce: when unsure, ask before you act. Keep it brief — this is signposting, not new content.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MERGE-IN slide (not a backup) — fits right after the 'What is an LLM' slide. Purpose: show these tools didn't appear overnight and aren't a novelty — there's a clear lineage (BERT to multimodal) and they already touch almost every business function. Talk track: 'Notice the timeline — BERT in 2018 could barely hold a sentence; by 2024 they handle text, images and audio together. That's five years. And look at the applications wheel — this isn't a chatbot toy, it's writing code, screening candidates, spotting fraud.' Tie the last characteristic — 'no task-specific training' — back to zero-shot: you can just ask, no retraining needed.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1723876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only show if someone asks how the model actually 'reads' text, or to set up embeddings. Keep it light: the model doesn't see letters, it chops text into tokens, swaps each for a number (an ID), then turns those numbers into vectors. Use the 'Apple is a fruit' example — four tokens, four IDs. Don't go near Byte-Pair Encoding unless a technical person pushes; for this audience 'it splits text into chunks and numbers them' is plenty. Hand off to the embeddings slide: 'those numbers aren't random — that's the clever part.'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896829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this is the one genuinely new concept from the Deloitte deck we hadn't covered. Only go here if asked 'how does it understand meaning?' or before RAG. The key intuition, not the maths: every word gets turned into a list of numbers (a vector), and words with similar meaning get similar numbers — so they sit close together in 'meaning space'. That's why AI knows 'king' and 'queen' are related, or can do semantic search (find by meaning, not exact words). Use the coffee/tea/concrete line — it lands instantly. Don't say 'high-dimensional vector space' unless the room is technical; 'a map of meaning' does the job.</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7501983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a great one to have ready, because it directly answers two things interns will wonder: 'how does it know about MY company?' and 'how do we stop it making things up?' RAG = Retrieval-Augmented Generation. Three steps: retrieve relevant info from a trusted source, add it to the prompt, then generate an answer grounded in it. The open-book vs closed-book analogy is the fastest way in. Tie-backs: it uses embeddings (previous slide) to find the right info by meaning; and it's a real answer to hallucinations (our Responsible AI theme) — grounded, checkable answers. Keep it conceptual — no vector-database plumbing needed for this audience.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41900225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you said you won't present it by default, but it's here if you want to show the interns a concrete, Deloitte-flavoured before/after. It reinforces the same lesson as the main before/after slide, but with a consulting data example. If you do show it: read the bad prompt and its vague output, then the good prompt, and point out WHY the output improved — you asked for specific trends, risks, and actions, so you got specific trends, risks, and actions. The output is only as structured as the request. Pairs naturally with the Prompt Makeover activity.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840419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82A"/>
        </a:solidFill>
        <a:effectLst/>
      </p:bgPr>
    </p:bg>
    <p:spTree>
      <p:nvGrpSpPr>
        <p:cNvPr id="1" name=""/>
        <p:cNvGrpSpPr/>
        <p:nvPr/>
      </p:nvGrpSpPr>
      <p:grpSpPr>
        <a:xfrm>
          <a:off x="0" y="0"/>
          <a:ext cx="0" cy="0"/>
          <a:chOff x="0" y="0"/>
          <a:chExt cx="0" cy="0"/>
        </a:xfrm>
      </p:grpSpPr>
      <p:sp>
        <p:nvSpPr>
          <p:cNvPr id="2" name="Shape 0"/>
          <p:cNvSpPr/>
          <p:nvPr/>
        </p:nvSpPr>
        <p:spPr>
          <a:xfrm>
            <a:off x="822960" y="1417320"/>
            <a:ext cx="146304" cy="146304"/>
          </a:xfrm>
          <a:prstGeom prst="ellipse">
            <a:avLst/>
          </a:prstGeom>
          <a:solidFill>
            <a:srgbClr val="86BC25"/>
          </a:solidFill>
          <a:ln/>
        </p:spPr>
      </p:sp>
      <p:sp>
        <p:nvSpPr>
          <p:cNvPr id="3" name="Text 1"/>
          <p:cNvSpPr/>
          <p:nvPr/>
        </p:nvSpPr>
        <p:spPr>
          <a:xfrm>
            <a:off x="1051560" y="1371600"/>
            <a:ext cx="7315200" cy="274320"/>
          </a:xfrm>
          <a:prstGeom prst="rect">
            <a:avLst/>
          </a:prstGeom>
          <a:noFill/>
          <a:ln/>
        </p:spPr>
        <p:txBody>
          <a:bodyPr wrap="square" lIns="0" tIns="0" rIns="0" bIns="0" rtlCol="0" anchor="ctr"/>
          <a:lstStyle/>
          <a:p>
            <a:pPr marL="0" indent="0">
              <a:buNone/>
            </a:pPr>
            <a:r>
              <a:rPr lang="en-US" sz="1200" b="1" kern="0" spc="200" dirty="0">
                <a:solidFill>
                  <a:srgbClr val="B9BCC0"/>
                </a:solidFill>
                <a:latin typeface="Calibri" pitchFamily="34" charset="0"/>
                <a:ea typeface="Calibri" pitchFamily="34" charset="-122"/>
                <a:cs typeface="Calibri" pitchFamily="34" charset="-120"/>
              </a:rPr>
              <a:t>DELOITTE </a:t>
            </a:r>
            <a:r>
              <a:rPr lang="en-US" sz="1200" b="1" kern="0" spc="200" dirty="0" smtClean="0">
                <a:solidFill>
                  <a:srgbClr val="B9BCC0"/>
                </a:solidFill>
                <a:latin typeface="Calibri" pitchFamily="34" charset="0"/>
                <a:ea typeface="Calibri" pitchFamily="34" charset="-122"/>
                <a:cs typeface="Calibri" pitchFamily="34" charset="-120"/>
              </a:rPr>
              <a:t>INDIA</a:t>
            </a:r>
            <a:endParaRPr lang="en-US" sz="1200" dirty="0"/>
          </a:p>
        </p:txBody>
      </p:sp>
      <p:sp>
        <p:nvSpPr>
          <p:cNvPr id="4" name="Text 2"/>
          <p:cNvSpPr/>
          <p:nvPr/>
        </p:nvSpPr>
        <p:spPr>
          <a:xfrm>
            <a:off x="777240" y="1783080"/>
            <a:ext cx="7680960" cy="1554480"/>
          </a:xfrm>
          <a:prstGeom prst="rect">
            <a:avLst/>
          </a:prstGeom>
          <a:noFill/>
          <a:ln/>
        </p:spPr>
        <p:txBody>
          <a:bodyPr wrap="square" lIns="0" tIns="0" rIns="0" bIns="0" rtlCol="0" anchor="ctr"/>
          <a:lstStyle/>
          <a:p>
            <a:pPr marL="0" indent="0">
              <a:lnSpc>
                <a:spcPct val="100000"/>
              </a:lnSpc>
              <a:buNone/>
            </a:pPr>
            <a:r>
              <a:rPr lang="en-US" sz="4400" b="1" dirty="0">
                <a:solidFill>
                  <a:srgbClr val="FFFFFF"/>
                </a:solidFill>
                <a:latin typeface="Cambria" pitchFamily="34" charset="0"/>
                <a:ea typeface="Cambria" pitchFamily="34" charset="-122"/>
                <a:cs typeface="Cambria" pitchFamily="34" charset="-120"/>
              </a:rPr>
              <a:t>Basics of AI/ML &amp;</a:t>
            </a:r>
            <a:endParaRPr lang="en-US" sz="4400" dirty="0"/>
          </a:p>
          <a:p>
            <a:pPr marL="0" indent="0">
              <a:lnSpc>
                <a:spcPct val="100000"/>
              </a:lnSpc>
              <a:buNone/>
            </a:pPr>
            <a:r>
              <a:rPr lang="en-US" sz="4400" b="1" dirty="0">
                <a:solidFill>
                  <a:srgbClr val="FFFFFF"/>
                </a:solidFill>
                <a:latin typeface="Cambria" pitchFamily="34" charset="0"/>
                <a:ea typeface="Cambria" pitchFamily="34" charset="-122"/>
                <a:cs typeface="Cambria" pitchFamily="34" charset="-120"/>
              </a:rPr>
              <a:t>Prompt Engineering</a:t>
            </a:r>
            <a:endParaRPr lang="en-US" sz="4400" dirty="0"/>
          </a:p>
        </p:txBody>
      </p:sp>
      <p:sp>
        <p:nvSpPr>
          <p:cNvPr id="5" name="Text 3"/>
          <p:cNvSpPr/>
          <p:nvPr/>
        </p:nvSpPr>
        <p:spPr>
          <a:xfrm>
            <a:off x="822960" y="3429000"/>
            <a:ext cx="7315200" cy="457200"/>
          </a:xfrm>
          <a:prstGeom prst="rect">
            <a:avLst/>
          </a:prstGeom>
          <a:noFill/>
          <a:ln/>
        </p:spPr>
        <p:txBody>
          <a:bodyPr wrap="square" lIns="0" tIns="0" rIns="0" bIns="0" rtlCol="0" anchor="ctr"/>
          <a:lstStyle/>
          <a:p>
            <a:pPr marL="0" indent="0">
              <a:buNone/>
            </a:pPr>
            <a:r>
              <a:rPr lang="en-US" sz="1500" dirty="0">
                <a:solidFill>
                  <a:srgbClr val="C9CCD0"/>
                </a:solidFill>
                <a:latin typeface="Calibri" pitchFamily="34" charset="0"/>
                <a:ea typeface="Calibri" pitchFamily="34" charset="-122"/>
                <a:cs typeface="Calibri" pitchFamily="34" charset="-120"/>
              </a:rPr>
              <a:t>A beginner-friendly, business-oriented session — from casual AI user to confident, responsible user.</a:t>
            </a:r>
            <a:endParaRPr lang="en-US" sz="1500" dirty="0"/>
          </a:p>
        </p:txBody>
      </p:sp>
      <p:sp>
        <p:nvSpPr>
          <p:cNvPr id="6" name="Text 4"/>
          <p:cNvSpPr/>
          <p:nvPr/>
        </p:nvSpPr>
        <p:spPr>
          <a:xfrm>
            <a:off x="822960" y="4160520"/>
            <a:ext cx="7772400" cy="274320"/>
          </a:xfrm>
          <a:prstGeom prst="rect">
            <a:avLst/>
          </a:prstGeom>
          <a:noFill/>
          <a:ln/>
        </p:spPr>
        <p:txBody>
          <a:bodyPr wrap="square" lIns="0" tIns="0" rIns="0" bIns="0" rtlCol="0" anchor="ctr"/>
          <a:lstStyle/>
          <a:p>
            <a:pPr marL="0" indent="0">
              <a:buNone/>
            </a:pPr>
            <a:r>
              <a:rPr lang="en-US" sz="1200" b="1" dirty="0" smtClean="0">
                <a:solidFill>
                  <a:srgbClr val="86BC25"/>
                </a:solidFill>
                <a:latin typeface="Calibri" pitchFamily="34" charset="0"/>
                <a:ea typeface="Calibri" pitchFamily="34" charset="-122"/>
                <a:cs typeface="Calibri" pitchFamily="34" charset="-120"/>
              </a:rPr>
              <a:t>Live </a:t>
            </a:r>
            <a:r>
              <a:rPr lang="en-US" sz="1200" b="1" dirty="0">
                <a:solidFill>
                  <a:srgbClr val="86BC25"/>
                </a:solidFill>
                <a:latin typeface="Calibri" pitchFamily="34" charset="0"/>
                <a:ea typeface="Calibri" pitchFamily="34" charset="-122"/>
                <a:cs typeface="Calibri" pitchFamily="34" charset="-120"/>
              </a:rPr>
              <a:t>online session  ·  No prior AI knowledge needed</a:t>
            </a:r>
            <a:endParaRPr lang="en-US"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SESSION OVERVIEW</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Agenda &amp; Outcomes</a:t>
            </a:r>
            <a:endParaRPr lang="en-US" sz="2900" dirty="0"/>
          </a:p>
        </p:txBody>
      </p:sp>
      <p:sp>
        <p:nvSpPr>
          <p:cNvPr id="5" name="Shape 3"/>
          <p:cNvSpPr/>
          <p:nvPr/>
        </p:nvSpPr>
        <p:spPr>
          <a:xfrm>
            <a:off x="457200" y="1371600"/>
            <a:ext cx="4023360" cy="2788920"/>
          </a:xfrm>
          <a:prstGeom prst="roundRect">
            <a:avLst>
              <a:gd name="adj" fmla="val 2623"/>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85800" y="1508760"/>
            <a:ext cx="3657600" cy="274320"/>
          </a:xfrm>
          <a:prstGeom prst="rect">
            <a:avLst/>
          </a:prstGeom>
          <a:noFill/>
          <a:ln/>
        </p:spPr>
        <p:txBody>
          <a:bodyPr wrap="square" lIns="0" tIns="0" rIns="0" bIns="0" rtlCol="0" anchor="ctr"/>
          <a:lstStyle/>
          <a:p>
            <a:pPr marL="0" indent="0">
              <a:buNone/>
            </a:pPr>
            <a:r>
              <a:rPr lang="en-US" sz="1200" b="1" kern="0" spc="100" dirty="0" smtClean="0">
                <a:solidFill>
                  <a:srgbClr val="5C8A1B"/>
                </a:solidFill>
                <a:latin typeface="Calibri" pitchFamily="34" charset="0"/>
                <a:ea typeface="Calibri" pitchFamily="34" charset="-122"/>
                <a:cs typeface="Calibri" pitchFamily="34" charset="-120"/>
              </a:rPr>
              <a:t>ROADMAP</a:t>
            </a:r>
            <a:endParaRPr lang="en-US" sz="1200" dirty="0"/>
          </a:p>
        </p:txBody>
      </p:sp>
      <p:sp>
        <p:nvSpPr>
          <p:cNvPr id="7" name="Text 5"/>
          <p:cNvSpPr/>
          <p:nvPr/>
        </p:nvSpPr>
        <p:spPr>
          <a:xfrm>
            <a:off x="685800" y="1874520"/>
            <a:ext cx="3657600" cy="2194560"/>
          </a:xfrm>
          <a:prstGeom prst="rect">
            <a:avLst/>
          </a:prstGeom>
          <a:noFill/>
          <a:ln/>
        </p:spPr>
        <p:txBody>
          <a:bodyPr wrap="square" lIns="0" tIns="0" rIns="0" bIns="0" rtlCol="0" anchor="ctr"/>
          <a:lstStyle/>
          <a:p>
            <a:pPr marL="0" indent="0">
              <a:spcAft>
                <a:spcPts val="600"/>
              </a:spcAft>
              <a:buNone/>
            </a:pPr>
            <a:r>
              <a:rPr lang="en-US" sz="1300" dirty="0">
                <a:solidFill>
                  <a:srgbClr val="44474A"/>
                </a:solidFill>
                <a:latin typeface="Calibri" pitchFamily="34" charset="0"/>
                <a:ea typeface="Calibri" pitchFamily="34" charset="-122"/>
                <a:cs typeface="Calibri" pitchFamily="34" charset="-120"/>
              </a:rPr>
              <a:t>1  Introduction to AI</a:t>
            </a:r>
            <a:endParaRPr lang="en-US" sz="1300" dirty="0"/>
          </a:p>
          <a:p>
            <a:pPr marL="0" indent="0">
              <a:spcAft>
                <a:spcPts val="600"/>
              </a:spcAft>
              <a:buNone/>
            </a:pPr>
            <a:r>
              <a:rPr lang="en-US" sz="1300" dirty="0">
                <a:solidFill>
                  <a:srgbClr val="44474A"/>
                </a:solidFill>
                <a:latin typeface="Calibri" pitchFamily="34" charset="0"/>
                <a:ea typeface="Calibri" pitchFamily="34" charset="-122"/>
                <a:cs typeface="Calibri" pitchFamily="34" charset="-120"/>
              </a:rPr>
              <a:t>2  Machine Learning &amp; Deep Learning</a:t>
            </a:r>
            <a:endParaRPr lang="en-US" sz="1300" dirty="0"/>
          </a:p>
          <a:p>
            <a:pPr marL="0" indent="0">
              <a:spcAft>
                <a:spcPts val="600"/>
              </a:spcAft>
              <a:buNone/>
            </a:pPr>
            <a:r>
              <a:rPr lang="en-US" sz="1300" dirty="0">
                <a:solidFill>
                  <a:srgbClr val="44474A"/>
                </a:solidFill>
                <a:latin typeface="Calibri" pitchFamily="34" charset="0"/>
                <a:ea typeface="Calibri" pitchFamily="34" charset="-122"/>
                <a:cs typeface="Calibri" pitchFamily="34" charset="-120"/>
              </a:rPr>
              <a:t>3  Generative AI &amp; LLMs</a:t>
            </a:r>
            <a:endParaRPr lang="en-US" sz="1300" dirty="0"/>
          </a:p>
          <a:p>
            <a:pPr marL="0" indent="0">
              <a:spcAft>
                <a:spcPts val="600"/>
              </a:spcAft>
              <a:buNone/>
            </a:pPr>
            <a:r>
              <a:rPr lang="en-US" sz="1300" b="1" dirty="0">
                <a:solidFill>
                  <a:srgbClr val="26282A"/>
                </a:solidFill>
                <a:latin typeface="Calibri" pitchFamily="34" charset="0"/>
                <a:ea typeface="Calibri" pitchFamily="34" charset="-122"/>
                <a:cs typeface="Calibri" pitchFamily="34" charset="-120"/>
              </a:rPr>
              <a:t>4  Prompt Engineering  (core)</a:t>
            </a:r>
            <a:endParaRPr lang="en-US" sz="1300" dirty="0"/>
          </a:p>
          <a:p>
            <a:pPr marL="0" indent="0">
              <a:spcAft>
                <a:spcPts val="600"/>
              </a:spcAft>
              <a:buNone/>
            </a:pPr>
            <a:r>
              <a:rPr lang="en-US" sz="1300" dirty="0" smtClean="0">
                <a:solidFill>
                  <a:srgbClr val="44474A"/>
                </a:solidFill>
                <a:latin typeface="Calibri" pitchFamily="34" charset="0"/>
                <a:ea typeface="Calibri" pitchFamily="34" charset="-122"/>
                <a:cs typeface="Calibri" pitchFamily="34" charset="-120"/>
              </a:rPr>
              <a:t>5  </a:t>
            </a:r>
            <a:r>
              <a:rPr lang="en-US" sz="1300" dirty="0">
                <a:solidFill>
                  <a:srgbClr val="44474A"/>
                </a:solidFill>
                <a:latin typeface="Calibri" pitchFamily="34" charset="0"/>
                <a:ea typeface="Calibri" pitchFamily="34" charset="-122"/>
                <a:cs typeface="Calibri" pitchFamily="34" charset="-120"/>
              </a:rPr>
              <a:t>Responsible AI</a:t>
            </a:r>
            <a:endParaRPr lang="en-US" sz="1300" dirty="0"/>
          </a:p>
          <a:p>
            <a:pPr marL="0" indent="0">
              <a:spcAft>
                <a:spcPts val="600"/>
              </a:spcAft>
              <a:buNone/>
            </a:pPr>
            <a:r>
              <a:rPr lang="en-US" sz="1300" dirty="0">
                <a:solidFill>
                  <a:srgbClr val="44474A"/>
                </a:solidFill>
                <a:latin typeface="Calibri" pitchFamily="34" charset="0"/>
                <a:ea typeface="Calibri" pitchFamily="34" charset="-122"/>
                <a:cs typeface="Calibri" pitchFamily="34" charset="-120"/>
              </a:rPr>
              <a:t>6</a:t>
            </a:r>
            <a:r>
              <a:rPr lang="en-US" sz="1300" dirty="0" smtClean="0">
                <a:solidFill>
                  <a:srgbClr val="44474A"/>
                </a:solidFill>
                <a:latin typeface="Calibri" pitchFamily="34" charset="0"/>
                <a:ea typeface="Calibri" pitchFamily="34" charset="-122"/>
                <a:cs typeface="Calibri" pitchFamily="34" charset="-120"/>
              </a:rPr>
              <a:t>  </a:t>
            </a:r>
            <a:r>
              <a:rPr lang="en-US" sz="1300" dirty="0">
                <a:solidFill>
                  <a:srgbClr val="44474A"/>
                </a:solidFill>
                <a:latin typeface="Calibri" pitchFamily="34" charset="0"/>
                <a:ea typeface="Calibri" pitchFamily="34" charset="-122"/>
                <a:cs typeface="Calibri" pitchFamily="34" charset="-120"/>
              </a:rPr>
              <a:t>Recap &amp; Quiz</a:t>
            </a:r>
            <a:endParaRPr lang="en-US" sz="1300" dirty="0"/>
          </a:p>
        </p:txBody>
      </p:sp>
      <p:sp>
        <p:nvSpPr>
          <p:cNvPr id="8" name="Shape 6"/>
          <p:cNvSpPr/>
          <p:nvPr/>
        </p:nvSpPr>
        <p:spPr>
          <a:xfrm>
            <a:off x="4663440" y="1371600"/>
            <a:ext cx="4023360" cy="2788920"/>
          </a:xfrm>
          <a:prstGeom prst="roundRect">
            <a:avLst>
              <a:gd name="adj" fmla="val 2623"/>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9" name="Text 7"/>
          <p:cNvSpPr/>
          <p:nvPr/>
        </p:nvSpPr>
        <p:spPr>
          <a:xfrm>
            <a:off x="4892040" y="1508760"/>
            <a:ext cx="3657600" cy="274320"/>
          </a:xfrm>
          <a:prstGeom prst="rect">
            <a:avLst/>
          </a:prstGeom>
          <a:noFill/>
          <a:ln/>
        </p:spPr>
        <p:txBody>
          <a:bodyPr wrap="square" lIns="0" tIns="0" rIns="0" bIns="0" rtlCol="0" anchor="ctr"/>
          <a:lstStyle/>
          <a:p>
            <a:pPr marL="0" indent="0">
              <a:buNone/>
            </a:pPr>
            <a:r>
              <a:rPr lang="en-US" sz="1200" b="1" kern="0" spc="100" dirty="0">
                <a:solidFill>
                  <a:srgbClr val="5C8A1B"/>
                </a:solidFill>
                <a:latin typeface="Calibri" pitchFamily="34" charset="0"/>
                <a:ea typeface="Calibri" pitchFamily="34" charset="-122"/>
                <a:cs typeface="Calibri" pitchFamily="34" charset="-120"/>
              </a:rPr>
              <a:t>WHAT YOU'LL WALK AWAY WITH</a:t>
            </a:r>
            <a:endParaRPr lang="en-US" sz="1200" dirty="0"/>
          </a:p>
        </p:txBody>
      </p:sp>
      <p:sp>
        <p:nvSpPr>
          <p:cNvPr id="10" name="Text 8"/>
          <p:cNvSpPr/>
          <p:nvPr/>
        </p:nvSpPr>
        <p:spPr>
          <a:xfrm>
            <a:off x="4937760" y="1874520"/>
            <a:ext cx="356616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6282A"/>
                </a:solidFill>
                <a:latin typeface="Calibri" pitchFamily="34" charset="0"/>
                <a:ea typeface="Calibri" pitchFamily="34" charset="-122"/>
                <a:cs typeface="Calibri" pitchFamily="34" charset="-120"/>
              </a:rPr>
              <a:t>Explain AI, ML, Deep Learning, GenAI &amp; LLMs</a:t>
            </a:r>
            <a:endParaRPr lang="en-US" sz="1250" dirty="0"/>
          </a:p>
          <a:p>
            <a:pPr marL="342900" indent="-342900">
              <a:spcAft>
                <a:spcPts val="800"/>
              </a:spcAft>
              <a:buSzPct val="100000"/>
              <a:buChar char="•"/>
            </a:pPr>
            <a:r>
              <a:rPr lang="en-US" sz="1250" dirty="0">
                <a:solidFill>
                  <a:srgbClr val="26282A"/>
                </a:solidFill>
                <a:latin typeface="Calibri" pitchFamily="34" charset="0"/>
                <a:ea typeface="Calibri" pitchFamily="34" charset="-122"/>
                <a:cs typeface="Calibri" pitchFamily="34" charset="-120"/>
              </a:rPr>
              <a:t>Understand how modern AI works — conceptually</a:t>
            </a:r>
            <a:endParaRPr lang="en-US" sz="1250" dirty="0"/>
          </a:p>
          <a:p>
            <a:pPr marL="342900" indent="-342900">
              <a:spcAft>
                <a:spcPts val="800"/>
              </a:spcAft>
              <a:buSzPct val="100000"/>
              <a:buChar char="•"/>
            </a:pPr>
            <a:r>
              <a:rPr lang="en-US" sz="1250" dirty="0">
                <a:solidFill>
                  <a:srgbClr val="26282A"/>
                </a:solidFill>
                <a:latin typeface="Calibri" pitchFamily="34" charset="0"/>
                <a:ea typeface="Calibri" pitchFamily="34" charset="-122"/>
                <a:cs typeface="Calibri" pitchFamily="34" charset="-120"/>
              </a:rPr>
              <a:t>Write effective prompts using proven frameworks</a:t>
            </a:r>
            <a:endParaRPr lang="en-US" sz="1250" dirty="0"/>
          </a:p>
          <a:p>
            <a:pPr marL="342900" indent="-342900">
              <a:spcAft>
                <a:spcPts val="800"/>
              </a:spcAft>
              <a:buSzPct val="100000"/>
              <a:buChar char="•"/>
            </a:pPr>
            <a:r>
              <a:rPr lang="en-US" sz="1250" dirty="0" smtClean="0">
                <a:solidFill>
                  <a:srgbClr val="26282A"/>
                </a:solidFill>
                <a:latin typeface="Calibri" pitchFamily="34" charset="0"/>
                <a:ea typeface="Calibri" pitchFamily="34" charset="-122"/>
                <a:cs typeface="Calibri" pitchFamily="34" charset="-120"/>
              </a:rPr>
              <a:t>Use </a:t>
            </a:r>
            <a:r>
              <a:rPr lang="en-US" sz="1250" dirty="0">
                <a:solidFill>
                  <a:srgbClr val="26282A"/>
                </a:solidFill>
                <a:latin typeface="Calibri" pitchFamily="34" charset="0"/>
                <a:ea typeface="Calibri" pitchFamily="34" charset="-122"/>
                <a:cs typeface="Calibri" pitchFamily="34" charset="-120"/>
              </a:rPr>
              <a:t>AI responsibly and safely at Deloitte</a:t>
            </a:r>
            <a:endParaRPr lang="en-US" sz="1250" dirty="0"/>
          </a:p>
        </p:txBody>
      </p:sp>
      <p:sp>
        <p:nvSpPr>
          <p:cNvPr id="11" name="Text 9"/>
          <p:cNvSpPr/>
          <p:nvPr/>
        </p:nvSpPr>
        <p:spPr>
          <a:xfrm>
            <a:off x="457200" y="4343400"/>
            <a:ext cx="8229600" cy="320040"/>
          </a:xfrm>
          <a:prstGeom prst="rect">
            <a:avLst/>
          </a:prstGeom>
          <a:noFill/>
          <a:ln/>
        </p:spPr>
        <p:txBody>
          <a:bodyPr wrap="square" lIns="0" tIns="0" rIns="0" bIns="0" rtlCol="0" anchor="ctr"/>
          <a:lstStyle/>
          <a:p>
            <a:r>
              <a:rPr lang="en-US" sz="1200" b="1" dirty="0">
                <a:solidFill>
                  <a:srgbClr val="26282A"/>
                </a:solidFill>
                <a:latin typeface="Calibri" pitchFamily="34" charset="0"/>
                <a:ea typeface="Calibri" pitchFamily="34" charset="-122"/>
                <a:cs typeface="Calibri" pitchFamily="34" charset="-120"/>
              </a:rPr>
              <a:t>How we'll interact:  </a:t>
            </a:r>
            <a:r>
              <a:rPr lang="en-US" sz="1200" dirty="0" smtClean="0">
                <a:solidFill>
                  <a:srgbClr val="44474A"/>
                </a:solidFill>
                <a:latin typeface="Calibri" pitchFamily="34" charset="0"/>
                <a:ea typeface="Calibri" pitchFamily="34" charset="-122"/>
                <a:cs typeface="Calibri" pitchFamily="34" charset="-120"/>
              </a:rPr>
              <a:t>chat  ·  </a:t>
            </a:r>
            <a:r>
              <a:rPr lang="en-US" sz="1200" dirty="0">
                <a:solidFill>
                  <a:srgbClr val="44474A"/>
                </a:solidFill>
                <a:latin typeface="Calibri" pitchFamily="34" charset="0"/>
                <a:ea typeface="Calibri" pitchFamily="34" charset="-122"/>
                <a:cs typeface="Calibri" pitchFamily="34" charset="-120"/>
              </a:rPr>
              <a:t>emoji reactions ·  quizzes — jump in throughout.</a:t>
            </a:r>
            <a:endParaRPr lang="en-US" sz="1200" dirty="0"/>
          </a:p>
        </p:txBody>
      </p:sp>
      <p:sp>
        <p:nvSpPr>
          <p:cNvPr id="12" name="Text 10"/>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3" name="Text 11"/>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a:t>
            </a:r>
            <a:endParaRPr lang="en-US" sz="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0 · WARM-UP</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Quick poll: how do you use AI today?</a:t>
            </a:r>
            <a:endParaRPr lang="en-US" sz="2900" dirty="0"/>
          </a:p>
        </p:txBody>
      </p:sp>
      <p:sp>
        <p:nvSpPr>
          <p:cNvPr id="5" name="Shape 3"/>
          <p:cNvSpPr/>
          <p:nvPr/>
        </p:nvSpPr>
        <p:spPr>
          <a:xfrm>
            <a:off x="457200" y="1417320"/>
            <a:ext cx="939089" cy="292608"/>
          </a:xfrm>
          <a:prstGeom prst="roundRect">
            <a:avLst>
              <a:gd name="adj" fmla="val 50000"/>
            </a:avLst>
          </a:prstGeom>
          <a:solidFill>
            <a:srgbClr val="86BC25"/>
          </a:solidFill>
          <a:ln/>
        </p:spPr>
      </p:sp>
      <p:sp>
        <p:nvSpPr>
          <p:cNvPr id="6" name="Text 4"/>
          <p:cNvSpPr/>
          <p:nvPr/>
        </p:nvSpPr>
        <p:spPr>
          <a:xfrm>
            <a:off x="457200" y="1417320"/>
            <a:ext cx="939089"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LIVE POLL</a:t>
            </a:r>
            <a:endParaRPr lang="en-US" sz="1000" dirty="0"/>
          </a:p>
        </p:txBody>
      </p:sp>
      <p:sp>
        <p:nvSpPr>
          <p:cNvPr id="7" name="Shape 5"/>
          <p:cNvSpPr/>
          <p:nvPr/>
        </p:nvSpPr>
        <p:spPr>
          <a:xfrm>
            <a:off x="457200" y="1920240"/>
            <a:ext cx="822960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8" name="Text 6"/>
          <p:cNvSpPr/>
          <p:nvPr/>
        </p:nvSpPr>
        <p:spPr>
          <a:xfrm>
            <a:off x="731520" y="2084832"/>
            <a:ext cx="7680960" cy="365760"/>
          </a:xfrm>
          <a:prstGeom prst="rect">
            <a:avLst/>
          </a:prstGeom>
          <a:noFill/>
          <a:ln/>
        </p:spPr>
        <p:txBody>
          <a:bodyPr wrap="square" lIns="0" tIns="0" rIns="0" bIns="0" rtlCol="0" anchor="ctr"/>
          <a:lstStyle/>
          <a:p>
            <a:pPr marL="0" indent="0">
              <a:buNone/>
            </a:pPr>
            <a:r>
              <a:rPr lang="en-US" sz="1600" b="1" dirty="0">
                <a:solidFill>
                  <a:srgbClr val="26282A"/>
                </a:solidFill>
                <a:latin typeface="Calibri" pitchFamily="34" charset="0"/>
                <a:ea typeface="Calibri" pitchFamily="34" charset="-122"/>
                <a:cs typeface="Calibri" pitchFamily="34" charset="-120"/>
              </a:rPr>
              <a:t>“What do you MAINLY use ChatGPT / AI for right now?”</a:t>
            </a:r>
            <a:endParaRPr lang="en-US" sz="1600" dirty="0"/>
          </a:p>
        </p:txBody>
      </p:sp>
      <p:sp>
        <p:nvSpPr>
          <p:cNvPr id="9" name="Text 7"/>
          <p:cNvSpPr/>
          <p:nvPr/>
        </p:nvSpPr>
        <p:spPr>
          <a:xfrm>
            <a:off x="822960" y="2560320"/>
            <a:ext cx="7315200" cy="868680"/>
          </a:xfrm>
          <a:prstGeom prst="rect">
            <a:avLst/>
          </a:prstGeom>
          <a:noFill/>
          <a:ln/>
        </p:spPr>
        <p:txBody>
          <a:bodyPr wrap="square" lIns="0" tIns="0" rIns="0" bIns="0" rtlCol="0" anchor="ctr"/>
          <a:lstStyle/>
          <a:p>
            <a:pPr marL="0" indent="0">
              <a:spcAft>
                <a:spcPts val="600"/>
              </a:spcAft>
              <a:buNone/>
            </a:pPr>
            <a:r>
              <a:rPr lang="en-US" sz="1350" dirty="0">
                <a:solidFill>
                  <a:srgbClr val="44474A"/>
                </a:solidFill>
                <a:latin typeface="Calibri" pitchFamily="34" charset="0"/>
                <a:ea typeface="Calibri" pitchFamily="34" charset="-122"/>
                <a:cs typeface="Calibri" pitchFamily="34" charset="-120"/>
              </a:rPr>
              <a:t>A · Study / assignments</a:t>
            </a:r>
            <a:endParaRPr lang="en-US" sz="1350" dirty="0"/>
          </a:p>
          <a:p>
            <a:pPr marL="0" indent="0">
              <a:spcAft>
                <a:spcPts val="600"/>
              </a:spcAft>
              <a:buNone/>
            </a:pPr>
            <a:r>
              <a:rPr lang="en-US" sz="1350" dirty="0">
                <a:solidFill>
                  <a:srgbClr val="44474A"/>
                </a:solidFill>
                <a:latin typeface="Calibri" pitchFamily="34" charset="0"/>
                <a:ea typeface="Calibri" pitchFamily="34" charset="-122"/>
                <a:cs typeface="Calibri" pitchFamily="34" charset="-120"/>
              </a:rPr>
              <a:t>B · Quick answers &amp; search</a:t>
            </a:r>
            <a:endParaRPr lang="en-US" sz="1350" dirty="0"/>
          </a:p>
          <a:p>
            <a:pPr marL="0" indent="0">
              <a:spcAft>
                <a:spcPts val="600"/>
              </a:spcAft>
              <a:buNone/>
            </a:pPr>
            <a:r>
              <a:rPr lang="en-US" sz="1350" dirty="0">
                <a:solidFill>
                  <a:srgbClr val="44474A"/>
                </a:solidFill>
                <a:latin typeface="Calibri" pitchFamily="34" charset="0"/>
                <a:ea typeface="Calibri" pitchFamily="34" charset="-122"/>
                <a:cs typeface="Calibri" pitchFamily="34" charset="-120"/>
              </a:rPr>
              <a:t>C · Writing help</a:t>
            </a:r>
            <a:endParaRPr lang="en-US" sz="1350" dirty="0"/>
          </a:p>
          <a:p>
            <a:pPr marL="0" indent="0">
              <a:spcAft>
                <a:spcPts val="600"/>
              </a:spcAft>
              <a:buNone/>
            </a:pPr>
            <a:r>
              <a:rPr lang="en-US" sz="1350" dirty="0">
                <a:solidFill>
                  <a:srgbClr val="44474A"/>
                </a:solidFill>
                <a:latin typeface="Calibri" pitchFamily="34" charset="0"/>
                <a:ea typeface="Calibri" pitchFamily="34" charset="-122"/>
                <a:cs typeface="Calibri" pitchFamily="34" charset="-120"/>
              </a:rPr>
              <a:t>D · I rarely use it</a:t>
            </a:r>
            <a:endParaRPr lang="en-US" sz="1350" dirty="0"/>
          </a:p>
        </p:txBody>
      </p:sp>
      <p:sp>
        <p:nvSpPr>
          <p:cNvPr id="10" name="Text 8"/>
          <p:cNvSpPr/>
          <p:nvPr/>
        </p:nvSpPr>
        <p:spPr>
          <a:xfrm>
            <a:off x="457200" y="3794760"/>
            <a:ext cx="8229600" cy="365760"/>
          </a:xfrm>
          <a:prstGeom prst="rect">
            <a:avLst/>
          </a:prstGeom>
          <a:noFill/>
          <a:ln/>
        </p:spPr>
        <p:txBody>
          <a:bodyPr wrap="square" lIns="0" tIns="0" rIns="0" bIns="0" rtlCol="0" anchor="ctr"/>
          <a:lstStyle/>
          <a:p>
            <a:pPr marL="0" indent="0">
              <a:buNone/>
            </a:pPr>
            <a:r>
              <a:rPr lang="en-US" sz="1300" i="1" dirty="0">
                <a:solidFill>
                  <a:srgbClr val="44474A"/>
                </a:solidFill>
                <a:latin typeface="Calibri" pitchFamily="34" charset="0"/>
                <a:ea typeface="Calibri" pitchFamily="34" charset="-122"/>
                <a:cs typeface="Calibri" pitchFamily="34" charset="-120"/>
              </a:rPr>
              <a:t>Then react </a:t>
            </a:r>
            <a:r>
              <a:rPr lang="en-US" sz="1300" i="1" dirty="0">
                <a:solidFill>
                  <a:srgbClr val="000000"/>
                </a:solidFill>
                <a:latin typeface="Calibri" pitchFamily="34" charset="0"/>
                <a:ea typeface="Calibri" pitchFamily="34" charset="-122"/>
                <a:cs typeface="Calibri" pitchFamily="34" charset="-120"/>
              </a:rPr>
              <a:t>👍</a:t>
            </a:r>
            <a:r>
              <a:rPr lang="en-US" sz="1300" i="1" dirty="0">
                <a:solidFill>
                  <a:srgbClr val="44474A"/>
                </a:solidFill>
                <a:latin typeface="Calibri" pitchFamily="34" charset="0"/>
                <a:ea typeface="Calibri" pitchFamily="34" charset="-122"/>
                <a:cs typeface="Calibri" pitchFamily="34" charset="-120"/>
              </a:rPr>
              <a:t>  if you've used AI in the last week.</a:t>
            </a:r>
            <a:endParaRPr lang="en-US" sz="1300" dirty="0"/>
          </a:p>
        </p:txBody>
      </p:sp>
      <p:sp>
        <p:nvSpPr>
          <p:cNvPr id="11" name="Text 9"/>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2" name="Text 10"/>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3</a:t>
            </a:r>
            <a:endParaRPr lang="en-US" sz="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1 · INTRODUCTION TO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What is AI?</a:t>
            </a:r>
            <a:endParaRPr lang="en-US" sz="2900" dirty="0"/>
          </a:p>
        </p:txBody>
      </p:sp>
      <p:sp>
        <p:nvSpPr>
          <p:cNvPr id="5" name="Text 3"/>
          <p:cNvSpPr/>
          <p:nvPr/>
        </p:nvSpPr>
        <p:spPr>
          <a:xfrm>
            <a:off x="457200" y="1371600"/>
            <a:ext cx="8229600" cy="502920"/>
          </a:xfrm>
          <a:prstGeom prst="rect">
            <a:avLst/>
          </a:prstGeom>
          <a:noFill/>
          <a:ln/>
        </p:spPr>
        <p:txBody>
          <a:bodyPr wrap="square" lIns="0" tIns="0" rIns="0" bIns="0" rtlCol="0" anchor="ctr"/>
          <a:lstStyle/>
          <a:p>
            <a:pPr marL="0" indent="0">
              <a:buNone/>
            </a:pPr>
            <a:r>
              <a:rPr lang="en-US" sz="1500" dirty="0">
                <a:solidFill>
                  <a:srgbClr val="26282A"/>
                </a:solidFill>
                <a:latin typeface="Calibri" pitchFamily="34" charset="0"/>
                <a:ea typeface="Calibri" pitchFamily="34" charset="-122"/>
                <a:cs typeface="Calibri" pitchFamily="34" charset="-120"/>
              </a:rPr>
              <a:t>AI = computer systems that perform tasks which normally need human intelligence — recognising, understanding, predicting, deciding.</a:t>
            </a:r>
            <a:endParaRPr lang="en-US" sz="1500" dirty="0"/>
          </a:p>
        </p:txBody>
      </p:sp>
      <p:sp>
        <p:nvSpPr>
          <p:cNvPr id="6" name="Shape 4"/>
          <p:cNvSpPr/>
          <p:nvPr/>
        </p:nvSpPr>
        <p:spPr>
          <a:xfrm>
            <a:off x="457200" y="2057400"/>
            <a:ext cx="4023360" cy="1691640"/>
          </a:xfrm>
          <a:prstGeom prst="roundRect">
            <a:avLst>
              <a:gd name="adj" fmla="val 4324"/>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7" name="Text 5"/>
          <p:cNvSpPr/>
          <p:nvPr/>
        </p:nvSpPr>
        <p:spPr>
          <a:xfrm>
            <a:off x="685800" y="2194560"/>
            <a:ext cx="3657600" cy="274320"/>
          </a:xfrm>
          <a:prstGeom prst="rect">
            <a:avLst/>
          </a:prstGeom>
          <a:noFill/>
          <a:ln/>
        </p:spPr>
        <p:txBody>
          <a:bodyPr wrap="square" lIns="0" tIns="0" rIns="0" bIns="0" rtlCol="0" anchor="ctr"/>
          <a:lstStyle/>
          <a:p>
            <a:pPr marL="0" indent="0">
              <a:buNone/>
            </a:pPr>
            <a:r>
              <a:rPr lang="en-US" sz="1200" b="1" dirty="0">
                <a:solidFill>
                  <a:srgbClr val="5C8A1B"/>
                </a:solidFill>
                <a:latin typeface="Calibri" pitchFamily="34" charset="0"/>
                <a:ea typeface="Calibri" pitchFamily="34" charset="-122"/>
                <a:cs typeface="Calibri" pitchFamily="34" charset="-120"/>
              </a:rPr>
              <a:t>NARROW vs GENERAL</a:t>
            </a:r>
            <a:endParaRPr lang="en-US" sz="1200" dirty="0"/>
          </a:p>
        </p:txBody>
      </p:sp>
      <p:sp>
        <p:nvSpPr>
          <p:cNvPr id="8" name="Text 6"/>
          <p:cNvSpPr/>
          <p:nvPr/>
        </p:nvSpPr>
        <p:spPr>
          <a:xfrm>
            <a:off x="685800" y="2514600"/>
            <a:ext cx="3611880" cy="1143000"/>
          </a:xfrm>
          <a:prstGeom prst="rect">
            <a:avLst/>
          </a:prstGeom>
          <a:noFill/>
          <a:ln/>
        </p:spPr>
        <p:txBody>
          <a:bodyPr wrap="square" lIns="0" tIns="0" rIns="0" bIns="0" rtlCol="0" anchor="ctr"/>
          <a:lstStyle/>
          <a:p>
            <a:pPr marL="0" indent="0">
              <a:spcAft>
                <a:spcPts val="400"/>
              </a:spcAft>
              <a:buNone/>
            </a:pPr>
            <a:r>
              <a:rPr lang="en-US" sz="1250" b="1" dirty="0">
                <a:solidFill>
                  <a:srgbClr val="26282A"/>
                </a:solidFill>
                <a:latin typeface="Calibri" pitchFamily="34" charset="0"/>
                <a:ea typeface="Calibri" pitchFamily="34" charset="-122"/>
                <a:cs typeface="Calibri" pitchFamily="34" charset="-120"/>
              </a:rPr>
              <a:t>Narrow AI — good at one thing. </a:t>
            </a:r>
            <a:endParaRPr lang="en-US" sz="1250" dirty="0"/>
          </a:p>
          <a:p>
            <a:pPr marL="0" indent="0">
              <a:spcAft>
                <a:spcPts val="800"/>
              </a:spcAft>
              <a:buNone/>
            </a:pPr>
            <a:r>
              <a:rPr lang="en-US" sz="1250" dirty="0">
                <a:solidFill>
                  <a:srgbClr val="44474A"/>
                </a:solidFill>
                <a:latin typeface="Calibri" pitchFamily="34" charset="0"/>
                <a:ea typeface="Calibri" pitchFamily="34" charset="-122"/>
                <a:cs typeface="Calibri" pitchFamily="34" charset="-120"/>
              </a:rPr>
              <a:t>Every AI in use today is narrow.</a:t>
            </a:r>
            <a:endParaRPr lang="en-US" sz="1250" dirty="0"/>
          </a:p>
          <a:p>
            <a:pPr marL="0" indent="0">
              <a:spcAft>
                <a:spcPts val="400"/>
              </a:spcAft>
              <a:buNone/>
            </a:pPr>
            <a:r>
              <a:rPr lang="en-US" sz="1250" b="1" dirty="0">
                <a:solidFill>
                  <a:srgbClr val="26282A"/>
                </a:solidFill>
                <a:latin typeface="Calibri" pitchFamily="34" charset="0"/>
                <a:ea typeface="Calibri" pitchFamily="34" charset="-122"/>
                <a:cs typeface="Calibri" pitchFamily="34" charset="-120"/>
              </a:rPr>
              <a:t>General AI — human-like across everything. </a:t>
            </a:r>
            <a:endParaRPr lang="en-US" sz="1250" dirty="0"/>
          </a:p>
          <a:p>
            <a:pPr marL="0" indent="0">
              <a:buNone/>
            </a:pPr>
            <a:r>
              <a:rPr lang="en-US" sz="1250" dirty="0">
                <a:solidFill>
                  <a:srgbClr val="44474A"/>
                </a:solidFill>
                <a:latin typeface="Calibri" pitchFamily="34" charset="0"/>
                <a:ea typeface="Calibri" pitchFamily="34" charset="-122"/>
                <a:cs typeface="Calibri" pitchFamily="34" charset="-120"/>
              </a:rPr>
              <a:t>Does not exist yet.</a:t>
            </a:r>
            <a:endParaRPr lang="en-US" sz="1250" dirty="0"/>
          </a:p>
        </p:txBody>
      </p:sp>
      <p:sp>
        <p:nvSpPr>
          <p:cNvPr id="9" name="Shape 7"/>
          <p:cNvSpPr/>
          <p:nvPr/>
        </p:nvSpPr>
        <p:spPr>
          <a:xfrm>
            <a:off x="4663440" y="2057400"/>
            <a:ext cx="4023360" cy="1691640"/>
          </a:xfrm>
          <a:prstGeom prst="roundRect">
            <a:avLst>
              <a:gd name="adj" fmla="val 4324"/>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0" name="Text 8"/>
          <p:cNvSpPr/>
          <p:nvPr/>
        </p:nvSpPr>
        <p:spPr>
          <a:xfrm>
            <a:off x="4892040" y="2194560"/>
            <a:ext cx="3657600" cy="274320"/>
          </a:xfrm>
          <a:prstGeom prst="rect">
            <a:avLst/>
          </a:prstGeom>
          <a:noFill/>
          <a:ln/>
        </p:spPr>
        <p:txBody>
          <a:bodyPr wrap="square" lIns="0" tIns="0" rIns="0" bIns="0" rtlCol="0" anchor="ctr"/>
          <a:lstStyle/>
          <a:p>
            <a:pPr marL="0" indent="0">
              <a:buNone/>
            </a:pPr>
            <a:r>
              <a:rPr lang="en-US" sz="1200" b="1" dirty="0">
                <a:solidFill>
                  <a:srgbClr val="5C8A1B"/>
                </a:solidFill>
                <a:latin typeface="Calibri" pitchFamily="34" charset="0"/>
                <a:ea typeface="Calibri" pitchFamily="34" charset="-122"/>
                <a:cs typeface="Calibri" pitchFamily="34" charset="-120"/>
              </a:rPr>
              <a:t>WHY NOW?</a:t>
            </a:r>
            <a:endParaRPr lang="en-US" sz="1200" dirty="0"/>
          </a:p>
        </p:txBody>
      </p:sp>
      <p:sp>
        <p:nvSpPr>
          <p:cNvPr id="11" name="Text 9"/>
          <p:cNvSpPr/>
          <p:nvPr/>
        </p:nvSpPr>
        <p:spPr>
          <a:xfrm>
            <a:off x="4892040" y="2514600"/>
            <a:ext cx="3566160" cy="1143000"/>
          </a:xfrm>
          <a:prstGeom prst="rect">
            <a:avLst/>
          </a:prstGeom>
          <a:noFill/>
          <a:ln/>
        </p:spPr>
        <p:txBody>
          <a:bodyPr wrap="square" lIns="0" tIns="0" rIns="0" bIns="0" rtlCol="0" anchor="ctr"/>
          <a:lstStyle/>
          <a:p>
            <a:pPr marL="0" indent="0">
              <a:spcAft>
                <a:spcPts val="600"/>
              </a:spcAft>
              <a:buNone/>
            </a:pPr>
            <a:r>
              <a:rPr lang="en-US" sz="1250" dirty="0">
                <a:solidFill>
                  <a:srgbClr val="44474A"/>
                </a:solidFill>
                <a:latin typeface="Calibri" pitchFamily="34" charset="0"/>
                <a:ea typeface="Calibri" pitchFamily="34" charset="-122"/>
                <a:cs typeface="Calibri" pitchFamily="34" charset="-120"/>
              </a:rPr>
              <a:t>Three forces finally came together:</a:t>
            </a:r>
            <a:endParaRPr lang="en-US" sz="1250" dirty="0"/>
          </a:p>
          <a:p>
            <a:pPr marL="342900" indent="-342900">
              <a:spcAft>
                <a:spcPts val="400"/>
              </a:spcAft>
              <a:buSzPct val="100000"/>
              <a:buChar char="•"/>
            </a:pPr>
            <a:r>
              <a:rPr lang="en-US" sz="1250" dirty="0">
                <a:solidFill>
                  <a:srgbClr val="26282A"/>
                </a:solidFill>
                <a:latin typeface="Calibri" pitchFamily="34" charset="0"/>
                <a:ea typeface="Calibri" pitchFamily="34" charset="-122"/>
                <a:cs typeface="Calibri" pitchFamily="34" charset="-120"/>
              </a:rPr>
              <a:t>Massive data</a:t>
            </a:r>
            <a:endParaRPr lang="en-US" sz="1250" dirty="0"/>
          </a:p>
          <a:p>
            <a:pPr marL="342900" indent="-342900">
              <a:spcAft>
                <a:spcPts val="400"/>
              </a:spcAft>
              <a:buSzPct val="100000"/>
              <a:buChar char="•"/>
            </a:pPr>
            <a:r>
              <a:rPr lang="en-US" sz="1250" dirty="0">
                <a:solidFill>
                  <a:srgbClr val="26282A"/>
                </a:solidFill>
                <a:latin typeface="Calibri" pitchFamily="34" charset="0"/>
                <a:ea typeface="Calibri" pitchFamily="34" charset="-122"/>
                <a:cs typeface="Calibri" pitchFamily="34" charset="-120"/>
              </a:rPr>
              <a:t>Cheap computing power</a:t>
            </a:r>
            <a:endParaRPr lang="en-US" sz="1250" dirty="0"/>
          </a:p>
          <a:p>
            <a:pPr marL="342900" indent="-342900">
              <a:buSzPct val="100000"/>
              <a:buChar char="•"/>
            </a:pPr>
            <a:r>
              <a:rPr lang="en-US" sz="1250" dirty="0">
                <a:solidFill>
                  <a:srgbClr val="26282A"/>
                </a:solidFill>
                <a:latin typeface="Calibri" pitchFamily="34" charset="0"/>
                <a:ea typeface="Calibri" pitchFamily="34" charset="-122"/>
                <a:cs typeface="Calibri" pitchFamily="34" charset="-120"/>
              </a:rPr>
              <a:t>Better algorithms</a:t>
            </a:r>
            <a:endParaRPr lang="en-US" sz="1250" dirty="0"/>
          </a:p>
        </p:txBody>
      </p:sp>
      <p:sp>
        <p:nvSpPr>
          <p:cNvPr id="12" name="Text 10"/>
          <p:cNvSpPr/>
          <p:nvPr/>
        </p:nvSpPr>
        <p:spPr>
          <a:xfrm>
            <a:off x="457200" y="3977640"/>
            <a:ext cx="8229600" cy="320040"/>
          </a:xfrm>
          <a:prstGeom prst="rect">
            <a:avLst/>
          </a:prstGeom>
          <a:noFill/>
          <a:ln/>
        </p:spPr>
        <p:txBody>
          <a:bodyPr wrap="square" lIns="0" tIns="0" rIns="0" bIns="0" rtlCol="0" anchor="ctr"/>
          <a:lstStyle/>
          <a:p>
            <a:pPr marL="0" indent="0">
              <a:buNone/>
            </a:pPr>
            <a:r>
              <a:rPr lang="en-US" sz="1250" b="1" dirty="0">
                <a:solidFill>
                  <a:srgbClr val="26282A"/>
                </a:solidFill>
                <a:latin typeface="Calibri" pitchFamily="34" charset="0"/>
                <a:ea typeface="Calibri" pitchFamily="34" charset="-122"/>
                <a:cs typeface="Calibri" pitchFamily="34" charset="-120"/>
              </a:rPr>
              <a:t>You already use it: </a:t>
            </a:r>
            <a:r>
              <a:rPr lang="en-US" sz="1250" b="1" dirty="0" smtClean="0">
                <a:solidFill>
                  <a:srgbClr val="26282A"/>
                </a:solidFill>
                <a:latin typeface="Calibri" pitchFamily="34" charset="0"/>
                <a:ea typeface="Calibri" pitchFamily="34" charset="-122"/>
                <a:cs typeface="Calibri" pitchFamily="34" charset="-120"/>
              </a:rPr>
              <a:t> </a:t>
            </a:r>
            <a:r>
              <a:rPr lang="en-US" sz="1250" dirty="0" smtClean="0">
                <a:solidFill>
                  <a:srgbClr val="44474A"/>
                </a:solidFill>
                <a:latin typeface="Calibri" pitchFamily="34" charset="0"/>
                <a:ea typeface="Calibri" pitchFamily="34" charset="-122"/>
                <a:cs typeface="Calibri" pitchFamily="34" charset="-120"/>
              </a:rPr>
              <a:t>google Maps </a:t>
            </a:r>
            <a:r>
              <a:rPr lang="en-US" sz="1250" dirty="0">
                <a:solidFill>
                  <a:srgbClr val="44474A"/>
                </a:solidFill>
                <a:latin typeface="Calibri" pitchFamily="34" charset="0"/>
                <a:ea typeface="Calibri" pitchFamily="34" charset="-122"/>
                <a:cs typeface="Calibri" pitchFamily="34" charset="-120"/>
              </a:rPr>
              <a:t>ETA  ·  recommendations  ·  autocomplete  ·  face unlock  ·  ChatGPT</a:t>
            </a:r>
            <a:endParaRPr lang="en-US" sz="1250" dirty="0"/>
          </a:p>
        </p:txBody>
      </p:sp>
      <p:sp>
        <p:nvSpPr>
          <p:cNvPr id="13" name="Text 11"/>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4" name="Text 12"/>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4</a:t>
            </a:r>
            <a:endParaRPr lang="en-US" sz="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1 · INTRODUCTION TO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How it all fits together</a:t>
            </a:r>
            <a:endParaRPr lang="en-US" sz="2900" dirty="0"/>
          </a:p>
        </p:txBody>
      </p:sp>
      <p:sp>
        <p:nvSpPr>
          <p:cNvPr id="5" name="Shape 3"/>
          <p:cNvSpPr/>
          <p:nvPr/>
        </p:nvSpPr>
        <p:spPr>
          <a:xfrm>
            <a:off x="594360" y="1508760"/>
            <a:ext cx="4572000" cy="3063240"/>
          </a:xfrm>
          <a:prstGeom prst="roundRect">
            <a:avLst>
              <a:gd name="adj" fmla="val 2985"/>
            </a:avLst>
          </a:prstGeom>
          <a:solidFill>
            <a:srgbClr val="F4F5F6"/>
          </a:solidFill>
          <a:ln w="12700">
            <a:solidFill>
              <a:srgbClr val="DADDE0"/>
            </a:solidFill>
            <a:prstDash val="solid"/>
          </a:ln>
        </p:spPr>
      </p:sp>
      <p:sp>
        <p:nvSpPr>
          <p:cNvPr id="6" name="Text 4"/>
          <p:cNvSpPr/>
          <p:nvPr/>
        </p:nvSpPr>
        <p:spPr>
          <a:xfrm>
            <a:off x="731520" y="1600200"/>
            <a:ext cx="4297680" cy="228600"/>
          </a:xfrm>
          <a:prstGeom prst="rect">
            <a:avLst/>
          </a:prstGeom>
          <a:noFill/>
          <a:ln/>
        </p:spPr>
        <p:txBody>
          <a:bodyPr wrap="square" lIns="0" tIns="0" rIns="0" bIns="0" rtlCol="0" anchor="ctr"/>
          <a:lstStyle/>
          <a:p>
            <a:pPr marL="0" indent="0">
              <a:buNone/>
            </a:pPr>
            <a:r>
              <a:rPr lang="en-US" sz="1100" b="1" dirty="0">
                <a:solidFill>
                  <a:srgbClr val="7A7D81"/>
                </a:solidFill>
                <a:latin typeface="Calibri" pitchFamily="34" charset="0"/>
                <a:ea typeface="Calibri" pitchFamily="34" charset="-122"/>
                <a:cs typeface="Calibri" pitchFamily="34" charset="-120"/>
              </a:rPr>
              <a:t>ARTIFICIAL INTELLIGENCE</a:t>
            </a:r>
            <a:endParaRPr lang="en-US" sz="1100" dirty="0"/>
          </a:p>
        </p:txBody>
      </p:sp>
      <p:sp>
        <p:nvSpPr>
          <p:cNvPr id="7" name="Shape 5"/>
          <p:cNvSpPr/>
          <p:nvPr/>
        </p:nvSpPr>
        <p:spPr>
          <a:xfrm>
            <a:off x="960120" y="1965960"/>
            <a:ext cx="3840480" cy="2468880"/>
          </a:xfrm>
          <a:prstGeom prst="roundRect">
            <a:avLst>
              <a:gd name="adj" fmla="val 3704"/>
            </a:avLst>
          </a:prstGeom>
          <a:solidFill>
            <a:srgbClr val="E7E9EB"/>
          </a:solidFill>
          <a:ln w="12700">
            <a:solidFill>
              <a:srgbClr val="DADDE0"/>
            </a:solidFill>
            <a:prstDash val="solid"/>
          </a:ln>
        </p:spPr>
      </p:sp>
      <p:sp>
        <p:nvSpPr>
          <p:cNvPr id="8" name="Text 6"/>
          <p:cNvSpPr/>
          <p:nvPr/>
        </p:nvSpPr>
        <p:spPr>
          <a:xfrm>
            <a:off x="1097280" y="2057400"/>
            <a:ext cx="3566160" cy="228600"/>
          </a:xfrm>
          <a:prstGeom prst="rect">
            <a:avLst/>
          </a:prstGeom>
          <a:noFill/>
          <a:ln/>
        </p:spPr>
        <p:txBody>
          <a:bodyPr wrap="square" lIns="0" tIns="0" rIns="0" bIns="0" rtlCol="0" anchor="ctr"/>
          <a:lstStyle/>
          <a:p>
            <a:pPr marL="0" indent="0">
              <a:buNone/>
            </a:pPr>
            <a:r>
              <a:rPr lang="en-US" sz="1100" b="1" dirty="0">
                <a:solidFill>
                  <a:srgbClr val="5A5D61"/>
                </a:solidFill>
                <a:latin typeface="Calibri" pitchFamily="34" charset="0"/>
                <a:ea typeface="Calibri" pitchFamily="34" charset="-122"/>
                <a:cs typeface="Calibri" pitchFamily="34" charset="-120"/>
              </a:rPr>
              <a:t>MACHINE LEARNING</a:t>
            </a:r>
            <a:endParaRPr lang="en-US" sz="1100" dirty="0"/>
          </a:p>
        </p:txBody>
      </p:sp>
      <p:sp>
        <p:nvSpPr>
          <p:cNvPr id="9" name="Shape 7"/>
          <p:cNvSpPr/>
          <p:nvPr/>
        </p:nvSpPr>
        <p:spPr>
          <a:xfrm>
            <a:off x="1325880" y="2377440"/>
            <a:ext cx="3108960" cy="1874520"/>
          </a:xfrm>
          <a:prstGeom prst="roundRect">
            <a:avLst>
              <a:gd name="adj" fmla="val 4878"/>
            </a:avLst>
          </a:prstGeom>
          <a:solidFill>
            <a:srgbClr val="D7DBDE"/>
          </a:solidFill>
          <a:ln w="12700">
            <a:solidFill>
              <a:srgbClr val="DADDE0"/>
            </a:solidFill>
            <a:prstDash val="solid"/>
          </a:ln>
        </p:spPr>
      </p:sp>
      <p:sp>
        <p:nvSpPr>
          <p:cNvPr id="10" name="Text 8"/>
          <p:cNvSpPr/>
          <p:nvPr/>
        </p:nvSpPr>
        <p:spPr>
          <a:xfrm>
            <a:off x="1463040" y="2468880"/>
            <a:ext cx="2834640" cy="228600"/>
          </a:xfrm>
          <a:prstGeom prst="rect">
            <a:avLst/>
          </a:prstGeom>
          <a:noFill/>
          <a:ln/>
        </p:spPr>
        <p:txBody>
          <a:bodyPr wrap="square" lIns="0" tIns="0" rIns="0" bIns="0" rtlCol="0" anchor="ctr"/>
          <a:lstStyle/>
          <a:p>
            <a:pPr marL="0" indent="0">
              <a:buNone/>
            </a:pPr>
            <a:r>
              <a:rPr lang="en-US" sz="1100" b="1" dirty="0">
                <a:solidFill>
                  <a:srgbClr val="44474A"/>
                </a:solidFill>
                <a:latin typeface="Calibri" pitchFamily="34" charset="0"/>
                <a:ea typeface="Calibri" pitchFamily="34" charset="-122"/>
                <a:cs typeface="Calibri" pitchFamily="34" charset="-120"/>
              </a:rPr>
              <a:t>DEEP LEARNING</a:t>
            </a:r>
            <a:endParaRPr lang="en-US" sz="1100" dirty="0"/>
          </a:p>
        </p:txBody>
      </p:sp>
      <p:sp>
        <p:nvSpPr>
          <p:cNvPr id="11" name="Shape 9"/>
          <p:cNvSpPr/>
          <p:nvPr/>
        </p:nvSpPr>
        <p:spPr>
          <a:xfrm>
            <a:off x="1691640" y="2788920"/>
            <a:ext cx="2377440" cy="1280160"/>
          </a:xfrm>
          <a:prstGeom prst="roundRect">
            <a:avLst>
              <a:gd name="adj" fmla="val 7143"/>
            </a:avLst>
          </a:prstGeom>
          <a:solidFill>
            <a:srgbClr val="86BC25"/>
          </a:solidFill>
          <a:ln w="12700">
            <a:solidFill>
              <a:srgbClr val="86BC25"/>
            </a:solidFill>
            <a:prstDash val="solid"/>
          </a:ln>
        </p:spPr>
      </p:sp>
      <p:sp>
        <p:nvSpPr>
          <p:cNvPr id="12" name="Text 10"/>
          <p:cNvSpPr/>
          <p:nvPr/>
        </p:nvSpPr>
        <p:spPr>
          <a:xfrm>
            <a:off x="1737360" y="3154680"/>
            <a:ext cx="228600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GENERATIVE AI</a:t>
            </a:r>
            <a:endParaRPr lang="en-US" sz="1200" dirty="0"/>
          </a:p>
        </p:txBody>
      </p:sp>
      <p:sp>
        <p:nvSpPr>
          <p:cNvPr id="13" name="Text 11"/>
          <p:cNvSpPr/>
          <p:nvPr/>
        </p:nvSpPr>
        <p:spPr>
          <a:xfrm>
            <a:off x="1737360" y="3429000"/>
            <a:ext cx="2286000" cy="228600"/>
          </a:xfrm>
          <a:prstGeom prst="rect">
            <a:avLst/>
          </a:prstGeom>
          <a:noFill/>
          <a:ln/>
        </p:spPr>
        <p:txBody>
          <a:bodyPr wrap="square" lIns="0" tIns="0" rIns="0" bIns="0" rtlCol="0" anchor="ctr"/>
          <a:lstStyle/>
          <a:p>
            <a:pPr marL="0" indent="0" algn="ctr">
              <a:buNone/>
            </a:pPr>
            <a:r>
              <a:rPr lang="en-US" sz="950" dirty="0">
                <a:solidFill>
                  <a:srgbClr val="EAF3DC"/>
                </a:solidFill>
                <a:latin typeface="Calibri" pitchFamily="34" charset="0"/>
                <a:ea typeface="Calibri" pitchFamily="34" charset="-122"/>
                <a:cs typeface="Calibri" pitchFamily="34" charset="-120"/>
              </a:rPr>
              <a:t>(ChatGPT lives here)</a:t>
            </a:r>
            <a:endParaRPr lang="en-US" sz="950" dirty="0"/>
          </a:p>
        </p:txBody>
      </p:sp>
      <p:sp>
        <p:nvSpPr>
          <p:cNvPr id="14" name="Text 12"/>
          <p:cNvSpPr/>
          <p:nvPr/>
        </p:nvSpPr>
        <p:spPr>
          <a:xfrm>
            <a:off x="5486400" y="1600200"/>
            <a:ext cx="3200400" cy="256032"/>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Artificial Intelligence</a:t>
            </a:r>
            <a:endParaRPr lang="en-US" sz="1300" dirty="0"/>
          </a:p>
        </p:txBody>
      </p:sp>
      <p:sp>
        <p:nvSpPr>
          <p:cNvPr id="15" name="Text 13"/>
          <p:cNvSpPr/>
          <p:nvPr/>
        </p:nvSpPr>
        <p:spPr>
          <a:xfrm>
            <a:off x="5486400" y="1856232"/>
            <a:ext cx="3200400" cy="50292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The broad goal: machines that mimic intelligence.</a:t>
            </a:r>
            <a:endParaRPr lang="en-US" sz="1150" dirty="0"/>
          </a:p>
        </p:txBody>
      </p:sp>
      <p:sp>
        <p:nvSpPr>
          <p:cNvPr id="16" name="Text 14"/>
          <p:cNvSpPr/>
          <p:nvPr/>
        </p:nvSpPr>
        <p:spPr>
          <a:xfrm>
            <a:off x="5486400" y="2350008"/>
            <a:ext cx="3200400" cy="256032"/>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Machine Learning</a:t>
            </a:r>
            <a:endParaRPr lang="en-US" sz="1300" dirty="0"/>
          </a:p>
        </p:txBody>
      </p:sp>
      <p:sp>
        <p:nvSpPr>
          <p:cNvPr id="17" name="Text 15"/>
          <p:cNvSpPr/>
          <p:nvPr/>
        </p:nvSpPr>
        <p:spPr>
          <a:xfrm>
            <a:off x="5486400" y="2606040"/>
            <a:ext cx="3200400" cy="50292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AI that learns patterns from data, not hand-written rules.</a:t>
            </a:r>
            <a:endParaRPr lang="en-US" sz="1150" dirty="0"/>
          </a:p>
        </p:txBody>
      </p:sp>
      <p:sp>
        <p:nvSpPr>
          <p:cNvPr id="18" name="Text 16"/>
          <p:cNvSpPr/>
          <p:nvPr/>
        </p:nvSpPr>
        <p:spPr>
          <a:xfrm>
            <a:off x="5486400" y="3099816"/>
            <a:ext cx="3200400" cy="256032"/>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Deep Learning</a:t>
            </a:r>
            <a:endParaRPr lang="en-US" sz="1300" dirty="0"/>
          </a:p>
        </p:txBody>
      </p:sp>
      <p:sp>
        <p:nvSpPr>
          <p:cNvPr id="19" name="Text 17"/>
          <p:cNvSpPr/>
          <p:nvPr/>
        </p:nvSpPr>
        <p:spPr>
          <a:xfrm>
            <a:off x="5486400" y="3355848"/>
            <a:ext cx="3200400" cy="50292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ML using brain-inspired neural networks — great for images, audio, text.</a:t>
            </a:r>
            <a:endParaRPr lang="en-US" sz="1150" dirty="0"/>
          </a:p>
        </p:txBody>
      </p:sp>
      <p:sp>
        <p:nvSpPr>
          <p:cNvPr id="20" name="Text 18"/>
          <p:cNvSpPr/>
          <p:nvPr/>
        </p:nvSpPr>
        <p:spPr>
          <a:xfrm>
            <a:off x="5486400" y="3849624"/>
            <a:ext cx="3200400" cy="256032"/>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Generative AI</a:t>
            </a:r>
            <a:endParaRPr lang="en-US" sz="1300" dirty="0"/>
          </a:p>
        </p:txBody>
      </p:sp>
      <p:sp>
        <p:nvSpPr>
          <p:cNvPr id="21" name="Text 19"/>
          <p:cNvSpPr/>
          <p:nvPr/>
        </p:nvSpPr>
        <p:spPr>
          <a:xfrm>
            <a:off x="5486400" y="4105656"/>
            <a:ext cx="3200400" cy="50292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Deep learning that creates new content.</a:t>
            </a:r>
            <a:endParaRPr lang="en-US" sz="1150" dirty="0"/>
          </a:p>
        </p:txBody>
      </p:sp>
      <p:sp>
        <p:nvSpPr>
          <p:cNvPr id="22" name="Text 20"/>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3" name="Text 21"/>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5</a:t>
            </a:r>
            <a:endParaRPr lang="en-US" sz="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2 · MACHINE LEARNING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The big shift: learning from data</a:t>
            </a:r>
            <a:endParaRPr lang="en-US" sz="2900" dirty="0"/>
          </a:p>
        </p:txBody>
      </p:sp>
      <p:sp>
        <p:nvSpPr>
          <p:cNvPr id="5" name="Shape 3"/>
          <p:cNvSpPr/>
          <p:nvPr/>
        </p:nvSpPr>
        <p:spPr>
          <a:xfrm>
            <a:off x="457200" y="1463040"/>
            <a:ext cx="4023360" cy="1828800"/>
          </a:xfrm>
          <a:prstGeom prst="roundRect">
            <a:avLst>
              <a:gd name="adj" fmla="val 40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85800" y="1600200"/>
            <a:ext cx="3657600" cy="274320"/>
          </a:xfrm>
          <a:prstGeom prst="rect">
            <a:avLst/>
          </a:prstGeom>
          <a:noFill/>
          <a:ln/>
        </p:spPr>
        <p:txBody>
          <a:bodyPr wrap="square" lIns="0" tIns="0" rIns="0" bIns="0" rtlCol="0" anchor="ctr"/>
          <a:lstStyle/>
          <a:p>
            <a:pPr marL="0" indent="0">
              <a:buNone/>
            </a:pPr>
            <a:r>
              <a:rPr lang="en-US" sz="1200" b="1" dirty="0">
                <a:solidFill>
                  <a:srgbClr val="7A7D81"/>
                </a:solidFill>
                <a:latin typeface="Calibri" pitchFamily="34" charset="0"/>
                <a:ea typeface="Calibri" pitchFamily="34" charset="-122"/>
                <a:cs typeface="Calibri" pitchFamily="34" charset="-120"/>
              </a:rPr>
              <a:t>TRADITIONAL SOFTWARE</a:t>
            </a:r>
            <a:endParaRPr lang="en-US" sz="1200" dirty="0"/>
          </a:p>
        </p:txBody>
      </p:sp>
      <p:sp>
        <p:nvSpPr>
          <p:cNvPr id="7" name="Text 5"/>
          <p:cNvSpPr/>
          <p:nvPr/>
        </p:nvSpPr>
        <p:spPr>
          <a:xfrm>
            <a:off x="685800" y="1920240"/>
            <a:ext cx="3611880" cy="365760"/>
          </a:xfrm>
          <a:prstGeom prst="rect">
            <a:avLst/>
          </a:prstGeom>
          <a:noFill/>
          <a:ln/>
        </p:spPr>
        <p:txBody>
          <a:bodyPr wrap="square" lIns="0" tIns="0" rIns="0" bIns="0" rtlCol="0" anchor="ctr"/>
          <a:lstStyle/>
          <a:p>
            <a:pPr marL="0" indent="0">
              <a:buNone/>
            </a:pPr>
            <a:r>
              <a:rPr lang="en-US" sz="1500" b="1" dirty="0">
                <a:solidFill>
                  <a:srgbClr val="26282A"/>
                </a:solidFill>
                <a:latin typeface="Calibri" pitchFamily="34" charset="0"/>
                <a:ea typeface="Calibri" pitchFamily="34" charset="-122"/>
                <a:cs typeface="Calibri" pitchFamily="34" charset="-120"/>
              </a:rPr>
              <a:t>Humans write the rules.</a:t>
            </a:r>
            <a:endParaRPr lang="en-US" sz="1500" dirty="0"/>
          </a:p>
        </p:txBody>
      </p:sp>
      <p:sp>
        <p:nvSpPr>
          <p:cNvPr id="8" name="Text 6"/>
          <p:cNvSpPr/>
          <p:nvPr/>
        </p:nvSpPr>
        <p:spPr>
          <a:xfrm>
            <a:off x="685800" y="2423160"/>
            <a:ext cx="3611880" cy="73152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“If the email contains X and Y, mark it as spam.”  Every rule is coded by a person.</a:t>
            </a:r>
            <a:endParaRPr lang="en-US" sz="1250" dirty="0"/>
          </a:p>
        </p:txBody>
      </p:sp>
      <p:sp>
        <p:nvSpPr>
          <p:cNvPr id="9" name="Shape 7"/>
          <p:cNvSpPr/>
          <p:nvPr/>
        </p:nvSpPr>
        <p:spPr>
          <a:xfrm>
            <a:off x="4663440" y="1463040"/>
            <a:ext cx="4023360" cy="1828800"/>
          </a:xfrm>
          <a:prstGeom prst="roundRect">
            <a:avLst>
              <a:gd name="adj" fmla="val 4000"/>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10" name="Text 8"/>
          <p:cNvSpPr/>
          <p:nvPr/>
        </p:nvSpPr>
        <p:spPr>
          <a:xfrm>
            <a:off x="4892040" y="1600200"/>
            <a:ext cx="3657600" cy="274320"/>
          </a:xfrm>
          <a:prstGeom prst="rect">
            <a:avLst/>
          </a:prstGeom>
          <a:noFill/>
          <a:ln/>
        </p:spPr>
        <p:txBody>
          <a:bodyPr wrap="square" lIns="0" tIns="0" rIns="0" bIns="0" rtlCol="0" anchor="ctr"/>
          <a:lstStyle/>
          <a:p>
            <a:pPr marL="0" indent="0">
              <a:buNone/>
            </a:pPr>
            <a:r>
              <a:rPr lang="en-US" sz="1200" b="1" dirty="0">
                <a:solidFill>
                  <a:srgbClr val="5C8A1B"/>
                </a:solidFill>
                <a:latin typeface="Calibri" pitchFamily="34" charset="0"/>
                <a:ea typeface="Calibri" pitchFamily="34" charset="-122"/>
                <a:cs typeface="Calibri" pitchFamily="34" charset="-120"/>
              </a:rPr>
              <a:t>MACHINE LEARNING</a:t>
            </a:r>
            <a:endParaRPr lang="en-US" sz="1200" dirty="0"/>
          </a:p>
        </p:txBody>
      </p:sp>
      <p:sp>
        <p:nvSpPr>
          <p:cNvPr id="11" name="Text 9"/>
          <p:cNvSpPr/>
          <p:nvPr/>
        </p:nvSpPr>
        <p:spPr>
          <a:xfrm>
            <a:off x="4892040" y="1920240"/>
            <a:ext cx="3611880" cy="365760"/>
          </a:xfrm>
          <a:prstGeom prst="rect">
            <a:avLst/>
          </a:prstGeom>
          <a:noFill/>
          <a:ln/>
        </p:spPr>
        <p:txBody>
          <a:bodyPr wrap="square" lIns="0" tIns="0" rIns="0" bIns="0" rtlCol="0" anchor="ctr"/>
          <a:lstStyle/>
          <a:p>
            <a:pPr marL="0" indent="0">
              <a:buNone/>
            </a:pPr>
            <a:r>
              <a:rPr lang="en-US" sz="1500" b="1" dirty="0">
                <a:solidFill>
                  <a:srgbClr val="26282A"/>
                </a:solidFill>
                <a:latin typeface="Calibri" pitchFamily="34" charset="0"/>
                <a:ea typeface="Calibri" pitchFamily="34" charset="-122"/>
                <a:cs typeface="Calibri" pitchFamily="34" charset="-120"/>
              </a:rPr>
              <a:t>The machine learns the rules.</a:t>
            </a:r>
            <a:endParaRPr lang="en-US" sz="1500" dirty="0"/>
          </a:p>
        </p:txBody>
      </p:sp>
      <p:sp>
        <p:nvSpPr>
          <p:cNvPr id="12" name="Text 10"/>
          <p:cNvSpPr/>
          <p:nvPr/>
        </p:nvSpPr>
        <p:spPr>
          <a:xfrm>
            <a:off x="4892040" y="2423160"/>
            <a:ext cx="3611880" cy="73152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Show it thousands of examples of spam vs not-spam, and it figures out the patterns itself.</a:t>
            </a:r>
            <a:endParaRPr lang="en-US" sz="1250" dirty="0"/>
          </a:p>
        </p:txBody>
      </p:sp>
      <p:sp>
        <p:nvSpPr>
          <p:cNvPr id="13" name="Shape 11"/>
          <p:cNvSpPr/>
          <p:nvPr/>
        </p:nvSpPr>
        <p:spPr>
          <a:xfrm>
            <a:off x="457200" y="3474720"/>
            <a:ext cx="8229600" cy="960120"/>
          </a:xfrm>
          <a:prstGeom prst="roundRect">
            <a:avLst>
              <a:gd name="adj" fmla="val 7619"/>
            </a:avLst>
          </a:prstGeom>
          <a:solidFill>
            <a:srgbClr val="FBFBFB"/>
          </a:solidFill>
          <a:ln w="9525">
            <a:solidFill>
              <a:srgbClr val="DADDE0"/>
            </a:solidFill>
            <a:prstDash val="solid"/>
          </a:ln>
          <a:effectLst>
            <a:outerShdw blurRad="88900" dist="25400" dir="5400000" algn="bl" rotWithShape="0">
              <a:srgbClr val="000000">
                <a:alpha val="10000"/>
              </a:srgbClr>
            </a:outerShdw>
          </a:effectLst>
        </p:spPr>
      </p:sp>
      <p:sp>
        <p:nvSpPr>
          <p:cNvPr id="14" name="Text 12"/>
          <p:cNvSpPr/>
          <p:nvPr/>
        </p:nvSpPr>
        <p:spPr>
          <a:xfrm>
            <a:off x="685800" y="3611880"/>
            <a:ext cx="7772400" cy="685800"/>
          </a:xfrm>
          <a:prstGeom prst="rect">
            <a:avLst/>
          </a:prstGeom>
          <a:noFill/>
          <a:ln/>
        </p:spPr>
        <p:txBody>
          <a:bodyPr wrap="square" lIns="0" tIns="0" rIns="0" bIns="0" rtlCol="0" anchor="ctr"/>
          <a:lstStyle/>
          <a:p>
            <a:pPr marL="0" indent="0">
              <a:buNone/>
            </a:pPr>
            <a:r>
              <a:rPr lang="en-US" sz="1300" b="1" dirty="0">
                <a:solidFill>
                  <a:srgbClr val="5C8A1B"/>
                </a:solidFill>
                <a:latin typeface="Calibri" pitchFamily="34" charset="0"/>
                <a:ea typeface="Calibri" pitchFamily="34" charset="-122"/>
                <a:cs typeface="Calibri" pitchFamily="34" charset="-120"/>
              </a:rPr>
              <a:t>The </a:t>
            </a:r>
            <a:r>
              <a:rPr lang="en-US" sz="1300" b="1" dirty="0" smtClean="0">
                <a:solidFill>
                  <a:srgbClr val="5C8A1B"/>
                </a:solidFill>
                <a:latin typeface="Calibri" pitchFamily="34" charset="0"/>
                <a:ea typeface="Calibri" pitchFamily="34" charset="-122"/>
                <a:cs typeface="Calibri" pitchFamily="34" charset="-120"/>
              </a:rPr>
              <a:t>Analogy</a:t>
            </a:r>
            <a:r>
              <a:rPr lang="en-US" sz="1300" b="1" dirty="0">
                <a:solidFill>
                  <a:srgbClr val="5C8A1B"/>
                </a:solidFill>
                <a:latin typeface="Calibri" pitchFamily="34" charset="0"/>
                <a:ea typeface="Calibri" pitchFamily="34" charset="-122"/>
                <a:cs typeface="Calibri" pitchFamily="34" charset="-120"/>
              </a:rPr>
              <a:t>:  </a:t>
            </a:r>
            <a:r>
              <a:rPr lang="en-US" sz="1300" dirty="0">
                <a:solidFill>
                  <a:srgbClr val="26282A"/>
                </a:solidFill>
                <a:latin typeface="Calibri" pitchFamily="34" charset="0"/>
                <a:ea typeface="Calibri" pitchFamily="34" charset="-122"/>
                <a:cs typeface="Calibri" pitchFamily="34" charset="-120"/>
              </a:rPr>
              <a:t>You don't teach a child what a dog is with rules. You show them many dogs until they recognise a new one. ML learns the same way.</a:t>
            </a:r>
            <a:endParaRPr lang="en-US" sz="1300" dirty="0"/>
          </a:p>
        </p:txBody>
      </p:sp>
      <p:sp>
        <p:nvSpPr>
          <p:cNvPr id="15" name="Text 13"/>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6" name="Text 14"/>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6</a:t>
            </a:r>
            <a:endParaRPr lang="en-US" sz="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2 · MACHINE LEARNING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Three ways machines learn</a:t>
            </a:r>
            <a:endParaRPr lang="en-US" sz="2900" dirty="0"/>
          </a:p>
        </p:txBody>
      </p:sp>
      <p:sp>
        <p:nvSpPr>
          <p:cNvPr id="5" name="Shape 3"/>
          <p:cNvSpPr/>
          <p:nvPr/>
        </p:nvSpPr>
        <p:spPr>
          <a:xfrm>
            <a:off x="457200" y="1554480"/>
            <a:ext cx="2679192" cy="2651760"/>
          </a:xfrm>
          <a:prstGeom prst="roundRect">
            <a:avLst>
              <a:gd name="adj" fmla="val 2759"/>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58368" y="1783080"/>
            <a:ext cx="2286000" cy="320040"/>
          </a:xfrm>
          <a:prstGeom prst="rect">
            <a:avLst/>
          </a:prstGeom>
          <a:noFill/>
          <a:ln/>
        </p:spPr>
        <p:txBody>
          <a:bodyPr wrap="square" lIns="0" tIns="0" rIns="0" bIns="0" rtlCol="0" anchor="ctr"/>
          <a:lstStyle/>
          <a:p>
            <a:pPr marL="0" indent="0">
              <a:buNone/>
            </a:pPr>
            <a:r>
              <a:rPr lang="en-US" sz="1700" b="1" dirty="0">
                <a:solidFill>
                  <a:srgbClr val="26282A"/>
                </a:solidFill>
                <a:latin typeface="Cambria" pitchFamily="34" charset="0"/>
                <a:ea typeface="Cambria" pitchFamily="34" charset="-122"/>
                <a:cs typeface="Cambria" pitchFamily="34" charset="-120"/>
              </a:rPr>
              <a:t>Supervised</a:t>
            </a:r>
            <a:endParaRPr lang="en-US" sz="1700" dirty="0"/>
          </a:p>
        </p:txBody>
      </p:sp>
      <p:sp>
        <p:nvSpPr>
          <p:cNvPr id="7" name="Text 5"/>
          <p:cNvSpPr/>
          <p:nvPr/>
        </p:nvSpPr>
        <p:spPr>
          <a:xfrm>
            <a:off x="658368" y="2212848"/>
            <a:ext cx="2331720" cy="77724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Learn from labelled examples</a:t>
            </a:r>
            <a:endParaRPr lang="en-US" sz="1250" dirty="0"/>
          </a:p>
        </p:txBody>
      </p:sp>
      <p:sp>
        <p:nvSpPr>
          <p:cNvPr id="8" name="Text 6"/>
          <p:cNvSpPr/>
          <p:nvPr/>
        </p:nvSpPr>
        <p:spPr>
          <a:xfrm>
            <a:off x="658368" y="3063240"/>
            <a:ext cx="2286000" cy="228600"/>
          </a:xfrm>
          <a:prstGeom prst="rect">
            <a:avLst/>
          </a:prstGeom>
          <a:noFill/>
          <a:ln/>
        </p:spPr>
        <p:txBody>
          <a:bodyPr wrap="square" lIns="0" tIns="0" rIns="0" bIns="0" rtlCol="0" anchor="ctr"/>
          <a:lstStyle/>
          <a:p>
            <a:pPr marL="0" indent="0">
              <a:buNone/>
            </a:pPr>
            <a:r>
              <a:rPr lang="en-US" sz="950" b="1" kern="0" spc="100" dirty="0">
                <a:solidFill>
                  <a:srgbClr val="5C8A1B"/>
                </a:solidFill>
                <a:latin typeface="Calibri" pitchFamily="34" charset="0"/>
                <a:ea typeface="Calibri" pitchFamily="34" charset="-122"/>
                <a:cs typeface="Calibri" pitchFamily="34" charset="-120"/>
              </a:rPr>
              <a:t>EXAMPLE</a:t>
            </a:r>
            <a:endParaRPr lang="en-US" sz="950" dirty="0"/>
          </a:p>
        </p:txBody>
      </p:sp>
      <p:sp>
        <p:nvSpPr>
          <p:cNvPr id="9" name="Text 7"/>
          <p:cNvSpPr/>
          <p:nvPr/>
        </p:nvSpPr>
        <p:spPr>
          <a:xfrm>
            <a:off x="658368" y="3310128"/>
            <a:ext cx="2331720" cy="777240"/>
          </a:xfrm>
          <a:prstGeom prst="rect">
            <a:avLst/>
          </a:prstGeom>
          <a:noFill/>
          <a:ln/>
        </p:spPr>
        <p:txBody>
          <a:bodyPr wrap="square" lIns="0" tIns="0" rIns="0" bIns="0" rtlCol="0" anchor="ctr"/>
          <a:lstStyle/>
          <a:p>
            <a:pPr marL="0" indent="0">
              <a:buNone/>
            </a:pPr>
            <a:r>
              <a:rPr lang="en-US" sz="1200" i="1" dirty="0">
                <a:solidFill>
                  <a:srgbClr val="26282A"/>
                </a:solidFill>
                <a:latin typeface="Calibri" pitchFamily="34" charset="0"/>
                <a:ea typeface="Calibri" pitchFamily="34" charset="-122"/>
                <a:cs typeface="Calibri" pitchFamily="34" charset="-120"/>
              </a:rPr>
              <a:t>Predict which invoices are likely fraudulent</a:t>
            </a:r>
            <a:endParaRPr lang="en-US" sz="1200" dirty="0"/>
          </a:p>
        </p:txBody>
      </p:sp>
      <p:sp>
        <p:nvSpPr>
          <p:cNvPr id="10" name="Shape 8"/>
          <p:cNvSpPr/>
          <p:nvPr/>
        </p:nvSpPr>
        <p:spPr>
          <a:xfrm>
            <a:off x="3264408" y="1554480"/>
            <a:ext cx="2679192" cy="2651760"/>
          </a:xfrm>
          <a:prstGeom prst="roundRect">
            <a:avLst>
              <a:gd name="adj" fmla="val 2759"/>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1" name="Text 9"/>
          <p:cNvSpPr/>
          <p:nvPr/>
        </p:nvSpPr>
        <p:spPr>
          <a:xfrm>
            <a:off x="3465576" y="1783080"/>
            <a:ext cx="2286000" cy="320040"/>
          </a:xfrm>
          <a:prstGeom prst="rect">
            <a:avLst/>
          </a:prstGeom>
          <a:noFill/>
          <a:ln/>
        </p:spPr>
        <p:txBody>
          <a:bodyPr wrap="square" lIns="0" tIns="0" rIns="0" bIns="0" rtlCol="0" anchor="ctr"/>
          <a:lstStyle/>
          <a:p>
            <a:pPr marL="0" indent="0">
              <a:buNone/>
            </a:pPr>
            <a:r>
              <a:rPr lang="en-US" sz="1700" b="1" dirty="0">
                <a:solidFill>
                  <a:srgbClr val="26282A"/>
                </a:solidFill>
                <a:latin typeface="Cambria" pitchFamily="34" charset="0"/>
                <a:ea typeface="Cambria" pitchFamily="34" charset="-122"/>
                <a:cs typeface="Cambria" pitchFamily="34" charset="-120"/>
              </a:rPr>
              <a:t>Unsupervised</a:t>
            </a:r>
            <a:endParaRPr lang="en-US" sz="1700" dirty="0"/>
          </a:p>
        </p:txBody>
      </p:sp>
      <p:sp>
        <p:nvSpPr>
          <p:cNvPr id="12" name="Text 10"/>
          <p:cNvSpPr/>
          <p:nvPr/>
        </p:nvSpPr>
        <p:spPr>
          <a:xfrm>
            <a:off x="3465576" y="2212848"/>
            <a:ext cx="2331720" cy="77724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Find hidden groupings, no labels</a:t>
            </a:r>
            <a:endParaRPr lang="en-US" sz="1250" dirty="0"/>
          </a:p>
        </p:txBody>
      </p:sp>
      <p:sp>
        <p:nvSpPr>
          <p:cNvPr id="13" name="Text 11"/>
          <p:cNvSpPr/>
          <p:nvPr/>
        </p:nvSpPr>
        <p:spPr>
          <a:xfrm>
            <a:off x="3465576" y="3063240"/>
            <a:ext cx="2286000" cy="228600"/>
          </a:xfrm>
          <a:prstGeom prst="rect">
            <a:avLst/>
          </a:prstGeom>
          <a:noFill/>
          <a:ln/>
        </p:spPr>
        <p:txBody>
          <a:bodyPr wrap="square" lIns="0" tIns="0" rIns="0" bIns="0" rtlCol="0" anchor="ctr"/>
          <a:lstStyle/>
          <a:p>
            <a:pPr marL="0" indent="0">
              <a:buNone/>
            </a:pPr>
            <a:r>
              <a:rPr lang="en-US" sz="950" b="1" kern="0" spc="100" dirty="0">
                <a:solidFill>
                  <a:srgbClr val="5C8A1B"/>
                </a:solidFill>
                <a:latin typeface="Calibri" pitchFamily="34" charset="0"/>
                <a:ea typeface="Calibri" pitchFamily="34" charset="-122"/>
                <a:cs typeface="Calibri" pitchFamily="34" charset="-120"/>
              </a:rPr>
              <a:t>EXAMPLE</a:t>
            </a:r>
            <a:endParaRPr lang="en-US" sz="950" dirty="0"/>
          </a:p>
        </p:txBody>
      </p:sp>
      <p:sp>
        <p:nvSpPr>
          <p:cNvPr id="14" name="Text 12"/>
          <p:cNvSpPr/>
          <p:nvPr/>
        </p:nvSpPr>
        <p:spPr>
          <a:xfrm>
            <a:off x="3465576" y="3310128"/>
            <a:ext cx="2331720" cy="777240"/>
          </a:xfrm>
          <a:prstGeom prst="rect">
            <a:avLst/>
          </a:prstGeom>
          <a:noFill/>
          <a:ln/>
        </p:spPr>
        <p:txBody>
          <a:bodyPr wrap="square" lIns="0" tIns="0" rIns="0" bIns="0" rtlCol="0" anchor="ctr"/>
          <a:lstStyle/>
          <a:p>
            <a:pPr marL="0" indent="0">
              <a:buNone/>
            </a:pPr>
            <a:r>
              <a:rPr lang="en-US" sz="1200" i="1" dirty="0">
                <a:solidFill>
                  <a:srgbClr val="26282A"/>
                </a:solidFill>
                <a:latin typeface="Calibri" pitchFamily="34" charset="0"/>
                <a:ea typeface="Calibri" pitchFamily="34" charset="-122"/>
                <a:cs typeface="Calibri" pitchFamily="34" charset="-120"/>
              </a:rPr>
              <a:t>Segment customers by behaviour</a:t>
            </a:r>
            <a:endParaRPr lang="en-US" sz="1200" dirty="0"/>
          </a:p>
        </p:txBody>
      </p:sp>
      <p:sp>
        <p:nvSpPr>
          <p:cNvPr id="15" name="Shape 13"/>
          <p:cNvSpPr/>
          <p:nvPr/>
        </p:nvSpPr>
        <p:spPr>
          <a:xfrm>
            <a:off x="6071616" y="1554480"/>
            <a:ext cx="2679192" cy="2651760"/>
          </a:xfrm>
          <a:prstGeom prst="roundRect">
            <a:avLst>
              <a:gd name="adj" fmla="val 2759"/>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6" name="Text 14"/>
          <p:cNvSpPr/>
          <p:nvPr/>
        </p:nvSpPr>
        <p:spPr>
          <a:xfrm>
            <a:off x="6272784" y="1783080"/>
            <a:ext cx="2286000" cy="320040"/>
          </a:xfrm>
          <a:prstGeom prst="rect">
            <a:avLst/>
          </a:prstGeom>
          <a:noFill/>
          <a:ln/>
        </p:spPr>
        <p:txBody>
          <a:bodyPr wrap="square" lIns="0" tIns="0" rIns="0" bIns="0" rtlCol="0" anchor="ctr"/>
          <a:lstStyle/>
          <a:p>
            <a:pPr marL="0" indent="0">
              <a:buNone/>
            </a:pPr>
            <a:r>
              <a:rPr lang="en-US" sz="1700" b="1" dirty="0">
                <a:solidFill>
                  <a:srgbClr val="26282A"/>
                </a:solidFill>
                <a:latin typeface="Cambria" pitchFamily="34" charset="0"/>
                <a:ea typeface="Cambria" pitchFamily="34" charset="-122"/>
                <a:cs typeface="Cambria" pitchFamily="34" charset="-120"/>
              </a:rPr>
              <a:t>Reinforcement</a:t>
            </a:r>
            <a:endParaRPr lang="en-US" sz="1700" dirty="0"/>
          </a:p>
        </p:txBody>
      </p:sp>
      <p:sp>
        <p:nvSpPr>
          <p:cNvPr id="17" name="Text 15"/>
          <p:cNvSpPr/>
          <p:nvPr/>
        </p:nvSpPr>
        <p:spPr>
          <a:xfrm>
            <a:off x="6272784" y="2212848"/>
            <a:ext cx="2331720" cy="77724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Learn by trial, reward &amp; error</a:t>
            </a:r>
            <a:endParaRPr lang="en-US" sz="1250" dirty="0"/>
          </a:p>
        </p:txBody>
      </p:sp>
      <p:sp>
        <p:nvSpPr>
          <p:cNvPr id="18" name="Text 16"/>
          <p:cNvSpPr/>
          <p:nvPr/>
        </p:nvSpPr>
        <p:spPr>
          <a:xfrm>
            <a:off x="6272784" y="3063240"/>
            <a:ext cx="2286000" cy="228600"/>
          </a:xfrm>
          <a:prstGeom prst="rect">
            <a:avLst/>
          </a:prstGeom>
          <a:noFill/>
          <a:ln/>
        </p:spPr>
        <p:txBody>
          <a:bodyPr wrap="square" lIns="0" tIns="0" rIns="0" bIns="0" rtlCol="0" anchor="ctr"/>
          <a:lstStyle/>
          <a:p>
            <a:pPr marL="0" indent="0">
              <a:buNone/>
            </a:pPr>
            <a:r>
              <a:rPr lang="en-US" sz="950" b="1" kern="0" spc="100" dirty="0">
                <a:solidFill>
                  <a:srgbClr val="5C8A1B"/>
                </a:solidFill>
                <a:latin typeface="Calibri" pitchFamily="34" charset="0"/>
                <a:ea typeface="Calibri" pitchFamily="34" charset="-122"/>
                <a:cs typeface="Calibri" pitchFamily="34" charset="-120"/>
              </a:rPr>
              <a:t>EXAMPLE</a:t>
            </a:r>
            <a:endParaRPr lang="en-US" sz="950" dirty="0"/>
          </a:p>
        </p:txBody>
      </p:sp>
      <p:sp>
        <p:nvSpPr>
          <p:cNvPr id="19" name="Text 17"/>
          <p:cNvSpPr/>
          <p:nvPr/>
        </p:nvSpPr>
        <p:spPr>
          <a:xfrm>
            <a:off x="6272784" y="3310128"/>
            <a:ext cx="2331720" cy="777240"/>
          </a:xfrm>
          <a:prstGeom prst="rect">
            <a:avLst/>
          </a:prstGeom>
          <a:noFill/>
          <a:ln/>
        </p:spPr>
        <p:txBody>
          <a:bodyPr wrap="square" lIns="0" tIns="0" rIns="0" bIns="0" rtlCol="0" anchor="ctr"/>
          <a:lstStyle/>
          <a:p>
            <a:pPr marL="0" indent="0">
              <a:buNone/>
            </a:pPr>
            <a:r>
              <a:rPr lang="en-US" sz="1200" i="1" dirty="0">
                <a:solidFill>
                  <a:srgbClr val="26282A"/>
                </a:solidFill>
                <a:latin typeface="Calibri" pitchFamily="34" charset="0"/>
                <a:ea typeface="Calibri" pitchFamily="34" charset="-122"/>
                <a:cs typeface="Calibri" pitchFamily="34" charset="-120"/>
              </a:rPr>
              <a:t>Optimise a delivery route</a:t>
            </a:r>
            <a:endParaRPr lang="en-US" sz="1200" dirty="0"/>
          </a:p>
        </p:txBody>
      </p:sp>
      <p:sp>
        <p:nvSpPr>
          <p:cNvPr id="20" name="Text 18"/>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1" name="Text 19"/>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7</a:t>
            </a:r>
            <a:endParaRPr lang="en-US" sz="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2 · DEEP LEARNING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Training vs using — and what deep learning adds</a:t>
            </a:r>
            <a:endParaRPr lang="en-US" sz="2900" dirty="0"/>
          </a:p>
        </p:txBody>
      </p:sp>
      <p:sp>
        <p:nvSpPr>
          <p:cNvPr id="5" name="Shape 3"/>
          <p:cNvSpPr/>
          <p:nvPr/>
        </p:nvSpPr>
        <p:spPr>
          <a:xfrm>
            <a:off x="457200" y="1508760"/>
            <a:ext cx="4023360"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85800" y="1627632"/>
            <a:ext cx="3566160" cy="256032"/>
          </a:xfrm>
          <a:prstGeom prst="rect">
            <a:avLst/>
          </a:prstGeom>
          <a:noFill/>
          <a:ln/>
        </p:spPr>
        <p:txBody>
          <a:bodyPr wrap="square" lIns="0" tIns="0" rIns="0" bIns="0" rtlCol="0" anchor="ctr"/>
          <a:lstStyle/>
          <a:p>
            <a:pPr marL="0" indent="0">
              <a:buNone/>
            </a:pPr>
            <a:r>
              <a:rPr lang="en-US" sz="1100" b="1" dirty="0">
                <a:solidFill>
                  <a:srgbClr val="5C8A1B"/>
                </a:solidFill>
                <a:latin typeface="Calibri" pitchFamily="34" charset="0"/>
                <a:ea typeface="Calibri" pitchFamily="34" charset="-122"/>
                <a:cs typeface="Calibri" pitchFamily="34" charset="-120"/>
              </a:rPr>
              <a:t>TRAINING</a:t>
            </a:r>
            <a:endParaRPr lang="en-US" sz="1100" dirty="0"/>
          </a:p>
        </p:txBody>
      </p:sp>
      <p:sp>
        <p:nvSpPr>
          <p:cNvPr id="7" name="Text 5"/>
          <p:cNvSpPr/>
          <p:nvPr/>
        </p:nvSpPr>
        <p:spPr>
          <a:xfrm>
            <a:off x="685800" y="1901952"/>
            <a:ext cx="3611880" cy="731520"/>
          </a:xfrm>
          <a:prstGeom prst="rect">
            <a:avLst/>
          </a:prstGeom>
          <a:noFill/>
          <a:ln/>
        </p:spPr>
        <p:txBody>
          <a:bodyPr wrap="square" lIns="0" tIns="0" rIns="0" bIns="0" rtlCol="0" anchor="ctr"/>
          <a:lstStyle/>
          <a:p>
            <a:pPr marL="0" indent="0">
              <a:buNone/>
            </a:pPr>
            <a:r>
              <a:rPr lang="en-US" sz="1250" dirty="0">
                <a:solidFill>
                  <a:srgbClr val="26282A"/>
                </a:solidFill>
                <a:latin typeface="Calibri" pitchFamily="34" charset="0"/>
                <a:ea typeface="Calibri" pitchFamily="34" charset="-122"/>
                <a:cs typeface="Calibri" pitchFamily="34" charset="-120"/>
              </a:rPr>
              <a:t>The model studies historical data once. Slow and expensive.</a:t>
            </a:r>
            <a:endParaRPr lang="en-US" sz="1250" dirty="0"/>
          </a:p>
        </p:txBody>
      </p:sp>
      <p:sp>
        <p:nvSpPr>
          <p:cNvPr id="8" name="Shape 6"/>
          <p:cNvSpPr/>
          <p:nvPr/>
        </p:nvSpPr>
        <p:spPr>
          <a:xfrm>
            <a:off x="4663440" y="1508760"/>
            <a:ext cx="4023360"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9" name="Text 7"/>
          <p:cNvSpPr/>
          <p:nvPr/>
        </p:nvSpPr>
        <p:spPr>
          <a:xfrm>
            <a:off x="4892040" y="1627632"/>
            <a:ext cx="3566160" cy="256032"/>
          </a:xfrm>
          <a:prstGeom prst="rect">
            <a:avLst/>
          </a:prstGeom>
          <a:noFill/>
          <a:ln/>
        </p:spPr>
        <p:txBody>
          <a:bodyPr wrap="square" lIns="0" tIns="0" rIns="0" bIns="0" rtlCol="0" anchor="ctr"/>
          <a:lstStyle/>
          <a:p>
            <a:pPr marL="0" indent="0">
              <a:buNone/>
            </a:pPr>
            <a:r>
              <a:rPr lang="en-US" sz="1100" b="1" dirty="0">
                <a:solidFill>
                  <a:srgbClr val="5C8A1B"/>
                </a:solidFill>
                <a:latin typeface="Calibri" pitchFamily="34" charset="0"/>
                <a:ea typeface="Calibri" pitchFamily="34" charset="-122"/>
                <a:cs typeface="Calibri" pitchFamily="34" charset="-120"/>
              </a:rPr>
              <a:t>USING  (INFERENCE)</a:t>
            </a:r>
            <a:endParaRPr lang="en-US" sz="1100" dirty="0"/>
          </a:p>
        </p:txBody>
      </p:sp>
      <p:sp>
        <p:nvSpPr>
          <p:cNvPr id="10" name="Text 8"/>
          <p:cNvSpPr/>
          <p:nvPr/>
        </p:nvSpPr>
        <p:spPr>
          <a:xfrm>
            <a:off x="4892040" y="1901952"/>
            <a:ext cx="3611880" cy="731520"/>
          </a:xfrm>
          <a:prstGeom prst="rect">
            <a:avLst/>
          </a:prstGeom>
          <a:noFill/>
          <a:ln/>
        </p:spPr>
        <p:txBody>
          <a:bodyPr wrap="square" lIns="0" tIns="0" rIns="0" bIns="0" rtlCol="0" anchor="ctr"/>
          <a:lstStyle/>
          <a:p>
            <a:pPr marL="0" indent="0">
              <a:buNone/>
            </a:pPr>
            <a:r>
              <a:rPr lang="en-US" sz="1250" dirty="0">
                <a:solidFill>
                  <a:srgbClr val="26282A"/>
                </a:solidFill>
                <a:latin typeface="Calibri" pitchFamily="34" charset="0"/>
                <a:ea typeface="Calibri" pitchFamily="34" charset="-122"/>
                <a:cs typeface="Calibri" pitchFamily="34" charset="-120"/>
              </a:rPr>
              <a:t>The trained model answers new questions instantly. Cheap.</a:t>
            </a:r>
            <a:endParaRPr lang="en-US" sz="1250" dirty="0"/>
          </a:p>
        </p:txBody>
      </p:sp>
      <p:sp>
        <p:nvSpPr>
          <p:cNvPr id="11" name="Shape 9"/>
          <p:cNvSpPr/>
          <p:nvPr/>
        </p:nvSpPr>
        <p:spPr>
          <a:xfrm>
            <a:off x="457200" y="2880360"/>
            <a:ext cx="8229600" cy="1417320"/>
          </a:xfrm>
          <a:prstGeom prst="roundRect">
            <a:avLst>
              <a:gd name="adj" fmla="val 5161"/>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12" name="Text 10"/>
          <p:cNvSpPr/>
          <p:nvPr/>
        </p:nvSpPr>
        <p:spPr>
          <a:xfrm>
            <a:off x="685800" y="3017520"/>
            <a:ext cx="3657600" cy="274320"/>
          </a:xfrm>
          <a:prstGeom prst="rect">
            <a:avLst/>
          </a:prstGeom>
          <a:noFill/>
          <a:ln/>
        </p:spPr>
        <p:txBody>
          <a:bodyPr wrap="square" lIns="0" tIns="0" rIns="0" bIns="0" rtlCol="0" anchor="ctr"/>
          <a:lstStyle/>
          <a:p>
            <a:pPr marL="0" indent="0">
              <a:buNone/>
            </a:pPr>
            <a:r>
              <a:rPr lang="en-US" sz="1200" b="1" dirty="0">
                <a:solidFill>
                  <a:srgbClr val="5C8A1B"/>
                </a:solidFill>
                <a:latin typeface="Calibri" pitchFamily="34" charset="0"/>
                <a:ea typeface="Calibri" pitchFamily="34" charset="-122"/>
                <a:cs typeface="Calibri" pitchFamily="34" charset="-120"/>
              </a:rPr>
              <a:t>DEEP LEARNING</a:t>
            </a:r>
            <a:endParaRPr lang="en-US" sz="1200" dirty="0"/>
          </a:p>
        </p:txBody>
      </p:sp>
      <p:sp>
        <p:nvSpPr>
          <p:cNvPr id="13" name="Text 11"/>
          <p:cNvSpPr/>
          <p:nvPr/>
        </p:nvSpPr>
        <p:spPr>
          <a:xfrm>
            <a:off x="685800" y="3310128"/>
            <a:ext cx="7772400" cy="868680"/>
          </a:xfrm>
          <a:prstGeom prst="rect">
            <a:avLst/>
          </a:prstGeom>
          <a:noFill/>
          <a:ln/>
        </p:spPr>
        <p:txBody>
          <a:bodyPr wrap="square" lIns="0" tIns="0" rIns="0" bIns="0" rtlCol="0" anchor="ctr"/>
          <a:lstStyle/>
          <a:p>
            <a:pPr marL="0" indent="0">
              <a:buNone/>
            </a:pPr>
            <a:r>
              <a:rPr lang="en-US" sz="1300" b="1" dirty="0" smtClean="0">
                <a:solidFill>
                  <a:srgbClr val="26282A"/>
                </a:solidFill>
                <a:latin typeface="Calibri" pitchFamily="34" charset="0"/>
                <a:ea typeface="Calibri" pitchFamily="34" charset="-122"/>
                <a:cs typeface="Calibri" pitchFamily="34" charset="-120"/>
              </a:rPr>
              <a:t>Neural </a:t>
            </a:r>
            <a:r>
              <a:rPr lang="en-US" sz="1300" b="1" dirty="0">
                <a:solidFill>
                  <a:srgbClr val="26282A"/>
                </a:solidFill>
                <a:latin typeface="Calibri" pitchFamily="34" charset="0"/>
                <a:ea typeface="Calibri" pitchFamily="34" charset="-122"/>
                <a:cs typeface="Calibri" pitchFamily="34" charset="-120"/>
              </a:rPr>
              <a:t>N</a:t>
            </a:r>
            <a:r>
              <a:rPr lang="en-US" sz="1300" b="1" dirty="0" smtClean="0">
                <a:solidFill>
                  <a:srgbClr val="26282A"/>
                </a:solidFill>
                <a:latin typeface="Calibri" pitchFamily="34" charset="0"/>
                <a:ea typeface="Calibri" pitchFamily="34" charset="-122"/>
                <a:cs typeface="Calibri" pitchFamily="34" charset="-120"/>
              </a:rPr>
              <a:t>etworks</a:t>
            </a:r>
            <a:r>
              <a:rPr lang="en-US" sz="1300" dirty="0" smtClean="0">
                <a:solidFill>
                  <a:srgbClr val="26282A"/>
                </a:solidFill>
                <a:latin typeface="Calibri" pitchFamily="34" charset="0"/>
                <a:ea typeface="Calibri" pitchFamily="34" charset="-122"/>
                <a:cs typeface="Calibri" pitchFamily="34" charset="-120"/>
              </a:rPr>
              <a:t> </a:t>
            </a:r>
            <a:r>
              <a:rPr lang="en-US" sz="1300" dirty="0">
                <a:solidFill>
                  <a:srgbClr val="26282A"/>
                </a:solidFill>
                <a:latin typeface="Calibri" pitchFamily="34" charset="0"/>
                <a:ea typeface="Calibri" pitchFamily="34" charset="-122"/>
                <a:cs typeface="Calibri" pitchFamily="34" charset="-120"/>
              </a:rPr>
              <a:t>— layered systems loosely inspired by the brain. Best for messy, unstructured data: images, audio and language. </a:t>
            </a:r>
            <a:r>
              <a:rPr lang="en-US" sz="1300" b="1" dirty="0">
                <a:solidFill>
                  <a:srgbClr val="5C8A1B"/>
                </a:solidFill>
                <a:latin typeface="Calibri" pitchFamily="34" charset="0"/>
                <a:ea typeface="Calibri" pitchFamily="34" charset="-122"/>
                <a:cs typeface="Calibri" pitchFamily="34" charset="-120"/>
              </a:rPr>
              <a:t>Deep learning is what powers today's Generative AI.</a:t>
            </a:r>
            <a:endParaRPr lang="en-US" sz="1300" dirty="0"/>
          </a:p>
        </p:txBody>
      </p:sp>
      <p:sp>
        <p:nvSpPr>
          <p:cNvPr id="14" name="Text 12"/>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5" name="Text 13"/>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8</a:t>
            </a:r>
            <a:endParaRPr lang="en-US" sz="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Generative vs predictive AI</a:t>
            </a:r>
            <a:endParaRPr lang="en-US" sz="2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2240280"/>
        </p:xfrm>
        <a:graphic>
          <a:graphicData uri="http://schemas.openxmlformats.org/drawingml/2006/table">
            <a:tbl>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57200">
                <a:tc>
                  <a:txBody>
                    <a:bodyPr/>
                    <a:lstStyle/>
                    <a:p>
                      <a:pPr marL="0" indent="0" algn="l">
                        <a:buNone/>
                      </a:pPr>
                      <a:endParaRPr lang="en-US" sz="130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Predictive AI</a:t>
                      </a:r>
                      <a:endParaRPr lang="en-US" sz="130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Generative AI</a:t>
                      </a:r>
                      <a:endParaRPr lang="en-US" sz="130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extLst>
                  <a:ext uri="{0D108BD9-81ED-4DB2-BD59-A6C34878D82A}">
                    <a16:rowId xmlns:a16="http://schemas.microsoft.com/office/drawing/2014/main" val="10000"/>
                  </a:ext>
                </a:extLst>
              </a:tr>
              <a:tr h="594360">
                <a:tc>
                  <a:txBody>
                    <a:bodyPr/>
                    <a:lstStyle/>
                    <a:p>
                      <a:pPr marL="0" indent="0" algn="l">
                        <a:buNone/>
                      </a:pPr>
                      <a:r>
                        <a:rPr lang="en-US" sz="1250" b="1" dirty="0">
                          <a:solidFill>
                            <a:srgbClr val="26282A"/>
                          </a:solidFill>
                          <a:latin typeface="Calibri" pitchFamily="34" charset="0"/>
                          <a:ea typeface="Calibri" pitchFamily="34" charset="-122"/>
                          <a:cs typeface="Calibri" pitchFamily="34" charset="-120"/>
                        </a:rPr>
                        <a:t>Does what?</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CEEF0"/>
                    </a:solidFill>
                  </a:tcPr>
                </a:tc>
                <a:tc>
                  <a:txBody>
                    <a:bodyPr/>
                    <a:lstStyle/>
                    <a:p>
                      <a:pPr marL="0" indent="0" algn="l">
                        <a:buNone/>
                      </a:pPr>
                      <a:r>
                        <a:rPr lang="en-US" sz="1250" dirty="0">
                          <a:solidFill>
                            <a:srgbClr val="26282A"/>
                          </a:solidFill>
                          <a:latin typeface="Calibri" pitchFamily="34" charset="0"/>
                          <a:ea typeface="Calibri" pitchFamily="34" charset="-122"/>
                          <a:cs typeface="Calibri" pitchFamily="34" charset="-120"/>
                        </a:rPr>
                        <a:t>Classifies / forecasts</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lgn="l">
                        <a:buNone/>
                      </a:pPr>
                      <a:r>
                        <a:rPr lang="en-US" sz="1250" dirty="0">
                          <a:solidFill>
                            <a:srgbClr val="26282A"/>
                          </a:solidFill>
                          <a:latin typeface="Calibri" pitchFamily="34" charset="0"/>
                          <a:ea typeface="Calibri" pitchFamily="34" charset="-122"/>
                          <a:cs typeface="Calibri" pitchFamily="34" charset="-120"/>
                        </a:rPr>
                        <a:t>Creates new content</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DF4DF"/>
                    </a:solidFill>
                  </a:tcPr>
                </a:tc>
                <a:extLst>
                  <a:ext uri="{0D108BD9-81ED-4DB2-BD59-A6C34878D82A}">
                    <a16:rowId xmlns:a16="http://schemas.microsoft.com/office/drawing/2014/main" val="10001"/>
                  </a:ext>
                </a:extLst>
              </a:tr>
              <a:tr h="594360">
                <a:tc>
                  <a:txBody>
                    <a:bodyPr/>
                    <a:lstStyle/>
                    <a:p>
                      <a:pPr marL="0" indent="0" algn="l">
                        <a:buNone/>
                      </a:pPr>
                      <a:r>
                        <a:rPr lang="en-US" sz="1250" b="1" dirty="0">
                          <a:solidFill>
                            <a:srgbClr val="26282A"/>
                          </a:solidFill>
                          <a:latin typeface="Calibri" pitchFamily="34" charset="0"/>
                          <a:ea typeface="Calibri" pitchFamily="34" charset="-122"/>
                          <a:cs typeface="Calibri" pitchFamily="34" charset="-120"/>
                        </a:rPr>
                        <a:t>Output</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CEEF0"/>
                    </a:solidFill>
                  </a:tcPr>
                </a:tc>
                <a:tc>
                  <a:txBody>
                    <a:bodyPr/>
                    <a:lstStyle/>
                    <a:p>
                      <a:pPr marL="0" indent="0" algn="l">
                        <a:buNone/>
                      </a:pPr>
                      <a:r>
                        <a:rPr lang="en-US" sz="1250" dirty="0">
                          <a:solidFill>
                            <a:srgbClr val="26282A"/>
                          </a:solidFill>
                          <a:latin typeface="Calibri" pitchFamily="34" charset="0"/>
                          <a:ea typeface="Calibri" pitchFamily="34" charset="-122"/>
                          <a:cs typeface="Calibri" pitchFamily="34" charset="-120"/>
                        </a:rPr>
                        <a:t>A label or number</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lgn="l">
                        <a:buNone/>
                      </a:pPr>
                      <a:r>
                        <a:rPr lang="en-US" sz="1250" dirty="0">
                          <a:solidFill>
                            <a:srgbClr val="26282A"/>
                          </a:solidFill>
                          <a:latin typeface="Calibri" pitchFamily="34" charset="0"/>
                          <a:ea typeface="Calibri" pitchFamily="34" charset="-122"/>
                          <a:cs typeface="Calibri" pitchFamily="34" charset="-120"/>
                        </a:rPr>
                        <a:t>Text, images, code, audio</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DF4DF"/>
                    </a:solidFill>
                  </a:tcPr>
                </a:tc>
                <a:extLst>
                  <a:ext uri="{0D108BD9-81ED-4DB2-BD59-A6C34878D82A}">
                    <a16:rowId xmlns:a16="http://schemas.microsoft.com/office/drawing/2014/main" val="10002"/>
                  </a:ext>
                </a:extLst>
              </a:tr>
              <a:tr h="594360">
                <a:tc>
                  <a:txBody>
                    <a:bodyPr/>
                    <a:lstStyle/>
                    <a:p>
                      <a:pPr marL="0" indent="0" algn="l">
                        <a:buNone/>
                      </a:pPr>
                      <a:r>
                        <a:rPr lang="en-US" sz="1250" b="1" dirty="0">
                          <a:solidFill>
                            <a:srgbClr val="26282A"/>
                          </a:solidFill>
                          <a:latin typeface="Calibri" pitchFamily="34" charset="0"/>
                          <a:ea typeface="Calibri" pitchFamily="34" charset="-122"/>
                          <a:cs typeface="Calibri" pitchFamily="34" charset="-120"/>
                        </a:rPr>
                        <a:t>Example</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CEEF0"/>
                    </a:solidFill>
                  </a:tcPr>
                </a:tc>
                <a:tc>
                  <a:txBody>
                    <a:bodyPr/>
                    <a:lstStyle/>
                    <a:p>
                      <a:pPr marL="0" indent="0" algn="l">
                        <a:buNone/>
                      </a:pPr>
                      <a:r>
                        <a:rPr lang="en-US" sz="1250" dirty="0">
                          <a:solidFill>
                            <a:srgbClr val="26282A"/>
                          </a:solidFill>
                          <a:latin typeface="Calibri" pitchFamily="34" charset="0"/>
                          <a:ea typeface="Calibri" pitchFamily="34" charset="-122"/>
                          <a:cs typeface="Calibri" pitchFamily="34" charset="-120"/>
                        </a:rPr>
                        <a:t>“This email is spam”</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lgn="l">
                        <a:buNone/>
                      </a:pPr>
                      <a:r>
                        <a:rPr lang="en-US" sz="1250" dirty="0">
                          <a:solidFill>
                            <a:srgbClr val="26282A"/>
                          </a:solidFill>
                          <a:latin typeface="Calibri" pitchFamily="34" charset="0"/>
                          <a:ea typeface="Calibri" pitchFamily="34" charset="-122"/>
                          <a:cs typeface="Calibri" pitchFamily="34" charset="-120"/>
                        </a:rPr>
                        <a:t>“Write a reply to this email”</a:t>
                      </a:r>
                      <a:endParaRPr lang="en-US" sz="12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DF4DF"/>
                    </a:solidFill>
                  </a:tcPr>
                </a:tc>
                <a:extLst>
                  <a:ext uri="{0D108BD9-81ED-4DB2-BD59-A6C34878D82A}">
                    <a16:rowId xmlns:a16="http://schemas.microsoft.com/office/drawing/2014/main" val="10003"/>
                  </a:ext>
                </a:extLst>
              </a:tr>
            </a:tbl>
          </a:graphicData>
        </a:graphic>
      </p:graphicFrame>
      <p:sp>
        <p:nvSpPr>
          <p:cNvPr id="6" name="Text 3"/>
          <p:cNvSpPr/>
          <p:nvPr/>
        </p:nvSpPr>
        <p:spPr>
          <a:xfrm>
            <a:off x="457200" y="4206240"/>
            <a:ext cx="8229600" cy="320040"/>
          </a:xfrm>
          <a:prstGeom prst="rect">
            <a:avLst/>
          </a:prstGeom>
          <a:noFill/>
          <a:ln/>
        </p:spPr>
        <p:txBody>
          <a:bodyPr wrap="square" lIns="0" tIns="0" rIns="0" bIns="0" rtlCol="0" anchor="ctr"/>
          <a:lstStyle/>
          <a:p>
            <a:pPr marL="0" indent="0">
              <a:buNone/>
            </a:pPr>
            <a:r>
              <a:rPr lang="en-US" sz="1250" i="1" dirty="0">
                <a:solidFill>
                  <a:srgbClr val="44474A"/>
                </a:solidFill>
                <a:latin typeface="Calibri" pitchFamily="34" charset="0"/>
                <a:ea typeface="Calibri" pitchFamily="34" charset="-122"/>
                <a:cs typeface="Calibri" pitchFamily="34" charset="-120"/>
              </a:rPr>
              <a:t>Both are AI — but generative AI makes something new. That's the part everyone's talking about.</a:t>
            </a:r>
            <a:endParaRPr lang="en-US" sz="1250" dirty="0"/>
          </a:p>
        </p:txBody>
      </p:sp>
      <p:sp>
        <p:nvSpPr>
          <p:cNvPr id="7" name="Text 4"/>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8" name="Text 5"/>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9</a:t>
            </a:r>
            <a:endParaRPr lang="en-US" sz="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What is a Large Language Model?</a:t>
            </a:r>
            <a:endParaRPr lang="en-US" sz="2900" dirty="0"/>
          </a:p>
        </p:txBody>
      </p:sp>
      <p:sp>
        <p:nvSpPr>
          <p:cNvPr id="5" name="Shape 3"/>
          <p:cNvSpPr/>
          <p:nvPr/>
        </p:nvSpPr>
        <p:spPr>
          <a:xfrm>
            <a:off x="457200" y="1463040"/>
            <a:ext cx="8229600" cy="1051560"/>
          </a:xfrm>
          <a:prstGeom prst="roundRect">
            <a:avLst>
              <a:gd name="adj" fmla="val 6957"/>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731520" y="1627632"/>
            <a:ext cx="7680960" cy="731520"/>
          </a:xfrm>
          <a:prstGeom prst="rect">
            <a:avLst/>
          </a:prstGeom>
          <a:noFill/>
          <a:ln/>
        </p:spPr>
        <p:txBody>
          <a:bodyPr wrap="square" lIns="0" tIns="0" rIns="0" bIns="0" rtlCol="0" anchor="ctr"/>
          <a:lstStyle/>
          <a:p>
            <a:pPr marL="0" indent="0">
              <a:buNone/>
            </a:pPr>
            <a:r>
              <a:rPr lang="en-US" sz="1500" dirty="0">
                <a:solidFill>
                  <a:srgbClr val="26282A"/>
                </a:solidFill>
                <a:latin typeface="Calibri" pitchFamily="34" charset="0"/>
                <a:ea typeface="Calibri" pitchFamily="34" charset="-122"/>
                <a:cs typeface="Calibri" pitchFamily="34" charset="-120"/>
              </a:rPr>
              <a:t>An LLM does one thing extremely well:  </a:t>
            </a:r>
            <a:r>
              <a:rPr lang="en-US" sz="1500" b="1" dirty="0">
                <a:solidFill>
                  <a:srgbClr val="5C8A1B"/>
                </a:solidFill>
                <a:latin typeface="Calibri" pitchFamily="34" charset="0"/>
                <a:ea typeface="Calibri" pitchFamily="34" charset="-122"/>
                <a:cs typeface="Calibri" pitchFamily="34" charset="-120"/>
              </a:rPr>
              <a:t>it predicts the most likely next word</a:t>
            </a:r>
            <a:r>
              <a:rPr lang="en-US" sz="1500" dirty="0">
                <a:solidFill>
                  <a:srgbClr val="26282A"/>
                </a:solidFill>
                <a:latin typeface="Calibri" pitchFamily="34" charset="0"/>
                <a:ea typeface="Calibri" pitchFamily="34" charset="-122"/>
                <a:cs typeface="Calibri" pitchFamily="34" charset="-120"/>
              </a:rPr>
              <a:t>, over and over, to build a coherent answer.</a:t>
            </a:r>
            <a:endParaRPr lang="en-US" sz="1500" dirty="0"/>
          </a:p>
        </p:txBody>
      </p:sp>
      <p:sp>
        <p:nvSpPr>
          <p:cNvPr id="7" name="Shape 5"/>
          <p:cNvSpPr/>
          <p:nvPr/>
        </p:nvSpPr>
        <p:spPr>
          <a:xfrm>
            <a:off x="457200" y="2697480"/>
            <a:ext cx="402336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8" name="Text 6"/>
          <p:cNvSpPr/>
          <p:nvPr/>
        </p:nvSpPr>
        <p:spPr>
          <a:xfrm>
            <a:off x="685800" y="2852928"/>
            <a:ext cx="3611880" cy="320040"/>
          </a:xfrm>
          <a:prstGeom prst="rect">
            <a:avLst/>
          </a:prstGeom>
          <a:noFill/>
          <a:ln/>
        </p:spPr>
        <p:txBody>
          <a:bodyPr wrap="square" lIns="0" tIns="0" rIns="0" bIns="0" rtlCol="0" anchor="ctr"/>
          <a:lstStyle/>
          <a:p>
            <a:pPr marL="0" indent="0">
              <a:buNone/>
            </a:pPr>
            <a:r>
              <a:rPr lang="en-US" sz="1500" b="1" dirty="0">
                <a:solidFill>
                  <a:srgbClr val="26282A"/>
                </a:solidFill>
                <a:latin typeface="Cambria" pitchFamily="34" charset="0"/>
                <a:ea typeface="Cambria" pitchFamily="34" charset="-122"/>
                <a:cs typeface="Cambria" pitchFamily="34" charset="-120"/>
              </a:rPr>
              <a:t>Think: super-autocomplete</a:t>
            </a:r>
            <a:endParaRPr lang="en-US" sz="1500" dirty="0"/>
          </a:p>
        </p:txBody>
      </p:sp>
      <p:sp>
        <p:nvSpPr>
          <p:cNvPr id="9" name="Text 7"/>
          <p:cNvSpPr/>
          <p:nvPr/>
        </p:nvSpPr>
        <p:spPr>
          <a:xfrm>
            <a:off x="685800" y="3246120"/>
            <a:ext cx="3611880" cy="91440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Like your phone's autocomplete — but trained on a vast library, so it can draft, summarise and explain.</a:t>
            </a:r>
            <a:endParaRPr lang="en-US" sz="1250" dirty="0"/>
          </a:p>
        </p:txBody>
      </p:sp>
      <p:sp>
        <p:nvSpPr>
          <p:cNvPr id="10" name="Shape 8"/>
          <p:cNvSpPr/>
          <p:nvPr/>
        </p:nvSpPr>
        <p:spPr>
          <a:xfrm>
            <a:off x="4663440" y="2697480"/>
            <a:ext cx="402336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1" name="Text 9"/>
          <p:cNvSpPr/>
          <p:nvPr/>
        </p:nvSpPr>
        <p:spPr>
          <a:xfrm>
            <a:off x="4892040" y="2852928"/>
            <a:ext cx="3611880" cy="320040"/>
          </a:xfrm>
          <a:prstGeom prst="rect">
            <a:avLst/>
          </a:prstGeom>
          <a:noFill/>
          <a:ln/>
        </p:spPr>
        <p:txBody>
          <a:bodyPr wrap="square" lIns="0" tIns="0" rIns="0" bIns="0" rtlCol="0" anchor="ctr"/>
          <a:lstStyle/>
          <a:p>
            <a:pPr marL="0" indent="0">
              <a:buNone/>
            </a:pPr>
            <a:r>
              <a:rPr lang="en-US" sz="1500" b="1" dirty="0">
                <a:solidFill>
                  <a:srgbClr val="26282A"/>
                </a:solidFill>
                <a:latin typeface="Cambria" pitchFamily="34" charset="0"/>
                <a:ea typeface="Cambria" pitchFamily="34" charset="-122"/>
                <a:cs typeface="Cambria" pitchFamily="34" charset="-120"/>
              </a:rPr>
              <a:t>Think: a brilliant, well-read intern</a:t>
            </a:r>
            <a:endParaRPr lang="en-US" sz="1500" dirty="0"/>
          </a:p>
        </p:txBody>
      </p:sp>
      <p:sp>
        <p:nvSpPr>
          <p:cNvPr id="12" name="Text 10"/>
          <p:cNvSpPr/>
          <p:nvPr/>
        </p:nvSpPr>
        <p:spPr>
          <a:xfrm>
            <a:off x="4892040" y="3246120"/>
            <a:ext cx="3611880" cy="91440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Fast, versatile, articulate — but confident even when wrong, and unaware of anything outside its training.</a:t>
            </a:r>
            <a:endParaRPr lang="en-US" sz="1250" dirty="0"/>
          </a:p>
        </p:txBody>
      </p:sp>
      <p:sp>
        <p:nvSpPr>
          <p:cNvPr id="13" name="Text 11"/>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4" name="Text 12"/>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10</a:t>
            </a:r>
            <a:endParaRPr lang="en-US" sz="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Key terms — and why it gets things wrong</a:t>
            </a:r>
            <a:endParaRPr lang="en-US" sz="2900" dirty="0"/>
          </a:p>
        </p:txBody>
      </p:sp>
      <p:sp>
        <p:nvSpPr>
          <p:cNvPr id="5" name="Shape 3"/>
          <p:cNvSpPr/>
          <p:nvPr/>
        </p:nvSpPr>
        <p:spPr>
          <a:xfrm>
            <a:off x="457200" y="1508760"/>
            <a:ext cx="4023360" cy="914400"/>
          </a:xfrm>
          <a:prstGeom prst="roundRect">
            <a:avLst>
              <a:gd name="adj" fmla="val 80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58368" y="1627632"/>
            <a:ext cx="3657600" cy="274320"/>
          </a:xfrm>
          <a:prstGeom prst="rect">
            <a:avLst/>
          </a:prstGeom>
          <a:noFill/>
          <a:ln/>
        </p:spPr>
        <p:txBody>
          <a:bodyPr wrap="square" lIns="0" tIns="0" rIns="0" bIns="0" rtlCol="0" anchor="ctr"/>
          <a:lstStyle/>
          <a:p>
            <a:pPr marL="0" indent="0">
              <a:buNone/>
            </a:pPr>
            <a:r>
              <a:rPr lang="en-US" sz="1300" b="1" dirty="0">
                <a:solidFill>
                  <a:srgbClr val="5C8A1B"/>
                </a:solidFill>
                <a:latin typeface="Calibri" pitchFamily="34" charset="0"/>
                <a:ea typeface="Calibri" pitchFamily="34" charset="-122"/>
                <a:cs typeface="Calibri" pitchFamily="34" charset="-120"/>
              </a:rPr>
              <a:t>Token</a:t>
            </a:r>
            <a:endParaRPr lang="en-US" sz="1300" dirty="0"/>
          </a:p>
        </p:txBody>
      </p:sp>
      <p:sp>
        <p:nvSpPr>
          <p:cNvPr id="7" name="Text 5"/>
          <p:cNvSpPr/>
          <p:nvPr/>
        </p:nvSpPr>
        <p:spPr>
          <a:xfrm>
            <a:off x="658368" y="1911096"/>
            <a:ext cx="3657600" cy="45720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A chunk of text (~¾ of a word) the model reads and writes.</a:t>
            </a:r>
            <a:endParaRPr lang="en-US" sz="1150" dirty="0"/>
          </a:p>
        </p:txBody>
      </p:sp>
      <p:sp>
        <p:nvSpPr>
          <p:cNvPr id="8" name="Shape 6"/>
          <p:cNvSpPr/>
          <p:nvPr/>
        </p:nvSpPr>
        <p:spPr>
          <a:xfrm>
            <a:off x="4663440" y="1508760"/>
            <a:ext cx="4023360" cy="914400"/>
          </a:xfrm>
          <a:prstGeom prst="roundRect">
            <a:avLst>
              <a:gd name="adj" fmla="val 80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9" name="Text 7"/>
          <p:cNvSpPr/>
          <p:nvPr/>
        </p:nvSpPr>
        <p:spPr>
          <a:xfrm>
            <a:off x="4864608" y="1627632"/>
            <a:ext cx="3657600" cy="274320"/>
          </a:xfrm>
          <a:prstGeom prst="rect">
            <a:avLst/>
          </a:prstGeom>
          <a:noFill/>
          <a:ln/>
        </p:spPr>
        <p:txBody>
          <a:bodyPr wrap="square" lIns="0" tIns="0" rIns="0" bIns="0" rtlCol="0" anchor="ctr"/>
          <a:lstStyle/>
          <a:p>
            <a:pPr marL="0" indent="0">
              <a:buNone/>
            </a:pPr>
            <a:r>
              <a:rPr lang="en-US" sz="1300" b="1" dirty="0">
                <a:solidFill>
                  <a:srgbClr val="5C8A1B"/>
                </a:solidFill>
                <a:latin typeface="Calibri" pitchFamily="34" charset="0"/>
                <a:ea typeface="Calibri" pitchFamily="34" charset="-122"/>
                <a:cs typeface="Calibri" pitchFamily="34" charset="-120"/>
              </a:rPr>
              <a:t>Context window</a:t>
            </a:r>
            <a:endParaRPr lang="en-US" sz="1300" dirty="0"/>
          </a:p>
        </p:txBody>
      </p:sp>
      <p:sp>
        <p:nvSpPr>
          <p:cNvPr id="10" name="Text 8"/>
          <p:cNvSpPr/>
          <p:nvPr/>
        </p:nvSpPr>
        <p:spPr>
          <a:xfrm>
            <a:off x="4864608" y="1911096"/>
            <a:ext cx="3657600" cy="45720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How much text it can “hold in mind” at once.</a:t>
            </a:r>
            <a:endParaRPr lang="en-US" sz="1150" dirty="0"/>
          </a:p>
        </p:txBody>
      </p:sp>
      <p:sp>
        <p:nvSpPr>
          <p:cNvPr id="11" name="Shape 9"/>
          <p:cNvSpPr/>
          <p:nvPr/>
        </p:nvSpPr>
        <p:spPr>
          <a:xfrm>
            <a:off x="457200" y="2560320"/>
            <a:ext cx="4023360" cy="914400"/>
          </a:xfrm>
          <a:prstGeom prst="roundRect">
            <a:avLst>
              <a:gd name="adj" fmla="val 80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2" name="Text 10"/>
          <p:cNvSpPr/>
          <p:nvPr/>
        </p:nvSpPr>
        <p:spPr>
          <a:xfrm>
            <a:off x="658368" y="2679192"/>
            <a:ext cx="3657600" cy="274320"/>
          </a:xfrm>
          <a:prstGeom prst="rect">
            <a:avLst/>
          </a:prstGeom>
          <a:noFill/>
          <a:ln/>
        </p:spPr>
        <p:txBody>
          <a:bodyPr wrap="square" lIns="0" tIns="0" rIns="0" bIns="0" rtlCol="0" anchor="ctr"/>
          <a:lstStyle/>
          <a:p>
            <a:pPr marL="0" indent="0">
              <a:buNone/>
            </a:pPr>
            <a:r>
              <a:rPr lang="en-US" sz="1300" b="1" dirty="0">
                <a:solidFill>
                  <a:srgbClr val="5C8A1B"/>
                </a:solidFill>
                <a:latin typeface="Calibri" pitchFamily="34" charset="0"/>
                <a:ea typeface="Calibri" pitchFamily="34" charset="-122"/>
                <a:cs typeface="Calibri" pitchFamily="34" charset="-120"/>
              </a:rPr>
              <a:t>Hallucination</a:t>
            </a:r>
            <a:endParaRPr lang="en-US" sz="1300" dirty="0"/>
          </a:p>
        </p:txBody>
      </p:sp>
      <p:sp>
        <p:nvSpPr>
          <p:cNvPr id="13" name="Text 11"/>
          <p:cNvSpPr/>
          <p:nvPr/>
        </p:nvSpPr>
        <p:spPr>
          <a:xfrm>
            <a:off x="658368" y="2962656"/>
            <a:ext cx="3657600" cy="45720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A confident answer that is factually wrong or invented.</a:t>
            </a:r>
            <a:endParaRPr lang="en-US" sz="1150" dirty="0"/>
          </a:p>
        </p:txBody>
      </p:sp>
      <p:sp>
        <p:nvSpPr>
          <p:cNvPr id="14" name="Shape 12"/>
          <p:cNvSpPr/>
          <p:nvPr/>
        </p:nvSpPr>
        <p:spPr>
          <a:xfrm>
            <a:off x="4663440" y="2560320"/>
            <a:ext cx="4023360" cy="914400"/>
          </a:xfrm>
          <a:prstGeom prst="roundRect">
            <a:avLst>
              <a:gd name="adj" fmla="val 80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5" name="Text 13"/>
          <p:cNvSpPr/>
          <p:nvPr/>
        </p:nvSpPr>
        <p:spPr>
          <a:xfrm>
            <a:off x="4864608" y="2679192"/>
            <a:ext cx="3657600" cy="274320"/>
          </a:xfrm>
          <a:prstGeom prst="rect">
            <a:avLst/>
          </a:prstGeom>
          <a:noFill/>
          <a:ln/>
        </p:spPr>
        <p:txBody>
          <a:bodyPr wrap="square" lIns="0" tIns="0" rIns="0" bIns="0" rtlCol="0" anchor="ctr"/>
          <a:lstStyle/>
          <a:p>
            <a:pPr marL="0" indent="0">
              <a:buNone/>
            </a:pPr>
            <a:r>
              <a:rPr lang="en-US" sz="1300" b="1" dirty="0">
                <a:solidFill>
                  <a:srgbClr val="5C8A1B"/>
                </a:solidFill>
                <a:latin typeface="Calibri" pitchFamily="34" charset="0"/>
                <a:ea typeface="Calibri" pitchFamily="34" charset="-122"/>
                <a:cs typeface="Calibri" pitchFamily="34" charset="-120"/>
              </a:rPr>
              <a:t>Multimodal</a:t>
            </a:r>
            <a:endParaRPr lang="en-US" sz="1300" dirty="0"/>
          </a:p>
        </p:txBody>
      </p:sp>
      <p:sp>
        <p:nvSpPr>
          <p:cNvPr id="16" name="Text 14"/>
          <p:cNvSpPr/>
          <p:nvPr/>
        </p:nvSpPr>
        <p:spPr>
          <a:xfrm>
            <a:off x="4864608" y="2962656"/>
            <a:ext cx="3657600" cy="45720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Can handle more than text — images, audio, files.</a:t>
            </a:r>
            <a:endParaRPr lang="en-US" sz="1150" dirty="0"/>
          </a:p>
        </p:txBody>
      </p:sp>
      <p:sp>
        <p:nvSpPr>
          <p:cNvPr id="17" name="Shape 15"/>
          <p:cNvSpPr/>
          <p:nvPr/>
        </p:nvSpPr>
        <p:spPr>
          <a:xfrm>
            <a:off x="457200" y="3657600"/>
            <a:ext cx="8229600" cy="658368"/>
          </a:xfrm>
          <a:prstGeom prst="roundRect">
            <a:avLst>
              <a:gd name="adj" fmla="val 11111"/>
            </a:avLst>
          </a:prstGeom>
          <a:solidFill>
            <a:srgbClr val="F6E7E4"/>
          </a:solidFill>
          <a:ln w="9525">
            <a:solidFill>
              <a:srgbClr val="DADDE0"/>
            </a:solidFill>
            <a:prstDash val="solid"/>
          </a:ln>
          <a:effectLst>
            <a:outerShdw blurRad="88900" dist="25400" dir="5400000" algn="bl" rotWithShape="0">
              <a:srgbClr val="000000">
                <a:alpha val="10000"/>
              </a:srgbClr>
            </a:outerShdw>
          </a:effectLst>
        </p:spPr>
      </p:sp>
      <p:sp>
        <p:nvSpPr>
          <p:cNvPr id="18" name="Text 16"/>
          <p:cNvSpPr/>
          <p:nvPr/>
        </p:nvSpPr>
        <p:spPr>
          <a:xfrm>
            <a:off x="685800" y="3767328"/>
            <a:ext cx="7772400" cy="457200"/>
          </a:xfrm>
          <a:prstGeom prst="rect">
            <a:avLst/>
          </a:prstGeom>
          <a:noFill/>
          <a:ln/>
        </p:spPr>
        <p:txBody>
          <a:bodyPr wrap="square" lIns="0" tIns="0" rIns="0" bIns="0" rtlCol="0" anchor="ctr"/>
          <a:lstStyle/>
          <a:p>
            <a:pPr marL="0" indent="0">
              <a:buNone/>
            </a:pPr>
            <a:r>
              <a:rPr lang="en-US" sz="1250" b="1" dirty="0">
                <a:solidFill>
                  <a:srgbClr val="B23A2E"/>
                </a:solidFill>
                <a:latin typeface="Calibri" pitchFamily="34" charset="0"/>
                <a:ea typeface="Calibri" pitchFamily="34" charset="-122"/>
                <a:cs typeface="Calibri" pitchFamily="34" charset="-120"/>
              </a:rPr>
              <a:t>Why it hallucinates:  </a:t>
            </a:r>
            <a:r>
              <a:rPr lang="en-US" sz="1250" dirty="0">
                <a:solidFill>
                  <a:srgbClr val="26282A"/>
                </a:solidFill>
                <a:latin typeface="Calibri" pitchFamily="34" charset="0"/>
                <a:ea typeface="Calibri" pitchFamily="34" charset="-122"/>
                <a:cs typeface="Calibri" pitchFamily="34" charset="-120"/>
              </a:rPr>
              <a:t>it predicts plausible words, not verified facts. Always check important outputs.</a:t>
            </a:r>
            <a:endParaRPr lang="en-US" sz="1250" dirty="0"/>
          </a:p>
        </p:txBody>
      </p:sp>
      <p:sp>
        <p:nvSpPr>
          <p:cNvPr id="19" name="Text 17"/>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0" name="Text 18"/>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11</a:t>
            </a:r>
            <a:endParaRPr lang="en-US" sz="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PROMPT ENGINEERING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It all comes down to the prompt</a:t>
            </a:r>
            <a:endParaRPr lang="en-US" sz="2900" dirty="0"/>
          </a:p>
        </p:txBody>
      </p:sp>
      <p:sp>
        <p:nvSpPr>
          <p:cNvPr id="5" name="Text 3"/>
          <p:cNvSpPr/>
          <p:nvPr/>
        </p:nvSpPr>
        <p:spPr>
          <a:xfrm>
            <a:off x="457200" y="1417320"/>
            <a:ext cx="8229600" cy="457200"/>
          </a:xfrm>
          <a:prstGeom prst="rect">
            <a:avLst/>
          </a:prstGeom>
          <a:noFill/>
          <a:ln/>
        </p:spPr>
        <p:txBody>
          <a:bodyPr wrap="square" lIns="0" tIns="0" rIns="0" bIns="0" rtlCol="0" anchor="ctr"/>
          <a:lstStyle/>
          <a:p>
            <a:pPr marL="0" indent="0">
              <a:buNone/>
            </a:pPr>
            <a:r>
              <a:rPr lang="en-US" sz="1500" dirty="0">
                <a:solidFill>
                  <a:srgbClr val="26282A"/>
                </a:solidFill>
                <a:latin typeface="Calibri" pitchFamily="34" charset="0"/>
                <a:ea typeface="Calibri" pitchFamily="34" charset="-122"/>
                <a:cs typeface="Calibri" pitchFamily="34" charset="-120"/>
              </a:rPr>
              <a:t>A prompt is the instruction you give an AI. The tool is the same for everyone — your prompt is your edge.</a:t>
            </a:r>
            <a:endParaRPr lang="en-US" sz="1500" dirty="0"/>
          </a:p>
        </p:txBody>
      </p:sp>
      <p:sp>
        <p:nvSpPr>
          <p:cNvPr id="6" name="Shape 4"/>
          <p:cNvSpPr/>
          <p:nvPr/>
        </p:nvSpPr>
        <p:spPr>
          <a:xfrm>
            <a:off x="457200" y="2057400"/>
            <a:ext cx="8229600" cy="1371600"/>
          </a:xfrm>
          <a:prstGeom prst="roundRect">
            <a:avLst>
              <a:gd name="adj" fmla="val 5333"/>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7" name="Text 5"/>
          <p:cNvSpPr/>
          <p:nvPr/>
        </p:nvSpPr>
        <p:spPr>
          <a:xfrm>
            <a:off x="685800" y="2194560"/>
            <a:ext cx="3657600" cy="274320"/>
          </a:xfrm>
          <a:prstGeom prst="rect">
            <a:avLst/>
          </a:prstGeom>
          <a:noFill/>
          <a:ln/>
        </p:spPr>
        <p:txBody>
          <a:bodyPr wrap="square" lIns="0" tIns="0" rIns="0" bIns="0" rtlCol="0" anchor="ctr"/>
          <a:lstStyle/>
          <a:p>
            <a:pPr marL="0" indent="0">
              <a:buNone/>
            </a:pPr>
            <a:r>
              <a:rPr lang="en-US" sz="1200" b="1" dirty="0">
                <a:solidFill>
                  <a:srgbClr val="5C8A1B"/>
                </a:solidFill>
                <a:latin typeface="Calibri" pitchFamily="34" charset="0"/>
                <a:ea typeface="Calibri" pitchFamily="34" charset="-122"/>
                <a:cs typeface="Calibri" pitchFamily="34" charset="-120"/>
              </a:rPr>
              <a:t>THE MINDSET</a:t>
            </a:r>
            <a:endParaRPr lang="en-US" sz="1200" dirty="0"/>
          </a:p>
        </p:txBody>
      </p:sp>
      <p:sp>
        <p:nvSpPr>
          <p:cNvPr id="8" name="Text 6"/>
          <p:cNvSpPr/>
          <p:nvPr/>
        </p:nvSpPr>
        <p:spPr>
          <a:xfrm>
            <a:off x="685800" y="2487168"/>
            <a:ext cx="7772400" cy="822960"/>
          </a:xfrm>
          <a:prstGeom prst="rect">
            <a:avLst/>
          </a:prstGeom>
          <a:noFill/>
          <a:ln/>
        </p:spPr>
        <p:txBody>
          <a:bodyPr wrap="square" lIns="0" tIns="0" rIns="0" bIns="0" rtlCol="0" anchor="ctr"/>
          <a:lstStyle/>
          <a:p>
            <a:pPr marL="0" indent="0">
              <a:spcAft>
                <a:spcPts val="400"/>
              </a:spcAft>
              <a:buNone/>
            </a:pPr>
            <a:r>
              <a:rPr lang="en-US" sz="1400" b="1" dirty="0">
                <a:solidFill>
                  <a:srgbClr val="26282A"/>
                </a:solidFill>
                <a:latin typeface="Calibri" pitchFamily="34" charset="0"/>
                <a:ea typeface="Calibri" pitchFamily="34" charset="-122"/>
                <a:cs typeface="Calibri" pitchFamily="34" charset="-120"/>
              </a:rPr>
              <a:t>Treat the AI like a capable new team member</a:t>
            </a:r>
            <a:endParaRPr lang="en-US" sz="1400" dirty="0"/>
          </a:p>
          <a:p>
            <a:pPr marL="0" indent="0">
              <a:buNone/>
            </a:pPr>
            <a:r>
              <a:rPr lang="en-US" sz="1400" dirty="0">
                <a:solidFill>
                  <a:srgbClr val="26282A"/>
                </a:solidFill>
                <a:latin typeface="Calibri" pitchFamily="34" charset="0"/>
                <a:ea typeface="Calibri" pitchFamily="34" charset="-122"/>
                <a:cs typeface="Calibri" pitchFamily="34" charset="-120"/>
              </a:rPr>
              <a:t>— brilliant, but with zero context about you, your client or your goal. So brief it properly.</a:t>
            </a:r>
            <a:endParaRPr lang="en-US" sz="1400" dirty="0"/>
          </a:p>
        </p:txBody>
      </p:sp>
      <p:sp>
        <p:nvSpPr>
          <p:cNvPr id="9" name="Text 7"/>
          <p:cNvSpPr/>
          <p:nvPr/>
        </p:nvSpPr>
        <p:spPr>
          <a:xfrm>
            <a:off x="457200" y="3611880"/>
            <a:ext cx="8229600" cy="365760"/>
          </a:xfrm>
          <a:prstGeom prst="rect">
            <a:avLst/>
          </a:prstGeom>
          <a:noFill/>
          <a:ln/>
        </p:spPr>
        <p:txBody>
          <a:bodyPr wrap="square" lIns="0" tIns="0" rIns="0" bIns="0" rtlCol="0" anchor="ctr"/>
          <a:lstStyle/>
          <a:p>
            <a:pPr marL="0" indent="0">
              <a:buNone/>
            </a:pPr>
            <a:r>
              <a:rPr lang="en-US" sz="1250" i="1" dirty="0">
                <a:solidFill>
                  <a:srgbClr val="44474A"/>
                </a:solidFill>
                <a:latin typeface="Calibri" pitchFamily="34" charset="0"/>
                <a:ea typeface="Calibri" pitchFamily="34" charset="-122"/>
                <a:cs typeface="Calibri" pitchFamily="34" charset="-120"/>
              </a:rPr>
              <a:t>Better instruction in  →  better output out. A 20-second better prompt saves a 20-minute rewrite.</a:t>
            </a:r>
            <a:endParaRPr lang="en-US" sz="1250" dirty="0"/>
          </a:p>
        </p:txBody>
      </p:sp>
      <p:sp>
        <p:nvSpPr>
          <p:cNvPr id="10" name="Text 8"/>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1" name="Text 9"/>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12</a:t>
            </a:r>
            <a:endParaRPr lang="en-US" sz="8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PROMPT ENGINEERING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The 6 building blocks of a strong prompt</a:t>
            </a:r>
            <a:endParaRPr lang="en-US" sz="2900" dirty="0"/>
          </a:p>
        </p:txBody>
      </p:sp>
      <p:sp>
        <p:nvSpPr>
          <p:cNvPr id="5" name="Shape 3"/>
          <p:cNvSpPr/>
          <p:nvPr/>
        </p:nvSpPr>
        <p:spPr>
          <a:xfrm>
            <a:off x="457200" y="14813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40080" y="1600200"/>
            <a:ext cx="2377440" cy="274320"/>
          </a:xfrm>
          <a:prstGeom prst="rect">
            <a:avLst/>
          </a:prstGeom>
          <a:noFill/>
          <a:ln/>
        </p:spPr>
        <p:txBody>
          <a:bodyPr wrap="square" lIns="0" tIns="0" rIns="0" bIns="0" rtlCol="0" anchor="ctr"/>
          <a:lstStyle/>
          <a:p>
            <a:pPr marL="0" indent="0">
              <a:buNone/>
            </a:pPr>
            <a:r>
              <a:rPr lang="en-US" sz="1400" b="1" dirty="0">
                <a:solidFill>
                  <a:srgbClr val="5C8A1B"/>
                </a:solidFill>
                <a:latin typeface="Calibri" pitchFamily="34" charset="0"/>
                <a:ea typeface="Calibri" pitchFamily="34" charset="-122"/>
                <a:cs typeface="Calibri" pitchFamily="34" charset="-120"/>
              </a:rPr>
              <a:t>Role</a:t>
            </a:r>
            <a:endParaRPr lang="en-US" sz="1400" dirty="0"/>
          </a:p>
        </p:txBody>
      </p:sp>
      <p:sp>
        <p:nvSpPr>
          <p:cNvPr id="7" name="Text 5"/>
          <p:cNvSpPr/>
          <p:nvPr/>
        </p:nvSpPr>
        <p:spPr>
          <a:xfrm>
            <a:off x="640080" y="1892808"/>
            <a:ext cx="2377440" cy="32004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Who should the AI be?</a:t>
            </a:r>
            <a:endParaRPr lang="en-US" sz="1100" dirty="0"/>
          </a:p>
        </p:txBody>
      </p:sp>
      <p:sp>
        <p:nvSpPr>
          <p:cNvPr id="8" name="Text 6"/>
          <p:cNvSpPr/>
          <p:nvPr/>
        </p:nvSpPr>
        <p:spPr>
          <a:xfrm>
            <a:off x="640080" y="2240280"/>
            <a:ext cx="2377440" cy="384048"/>
          </a:xfrm>
          <a:prstGeom prst="rect">
            <a:avLst/>
          </a:prstGeom>
          <a:noFill/>
          <a:ln/>
        </p:spPr>
        <p:txBody>
          <a:bodyPr wrap="square" lIns="0" tIns="0" rIns="0" bIns="0" rtlCol="0" anchor="ctr"/>
          <a:lstStyle/>
          <a:p>
            <a:pPr marL="0" indent="0">
              <a:buNone/>
            </a:pPr>
            <a:r>
              <a:rPr lang="en-US" sz="1050" i="1" dirty="0">
                <a:solidFill>
                  <a:srgbClr val="26282A"/>
                </a:solidFill>
                <a:latin typeface="Calibri" pitchFamily="34" charset="0"/>
                <a:ea typeface="Calibri" pitchFamily="34" charset="-122"/>
                <a:cs typeface="Calibri" pitchFamily="34" charset="-120"/>
              </a:rPr>
              <a:t>“Act as a senior tax consultant…”</a:t>
            </a:r>
            <a:endParaRPr lang="en-US" sz="1050" dirty="0"/>
          </a:p>
        </p:txBody>
      </p:sp>
      <p:sp>
        <p:nvSpPr>
          <p:cNvPr id="9" name="Shape 7"/>
          <p:cNvSpPr/>
          <p:nvPr/>
        </p:nvSpPr>
        <p:spPr>
          <a:xfrm>
            <a:off x="3264408" y="14813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0" name="Text 8"/>
          <p:cNvSpPr/>
          <p:nvPr/>
        </p:nvSpPr>
        <p:spPr>
          <a:xfrm>
            <a:off x="3447288" y="1600200"/>
            <a:ext cx="2377440" cy="274320"/>
          </a:xfrm>
          <a:prstGeom prst="rect">
            <a:avLst/>
          </a:prstGeom>
          <a:noFill/>
          <a:ln/>
        </p:spPr>
        <p:txBody>
          <a:bodyPr wrap="square" lIns="0" tIns="0" rIns="0" bIns="0" rtlCol="0" anchor="ctr"/>
          <a:lstStyle/>
          <a:p>
            <a:pPr marL="0" indent="0">
              <a:buNone/>
            </a:pPr>
            <a:r>
              <a:rPr lang="en-US" sz="1400" b="1" dirty="0">
                <a:solidFill>
                  <a:srgbClr val="5C8A1B"/>
                </a:solidFill>
                <a:latin typeface="Calibri" pitchFamily="34" charset="0"/>
                <a:ea typeface="Calibri" pitchFamily="34" charset="-122"/>
                <a:cs typeface="Calibri" pitchFamily="34" charset="-120"/>
              </a:rPr>
              <a:t>Task</a:t>
            </a:r>
            <a:endParaRPr lang="en-US" sz="1400" dirty="0"/>
          </a:p>
        </p:txBody>
      </p:sp>
      <p:sp>
        <p:nvSpPr>
          <p:cNvPr id="11" name="Text 9"/>
          <p:cNvSpPr/>
          <p:nvPr/>
        </p:nvSpPr>
        <p:spPr>
          <a:xfrm>
            <a:off x="3447288" y="1892808"/>
            <a:ext cx="2377440" cy="32004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What exactly do you want?</a:t>
            </a:r>
            <a:endParaRPr lang="en-US" sz="1100" dirty="0"/>
          </a:p>
        </p:txBody>
      </p:sp>
      <p:sp>
        <p:nvSpPr>
          <p:cNvPr id="12" name="Text 10"/>
          <p:cNvSpPr/>
          <p:nvPr/>
        </p:nvSpPr>
        <p:spPr>
          <a:xfrm>
            <a:off x="3447288" y="2240280"/>
            <a:ext cx="2377440" cy="384048"/>
          </a:xfrm>
          <a:prstGeom prst="rect">
            <a:avLst/>
          </a:prstGeom>
          <a:noFill/>
          <a:ln/>
        </p:spPr>
        <p:txBody>
          <a:bodyPr wrap="square" lIns="0" tIns="0" rIns="0" bIns="0" rtlCol="0" anchor="ctr"/>
          <a:lstStyle/>
          <a:p>
            <a:pPr marL="0" indent="0">
              <a:buNone/>
            </a:pPr>
            <a:r>
              <a:rPr lang="en-US" sz="1050" i="1" dirty="0">
                <a:solidFill>
                  <a:srgbClr val="26282A"/>
                </a:solidFill>
                <a:latin typeface="Calibri" pitchFamily="34" charset="0"/>
                <a:ea typeface="Calibri" pitchFamily="34" charset="-122"/>
                <a:cs typeface="Calibri" pitchFamily="34" charset="-120"/>
              </a:rPr>
              <a:t>“Summarise this policy update…”</a:t>
            </a:r>
            <a:endParaRPr lang="en-US" sz="1050" dirty="0"/>
          </a:p>
        </p:txBody>
      </p:sp>
      <p:sp>
        <p:nvSpPr>
          <p:cNvPr id="13" name="Shape 11"/>
          <p:cNvSpPr/>
          <p:nvPr/>
        </p:nvSpPr>
        <p:spPr>
          <a:xfrm>
            <a:off x="6071616" y="14813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4" name="Text 12"/>
          <p:cNvSpPr/>
          <p:nvPr/>
        </p:nvSpPr>
        <p:spPr>
          <a:xfrm>
            <a:off x="6254496" y="1600200"/>
            <a:ext cx="2377440" cy="274320"/>
          </a:xfrm>
          <a:prstGeom prst="rect">
            <a:avLst/>
          </a:prstGeom>
          <a:noFill/>
          <a:ln/>
        </p:spPr>
        <p:txBody>
          <a:bodyPr wrap="square" lIns="0" tIns="0" rIns="0" bIns="0" rtlCol="0" anchor="ctr"/>
          <a:lstStyle/>
          <a:p>
            <a:pPr marL="0" indent="0">
              <a:buNone/>
            </a:pPr>
            <a:r>
              <a:rPr lang="en-US" sz="1400" b="1" dirty="0">
                <a:solidFill>
                  <a:srgbClr val="5C8A1B"/>
                </a:solidFill>
                <a:latin typeface="Calibri" pitchFamily="34" charset="0"/>
                <a:ea typeface="Calibri" pitchFamily="34" charset="-122"/>
                <a:cs typeface="Calibri" pitchFamily="34" charset="-120"/>
              </a:rPr>
              <a:t>Context</a:t>
            </a:r>
            <a:endParaRPr lang="en-US" sz="1400" dirty="0"/>
          </a:p>
        </p:txBody>
      </p:sp>
      <p:sp>
        <p:nvSpPr>
          <p:cNvPr id="15" name="Text 13"/>
          <p:cNvSpPr/>
          <p:nvPr/>
        </p:nvSpPr>
        <p:spPr>
          <a:xfrm>
            <a:off x="6254496" y="1892808"/>
            <a:ext cx="2377440" cy="32004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What background matters?</a:t>
            </a:r>
            <a:endParaRPr lang="en-US" sz="1100" dirty="0"/>
          </a:p>
        </p:txBody>
      </p:sp>
      <p:sp>
        <p:nvSpPr>
          <p:cNvPr id="16" name="Text 14"/>
          <p:cNvSpPr/>
          <p:nvPr/>
        </p:nvSpPr>
        <p:spPr>
          <a:xfrm>
            <a:off x="6254496" y="2240280"/>
            <a:ext cx="2377440" cy="384048"/>
          </a:xfrm>
          <a:prstGeom prst="rect">
            <a:avLst/>
          </a:prstGeom>
          <a:noFill/>
          <a:ln/>
        </p:spPr>
        <p:txBody>
          <a:bodyPr wrap="square" lIns="0" tIns="0" rIns="0" bIns="0" rtlCol="0" anchor="ctr"/>
          <a:lstStyle/>
          <a:p>
            <a:pPr marL="0" indent="0">
              <a:buNone/>
            </a:pPr>
            <a:r>
              <a:rPr lang="en-US" sz="1050" i="1" dirty="0">
                <a:solidFill>
                  <a:srgbClr val="26282A"/>
                </a:solidFill>
                <a:latin typeface="Calibri" pitchFamily="34" charset="0"/>
                <a:ea typeface="Calibri" pitchFamily="34" charset="-122"/>
                <a:cs typeface="Calibri" pitchFamily="34" charset="-120"/>
              </a:rPr>
              <a:t>“…for a manufacturing client…”</a:t>
            </a:r>
            <a:endParaRPr lang="en-US" sz="1050" dirty="0"/>
          </a:p>
        </p:txBody>
      </p:sp>
      <p:sp>
        <p:nvSpPr>
          <p:cNvPr id="17" name="Shape 15"/>
          <p:cNvSpPr/>
          <p:nvPr/>
        </p:nvSpPr>
        <p:spPr>
          <a:xfrm>
            <a:off x="457200" y="28529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8" name="Text 16"/>
          <p:cNvSpPr/>
          <p:nvPr/>
        </p:nvSpPr>
        <p:spPr>
          <a:xfrm>
            <a:off x="640080" y="2971800"/>
            <a:ext cx="2377440" cy="274320"/>
          </a:xfrm>
          <a:prstGeom prst="rect">
            <a:avLst/>
          </a:prstGeom>
          <a:noFill/>
          <a:ln/>
        </p:spPr>
        <p:txBody>
          <a:bodyPr wrap="square" lIns="0" tIns="0" rIns="0" bIns="0" rtlCol="0" anchor="ctr"/>
          <a:lstStyle/>
          <a:p>
            <a:pPr marL="0" indent="0">
              <a:buNone/>
            </a:pPr>
            <a:r>
              <a:rPr lang="en-US" sz="1400" b="1" dirty="0">
                <a:solidFill>
                  <a:srgbClr val="5C8A1B"/>
                </a:solidFill>
                <a:latin typeface="Calibri" pitchFamily="34" charset="0"/>
                <a:ea typeface="Calibri" pitchFamily="34" charset="-122"/>
                <a:cs typeface="Calibri" pitchFamily="34" charset="-120"/>
              </a:rPr>
              <a:t>Format</a:t>
            </a:r>
            <a:endParaRPr lang="en-US" sz="1400" dirty="0"/>
          </a:p>
        </p:txBody>
      </p:sp>
      <p:sp>
        <p:nvSpPr>
          <p:cNvPr id="19" name="Text 17"/>
          <p:cNvSpPr/>
          <p:nvPr/>
        </p:nvSpPr>
        <p:spPr>
          <a:xfrm>
            <a:off x="640080" y="3264408"/>
            <a:ext cx="2377440" cy="32004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How should it look?</a:t>
            </a:r>
            <a:endParaRPr lang="en-US" sz="1100" dirty="0"/>
          </a:p>
        </p:txBody>
      </p:sp>
      <p:sp>
        <p:nvSpPr>
          <p:cNvPr id="20" name="Text 18"/>
          <p:cNvSpPr/>
          <p:nvPr/>
        </p:nvSpPr>
        <p:spPr>
          <a:xfrm>
            <a:off x="640080" y="3611880"/>
            <a:ext cx="2377440" cy="384048"/>
          </a:xfrm>
          <a:prstGeom prst="rect">
            <a:avLst/>
          </a:prstGeom>
          <a:noFill/>
          <a:ln/>
        </p:spPr>
        <p:txBody>
          <a:bodyPr wrap="square" lIns="0" tIns="0" rIns="0" bIns="0" rtlCol="0" anchor="ctr"/>
          <a:lstStyle/>
          <a:p>
            <a:pPr marL="0" indent="0">
              <a:buNone/>
            </a:pPr>
            <a:r>
              <a:rPr lang="en-US" sz="1050" i="1" dirty="0">
                <a:solidFill>
                  <a:srgbClr val="26282A"/>
                </a:solidFill>
                <a:latin typeface="Calibri" pitchFamily="34" charset="0"/>
                <a:ea typeface="Calibri" pitchFamily="34" charset="-122"/>
                <a:cs typeface="Calibri" pitchFamily="34" charset="-120"/>
              </a:rPr>
              <a:t>“…as 5 bullet points…”</a:t>
            </a:r>
            <a:endParaRPr lang="en-US" sz="1050" dirty="0"/>
          </a:p>
        </p:txBody>
      </p:sp>
      <p:sp>
        <p:nvSpPr>
          <p:cNvPr id="21" name="Shape 19"/>
          <p:cNvSpPr/>
          <p:nvPr/>
        </p:nvSpPr>
        <p:spPr>
          <a:xfrm>
            <a:off x="3264408" y="28529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2" name="Text 20"/>
          <p:cNvSpPr/>
          <p:nvPr/>
        </p:nvSpPr>
        <p:spPr>
          <a:xfrm>
            <a:off x="3447288" y="2971800"/>
            <a:ext cx="2377440" cy="274320"/>
          </a:xfrm>
          <a:prstGeom prst="rect">
            <a:avLst/>
          </a:prstGeom>
          <a:noFill/>
          <a:ln/>
        </p:spPr>
        <p:txBody>
          <a:bodyPr wrap="square" lIns="0" tIns="0" rIns="0" bIns="0" rtlCol="0" anchor="ctr"/>
          <a:lstStyle/>
          <a:p>
            <a:pPr marL="0" indent="0">
              <a:buNone/>
            </a:pPr>
            <a:r>
              <a:rPr lang="en-US" sz="1400" b="1" dirty="0">
                <a:solidFill>
                  <a:srgbClr val="5C8A1B"/>
                </a:solidFill>
                <a:latin typeface="Calibri" pitchFamily="34" charset="0"/>
                <a:ea typeface="Calibri" pitchFamily="34" charset="-122"/>
                <a:cs typeface="Calibri" pitchFamily="34" charset="-120"/>
              </a:rPr>
              <a:t>Constraints</a:t>
            </a:r>
            <a:endParaRPr lang="en-US" sz="1400" dirty="0"/>
          </a:p>
        </p:txBody>
      </p:sp>
      <p:sp>
        <p:nvSpPr>
          <p:cNvPr id="23" name="Text 21"/>
          <p:cNvSpPr/>
          <p:nvPr/>
        </p:nvSpPr>
        <p:spPr>
          <a:xfrm>
            <a:off x="3447288" y="3264408"/>
            <a:ext cx="2377440" cy="32004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Any rules or limits?</a:t>
            </a:r>
            <a:endParaRPr lang="en-US" sz="1100" dirty="0"/>
          </a:p>
        </p:txBody>
      </p:sp>
      <p:sp>
        <p:nvSpPr>
          <p:cNvPr id="24" name="Text 22"/>
          <p:cNvSpPr/>
          <p:nvPr/>
        </p:nvSpPr>
        <p:spPr>
          <a:xfrm>
            <a:off x="3447288" y="3611880"/>
            <a:ext cx="2377440" cy="384048"/>
          </a:xfrm>
          <a:prstGeom prst="rect">
            <a:avLst/>
          </a:prstGeom>
          <a:noFill/>
          <a:ln/>
        </p:spPr>
        <p:txBody>
          <a:bodyPr wrap="square" lIns="0" tIns="0" rIns="0" bIns="0" rtlCol="0" anchor="ctr"/>
          <a:lstStyle/>
          <a:p>
            <a:pPr marL="0" indent="0">
              <a:buNone/>
            </a:pPr>
            <a:r>
              <a:rPr lang="en-US" sz="1050" i="1" dirty="0">
                <a:solidFill>
                  <a:srgbClr val="26282A"/>
                </a:solidFill>
                <a:latin typeface="Calibri" pitchFamily="34" charset="0"/>
                <a:ea typeface="Calibri" pitchFamily="34" charset="-122"/>
                <a:cs typeface="Calibri" pitchFamily="34" charset="-120"/>
              </a:rPr>
              <a:t>“…under 150 words, plain English…”</a:t>
            </a:r>
            <a:endParaRPr lang="en-US" sz="1050" dirty="0"/>
          </a:p>
        </p:txBody>
      </p:sp>
      <p:sp>
        <p:nvSpPr>
          <p:cNvPr id="25" name="Shape 23"/>
          <p:cNvSpPr/>
          <p:nvPr/>
        </p:nvSpPr>
        <p:spPr>
          <a:xfrm>
            <a:off x="6071616" y="28529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6" name="Text 24"/>
          <p:cNvSpPr/>
          <p:nvPr/>
        </p:nvSpPr>
        <p:spPr>
          <a:xfrm>
            <a:off x="6254496" y="2971800"/>
            <a:ext cx="2377440" cy="274320"/>
          </a:xfrm>
          <a:prstGeom prst="rect">
            <a:avLst/>
          </a:prstGeom>
          <a:noFill/>
          <a:ln/>
        </p:spPr>
        <p:txBody>
          <a:bodyPr wrap="square" lIns="0" tIns="0" rIns="0" bIns="0" rtlCol="0" anchor="ctr"/>
          <a:lstStyle/>
          <a:p>
            <a:pPr marL="0" indent="0">
              <a:buNone/>
            </a:pPr>
            <a:r>
              <a:rPr lang="en-US" sz="1400" b="1" dirty="0">
                <a:solidFill>
                  <a:srgbClr val="5C8A1B"/>
                </a:solidFill>
                <a:latin typeface="Calibri" pitchFamily="34" charset="0"/>
                <a:ea typeface="Calibri" pitchFamily="34" charset="-122"/>
                <a:cs typeface="Calibri" pitchFamily="34" charset="-120"/>
              </a:rPr>
              <a:t>Examples</a:t>
            </a:r>
            <a:endParaRPr lang="en-US" sz="1400" dirty="0"/>
          </a:p>
        </p:txBody>
      </p:sp>
      <p:sp>
        <p:nvSpPr>
          <p:cNvPr id="27" name="Text 25"/>
          <p:cNvSpPr/>
          <p:nvPr/>
        </p:nvSpPr>
        <p:spPr>
          <a:xfrm>
            <a:off x="6254496" y="3264408"/>
            <a:ext cx="2377440" cy="32004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What does good look like?</a:t>
            </a:r>
            <a:endParaRPr lang="en-US" sz="1100" dirty="0"/>
          </a:p>
        </p:txBody>
      </p:sp>
      <p:sp>
        <p:nvSpPr>
          <p:cNvPr id="28" name="Text 26"/>
          <p:cNvSpPr/>
          <p:nvPr/>
        </p:nvSpPr>
        <p:spPr>
          <a:xfrm>
            <a:off x="6254496" y="3611880"/>
            <a:ext cx="2377440" cy="384048"/>
          </a:xfrm>
          <a:prstGeom prst="rect">
            <a:avLst/>
          </a:prstGeom>
          <a:noFill/>
          <a:ln/>
        </p:spPr>
        <p:txBody>
          <a:bodyPr wrap="square" lIns="0" tIns="0" rIns="0" bIns="0" rtlCol="0" anchor="ctr"/>
          <a:lstStyle/>
          <a:p>
            <a:pPr marL="0" indent="0">
              <a:buNone/>
            </a:pPr>
            <a:r>
              <a:rPr lang="en-US" sz="1050" i="1" dirty="0">
                <a:solidFill>
                  <a:srgbClr val="26282A"/>
                </a:solidFill>
                <a:latin typeface="Calibri" pitchFamily="34" charset="0"/>
                <a:ea typeface="Calibri" pitchFamily="34" charset="-122"/>
                <a:cs typeface="Calibri" pitchFamily="34" charset="-120"/>
              </a:rPr>
              <a:t>“…in the style of this sample…”</a:t>
            </a:r>
            <a:endParaRPr lang="en-US" sz="1050" dirty="0"/>
          </a:p>
        </p:txBody>
      </p:sp>
      <p:sp>
        <p:nvSpPr>
          <p:cNvPr id="29" name="Text 27"/>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30" name="Text 28"/>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13</a:t>
            </a:r>
            <a:endParaRPr lang="en-US" sz="800" dirty="0"/>
          </a:p>
        </p:txBody>
      </p:sp>
      <p:sp>
        <p:nvSpPr>
          <p:cNvPr id="31" name="5-Point Star 30"/>
          <p:cNvSpPr/>
          <p:nvPr/>
        </p:nvSpPr>
        <p:spPr>
          <a:xfrm>
            <a:off x="2863596" y="1673352"/>
            <a:ext cx="142240" cy="137160"/>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32" name="5-Point Star 31"/>
          <p:cNvSpPr/>
          <p:nvPr/>
        </p:nvSpPr>
        <p:spPr>
          <a:xfrm>
            <a:off x="8432800" y="1673352"/>
            <a:ext cx="142240" cy="137160"/>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33" name="5-Point Star 32"/>
          <p:cNvSpPr/>
          <p:nvPr/>
        </p:nvSpPr>
        <p:spPr>
          <a:xfrm>
            <a:off x="2863596" y="3044952"/>
            <a:ext cx="142240" cy="137160"/>
          </a:xfrm>
          <a:prstGeom prst="star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FRAMEWORK 1 OF 3</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TAG — the quick starter</a:t>
            </a:r>
            <a:endParaRPr lang="en-US" sz="2900" dirty="0"/>
          </a:p>
        </p:txBody>
      </p:sp>
      <p:sp>
        <p:nvSpPr>
          <p:cNvPr id="5" name="Shape 3"/>
          <p:cNvSpPr/>
          <p:nvPr/>
        </p:nvSpPr>
        <p:spPr>
          <a:xfrm>
            <a:off x="457200" y="1554480"/>
            <a:ext cx="2679192" cy="1463040"/>
          </a:xfrm>
          <a:prstGeom prst="roundRect">
            <a:avLst>
              <a:gd name="adj" fmla="val 50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Shape 4"/>
          <p:cNvSpPr/>
          <p:nvPr/>
        </p:nvSpPr>
        <p:spPr>
          <a:xfrm>
            <a:off x="685800" y="1737360"/>
            <a:ext cx="548640" cy="548640"/>
          </a:xfrm>
          <a:prstGeom prst="ellipse">
            <a:avLst/>
          </a:prstGeom>
          <a:solidFill>
            <a:srgbClr val="86BC25"/>
          </a:solidFill>
          <a:ln/>
        </p:spPr>
      </p:sp>
      <p:sp>
        <p:nvSpPr>
          <p:cNvPr id="7" name="Text 5"/>
          <p:cNvSpPr/>
          <p:nvPr/>
        </p:nvSpPr>
        <p:spPr>
          <a:xfrm>
            <a:off x="685800" y="173736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T</a:t>
            </a:r>
            <a:endParaRPr lang="en-US" sz="2400" dirty="0"/>
          </a:p>
        </p:txBody>
      </p:sp>
      <p:sp>
        <p:nvSpPr>
          <p:cNvPr id="8" name="Text 6"/>
          <p:cNvSpPr/>
          <p:nvPr/>
        </p:nvSpPr>
        <p:spPr>
          <a:xfrm>
            <a:off x="1371600" y="1847088"/>
            <a:ext cx="1645920" cy="320040"/>
          </a:xfrm>
          <a:prstGeom prst="rect">
            <a:avLst/>
          </a:prstGeom>
          <a:noFill/>
          <a:ln/>
        </p:spPr>
        <p:txBody>
          <a:bodyPr wrap="square" lIns="0" tIns="0" rIns="0" bIns="0" rtlCol="0" anchor="ctr"/>
          <a:lstStyle/>
          <a:p>
            <a:pPr marL="0" indent="0">
              <a:buNone/>
            </a:pPr>
            <a:r>
              <a:rPr lang="en-US" sz="1500" b="1" dirty="0">
                <a:solidFill>
                  <a:srgbClr val="26282A"/>
                </a:solidFill>
                <a:latin typeface="Calibri" pitchFamily="34" charset="0"/>
                <a:ea typeface="Calibri" pitchFamily="34" charset="-122"/>
                <a:cs typeface="Calibri" pitchFamily="34" charset="-120"/>
              </a:rPr>
              <a:t>Task</a:t>
            </a:r>
            <a:endParaRPr lang="en-US" sz="1500" dirty="0"/>
          </a:p>
        </p:txBody>
      </p:sp>
      <p:sp>
        <p:nvSpPr>
          <p:cNvPr id="9" name="Text 7"/>
          <p:cNvSpPr/>
          <p:nvPr/>
        </p:nvSpPr>
        <p:spPr>
          <a:xfrm>
            <a:off x="685800" y="2395728"/>
            <a:ext cx="2286000" cy="548640"/>
          </a:xfrm>
          <a:prstGeom prst="rect">
            <a:avLst/>
          </a:prstGeom>
          <a:noFill/>
          <a:ln/>
        </p:spPr>
        <p:txBody>
          <a:bodyPr wrap="square" lIns="0" tIns="0" rIns="0" bIns="0" rtlCol="0" anchor="ctr"/>
          <a:lstStyle/>
          <a:p>
            <a:pPr marL="0" indent="0">
              <a:buNone/>
            </a:pPr>
            <a:r>
              <a:rPr lang="en-US" sz="1150" dirty="0" smtClean="0">
                <a:solidFill>
                  <a:srgbClr val="44474A"/>
                </a:solidFill>
                <a:latin typeface="Calibri" pitchFamily="34" charset="0"/>
                <a:ea typeface="Calibri" pitchFamily="34" charset="-122"/>
                <a:cs typeface="Calibri" pitchFamily="34" charset="-120"/>
              </a:rPr>
              <a:t>Define domain, role, or situation</a:t>
            </a:r>
            <a:endParaRPr lang="en-US" sz="1150" dirty="0"/>
          </a:p>
        </p:txBody>
      </p:sp>
      <p:sp>
        <p:nvSpPr>
          <p:cNvPr id="10" name="Shape 8"/>
          <p:cNvSpPr/>
          <p:nvPr/>
        </p:nvSpPr>
        <p:spPr>
          <a:xfrm>
            <a:off x="3264408" y="1554480"/>
            <a:ext cx="2679192" cy="1463040"/>
          </a:xfrm>
          <a:prstGeom prst="roundRect">
            <a:avLst>
              <a:gd name="adj" fmla="val 50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1" name="Shape 9"/>
          <p:cNvSpPr/>
          <p:nvPr/>
        </p:nvSpPr>
        <p:spPr>
          <a:xfrm>
            <a:off x="3493008" y="1737360"/>
            <a:ext cx="548640" cy="548640"/>
          </a:xfrm>
          <a:prstGeom prst="ellipse">
            <a:avLst/>
          </a:prstGeom>
          <a:solidFill>
            <a:srgbClr val="86BC25"/>
          </a:solidFill>
          <a:ln/>
        </p:spPr>
      </p:sp>
      <p:sp>
        <p:nvSpPr>
          <p:cNvPr id="12" name="Text 10"/>
          <p:cNvSpPr/>
          <p:nvPr/>
        </p:nvSpPr>
        <p:spPr>
          <a:xfrm>
            <a:off x="3493008" y="173736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A</a:t>
            </a:r>
            <a:endParaRPr lang="en-US" sz="2400" dirty="0"/>
          </a:p>
        </p:txBody>
      </p:sp>
      <p:sp>
        <p:nvSpPr>
          <p:cNvPr id="13" name="Text 11"/>
          <p:cNvSpPr/>
          <p:nvPr/>
        </p:nvSpPr>
        <p:spPr>
          <a:xfrm>
            <a:off x="4178808" y="1847088"/>
            <a:ext cx="1645920" cy="320040"/>
          </a:xfrm>
          <a:prstGeom prst="rect">
            <a:avLst/>
          </a:prstGeom>
          <a:noFill/>
          <a:ln/>
        </p:spPr>
        <p:txBody>
          <a:bodyPr wrap="square" lIns="0" tIns="0" rIns="0" bIns="0" rtlCol="0" anchor="ctr"/>
          <a:lstStyle/>
          <a:p>
            <a:pPr marL="0" indent="0">
              <a:buNone/>
            </a:pPr>
            <a:r>
              <a:rPr lang="en-US" sz="1500" b="1" dirty="0">
                <a:solidFill>
                  <a:srgbClr val="26282A"/>
                </a:solidFill>
                <a:latin typeface="Calibri" pitchFamily="34" charset="0"/>
                <a:ea typeface="Calibri" pitchFamily="34" charset="-122"/>
                <a:cs typeface="Calibri" pitchFamily="34" charset="-120"/>
              </a:rPr>
              <a:t>Action</a:t>
            </a:r>
            <a:endParaRPr lang="en-US" sz="1500" dirty="0"/>
          </a:p>
        </p:txBody>
      </p:sp>
      <p:sp>
        <p:nvSpPr>
          <p:cNvPr id="14" name="Text 12"/>
          <p:cNvSpPr/>
          <p:nvPr/>
        </p:nvSpPr>
        <p:spPr>
          <a:xfrm>
            <a:off x="3493008" y="2395728"/>
            <a:ext cx="2286000" cy="54864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Exactly what the AI should do</a:t>
            </a:r>
            <a:endParaRPr lang="en-US" sz="1150" dirty="0"/>
          </a:p>
        </p:txBody>
      </p:sp>
      <p:sp>
        <p:nvSpPr>
          <p:cNvPr id="15" name="Shape 13"/>
          <p:cNvSpPr/>
          <p:nvPr/>
        </p:nvSpPr>
        <p:spPr>
          <a:xfrm>
            <a:off x="6071616" y="1554480"/>
            <a:ext cx="2679192" cy="1463040"/>
          </a:xfrm>
          <a:prstGeom prst="roundRect">
            <a:avLst>
              <a:gd name="adj" fmla="val 50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6" name="Shape 14"/>
          <p:cNvSpPr/>
          <p:nvPr/>
        </p:nvSpPr>
        <p:spPr>
          <a:xfrm>
            <a:off x="6300216" y="1737360"/>
            <a:ext cx="548640" cy="548640"/>
          </a:xfrm>
          <a:prstGeom prst="ellipse">
            <a:avLst/>
          </a:prstGeom>
          <a:solidFill>
            <a:srgbClr val="86BC25"/>
          </a:solidFill>
          <a:ln/>
        </p:spPr>
      </p:sp>
      <p:sp>
        <p:nvSpPr>
          <p:cNvPr id="17" name="Text 15"/>
          <p:cNvSpPr/>
          <p:nvPr/>
        </p:nvSpPr>
        <p:spPr>
          <a:xfrm>
            <a:off x="6300216" y="1737360"/>
            <a:ext cx="5486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G</a:t>
            </a:r>
            <a:endParaRPr lang="en-US" sz="2400" dirty="0"/>
          </a:p>
        </p:txBody>
      </p:sp>
      <p:sp>
        <p:nvSpPr>
          <p:cNvPr id="18" name="Text 16"/>
          <p:cNvSpPr/>
          <p:nvPr/>
        </p:nvSpPr>
        <p:spPr>
          <a:xfrm>
            <a:off x="6986016" y="1847088"/>
            <a:ext cx="1645920" cy="320040"/>
          </a:xfrm>
          <a:prstGeom prst="rect">
            <a:avLst/>
          </a:prstGeom>
          <a:noFill/>
          <a:ln/>
        </p:spPr>
        <p:txBody>
          <a:bodyPr wrap="square" lIns="0" tIns="0" rIns="0" bIns="0" rtlCol="0" anchor="ctr"/>
          <a:lstStyle/>
          <a:p>
            <a:pPr marL="0" indent="0">
              <a:buNone/>
            </a:pPr>
            <a:r>
              <a:rPr lang="en-US" sz="1500" b="1" dirty="0">
                <a:solidFill>
                  <a:srgbClr val="26282A"/>
                </a:solidFill>
                <a:latin typeface="Calibri" pitchFamily="34" charset="0"/>
                <a:ea typeface="Calibri" pitchFamily="34" charset="-122"/>
                <a:cs typeface="Calibri" pitchFamily="34" charset="-120"/>
              </a:rPr>
              <a:t>Goal</a:t>
            </a:r>
            <a:endParaRPr lang="en-US" sz="1500" dirty="0"/>
          </a:p>
        </p:txBody>
      </p:sp>
      <p:sp>
        <p:nvSpPr>
          <p:cNvPr id="19" name="Text 17"/>
          <p:cNvSpPr/>
          <p:nvPr/>
        </p:nvSpPr>
        <p:spPr>
          <a:xfrm>
            <a:off x="6300216" y="2395728"/>
            <a:ext cx="2286000" cy="548640"/>
          </a:xfrm>
          <a:prstGeom prst="rect">
            <a:avLst/>
          </a:prstGeom>
          <a:noFill/>
          <a:ln/>
        </p:spPr>
        <p:txBody>
          <a:bodyPr wrap="square" lIns="0" tIns="0" rIns="0" bIns="0" rtlCol="0" anchor="ctr"/>
          <a:lstStyle/>
          <a:p>
            <a:pPr marL="0" indent="0">
              <a:buNone/>
            </a:pPr>
            <a:r>
              <a:rPr lang="en-US" sz="1150" dirty="0" smtClean="0">
                <a:solidFill>
                  <a:srgbClr val="44474A"/>
                </a:solidFill>
                <a:latin typeface="Calibri" pitchFamily="34" charset="0"/>
                <a:ea typeface="Calibri" pitchFamily="34" charset="-122"/>
                <a:cs typeface="Calibri" pitchFamily="34" charset="-120"/>
              </a:rPr>
              <a:t>Constrain / outcome </a:t>
            </a:r>
            <a:r>
              <a:rPr lang="en-US" sz="1150" dirty="0">
                <a:solidFill>
                  <a:srgbClr val="44474A"/>
                </a:solidFill>
                <a:latin typeface="Calibri" pitchFamily="34" charset="0"/>
                <a:ea typeface="Calibri" pitchFamily="34" charset="-122"/>
                <a:cs typeface="Calibri" pitchFamily="34" charset="-120"/>
              </a:rPr>
              <a:t>/ success criteria</a:t>
            </a:r>
            <a:endParaRPr lang="en-US" sz="1150" dirty="0"/>
          </a:p>
        </p:txBody>
      </p:sp>
      <p:sp>
        <p:nvSpPr>
          <p:cNvPr id="20" name="Shape 18"/>
          <p:cNvSpPr/>
          <p:nvPr/>
        </p:nvSpPr>
        <p:spPr>
          <a:xfrm>
            <a:off x="457200" y="3246120"/>
            <a:ext cx="8229600" cy="1051560"/>
          </a:xfrm>
          <a:prstGeom prst="roundRect">
            <a:avLst>
              <a:gd name="adj" fmla="val 6957"/>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1" name="Text 19"/>
          <p:cNvSpPr/>
          <p:nvPr/>
        </p:nvSpPr>
        <p:spPr>
          <a:xfrm>
            <a:off x="685800" y="3346704"/>
            <a:ext cx="3657600" cy="228600"/>
          </a:xfrm>
          <a:prstGeom prst="rect">
            <a:avLst/>
          </a:prstGeom>
          <a:noFill/>
          <a:ln/>
        </p:spPr>
        <p:txBody>
          <a:bodyPr wrap="square" lIns="0" tIns="0" rIns="0" bIns="0" rtlCol="0" anchor="ctr"/>
          <a:lstStyle/>
          <a:p>
            <a:pPr marL="0" indent="0">
              <a:buNone/>
            </a:pPr>
            <a:r>
              <a:rPr lang="en-US" sz="1000" b="1" kern="0" spc="100" dirty="0">
                <a:solidFill>
                  <a:srgbClr val="5C8A1B"/>
                </a:solidFill>
                <a:latin typeface="Calibri" pitchFamily="34" charset="0"/>
                <a:ea typeface="Calibri" pitchFamily="34" charset="-122"/>
                <a:cs typeface="Calibri" pitchFamily="34" charset="-120"/>
              </a:rPr>
              <a:t>EXAMPLE</a:t>
            </a:r>
            <a:endParaRPr lang="en-US" sz="1000" dirty="0"/>
          </a:p>
        </p:txBody>
      </p:sp>
      <p:sp>
        <p:nvSpPr>
          <p:cNvPr id="22" name="Text 20"/>
          <p:cNvSpPr/>
          <p:nvPr/>
        </p:nvSpPr>
        <p:spPr>
          <a:xfrm>
            <a:off x="685800" y="3584448"/>
            <a:ext cx="7772400" cy="640080"/>
          </a:xfrm>
          <a:prstGeom prst="rect">
            <a:avLst/>
          </a:prstGeom>
          <a:noFill/>
          <a:ln/>
        </p:spPr>
        <p:txBody>
          <a:bodyPr wrap="square" lIns="0" tIns="0" rIns="0" bIns="0" rtlCol="0" anchor="ctr"/>
          <a:lstStyle/>
          <a:p>
            <a:pPr marL="0" indent="0">
              <a:buNone/>
            </a:pPr>
            <a:r>
              <a:rPr lang="en-US" sz="1250" b="1" dirty="0">
                <a:solidFill>
                  <a:srgbClr val="26282A"/>
                </a:solidFill>
                <a:latin typeface="Calibri" pitchFamily="34" charset="0"/>
                <a:ea typeface="Calibri" pitchFamily="34" charset="-122"/>
                <a:cs typeface="Calibri" pitchFamily="34" charset="-120"/>
              </a:rPr>
              <a:t>Task: </a:t>
            </a:r>
            <a:r>
              <a:rPr lang="en-US" sz="1250" dirty="0">
                <a:solidFill>
                  <a:srgbClr val="26282A"/>
                </a:solidFill>
                <a:latin typeface="Calibri" pitchFamily="34" charset="0"/>
                <a:ea typeface="Calibri" pitchFamily="34" charset="-122"/>
                <a:cs typeface="Calibri" pitchFamily="34" charset="-120"/>
              </a:rPr>
              <a:t>You are a machine-learning instructor for beginners.  </a:t>
            </a:r>
            <a:r>
              <a:rPr lang="en-US" sz="1250" b="1" dirty="0">
                <a:solidFill>
                  <a:srgbClr val="26282A"/>
                </a:solidFill>
                <a:latin typeface="Calibri" pitchFamily="34" charset="0"/>
                <a:ea typeface="Calibri" pitchFamily="34" charset="-122"/>
                <a:cs typeface="Calibri" pitchFamily="34" charset="-120"/>
              </a:rPr>
              <a:t>Action: </a:t>
            </a:r>
            <a:r>
              <a:rPr lang="en-US" sz="1250" dirty="0">
                <a:solidFill>
                  <a:srgbClr val="26282A"/>
                </a:solidFill>
                <a:latin typeface="Calibri" pitchFamily="34" charset="0"/>
                <a:ea typeface="Calibri" pitchFamily="34" charset="-122"/>
                <a:cs typeface="Calibri" pitchFamily="34" charset="-120"/>
              </a:rPr>
              <a:t>Explain neural networks using a real-world analogy.  </a:t>
            </a:r>
            <a:r>
              <a:rPr lang="en-US" sz="1250" b="1" dirty="0">
                <a:solidFill>
                  <a:srgbClr val="26282A"/>
                </a:solidFill>
                <a:latin typeface="Calibri" pitchFamily="34" charset="0"/>
                <a:ea typeface="Calibri" pitchFamily="34" charset="-122"/>
                <a:cs typeface="Calibri" pitchFamily="34" charset="-120"/>
              </a:rPr>
              <a:t>Goal: </a:t>
            </a:r>
            <a:r>
              <a:rPr lang="en-US" sz="1250" dirty="0">
                <a:solidFill>
                  <a:srgbClr val="26282A"/>
                </a:solidFill>
                <a:latin typeface="Calibri" pitchFamily="34" charset="0"/>
                <a:ea typeface="Calibri" pitchFamily="34" charset="-122"/>
                <a:cs typeface="Calibri" pitchFamily="34" charset="-120"/>
              </a:rPr>
              <a:t>Keep it under 300 words, no maths.</a:t>
            </a:r>
            <a:endParaRPr lang="en-US" sz="1250" dirty="0"/>
          </a:p>
        </p:txBody>
      </p:sp>
      <p:sp>
        <p:nvSpPr>
          <p:cNvPr id="23" name="Text 21"/>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4" name="Text 22"/>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14</a:t>
            </a:r>
            <a:endParaRPr lang="en-US" sz="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FRAMEWORK 2 OF 3</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RACE — for specialist, expert output</a:t>
            </a:r>
            <a:endParaRPr lang="en-US" sz="2900" dirty="0"/>
          </a:p>
        </p:txBody>
      </p:sp>
      <p:sp>
        <p:nvSpPr>
          <p:cNvPr id="5" name="Shape 3"/>
          <p:cNvSpPr/>
          <p:nvPr/>
        </p:nvSpPr>
        <p:spPr>
          <a:xfrm>
            <a:off x="457200" y="1554480"/>
            <a:ext cx="201168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Shape 4"/>
          <p:cNvSpPr/>
          <p:nvPr/>
        </p:nvSpPr>
        <p:spPr>
          <a:xfrm>
            <a:off x="1188720" y="1719072"/>
            <a:ext cx="548640" cy="548640"/>
          </a:xfrm>
          <a:prstGeom prst="ellipse">
            <a:avLst/>
          </a:prstGeom>
          <a:solidFill>
            <a:srgbClr val="86BC25"/>
          </a:solidFill>
          <a:ln/>
        </p:spPr>
      </p:sp>
      <p:sp>
        <p:nvSpPr>
          <p:cNvPr id="7" name="Text 5"/>
          <p:cNvSpPr/>
          <p:nvPr/>
        </p:nvSpPr>
        <p:spPr>
          <a:xfrm>
            <a:off x="1188720" y="171907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R</a:t>
            </a:r>
            <a:endParaRPr lang="en-US" sz="2200" dirty="0"/>
          </a:p>
        </p:txBody>
      </p:sp>
      <p:sp>
        <p:nvSpPr>
          <p:cNvPr id="8" name="Text 6"/>
          <p:cNvSpPr/>
          <p:nvPr/>
        </p:nvSpPr>
        <p:spPr>
          <a:xfrm>
            <a:off x="548640" y="2331720"/>
            <a:ext cx="1828800" cy="274320"/>
          </a:xfrm>
          <a:prstGeom prst="rect">
            <a:avLst/>
          </a:prstGeom>
          <a:noFill/>
          <a:ln/>
        </p:spPr>
        <p:txBody>
          <a:bodyPr wrap="square" lIns="0" tIns="0" rIns="0" bIns="0" rtlCol="0" anchor="ctr"/>
          <a:lstStyle/>
          <a:p>
            <a:pPr marL="0" indent="0" algn="ctr">
              <a:buNone/>
            </a:pPr>
            <a:r>
              <a:rPr lang="en-US" sz="1350" b="1" dirty="0">
                <a:solidFill>
                  <a:srgbClr val="26282A"/>
                </a:solidFill>
                <a:latin typeface="Calibri" pitchFamily="34" charset="0"/>
                <a:ea typeface="Calibri" pitchFamily="34" charset="-122"/>
                <a:cs typeface="Calibri" pitchFamily="34" charset="-120"/>
              </a:rPr>
              <a:t>Role</a:t>
            </a:r>
            <a:endParaRPr lang="en-US" sz="1350" dirty="0"/>
          </a:p>
        </p:txBody>
      </p:sp>
      <p:sp>
        <p:nvSpPr>
          <p:cNvPr id="9" name="Text 7"/>
          <p:cNvSpPr/>
          <p:nvPr/>
        </p:nvSpPr>
        <p:spPr>
          <a:xfrm>
            <a:off x="548640" y="2615184"/>
            <a:ext cx="1828800" cy="502920"/>
          </a:xfrm>
          <a:prstGeom prst="rect">
            <a:avLst/>
          </a:prstGeom>
          <a:noFill/>
          <a:ln/>
        </p:spPr>
        <p:txBody>
          <a:bodyPr wrap="square" lIns="0" tIns="0" rIns="0" bIns="0" rtlCol="0" anchor="ctr"/>
          <a:lstStyle/>
          <a:p>
            <a:pPr marL="0" indent="0" algn="ctr">
              <a:buNone/>
            </a:pPr>
            <a:r>
              <a:rPr lang="en-US" sz="1050" dirty="0">
                <a:solidFill>
                  <a:srgbClr val="44474A"/>
                </a:solidFill>
                <a:latin typeface="Calibri" pitchFamily="34" charset="0"/>
                <a:ea typeface="Calibri" pitchFamily="34" charset="-122"/>
                <a:cs typeface="Calibri" pitchFamily="34" charset="-120"/>
              </a:rPr>
              <a:t>Who the AI should be</a:t>
            </a:r>
            <a:endParaRPr lang="en-US" sz="1050" dirty="0"/>
          </a:p>
        </p:txBody>
      </p:sp>
      <p:sp>
        <p:nvSpPr>
          <p:cNvPr id="10" name="Shape 8"/>
          <p:cNvSpPr/>
          <p:nvPr/>
        </p:nvSpPr>
        <p:spPr>
          <a:xfrm>
            <a:off x="2542032" y="1554480"/>
            <a:ext cx="201168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1" name="Shape 9"/>
          <p:cNvSpPr/>
          <p:nvPr/>
        </p:nvSpPr>
        <p:spPr>
          <a:xfrm>
            <a:off x="3273552" y="1719072"/>
            <a:ext cx="548640" cy="548640"/>
          </a:xfrm>
          <a:prstGeom prst="ellipse">
            <a:avLst/>
          </a:prstGeom>
          <a:solidFill>
            <a:srgbClr val="86BC25"/>
          </a:solidFill>
          <a:ln/>
        </p:spPr>
      </p:sp>
      <p:sp>
        <p:nvSpPr>
          <p:cNvPr id="12" name="Text 10"/>
          <p:cNvSpPr/>
          <p:nvPr/>
        </p:nvSpPr>
        <p:spPr>
          <a:xfrm>
            <a:off x="3273552" y="171907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A</a:t>
            </a:r>
            <a:endParaRPr lang="en-US" sz="2200" dirty="0"/>
          </a:p>
        </p:txBody>
      </p:sp>
      <p:sp>
        <p:nvSpPr>
          <p:cNvPr id="13" name="Text 11"/>
          <p:cNvSpPr/>
          <p:nvPr/>
        </p:nvSpPr>
        <p:spPr>
          <a:xfrm>
            <a:off x="2633472" y="2331720"/>
            <a:ext cx="1828800" cy="274320"/>
          </a:xfrm>
          <a:prstGeom prst="rect">
            <a:avLst/>
          </a:prstGeom>
          <a:noFill/>
          <a:ln/>
        </p:spPr>
        <p:txBody>
          <a:bodyPr wrap="square" lIns="0" tIns="0" rIns="0" bIns="0" rtlCol="0" anchor="ctr"/>
          <a:lstStyle/>
          <a:p>
            <a:pPr marL="0" indent="0" algn="ctr">
              <a:buNone/>
            </a:pPr>
            <a:r>
              <a:rPr lang="en-US" sz="1350" b="1" dirty="0">
                <a:solidFill>
                  <a:srgbClr val="26282A"/>
                </a:solidFill>
                <a:latin typeface="Calibri" pitchFamily="34" charset="0"/>
                <a:ea typeface="Calibri" pitchFamily="34" charset="-122"/>
                <a:cs typeface="Calibri" pitchFamily="34" charset="-120"/>
              </a:rPr>
              <a:t>Action</a:t>
            </a:r>
            <a:endParaRPr lang="en-US" sz="1350" dirty="0"/>
          </a:p>
        </p:txBody>
      </p:sp>
      <p:sp>
        <p:nvSpPr>
          <p:cNvPr id="14" name="Text 12"/>
          <p:cNvSpPr/>
          <p:nvPr/>
        </p:nvSpPr>
        <p:spPr>
          <a:xfrm>
            <a:off x="2633472" y="2615184"/>
            <a:ext cx="1828800" cy="502920"/>
          </a:xfrm>
          <a:prstGeom prst="rect">
            <a:avLst/>
          </a:prstGeom>
          <a:noFill/>
          <a:ln/>
        </p:spPr>
        <p:txBody>
          <a:bodyPr wrap="square" lIns="0" tIns="0" rIns="0" bIns="0" rtlCol="0" anchor="ctr"/>
          <a:lstStyle/>
          <a:p>
            <a:pPr marL="0" indent="0" algn="ctr">
              <a:buNone/>
            </a:pPr>
            <a:r>
              <a:rPr lang="en-US" sz="1050" dirty="0">
                <a:solidFill>
                  <a:srgbClr val="44474A"/>
                </a:solidFill>
                <a:latin typeface="Calibri" pitchFamily="34" charset="0"/>
                <a:ea typeface="Calibri" pitchFamily="34" charset="-122"/>
                <a:cs typeface="Calibri" pitchFamily="34" charset="-120"/>
              </a:rPr>
              <a:t>The specific task / verb</a:t>
            </a:r>
            <a:endParaRPr lang="en-US" sz="1050" dirty="0"/>
          </a:p>
        </p:txBody>
      </p:sp>
      <p:sp>
        <p:nvSpPr>
          <p:cNvPr id="15" name="Shape 13"/>
          <p:cNvSpPr/>
          <p:nvPr/>
        </p:nvSpPr>
        <p:spPr>
          <a:xfrm>
            <a:off x="4626864" y="1554480"/>
            <a:ext cx="201168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6" name="Shape 14"/>
          <p:cNvSpPr/>
          <p:nvPr/>
        </p:nvSpPr>
        <p:spPr>
          <a:xfrm>
            <a:off x="5358384" y="1719072"/>
            <a:ext cx="548640" cy="548640"/>
          </a:xfrm>
          <a:prstGeom prst="ellipse">
            <a:avLst/>
          </a:prstGeom>
          <a:solidFill>
            <a:srgbClr val="86BC25"/>
          </a:solidFill>
          <a:ln/>
        </p:spPr>
      </p:sp>
      <p:sp>
        <p:nvSpPr>
          <p:cNvPr id="17" name="Text 15"/>
          <p:cNvSpPr/>
          <p:nvPr/>
        </p:nvSpPr>
        <p:spPr>
          <a:xfrm>
            <a:off x="5358384" y="171907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C</a:t>
            </a:r>
            <a:endParaRPr lang="en-US" sz="2200" dirty="0"/>
          </a:p>
        </p:txBody>
      </p:sp>
      <p:sp>
        <p:nvSpPr>
          <p:cNvPr id="18" name="Text 16"/>
          <p:cNvSpPr/>
          <p:nvPr/>
        </p:nvSpPr>
        <p:spPr>
          <a:xfrm>
            <a:off x="4718304" y="2331720"/>
            <a:ext cx="1828800" cy="274320"/>
          </a:xfrm>
          <a:prstGeom prst="rect">
            <a:avLst/>
          </a:prstGeom>
          <a:noFill/>
          <a:ln/>
        </p:spPr>
        <p:txBody>
          <a:bodyPr wrap="square" lIns="0" tIns="0" rIns="0" bIns="0" rtlCol="0" anchor="ctr"/>
          <a:lstStyle/>
          <a:p>
            <a:pPr marL="0" indent="0" algn="ctr">
              <a:buNone/>
            </a:pPr>
            <a:r>
              <a:rPr lang="en-US" sz="1350" b="1" dirty="0">
                <a:solidFill>
                  <a:srgbClr val="26282A"/>
                </a:solidFill>
                <a:latin typeface="Calibri" pitchFamily="34" charset="0"/>
                <a:ea typeface="Calibri" pitchFamily="34" charset="-122"/>
                <a:cs typeface="Calibri" pitchFamily="34" charset="-120"/>
              </a:rPr>
              <a:t>Context</a:t>
            </a:r>
            <a:endParaRPr lang="en-US" sz="1350" dirty="0"/>
          </a:p>
        </p:txBody>
      </p:sp>
      <p:sp>
        <p:nvSpPr>
          <p:cNvPr id="19" name="Text 17"/>
          <p:cNvSpPr/>
          <p:nvPr/>
        </p:nvSpPr>
        <p:spPr>
          <a:xfrm>
            <a:off x="4718304" y="2615184"/>
            <a:ext cx="1828800" cy="502920"/>
          </a:xfrm>
          <a:prstGeom prst="rect">
            <a:avLst/>
          </a:prstGeom>
          <a:noFill/>
          <a:ln/>
        </p:spPr>
        <p:txBody>
          <a:bodyPr wrap="square" lIns="0" tIns="0" rIns="0" bIns="0" rtlCol="0" anchor="ctr"/>
          <a:lstStyle/>
          <a:p>
            <a:pPr marL="0" indent="0" algn="ctr">
              <a:buNone/>
            </a:pPr>
            <a:r>
              <a:rPr lang="en-US" sz="1050" dirty="0">
                <a:solidFill>
                  <a:srgbClr val="44474A"/>
                </a:solidFill>
                <a:latin typeface="Calibri" pitchFamily="34" charset="0"/>
                <a:ea typeface="Calibri" pitchFamily="34" charset="-122"/>
                <a:cs typeface="Calibri" pitchFamily="34" charset="-120"/>
              </a:rPr>
              <a:t>Background &amp; audience</a:t>
            </a:r>
            <a:endParaRPr lang="en-US" sz="1050" dirty="0"/>
          </a:p>
        </p:txBody>
      </p:sp>
      <p:sp>
        <p:nvSpPr>
          <p:cNvPr id="20" name="Shape 18"/>
          <p:cNvSpPr/>
          <p:nvPr/>
        </p:nvSpPr>
        <p:spPr>
          <a:xfrm>
            <a:off x="6711696" y="1554480"/>
            <a:ext cx="201168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1" name="Shape 19"/>
          <p:cNvSpPr/>
          <p:nvPr/>
        </p:nvSpPr>
        <p:spPr>
          <a:xfrm>
            <a:off x="7443216" y="1719072"/>
            <a:ext cx="548640" cy="548640"/>
          </a:xfrm>
          <a:prstGeom prst="ellipse">
            <a:avLst/>
          </a:prstGeom>
          <a:solidFill>
            <a:srgbClr val="86BC25"/>
          </a:solidFill>
          <a:ln/>
        </p:spPr>
      </p:sp>
      <p:sp>
        <p:nvSpPr>
          <p:cNvPr id="22" name="Text 20"/>
          <p:cNvSpPr/>
          <p:nvPr/>
        </p:nvSpPr>
        <p:spPr>
          <a:xfrm>
            <a:off x="7443216" y="1719072"/>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E</a:t>
            </a:r>
            <a:endParaRPr lang="en-US" sz="2200" dirty="0"/>
          </a:p>
        </p:txBody>
      </p:sp>
      <p:sp>
        <p:nvSpPr>
          <p:cNvPr id="23" name="Text 21"/>
          <p:cNvSpPr/>
          <p:nvPr/>
        </p:nvSpPr>
        <p:spPr>
          <a:xfrm>
            <a:off x="6803136" y="2331720"/>
            <a:ext cx="1828800" cy="274320"/>
          </a:xfrm>
          <a:prstGeom prst="rect">
            <a:avLst/>
          </a:prstGeom>
          <a:noFill/>
          <a:ln/>
        </p:spPr>
        <p:txBody>
          <a:bodyPr wrap="square" lIns="0" tIns="0" rIns="0" bIns="0" rtlCol="0" anchor="ctr"/>
          <a:lstStyle/>
          <a:p>
            <a:pPr marL="0" indent="0" algn="ctr">
              <a:buNone/>
            </a:pPr>
            <a:r>
              <a:rPr lang="en-US" sz="1350" b="1" dirty="0">
                <a:solidFill>
                  <a:srgbClr val="26282A"/>
                </a:solidFill>
                <a:latin typeface="Calibri" pitchFamily="34" charset="0"/>
                <a:ea typeface="Calibri" pitchFamily="34" charset="-122"/>
                <a:cs typeface="Calibri" pitchFamily="34" charset="-120"/>
              </a:rPr>
              <a:t>Expectations</a:t>
            </a:r>
            <a:endParaRPr lang="en-US" sz="1350" dirty="0"/>
          </a:p>
        </p:txBody>
      </p:sp>
      <p:sp>
        <p:nvSpPr>
          <p:cNvPr id="24" name="Text 22"/>
          <p:cNvSpPr/>
          <p:nvPr/>
        </p:nvSpPr>
        <p:spPr>
          <a:xfrm>
            <a:off x="6803136" y="2615184"/>
            <a:ext cx="1828800" cy="502920"/>
          </a:xfrm>
          <a:prstGeom prst="rect">
            <a:avLst/>
          </a:prstGeom>
          <a:noFill/>
          <a:ln/>
        </p:spPr>
        <p:txBody>
          <a:bodyPr wrap="square" lIns="0" tIns="0" rIns="0" bIns="0" rtlCol="0" anchor="ctr"/>
          <a:lstStyle/>
          <a:p>
            <a:pPr marL="0" indent="0" algn="ctr">
              <a:buNone/>
            </a:pPr>
            <a:r>
              <a:rPr lang="en-US" sz="1050" dirty="0">
                <a:solidFill>
                  <a:srgbClr val="44474A"/>
                </a:solidFill>
                <a:latin typeface="Calibri" pitchFamily="34" charset="0"/>
                <a:ea typeface="Calibri" pitchFamily="34" charset="-122"/>
                <a:cs typeface="Calibri" pitchFamily="34" charset="-120"/>
              </a:rPr>
              <a:t>Format &amp; quality bar</a:t>
            </a:r>
            <a:endParaRPr lang="en-US" sz="1050" dirty="0"/>
          </a:p>
        </p:txBody>
      </p:sp>
      <p:sp>
        <p:nvSpPr>
          <p:cNvPr id="25" name="Shape 23"/>
          <p:cNvSpPr/>
          <p:nvPr/>
        </p:nvSpPr>
        <p:spPr>
          <a:xfrm>
            <a:off x="457200" y="3291840"/>
            <a:ext cx="8229600" cy="1005840"/>
          </a:xfrm>
          <a:prstGeom prst="roundRect">
            <a:avLst>
              <a:gd name="adj" fmla="val 7273"/>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6" name="Text 24"/>
          <p:cNvSpPr/>
          <p:nvPr/>
        </p:nvSpPr>
        <p:spPr>
          <a:xfrm>
            <a:off x="685800" y="3383280"/>
            <a:ext cx="3657600" cy="228600"/>
          </a:xfrm>
          <a:prstGeom prst="rect">
            <a:avLst/>
          </a:prstGeom>
          <a:noFill/>
          <a:ln/>
        </p:spPr>
        <p:txBody>
          <a:bodyPr wrap="square" lIns="0" tIns="0" rIns="0" bIns="0" rtlCol="0" anchor="ctr"/>
          <a:lstStyle/>
          <a:p>
            <a:pPr marL="0" indent="0">
              <a:buNone/>
            </a:pPr>
            <a:r>
              <a:rPr lang="en-US" sz="1000" b="1" kern="0" spc="100" dirty="0">
                <a:solidFill>
                  <a:srgbClr val="5C8A1B"/>
                </a:solidFill>
                <a:latin typeface="Calibri" pitchFamily="34" charset="0"/>
                <a:ea typeface="Calibri" pitchFamily="34" charset="-122"/>
                <a:cs typeface="Calibri" pitchFamily="34" charset="-120"/>
              </a:rPr>
              <a:t>EXAMPLE</a:t>
            </a:r>
            <a:endParaRPr lang="en-US" sz="1000" dirty="0"/>
          </a:p>
        </p:txBody>
      </p:sp>
      <p:sp>
        <p:nvSpPr>
          <p:cNvPr id="27" name="Text 25"/>
          <p:cNvSpPr/>
          <p:nvPr/>
        </p:nvSpPr>
        <p:spPr>
          <a:xfrm>
            <a:off x="685800" y="3611880"/>
            <a:ext cx="7772400" cy="594360"/>
          </a:xfrm>
          <a:prstGeom prst="rect">
            <a:avLst/>
          </a:prstGeom>
          <a:noFill/>
          <a:ln/>
        </p:spPr>
        <p:txBody>
          <a:bodyPr wrap="square" lIns="0" tIns="0" rIns="0" bIns="0" rtlCol="0" anchor="ctr"/>
          <a:lstStyle/>
          <a:p>
            <a:pPr marL="0" indent="0">
              <a:buNone/>
            </a:pPr>
            <a:r>
              <a:rPr lang="en-US" sz="1200" b="1" dirty="0">
                <a:solidFill>
                  <a:srgbClr val="26282A"/>
                </a:solidFill>
                <a:latin typeface="Calibri" pitchFamily="34" charset="0"/>
                <a:ea typeface="Calibri" pitchFamily="34" charset="-122"/>
                <a:cs typeface="Calibri" pitchFamily="34" charset="-120"/>
              </a:rPr>
              <a:t>Role: </a:t>
            </a:r>
            <a:r>
              <a:rPr lang="en-US" sz="1200" dirty="0">
                <a:solidFill>
                  <a:srgbClr val="26282A"/>
                </a:solidFill>
                <a:latin typeface="Calibri" pitchFamily="34" charset="0"/>
                <a:ea typeface="Calibri" pitchFamily="34" charset="-122"/>
                <a:cs typeface="Calibri" pitchFamily="34" charset="-120"/>
              </a:rPr>
              <a:t>Act as a financial analyst.  </a:t>
            </a:r>
            <a:r>
              <a:rPr lang="en-US" sz="1200" b="1" dirty="0">
                <a:solidFill>
                  <a:srgbClr val="26282A"/>
                </a:solidFill>
                <a:latin typeface="Calibri" pitchFamily="34" charset="0"/>
                <a:ea typeface="Calibri" pitchFamily="34" charset="-122"/>
                <a:cs typeface="Calibri" pitchFamily="34" charset="-120"/>
              </a:rPr>
              <a:t>Action: </a:t>
            </a:r>
            <a:r>
              <a:rPr lang="en-US" sz="1200" dirty="0">
                <a:solidFill>
                  <a:srgbClr val="26282A"/>
                </a:solidFill>
                <a:latin typeface="Calibri" pitchFamily="34" charset="0"/>
                <a:ea typeface="Calibri" pitchFamily="34" charset="-122"/>
                <a:cs typeface="Calibri" pitchFamily="34" charset="-120"/>
              </a:rPr>
              <a:t>Summarise this quarterly report.  </a:t>
            </a:r>
            <a:r>
              <a:rPr lang="en-US" sz="1200" b="1" dirty="0">
                <a:solidFill>
                  <a:srgbClr val="26282A"/>
                </a:solidFill>
                <a:latin typeface="Calibri" pitchFamily="34" charset="0"/>
                <a:ea typeface="Calibri" pitchFamily="34" charset="-122"/>
                <a:cs typeface="Calibri" pitchFamily="34" charset="-120"/>
              </a:rPr>
              <a:t>Context: </a:t>
            </a:r>
            <a:r>
              <a:rPr lang="en-US" sz="1200" dirty="0">
                <a:solidFill>
                  <a:srgbClr val="26282A"/>
                </a:solidFill>
                <a:latin typeface="Calibri" pitchFamily="34" charset="0"/>
                <a:ea typeface="Calibri" pitchFamily="34" charset="-122"/>
                <a:cs typeface="Calibri" pitchFamily="34" charset="-120"/>
              </a:rPr>
              <a:t>For a busy partner, focus on risks.  </a:t>
            </a:r>
            <a:r>
              <a:rPr lang="en-US" sz="1200" b="1" dirty="0">
                <a:solidFill>
                  <a:srgbClr val="26282A"/>
                </a:solidFill>
                <a:latin typeface="Calibri" pitchFamily="34" charset="0"/>
                <a:ea typeface="Calibri" pitchFamily="34" charset="-122"/>
                <a:cs typeface="Calibri" pitchFamily="34" charset="-120"/>
              </a:rPr>
              <a:t>Expectations: </a:t>
            </a:r>
            <a:r>
              <a:rPr lang="en-US" sz="1200" dirty="0">
                <a:solidFill>
                  <a:srgbClr val="26282A"/>
                </a:solidFill>
                <a:latin typeface="Calibri" pitchFamily="34" charset="0"/>
                <a:ea typeface="Calibri" pitchFamily="34" charset="-122"/>
                <a:cs typeface="Calibri" pitchFamily="34" charset="-120"/>
              </a:rPr>
              <a:t>5 bullets, plain English.</a:t>
            </a:r>
            <a:endParaRPr lang="en-US" sz="1200" dirty="0"/>
          </a:p>
        </p:txBody>
      </p:sp>
      <p:sp>
        <p:nvSpPr>
          <p:cNvPr id="28" name="Text 26"/>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9" name="Text 27"/>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FRAMEWORK 3 OF 3</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RTCROS — the comprehensive one</a:t>
            </a:r>
            <a:endParaRPr lang="en-US" sz="2900" dirty="0"/>
          </a:p>
        </p:txBody>
      </p:sp>
      <p:sp>
        <p:nvSpPr>
          <p:cNvPr id="5" name="Shape 3"/>
          <p:cNvSpPr/>
          <p:nvPr/>
        </p:nvSpPr>
        <p:spPr>
          <a:xfrm>
            <a:off x="457200" y="1481328"/>
            <a:ext cx="2679192" cy="1033272"/>
          </a:xfrm>
          <a:prstGeom prst="roundRect">
            <a:avLst>
              <a:gd name="adj" fmla="val 708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Shape 4"/>
          <p:cNvSpPr/>
          <p:nvPr/>
        </p:nvSpPr>
        <p:spPr>
          <a:xfrm>
            <a:off x="621792" y="1737360"/>
            <a:ext cx="502920" cy="502920"/>
          </a:xfrm>
          <a:prstGeom prst="ellipse">
            <a:avLst/>
          </a:prstGeom>
          <a:solidFill>
            <a:srgbClr val="86BC25"/>
          </a:solidFill>
          <a:ln/>
        </p:spPr>
      </p:sp>
      <p:sp>
        <p:nvSpPr>
          <p:cNvPr id="7" name="Text 5"/>
          <p:cNvSpPr/>
          <p:nvPr/>
        </p:nvSpPr>
        <p:spPr>
          <a:xfrm>
            <a:off x="621792" y="17373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8" name="Text 6"/>
          <p:cNvSpPr/>
          <p:nvPr/>
        </p:nvSpPr>
        <p:spPr>
          <a:xfrm>
            <a:off x="1234440" y="1700784"/>
            <a:ext cx="1783080" cy="292608"/>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Role</a:t>
            </a:r>
            <a:endParaRPr lang="en-US" sz="1300" dirty="0"/>
          </a:p>
        </p:txBody>
      </p:sp>
      <p:sp>
        <p:nvSpPr>
          <p:cNvPr id="9" name="Text 7"/>
          <p:cNvSpPr/>
          <p:nvPr/>
        </p:nvSpPr>
        <p:spPr>
          <a:xfrm>
            <a:off x="1234440" y="1984248"/>
            <a:ext cx="1783080" cy="457200"/>
          </a:xfrm>
          <a:prstGeom prst="rect">
            <a:avLst/>
          </a:prstGeom>
          <a:noFill/>
          <a:ln/>
        </p:spPr>
        <p:txBody>
          <a:bodyPr wrap="square" lIns="0" tIns="0" rIns="0" bIns="0" rtlCol="0" anchor="ctr"/>
          <a:lstStyle/>
          <a:p>
            <a:pPr marL="0" indent="0">
              <a:buNone/>
            </a:pPr>
            <a:r>
              <a:rPr lang="en-US" sz="1000" dirty="0">
                <a:solidFill>
                  <a:srgbClr val="44474A"/>
                </a:solidFill>
                <a:latin typeface="Calibri" pitchFamily="34" charset="0"/>
                <a:ea typeface="Calibri" pitchFamily="34" charset="-122"/>
                <a:cs typeface="Calibri" pitchFamily="34" charset="-120"/>
              </a:rPr>
              <a:t>Who the AI is</a:t>
            </a:r>
            <a:endParaRPr lang="en-US" sz="1000" dirty="0"/>
          </a:p>
        </p:txBody>
      </p:sp>
      <p:sp>
        <p:nvSpPr>
          <p:cNvPr id="10" name="Shape 8"/>
          <p:cNvSpPr/>
          <p:nvPr/>
        </p:nvSpPr>
        <p:spPr>
          <a:xfrm>
            <a:off x="3264408" y="1481328"/>
            <a:ext cx="2679192" cy="1033272"/>
          </a:xfrm>
          <a:prstGeom prst="roundRect">
            <a:avLst>
              <a:gd name="adj" fmla="val 708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1" name="Shape 9"/>
          <p:cNvSpPr/>
          <p:nvPr/>
        </p:nvSpPr>
        <p:spPr>
          <a:xfrm>
            <a:off x="3429000" y="1737360"/>
            <a:ext cx="502920" cy="502920"/>
          </a:xfrm>
          <a:prstGeom prst="ellipse">
            <a:avLst/>
          </a:prstGeom>
          <a:solidFill>
            <a:srgbClr val="86BC25"/>
          </a:solidFill>
          <a:ln/>
        </p:spPr>
      </p:sp>
      <p:sp>
        <p:nvSpPr>
          <p:cNvPr id="12" name="Text 10"/>
          <p:cNvSpPr/>
          <p:nvPr/>
        </p:nvSpPr>
        <p:spPr>
          <a:xfrm>
            <a:off x="3429000" y="17373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13" name="Text 11"/>
          <p:cNvSpPr/>
          <p:nvPr/>
        </p:nvSpPr>
        <p:spPr>
          <a:xfrm>
            <a:off x="4041648" y="1700784"/>
            <a:ext cx="1783080" cy="292608"/>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Task</a:t>
            </a:r>
            <a:endParaRPr lang="en-US" sz="1300" dirty="0"/>
          </a:p>
        </p:txBody>
      </p:sp>
      <p:sp>
        <p:nvSpPr>
          <p:cNvPr id="14" name="Text 12"/>
          <p:cNvSpPr/>
          <p:nvPr/>
        </p:nvSpPr>
        <p:spPr>
          <a:xfrm>
            <a:off x="4041648" y="1984248"/>
            <a:ext cx="1783080" cy="457200"/>
          </a:xfrm>
          <a:prstGeom prst="rect">
            <a:avLst/>
          </a:prstGeom>
          <a:noFill/>
          <a:ln/>
        </p:spPr>
        <p:txBody>
          <a:bodyPr wrap="square" lIns="0" tIns="0" rIns="0" bIns="0" rtlCol="0" anchor="ctr"/>
          <a:lstStyle/>
          <a:p>
            <a:pPr marL="0" indent="0">
              <a:buNone/>
            </a:pPr>
            <a:r>
              <a:rPr lang="en-US" sz="1000" dirty="0">
                <a:solidFill>
                  <a:srgbClr val="44474A"/>
                </a:solidFill>
                <a:latin typeface="Calibri" pitchFamily="34" charset="0"/>
                <a:ea typeface="Calibri" pitchFamily="34" charset="-122"/>
                <a:cs typeface="Calibri" pitchFamily="34" charset="-120"/>
              </a:rPr>
              <a:t>What to do</a:t>
            </a:r>
            <a:endParaRPr lang="en-US" sz="1000" dirty="0"/>
          </a:p>
        </p:txBody>
      </p:sp>
      <p:sp>
        <p:nvSpPr>
          <p:cNvPr id="15" name="Shape 13"/>
          <p:cNvSpPr/>
          <p:nvPr/>
        </p:nvSpPr>
        <p:spPr>
          <a:xfrm>
            <a:off x="6071616" y="1481328"/>
            <a:ext cx="2679192" cy="1033272"/>
          </a:xfrm>
          <a:prstGeom prst="roundRect">
            <a:avLst>
              <a:gd name="adj" fmla="val 708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6" name="Shape 14"/>
          <p:cNvSpPr/>
          <p:nvPr/>
        </p:nvSpPr>
        <p:spPr>
          <a:xfrm>
            <a:off x="6236208" y="1737360"/>
            <a:ext cx="502920" cy="502920"/>
          </a:xfrm>
          <a:prstGeom prst="ellipse">
            <a:avLst/>
          </a:prstGeom>
          <a:solidFill>
            <a:srgbClr val="86BC25"/>
          </a:solidFill>
          <a:ln/>
        </p:spPr>
      </p:sp>
      <p:sp>
        <p:nvSpPr>
          <p:cNvPr id="17" name="Text 15"/>
          <p:cNvSpPr/>
          <p:nvPr/>
        </p:nvSpPr>
        <p:spPr>
          <a:xfrm>
            <a:off x="6236208" y="17373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18" name="Text 16"/>
          <p:cNvSpPr/>
          <p:nvPr/>
        </p:nvSpPr>
        <p:spPr>
          <a:xfrm>
            <a:off x="6848856" y="1700784"/>
            <a:ext cx="1783080" cy="292608"/>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Context</a:t>
            </a:r>
            <a:endParaRPr lang="en-US" sz="1300" dirty="0"/>
          </a:p>
        </p:txBody>
      </p:sp>
      <p:sp>
        <p:nvSpPr>
          <p:cNvPr id="19" name="Text 17"/>
          <p:cNvSpPr/>
          <p:nvPr/>
        </p:nvSpPr>
        <p:spPr>
          <a:xfrm>
            <a:off x="6848856" y="1984248"/>
            <a:ext cx="1783080" cy="457200"/>
          </a:xfrm>
          <a:prstGeom prst="rect">
            <a:avLst/>
          </a:prstGeom>
          <a:noFill/>
          <a:ln/>
        </p:spPr>
        <p:txBody>
          <a:bodyPr wrap="square" lIns="0" tIns="0" rIns="0" bIns="0" rtlCol="0" anchor="ctr"/>
          <a:lstStyle/>
          <a:p>
            <a:pPr marL="0" indent="0">
              <a:buNone/>
            </a:pPr>
            <a:r>
              <a:rPr lang="en-US" sz="1000" dirty="0">
                <a:solidFill>
                  <a:srgbClr val="44474A"/>
                </a:solidFill>
                <a:latin typeface="Calibri" pitchFamily="34" charset="0"/>
                <a:ea typeface="Calibri" pitchFamily="34" charset="-122"/>
                <a:cs typeface="Calibri" pitchFamily="34" charset="-120"/>
              </a:rPr>
              <a:t>Background &amp; boundaries</a:t>
            </a:r>
            <a:endParaRPr lang="en-US" sz="1000" dirty="0"/>
          </a:p>
        </p:txBody>
      </p:sp>
      <p:sp>
        <p:nvSpPr>
          <p:cNvPr id="20" name="Shape 18"/>
          <p:cNvSpPr/>
          <p:nvPr/>
        </p:nvSpPr>
        <p:spPr>
          <a:xfrm>
            <a:off x="457200" y="2651760"/>
            <a:ext cx="2679192" cy="1033272"/>
          </a:xfrm>
          <a:prstGeom prst="roundRect">
            <a:avLst>
              <a:gd name="adj" fmla="val 708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1" name="Shape 19"/>
          <p:cNvSpPr/>
          <p:nvPr/>
        </p:nvSpPr>
        <p:spPr>
          <a:xfrm>
            <a:off x="621792" y="2907792"/>
            <a:ext cx="502920" cy="502920"/>
          </a:xfrm>
          <a:prstGeom prst="ellipse">
            <a:avLst/>
          </a:prstGeom>
          <a:solidFill>
            <a:srgbClr val="86BC25"/>
          </a:solidFill>
          <a:ln/>
        </p:spPr>
      </p:sp>
      <p:sp>
        <p:nvSpPr>
          <p:cNvPr id="22" name="Text 20"/>
          <p:cNvSpPr/>
          <p:nvPr/>
        </p:nvSpPr>
        <p:spPr>
          <a:xfrm>
            <a:off x="621792" y="290779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R</a:t>
            </a:r>
            <a:endParaRPr lang="en-US" sz="2000" dirty="0"/>
          </a:p>
        </p:txBody>
      </p:sp>
      <p:sp>
        <p:nvSpPr>
          <p:cNvPr id="23" name="Text 21"/>
          <p:cNvSpPr/>
          <p:nvPr/>
        </p:nvSpPr>
        <p:spPr>
          <a:xfrm>
            <a:off x="1234440" y="2871216"/>
            <a:ext cx="1783080" cy="292608"/>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Reasoning</a:t>
            </a:r>
            <a:endParaRPr lang="en-US" sz="1300" dirty="0"/>
          </a:p>
        </p:txBody>
      </p:sp>
      <p:sp>
        <p:nvSpPr>
          <p:cNvPr id="24" name="Text 22"/>
          <p:cNvSpPr/>
          <p:nvPr/>
        </p:nvSpPr>
        <p:spPr>
          <a:xfrm>
            <a:off x="1234440" y="3154680"/>
            <a:ext cx="1783080" cy="457200"/>
          </a:xfrm>
          <a:prstGeom prst="rect">
            <a:avLst/>
          </a:prstGeom>
          <a:noFill/>
          <a:ln/>
        </p:spPr>
        <p:txBody>
          <a:bodyPr wrap="square" lIns="0" tIns="0" rIns="0" bIns="0" rtlCol="0" anchor="ctr"/>
          <a:lstStyle/>
          <a:p>
            <a:pPr marL="0" indent="0">
              <a:buNone/>
            </a:pPr>
            <a:r>
              <a:rPr lang="en-US" sz="1000" dirty="0">
                <a:solidFill>
                  <a:srgbClr val="44474A"/>
                </a:solidFill>
                <a:latin typeface="Calibri" pitchFamily="34" charset="0"/>
                <a:ea typeface="Calibri" pitchFamily="34" charset="-122"/>
                <a:cs typeface="Calibri" pitchFamily="34" charset="-120"/>
              </a:rPr>
              <a:t>Ask it to think &amp; self-check</a:t>
            </a:r>
            <a:endParaRPr lang="en-US" sz="1000" dirty="0"/>
          </a:p>
        </p:txBody>
      </p:sp>
      <p:sp>
        <p:nvSpPr>
          <p:cNvPr id="25" name="Shape 23"/>
          <p:cNvSpPr/>
          <p:nvPr/>
        </p:nvSpPr>
        <p:spPr>
          <a:xfrm>
            <a:off x="3264408" y="2651760"/>
            <a:ext cx="2679192" cy="1033272"/>
          </a:xfrm>
          <a:prstGeom prst="roundRect">
            <a:avLst>
              <a:gd name="adj" fmla="val 708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6" name="Shape 24"/>
          <p:cNvSpPr/>
          <p:nvPr/>
        </p:nvSpPr>
        <p:spPr>
          <a:xfrm>
            <a:off x="3429000" y="2907792"/>
            <a:ext cx="502920" cy="502920"/>
          </a:xfrm>
          <a:prstGeom prst="ellipse">
            <a:avLst/>
          </a:prstGeom>
          <a:solidFill>
            <a:srgbClr val="86BC25"/>
          </a:solidFill>
          <a:ln/>
        </p:spPr>
      </p:sp>
      <p:sp>
        <p:nvSpPr>
          <p:cNvPr id="27" name="Text 25"/>
          <p:cNvSpPr/>
          <p:nvPr/>
        </p:nvSpPr>
        <p:spPr>
          <a:xfrm>
            <a:off x="3429000" y="290779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O</a:t>
            </a:r>
            <a:endParaRPr lang="en-US" sz="2000" dirty="0"/>
          </a:p>
        </p:txBody>
      </p:sp>
      <p:sp>
        <p:nvSpPr>
          <p:cNvPr id="28" name="Text 26"/>
          <p:cNvSpPr/>
          <p:nvPr/>
        </p:nvSpPr>
        <p:spPr>
          <a:xfrm>
            <a:off x="4041648" y="2871216"/>
            <a:ext cx="1783080" cy="292608"/>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Output format</a:t>
            </a:r>
            <a:endParaRPr lang="en-US" sz="1300" dirty="0"/>
          </a:p>
        </p:txBody>
      </p:sp>
      <p:sp>
        <p:nvSpPr>
          <p:cNvPr id="29" name="Text 27"/>
          <p:cNvSpPr/>
          <p:nvPr/>
        </p:nvSpPr>
        <p:spPr>
          <a:xfrm>
            <a:off x="4041648" y="3154680"/>
            <a:ext cx="1783080" cy="457200"/>
          </a:xfrm>
          <a:prstGeom prst="rect">
            <a:avLst/>
          </a:prstGeom>
          <a:noFill/>
          <a:ln/>
        </p:spPr>
        <p:txBody>
          <a:bodyPr wrap="square" lIns="0" tIns="0" rIns="0" bIns="0" rtlCol="0" anchor="ctr"/>
          <a:lstStyle/>
          <a:p>
            <a:pPr marL="0" indent="0">
              <a:buNone/>
            </a:pPr>
            <a:r>
              <a:rPr lang="en-US" sz="1000" dirty="0">
                <a:solidFill>
                  <a:srgbClr val="44474A"/>
                </a:solidFill>
                <a:latin typeface="Calibri" pitchFamily="34" charset="0"/>
                <a:ea typeface="Calibri" pitchFamily="34" charset="-122"/>
                <a:cs typeface="Calibri" pitchFamily="34" charset="-120"/>
              </a:rPr>
              <a:t>Table, list, email…</a:t>
            </a:r>
            <a:endParaRPr lang="en-US" sz="1000" dirty="0"/>
          </a:p>
        </p:txBody>
      </p:sp>
      <p:sp>
        <p:nvSpPr>
          <p:cNvPr id="30" name="Shape 28"/>
          <p:cNvSpPr/>
          <p:nvPr/>
        </p:nvSpPr>
        <p:spPr>
          <a:xfrm>
            <a:off x="6071616" y="2651760"/>
            <a:ext cx="2679192" cy="1033272"/>
          </a:xfrm>
          <a:prstGeom prst="roundRect">
            <a:avLst>
              <a:gd name="adj" fmla="val 708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31" name="Shape 29"/>
          <p:cNvSpPr/>
          <p:nvPr/>
        </p:nvSpPr>
        <p:spPr>
          <a:xfrm>
            <a:off x="6236208" y="2907792"/>
            <a:ext cx="502920" cy="502920"/>
          </a:xfrm>
          <a:prstGeom prst="ellipse">
            <a:avLst/>
          </a:prstGeom>
          <a:solidFill>
            <a:srgbClr val="86BC25"/>
          </a:solidFill>
          <a:ln/>
        </p:spPr>
      </p:sp>
      <p:sp>
        <p:nvSpPr>
          <p:cNvPr id="32" name="Text 30"/>
          <p:cNvSpPr/>
          <p:nvPr/>
        </p:nvSpPr>
        <p:spPr>
          <a:xfrm>
            <a:off x="6236208" y="2907792"/>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33" name="Text 31"/>
          <p:cNvSpPr/>
          <p:nvPr/>
        </p:nvSpPr>
        <p:spPr>
          <a:xfrm>
            <a:off x="6848856" y="2871216"/>
            <a:ext cx="1783080" cy="292608"/>
          </a:xfrm>
          <a:prstGeom prst="rect">
            <a:avLst/>
          </a:prstGeom>
          <a:noFill/>
          <a:ln/>
        </p:spPr>
        <p:txBody>
          <a:bodyPr wrap="square" lIns="0" tIns="0" rIns="0" bIns="0" rtlCol="0" anchor="ctr"/>
          <a:lstStyle/>
          <a:p>
            <a:pPr marL="0" indent="0">
              <a:buNone/>
            </a:pPr>
            <a:r>
              <a:rPr lang="en-US" sz="1300" b="1" dirty="0">
                <a:solidFill>
                  <a:srgbClr val="26282A"/>
                </a:solidFill>
                <a:latin typeface="Calibri" pitchFamily="34" charset="0"/>
                <a:ea typeface="Calibri" pitchFamily="34" charset="-122"/>
                <a:cs typeface="Calibri" pitchFamily="34" charset="-120"/>
              </a:rPr>
              <a:t>Stop conditions</a:t>
            </a:r>
            <a:endParaRPr lang="en-US" sz="1300" dirty="0"/>
          </a:p>
        </p:txBody>
      </p:sp>
      <p:sp>
        <p:nvSpPr>
          <p:cNvPr id="34" name="Text 32"/>
          <p:cNvSpPr/>
          <p:nvPr/>
        </p:nvSpPr>
        <p:spPr>
          <a:xfrm>
            <a:off x="6848856" y="3154680"/>
            <a:ext cx="1783080" cy="457200"/>
          </a:xfrm>
          <a:prstGeom prst="rect">
            <a:avLst/>
          </a:prstGeom>
          <a:noFill/>
          <a:ln/>
        </p:spPr>
        <p:txBody>
          <a:bodyPr wrap="square" lIns="0" tIns="0" rIns="0" bIns="0" rtlCol="0" anchor="ctr"/>
          <a:lstStyle/>
          <a:p>
            <a:pPr marL="0" indent="0">
              <a:buNone/>
            </a:pPr>
            <a:r>
              <a:rPr lang="en-US" sz="1000" dirty="0">
                <a:solidFill>
                  <a:srgbClr val="44474A"/>
                </a:solidFill>
                <a:latin typeface="Calibri" pitchFamily="34" charset="0"/>
                <a:ea typeface="Calibri" pitchFamily="34" charset="-122"/>
                <a:cs typeface="Calibri" pitchFamily="34" charset="-120"/>
              </a:rPr>
              <a:t>When it's done</a:t>
            </a:r>
            <a:endParaRPr lang="en-US" sz="1000" dirty="0"/>
          </a:p>
        </p:txBody>
      </p:sp>
      <p:sp>
        <p:nvSpPr>
          <p:cNvPr id="35" name="Text 33"/>
          <p:cNvSpPr/>
          <p:nvPr/>
        </p:nvSpPr>
        <p:spPr>
          <a:xfrm>
            <a:off x="457200" y="4023360"/>
            <a:ext cx="8229600" cy="365760"/>
          </a:xfrm>
          <a:prstGeom prst="rect">
            <a:avLst/>
          </a:prstGeom>
          <a:noFill/>
          <a:ln/>
        </p:spPr>
        <p:txBody>
          <a:bodyPr wrap="square" lIns="0" tIns="0" rIns="0" bIns="0" rtlCol="0" anchor="ctr"/>
          <a:lstStyle/>
          <a:p>
            <a:pPr marL="0" indent="0">
              <a:buNone/>
            </a:pPr>
            <a:r>
              <a:rPr lang="en-US" sz="1150" b="1" i="1" dirty="0">
                <a:solidFill>
                  <a:srgbClr val="5C8A1B"/>
                </a:solidFill>
                <a:latin typeface="Calibri" pitchFamily="34" charset="0"/>
                <a:ea typeface="Calibri" pitchFamily="34" charset="-122"/>
                <a:cs typeface="Calibri" pitchFamily="34" charset="-120"/>
              </a:rPr>
              <a:t>Best for high-stakes work.  </a:t>
            </a:r>
            <a:r>
              <a:rPr lang="en-US" sz="1150" i="1" dirty="0">
                <a:solidFill>
                  <a:srgbClr val="44474A"/>
                </a:solidFill>
                <a:latin typeface="Calibri" pitchFamily="34" charset="0"/>
                <a:ea typeface="Calibri" pitchFamily="34" charset="-122"/>
                <a:cs typeface="Calibri" pitchFamily="34" charset="-120"/>
              </a:rPr>
              <a:t>The Reasoning + Stop steps make it self-check and reduce errors.  (Some versions use Rules &amp; Style for R/S.)</a:t>
            </a:r>
            <a:endParaRPr lang="en-US" sz="1150" dirty="0"/>
          </a:p>
        </p:txBody>
      </p:sp>
      <p:sp>
        <p:nvSpPr>
          <p:cNvPr id="36" name="Text 34"/>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37" name="Text 35"/>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TECHNIQUES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Zero-, one- &amp; few-shot prompting</a:t>
            </a:r>
            <a:endParaRPr lang="en-US" sz="2900" dirty="0"/>
          </a:p>
        </p:txBody>
      </p:sp>
      <p:sp>
        <p:nvSpPr>
          <p:cNvPr id="5" name="Text 3"/>
          <p:cNvSpPr/>
          <p:nvPr/>
        </p:nvSpPr>
        <p:spPr>
          <a:xfrm>
            <a:off x="457200" y="1371600"/>
            <a:ext cx="8229600" cy="365760"/>
          </a:xfrm>
          <a:prstGeom prst="rect">
            <a:avLst/>
          </a:prstGeom>
          <a:noFill/>
          <a:ln/>
        </p:spPr>
        <p:txBody>
          <a:bodyPr wrap="square" lIns="0" tIns="0" rIns="0" bIns="0" rtlCol="0" anchor="ctr"/>
          <a:lstStyle/>
          <a:p>
            <a:pPr marL="0" indent="0">
              <a:buNone/>
            </a:pPr>
            <a:r>
              <a:rPr lang="en-US" sz="1400" dirty="0">
                <a:solidFill>
                  <a:srgbClr val="26282A"/>
                </a:solidFill>
                <a:latin typeface="Calibri" pitchFamily="34" charset="0"/>
                <a:ea typeface="Calibri" pitchFamily="34" charset="-122"/>
                <a:cs typeface="Calibri" pitchFamily="34" charset="-120"/>
              </a:rPr>
              <a:t>A “shot” = an example you give the AI. More good examples → more on-target output.</a:t>
            </a:r>
            <a:endParaRPr lang="en-US" sz="1400" dirty="0"/>
          </a:p>
        </p:txBody>
      </p:sp>
      <p:sp>
        <p:nvSpPr>
          <p:cNvPr id="6" name="Shape 4"/>
          <p:cNvSpPr/>
          <p:nvPr/>
        </p:nvSpPr>
        <p:spPr>
          <a:xfrm>
            <a:off x="457200" y="1828800"/>
            <a:ext cx="2679192" cy="2468880"/>
          </a:xfrm>
          <a:prstGeom prst="roundRect">
            <a:avLst>
              <a:gd name="adj" fmla="val 2963"/>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7" name="Text 5"/>
          <p:cNvSpPr/>
          <p:nvPr/>
        </p:nvSpPr>
        <p:spPr>
          <a:xfrm>
            <a:off x="658368" y="1993392"/>
            <a:ext cx="2286000" cy="292608"/>
          </a:xfrm>
          <a:prstGeom prst="rect">
            <a:avLst/>
          </a:prstGeom>
          <a:noFill/>
          <a:ln/>
        </p:spPr>
        <p:txBody>
          <a:bodyPr wrap="square" lIns="0" tIns="0" rIns="0" bIns="0" rtlCol="0" anchor="ctr"/>
          <a:lstStyle/>
          <a:p>
            <a:pPr marL="0" indent="0">
              <a:buNone/>
            </a:pPr>
            <a:r>
              <a:rPr lang="en-US" sz="1600" b="1" dirty="0">
                <a:solidFill>
                  <a:srgbClr val="5C8A1B"/>
                </a:solidFill>
                <a:latin typeface="Cambria" pitchFamily="34" charset="0"/>
                <a:ea typeface="Cambria" pitchFamily="34" charset="-122"/>
                <a:cs typeface="Cambria" pitchFamily="34" charset="-120"/>
              </a:rPr>
              <a:t>Zero-shot</a:t>
            </a:r>
            <a:endParaRPr lang="en-US" sz="1600" dirty="0"/>
          </a:p>
        </p:txBody>
      </p:sp>
      <p:sp>
        <p:nvSpPr>
          <p:cNvPr id="8" name="Text 6"/>
          <p:cNvSpPr/>
          <p:nvPr/>
        </p:nvSpPr>
        <p:spPr>
          <a:xfrm>
            <a:off x="658368" y="2340864"/>
            <a:ext cx="2331720" cy="457200"/>
          </a:xfrm>
          <a:prstGeom prst="rect">
            <a:avLst/>
          </a:prstGeom>
          <a:noFill/>
          <a:ln/>
        </p:spPr>
        <p:txBody>
          <a:bodyPr wrap="square" lIns="0" tIns="0" rIns="0" bIns="0" rtlCol="0" anchor="ctr"/>
          <a:lstStyle/>
          <a:p>
            <a:pPr marL="0" indent="0">
              <a:buNone/>
            </a:pPr>
            <a:r>
              <a:rPr lang="en-US" sz="1200" b="1" dirty="0">
                <a:solidFill>
                  <a:srgbClr val="26282A"/>
                </a:solidFill>
                <a:latin typeface="Calibri" pitchFamily="34" charset="0"/>
                <a:ea typeface="Calibri" pitchFamily="34" charset="-122"/>
                <a:cs typeface="Calibri" pitchFamily="34" charset="-120"/>
              </a:rPr>
              <a:t>No examples — just ask.</a:t>
            </a:r>
            <a:endParaRPr lang="en-US" sz="1200" dirty="0"/>
          </a:p>
        </p:txBody>
      </p:sp>
      <p:sp>
        <p:nvSpPr>
          <p:cNvPr id="9" name="Text 7"/>
          <p:cNvSpPr/>
          <p:nvPr/>
        </p:nvSpPr>
        <p:spPr>
          <a:xfrm>
            <a:off x="658368" y="2852928"/>
            <a:ext cx="2331720" cy="777240"/>
          </a:xfrm>
          <a:prstGeom prst="rect">
            <a:avLst/>
          </a:prstGeom>
          <a:noFill/>
          <a:ln/>
        </p:spPr>
        <p:txBody>
          <a:bodyPr wrap="square" lIns="0" tIns="0" rIns="0" bIns="0" rtlCol="0" anchor="ctr"/>
          <a:lstStyle/>
          <a:p>
            <a:pPr marL="0" indent="0">
              <a:buNone/>
            </a:pPr>
            <a:r>
              <a:rPr lang="en-US" sz="1100" i="1" dirty="0">
                <a:solidFill>
                  <a:srgbClr val="44474A"/>
                </a:solidFill>
                <a:latin typeface="Calibri" pitchFamily="34" charset="0"/>
                <a:ea typeface="Calibri" pitchFamily="34" charset="-122"/>
                <a:cs typeface="Calibri" pitchFamily="34" charset="-120"/>
              </a:rPr>
              <a:t>“Classify this review as positive or negative.”</a:t>
            </a:r>
            <a:endParaRPr lang="en-US" sz="1100" dirty="0"/>
          </a:p>
        </p:txBody>
      </p:sp>
      <p:sp>
        <p:nvSpPr>
          <p:cNvPr id="10" name="Text 8"/>
          <p:cNvSpPr/>
          <p:nvPr/>
        </p:nvSpPr>
        <p:spPr>
          <a:xfrm>
            <a:off x="658368" y="3703320"/>
            <a:ext cx="2286000" cy="201168"/>
          </a:xfrm>
          <a:prstGeom prst="rect">
            <a:avLst/>
          </a:prstGeom>
          <a:noFill/>
          <a:ln/>
        </p:spPr>
        <p:txBody>
          <a:bodyPr wrap="square" lIns="0" tIns="0" rIns="0" bIns="0" rtlCol="0" anchor="ctr"/>
          <a:lstStyle/>
          <a:p>
            <a:pPr marL="0" indent="0">
              <a:buNone/>
            </a:pPr>
            <a:r>
              <a:rPr lang="en-US" sz="900" b="1" kern="0" spc="100" dirty="0">
                <a:solidFill>
                  <a:srgbClr val="5C8A1B"/>
                </a:solidFill>
                <a:latin typeface="Calibri" pitchFamily="34" charset="0"/>
                <a:ea typeface="Calibri" pitchFamily="34" charset="-122"/>
                <a:cs typeface="Calibri" pitchFamily="34" charset="-120"/>
              </a:rPr>
              <a:t>BEST FOR</a:t>
            </a:r>
            <a:endParaRPr lang="en-US" sz="900" dirty="0"/>
          </a:p>
        </p:txBody>
      </p:sp>
      <p:sp>
        <p:nvSpPr>
          <p:cNvPr id="11" name="Text 9"/>
          <p:cNvSpPr/>
          <p:nvPr/>
        </p:nvSpPr>
        <p:spPr>
          <a:xfrm>
            <a:off x="658368" y="3904488"/>
            <a:ext cx="2331720" cy="347472"/>
          </a:xfrm>
          <a:prstGeom prst="rect">
            <a:avLst/>
          </a:prstGeom>
          <a:noFill/>
          <a:ln/>
        </p:spPr>
        <p:txBody>
          <a:bodyPr wrap="square" lIns="0" tIns="0" rIns="0" bIns="0" rtlCol="0" anchor="ctr"/>
          <a:lstStyle/>
          <a:p>
            <a:pPr marL="0" indent="0">
              <a:buNone/>
            </a:pPr>
            <a:r>
              <a:rPr lang="en-US" sz="1100" dirty="0">
                <a:solidFill>
                  <a:srgbClr val="26282A"/>
                </a:solidFill>
                <a:latin typeface="Calibri" pitchFamily="34" charset="0"/>
                <a:ea typeface="Calibri" pitchFamily="34" charset="-122"/>
                <a:cs typeface="Calibri" pitchFamily="34" charset="-120"/>
              </a:rPr>
              <a:t>Simple, familiar tasks</a:t>
            </a:r>
            <a:endParaRPr lang="en-US" sz="1100" dirty="0"/>
          </a:p>
        </p:txBody>
      </p:sp>
      <p:sp>
        <p:nvSpPr>
          <p:cNvPr id="12" name="Shape 10"/>
          <p:cNvSpPr/>
          <p:nvPr/>
        </p:nvSpPr>
        <p:spPr>
          <a:xfrm>
            <a:off x="3264408" y="1828800"/>
            <a:ext cx="2679192" cy="2468880"/>
          </a:xfrm>
          <a:prstGeom prst="roundRect">
            <a:avLst>
              <a:gd name="adj" fmla="val 2963"/>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3" name="Text 11"/>
          <p:cNvSpPr/>
          <p:nvPr/>
        </p:nvSpPr>
        <p:spPr>
          <a:xfrm>
            <a:off x="3465576" y="1993392"/>
            <a:ext cx="2286000" cy="292608"/>
          </a:xfrm>
          <a:prstGeom prst="rect">
            <a:avLst/>
          </a:prstGeom>
          <a:noFill/>
          <a:ln/>
        </p:spPr>
        <p:txBody>
          <a:bodyPr wrap="square" lIns="0" tIns="0" rIns="0" bIns="0" rtlCol="0" anchor="ctr"/>
          <a:lstStyle/>
          <a:p>
            <a:pPr marL="0" indent="0">
              <a:buNone/>
            </a:pPr>
            <a:r>
              <a:rPr lang="en-US" sz="1600" b="1" dirty="0">
                <a:solidFill>
                  <a:srgbClr val="5C8A1B"/>
                </a:solidFill>
                <a:latin typeface="Cambria" pitchFamily="34" charset="0"/>
                <a:ea typeface="Cambria" pitchFamily="34" charset="-122"/>
                <a:cs typeface="Cambria" pitchFamily="34" charset="-120"/>
              </a:rPr>
              <a:t>One-shot</a:t>
            </a:r>
            <a:endParaRPr lang="en-US" sz="1600" dirty="0"/>
          </a:p>
        </p:txBody>
      </p:sp>
      <p:sp>
        <p:nvSpPr>
          <p:cNvPr id="14" name="Text 12"/>
          <p:cNvSpPr/>
          <p:nvPr/>
        </p:nvSpPr>
        <p:spPr>
          <a:xfrm>
            <a:off x="3465576" y="2340864"/>
            <a:ext cx="2331720" cy="457200"/>
          </a:xfrm>
          <a:prstGeom prst="rect">
            <a:avLst/>
          </a:prstGeom>
          <a:noFill/>
          <a:ln/>
        </p:spPr>
        <p:txBody>
          <a:bodyPr wrap="square" lIns="0" tIns="0" rIns="0" bIns="0" rtlCol="0" anchor="ctr"/>
          <a:lstStyle/>
          <a:p>
            <a:pPr marL="0" indent="0">
              <a:buNone/>
            </a:pPr>
            <a:r>
              <a:rPr lang="en-US" sz="1200" b="1" dirty="0">
                <a:solidFill>
                  <a:srgbClr val="26282A"/>
                </a:solidFill>
                <a:latin typeface="Calibri" pitchFamily="34" charset="0"/>
                <a:ea typeface="Calibri" pitchFamily="34" charset="-122"/>
                <a:cs typeface="Calibri" pitchFamily="34" charset="-120"/>
              </a:rPr>
              <a:t>Give one example first.</a:t>
            </a:r>
            <a:endParaRPr lang="en-US" sz="1200" dirty="0"/>
          </a:p>
        </p:txBody>
      </p:sp>
      <p:sp>
        <p:nvSpPr>
          <p:cNvPr id="15" name="Text 13"/>
          <p:cNvSpPr/>
          <p:nvPr/>
        </p:nvSpPr>
        <p:spPr>
          <a:xfrm>
            <a:off x="3465576" y="2852928"/>
            <a:ext cx="2331720" cy="777240"/>
          </a:xfrm>
          <a:prstGeom prst="rect">
            <a:avLst/>
          </a:prstGeom>
          <a:noFill/>
          <a:ln/>
        </p:spPr>
        <p:txBody>
          <a:bodyPr wrap="square" lIns="0" tIns="0" rIns="0" bIns="0" rtlCol="0" anchor="ctr"/>
          <a:lstStyle/>
          <a:p>
            <a:pPr marL="0" indent="0">
              <a:buNone/>
            </a:pPr>
            <a:r>
              <a:rPr lang="en-US" sz="1100" i="1" dirty="0">
                <a:solidFill>
                  <a:srgbClr val="44474A"/>
                </a:solidFill>
                <a:latin typeface="Calibri" pitchFamily="34" charset="0"/>
                <a:ea typeface="Calibri" pitchFamily="34" charset="-122"/>
                <a:cs typeface="Calibri" pitchFamily="34" charset="-120"/>
              </a:rPr>
              <a:t>Show one labelled review, then ask it to do the next.</a:t>
            </a:r>
            <a:endParaRPr lang="en-US" sz="1100" dirty="0"/>
          </a:p>
        </p:txBody>
      </p:sp>
      <p:sp>
        <p:nvSpPr>
          <p:cNvPr id="16" name="Text 14"/>
          <p:cNvSpPr/>
          <p:nvPr/>
        </p:nvSpPr>
        <p:spPr>
          <a:xfrm>
            <a:off x="3465576" y="3703320"/>
            <a:ext cx="2286000" cy="201168"/>
          </a:xfrm>
          <a:prstGeom prst="rect">
            <a:avLst/>
          </a:prstGeom>
          <a:noFill/>
          <a:ln/>
        </p:spPr>
        <p:txBody>
          <a:bodyPr wrap="square" lIns="0" tIns="0" rIns="0" bIns="0" rtlCol="0" anchor="ctr"/>
          <a:lstStyle/>
          <a:p>
            <a:pPr marL="0" indent="0">
              <a:buNone/>
            </a:pPr>
            <a:r>
              <a:rPr lang="en-US" sz="900" b="1" kern="0" spc="100" dirty="0">
                <a:solidFill>
                  <a:srgbClr val="5C8A1B"/>
                </a:solidFill>
                <a:latin typeface="Calibri" pitchFamily="34" charset="0"/>
                <a:ea typeface="Calibri" pitchFamily="34" charset="-122"/>
                <a:cs typeface="Calibri" pitchFamily="34" charset="-120"/>
              </a:rPr>
              <a:t>BEST FOR</a:t>
            </a:r>
            <a:endParaRPr lang="en-US" sz="900" dirty="0"/>
          </a:p>
        </p:txBody>
      </p:sp>
      <p:sp>
        <p:nvSpPr>
          <p:cNvPr id="17" name="Text 15"/>
          <p:cNvSpPr/>
          <p:nvPr/>
        </p:nvSpPr>
        <p:spPr>
          <a:xfrm>
            <a:off x="3465576" y="3904488"/>
            <a:ext cx="2331720" cy="347472"/>
          </a:xfrm>
          <a:prstGeom prst="rect">
            <a:avLst/>
          </a:prstGeom>
          <a:noFill/>
          <a:ln/>
        </p:spPr>
        <p:txBody>
          <a:bodyPr wrap="square" lIns="0" tIns="0" rIns="0" bIns="0" rtlCol="0" anchor="ctr"/>
          <a:lstStyle/>
          <a:p>
            <a:pPr marL="0" indent="0">
              <a:buNone/>
            </a:pPr>
            <a:r>
              <a:rPr lang="en-US" sz="1100" dirty="0">
                <a:solidFill>
                  <a:srgbClr val="26282A"/>
                </a:solidFill>
                <a:latin typeface="Calibri" pitchFamily="34" charset="0"/>
                <a:ea typeface="Calibri" pitchFamily="34" charset="-122"/>
                <a:cs typeface="Calibri" pitchFamily="34" charset="-120"/>
              </a:rPr>
              <a:t>When format matters</a:t>
            </a:r>
            <a:endParaRPr lang="en-US" sz="1100" dirty="0"/>
          </a:p>
        </p:txBody>
      </p:sp>
      <p:sp>
        <p:nvSpPr>
          <p:cNvPr id="18" name="Shape 16"/>
          <p:cNvSpPr/>
          <p:nvPr/>
        </p:nvSpPr>
        <p:spPr>
          <a:xfrm>
            <a:off x="6071616" y="1828800"/>
            <a:ext cx="2679192" cy="2468880"/>
          </a:xfrm>
          <a:prstGeom prst="roundRect">
            <a:avLst>
              <a:gd name="adj" fmla="val 2963"/>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9" name="Text 17"/>
          <p:cNvSpPr/>
          <p:nvPr/>
        </p:nvSpPr>
        <p:spPr>
          <a:xfrm>
            <a:off x="6272784" y="1993392"/>
            <a:ext cx="2286000" cy="292608"/>
          </a:xfrm>
          <a:prstGeom prst="rect">
            <a:avLst/>
          </a:prstGeom>
          <a:noFill/>
          <a:ln/>
        </p:spPr>
        <p:txBody>
          <a:bodyPr wrap="square" lIns="0" tIns="0" rIns="0" bIns="0" rtlCol="0" anchor="ctr"/>
          <a:lstStyle/>
          <a:p>
            <a:pPr marL="0" indent="0">
              <a:buNone/>
            </a:pPr>
            <a:r>
              <a:rPr lang="en-US" sz="1600" b="1" dirty="0">
                <a:solidFill>
                  <a:srgbClr val="5C8A1B"/>
                </a:solidFill>
                <a:latin typeface="Cambria" pitchFamily="34" charset="0"/>
                <a:ea typeface="Cambria" pitchFamily="34" charset="-122"/>
                <a:cs typeface="Cambria" pitchFamily="34" charset="-120"/>
              </a:rPr>
              <a:t>Few-shot</a:t>
            </a:r>
            <a:endParaRPr lang="en-US" sz="1600" dirty="0"/>
          </a:p>
        </p:txBody>
      </p:sp>
      <p:sp>
        <p:nvSpPr>
          <p:cNvPr id="20" name="Text 18"/>
          <p:cNvSpPr/>
          <p:nvPr/>
        </p:nvSpPr>
        <p:spPr>
          <a:xfrm>
            <a:off x="6272784" y="2340864"/>
            <a:ext cx="2331720" cy="457200"/>
          </a:xfrm>
          <a:prstGeom prst="rect">
            <a:avLst/>
          </a:prstGeom>
          <a:noFill/>
          <a:ln/>
        </p:spPr>
        <p:txBody>
          <a:bodyPr wrap="square" lIns="0" tIns="0" rIns="0" bIns="0" rtlCol="0" anchor="ctr"/>
          <a:lstStyle/>
          <a:p>
            <a:pPr marL="0" indent="0">
              <a:buNone/>
            </a:pPr>
            <a:r>
              <a:rPr lang="en-US" sz="1200" b="1" dirty="0">
                <a:solidFill>
                  <a:srgbClr val="26282A"/>
                </a:solidFill>
                <a:latin typeface="Calibri" pitchFamily="34" charset="0"/>
                <a:ea typeface="Calibri" pitchFamily="34" charset="-122"/>
                <a:cs typeface="Calibri" pitchFamily="34" charset="-120"/>
              </a:rPr>
              <a:t>Give 2–5 examples.</a:t>
            </a:r>
            <a:endParaRPr lang="en-US" sz="1200" dirty="0"/>
          </a:p>
        </p:txBody>
      </p:sp>
      <p:sp>
        <p:nvSpPr>
          <p:cNvPr id="21" name="Text 19"/>
          <p:cNvSpPr/>
          <p:nvPr/>
        </p:nvSpPr>
        <p:spPr>
          <a:xfrm>
            <a:off x="6272784" y="2852928"/>
            <a:ext cx="2331720" cy="777240"/>
          </a:xfrm>
          <a:prstGeom prst="rect">
            <a:avLst/>
          </a:prstGeom>
          <a:noFill/>
          <a:ln/>
        </p:spPr>
        <p:txBody>
          <a:bodyPr wrap="square" lIns="0" tIns="0" rIns="0" bIns="0" rtlCol="0" anchor="ctr"/>
          <a:lstStyle/>
          <a:p>
            <a:pPr marL="0" indent="0">
              <a:buNone/>
            </a:pPr>
            <a:r>
              <a:rPr lang="en-US" sz="1100" i="1" dirty="0">
                <a:solidFill>
                  <a:srgbClr val="44474A"/>
                </a:solidFill>
                <a:latin typeface="Calibri" pitchFamily="34" charset="0"/>
                <a:ea typeface="Calibri" pitchFamily="34" charset="-122"/>
                <a:cs typeface="Calibri" pitchFamily="34" charset="-120"/>
              </a:rPr>
              <a:t>Show several labelled reviews, then the new one.</a:t>
            </a:r>
            <a:endParaRPr lang="en-US" sz="1100" dirty="0"/>
          </a:p>
        </p:txBody>
      </p:sp>
      <p:sp>
        <p:nvSpPr>
          <p:cNvPr id="22" name="Text 20"/>
          <p:cNvSpPr/>
          <p:nvPr/>
        </p:nvSpPr>
        <p:spPr>
          <a:xfrm>
            <a:off x="6272784" y="3703320"/>
            <a:ext cx="2286000" cy="201168"/>
          </a:xfrm>
          <a:prstGeom prst="rect">
            <a:avLst/>
          </a:prstGeom>
          <a:noFill/>
          <a:ln/>
        </p:spPr>
        <p:txBody>
          <a:bodyPr wrap="square" lIns="0" tIns="0" rIns="0" bIns="0" rtlCol="0" anchor="ctr"/>
          <a:lstStyle/>
          <a:p>
            <a:pPr marL="0" indent="0">
              <a:buNone/>
            </a:pPr>
            <a:r>
              <a:rPr lang="en-US" sz="900" b="1" kern="0" spc="100" dirty="0">
                <a:solidFill>
                  <a:srgbClr val="5C8A1B"/>
                </a:solidFill>
                <a:latin typeface="Calibri" pitchFamily="34" charset="0"/>
                <a:ea typeface="Calibri" pitchFamily="34" charset="-122"/>
                <a:cs typeface="Calibri" pitchFamily="34" charset="-120"/>
              </a:rPr>
              <a:t>BEST FOR</a:t>
            </a:r>
            <a:endParaRPr lang="en-US" sz="900" dirty="0"/>
          </a:p>
        </p:txBody>
      </p:sp>
      <p:sp>
        <p:nvSpPr>
          <p:cNvPr id="23" name="Text 21"/>
          <p:cNvSpPr/>
          <p:nvPr/>
        </p:nvSpPr>
        <p:spPr>
          <a:xfrm>
            <a:off x="6272784" y="3904488"/>
            <a:ext cx="2331720" cy="347472"/>
          </a:xfrm>
          <a:prstGeom prst="rect">
            <a:avLst/>
          </a:prstGeom>
          <a:noFill/>
          <a:ln/>
        </p:spPr>
        <p:txBody>
          <a:bodyPr wrap="square" lIns="0" tIns="0" rIns="0" bIns="0" rtlCol="0" anchor="ctr"/>
          <a:lstStyle/>
          <a:p>
            <a:pPr marL="0" indent="0">
              <a:buNone/>
            </a:pPr>
            <a:r>
              <a:rPr lang="en-US" sz="1100" dirty="0">
                <a:solidFill>
                  <a:srgbClr val="26282A"/>
                </a:solidFill>
                <a:latin typeface="Calibri" pitchFamily="34" charset="0"/>
                <a:ea typeface="Calibri" pitchFamily="34" charset="-122"/>
                <a:cs typeface="Calibri" pitchFamily="34" charset="-120"/>
              </a:rPr>
              <a:t>Tricky or specific style/format</a:t>
            </a:r>
            <a:endParaRPr lang="en-US" sz="1100" dirty="0"/>
          </a:p>
        </p:txBody>
      </p:sp>
      <p:sp>
        <p:nvSpPr>
          <p:cNvPr id="24" name="Text 22"/>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5" name="Text 23"/>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TECHNIQUES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Three more that punch above their weight</a:t>
            </a:r>
            <a:endParaRPr lang="en-US" sz="2900" dirty="0"/>
          </a:p>
        </p:txBody>
      </p:sp>
      <p:sp>
        <p:nvSpPr>
          <p:cNvPr id="5" name="Shape 3"/>
          <p:cNvSpPr/>
          <p:nvPr/>
        </p:nvSpPr>
        <p:spPr>
          <a:xfrm>
            <a:off x="457200" y="1600200"/>
            <a:ext cx="2679192" cy="2514600"/>
          </a:xfrm>
          <a:prstGeom prst="roundRect">
            <a:avLst>
              <a:gd name="adj" fmla="val 2909"/>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58368" y="1783080"/>
            <a:ext cx="2331720" cy="502920"/>
          </a:xfrm>
          <a:prstGeom prst="rect">
            <a:avLst/>
          </a:prstGeom>
          <a:noFill/>
          <a:ln/>
        </p:spPr>
        <p:txBody>
          <a:bodyPr wrap="square" lIns="0" tIns="0" rIns="0" bIns="0" rtlCol="0" anchor="ctr"/>
          <a:lstStyle/>
          <a:p>
            <a:pPr marL="0" indent="0">
              <a:buNone/>
            </a:pPr>
            <a:r>
              <a:rPr lang="en-US" sz="1500" b="1" dirty="0">
                <a:solidFill>
                  <a:srgbClr val="26282A"/>
                </a:solidFill>
                <a:latin typeface="Cambria" pitchFamily="34" charset="0"/>
                <a:ea typeface="Cambria" pitchFamily="34" charset="-122"/>
                <a:cs typeface="Cambria" pitchFamily="34" charset="-120"/>
              </a:rPr>
              <a:t>Chain-of-thought</a:t>
            </a:r>
            <a:endParaRPr lang="en-US" sz="1500" dirty="0"/>
          </a:p>
        </p:txBody>
      </p:sp>
      <p:sp>
        <p:nvSpPr>
          <p:cNvPr id="7" name="Text 5"/>
          <p:cNvSpPr/>
          <p:nvPr/>
        </p:nvSpPr>
        <p:spPr>
          <a:xfrm>
            <a:off x="658368" y="2377440"/>
            <a:ext cx="2331720" cy="91440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Add “think step by step” or “show your reasoning.”</a:t>
            </a:r>
            <a:endParaRPr lang="en-US" sz="1250" dirty="0"/>
          </a:p>
        </p:txBody>
      </p:sp>
      <p:sp>
        <p:nvSpPr>
          <p:cNvPr id="8" name="Text 6"/>
          <p:cNvSpPr/>
          <p:nvPr/>
        </p:nvSpPr>
        <p:spPr>
          <a:xfrm>
            <a:off x="658368" y="3429000"/>
            <a:ext cx="2286000" cy="201168"/>
          </a:xfrm>
          <a:prstGeom prst="rect">
            <a:avLst/>
          </a:prstGeom>
          <a:noFill/>
          <a:ln/>
        </p:spPr>
        <p:txBody>
          <a:bodyPr wrap="square" lIns="0" tIns="0" rIns="0" bIns="0" rtlCol="0" anchor="ctr"/>
          <a:lstStyle/>
          <a:p>
            <a:pPr marL="0" indent="0">
              <a:buNone/>
            </a:pPr>
            <a:r>
              <a:rPr lang="en-US" sz="900" b="1" kern="0" spc="100" dirty="0">
                <a:solidFill>
                  <a:srgbClr val="5C8A1B"/>
                </a:solidFill>
                <a:latin typeface="Calibri" pitchFamily="34" charset="0"/>
                <a:ea typeface="Calibri" pitchFamily="34" charset="-122"/>
                <a:cs typeface="Calibri" pitchFamily="34" charset="-120"/>
              </a:rPr>
              <a:t>USE FOR</a:t>
            </a:r>
            <a:endParaRPr lang="en-US" sz="900" dirty="0"/>
          </a:p>
        </p:txBody>
      </p:sp>
      <p:sp>
        <p:nvSpPr>
          <p:cNvPr id="9" name="Text 7"/>
          <p:cNvSpPr/>
          <p:nvPr/>
        </p:nvSpPr>
        <p:spPr>
          <a:xfrm>
            <a:off x="658368" y="3630168"/>
            <a:ext cx="2331720" cy="457200"/>
          </a:xfrm>
          <a:prstGeom prst="rect">
            <a:avLst/>
          </a:prstGeom>
          <a:noFill/>
          <a:ln/>
        </p:spPr>
        <p:txBody>
          <a:bodyPr wrap="square" lIns="0" tIns="0" rIns="0" bIns="0" rtlCol="0" anchor="ctr"/>
          <a:lstStyle/>
          <a:p>
            <a:pPr marL="0" indent="0">
              <a:buNone/>
            </a:pPr>
            <a:r>
              <a:rPr lang="en-US" sz="1150" i="1" dirty="0">
                <a:solidFill>
                  <a:srgbClr val="26282A"/>
                </a:solidFill>
                <a:latin typeface="Calibri" pitchFamily="34" charset="0"/>
                <a:ea typeface="Calibri" pitchFamily="34" charset="-122"/>
                <a:cs typeface="Calibri" pitchFamily="34" charset="-120"/>
              </a:rPr>
              <a:t>Analysis, logic, multi-step problems</a:t>
            </a:r>
            <a:endParaRPr lang="en-US" sz="1150" dirty="0"/>
          </a:p>
        </p:txBody>
      </p:sp>
      <p:sp>
        <p:nvSpPr>
          <p:cNvPr id="10" name="Shape 8"/>
          <p:cNvSpPr/>
          <p:nvPr/>
        </p:nvSpPr>
        <p:spPr>
          <a:xfrm>
            <a:off x="3264408" y="1600200"/>
            <a:ext cx="2679192" cy="2514600"/>
          </a:xfrm>
          <a:prstGeom prst="roundRect">
            <a:avLst>
              <a:gd name="adj" fmla="val 2909"/>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1" name="Text 9"/>
          <p:cNvSpPr/>
          <p:nvPr/>
        </p:nvSpPr>
        <p:spPr>
          <a:xfrm>
            <a:off x="3465576" y="1783080"/>
            <a:ext cx="2331720" cy="502920"/>
          </a:xfrm>
          <a:prstGeom prst="rect">
            <a:avLst/>
          </a:prstGeom>
          <a:noFill/>
          <a:ln/>
        </p:spPr>
        <p:txBody>
          <a:bodyPr wrap="square" lIns="0" tIns="0" rIns="0" bIns="0" rtlCol="0" anchor="ctr"/>
          <a:lstStyle/>
          <a:p>
            <a:pPr marL="0" indent="0">
              <a:buNone/>
            </a:pPr>
            <a:r>
              <a:rPr lang="en-US" sz="1500" b="1" dirty="0">
                <a:solidFill>
                  <a:srgbClr val="26282A"/>
                </a:solidFill>
                <a:latin typeface="Cambria" pitchFamily="34" charset="0"/>
                <a:ea typeface="Cambria" pitchFamily="34" charset="-122"/>
                <a:cs typeface="Cambria" pitchFamily="34" charset="-120"/>
              </a:rPr>
              <a:t>Role prompting</a:t>
            </a:r>
            <a:endParaRPr lang="en-US" sz="1500" dirty="0"/>
          </a:p>
        </p:txBody>
      </p:sp>
      <p:sp>
        <p:nvSpPr>
          <p:cNvPr id="12" name="Text 10"/>
          <p:cNvSpPr/>
          <p:nvPr/>
        </p:nvSpPr>
        <p:spPr>
          <a:xfrm>
            <a:off x="3465576" y="2377440"/>
            <a:ext cx="2331720" cy="91440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Assign an expert persona to raise depth &amp; relevance.</a:t>
            </a:r>
            <a:endParaRPr lang="en-US" sz="1250" dirty="0"/>
          </a:p>
        </p:txBody>
      </p:sp>
      <p:sp>
        <p:nvSpPr>
          <p:cNvPr id="13" name="Text 11"/>
          <p:cNvSpPr/>
          <p:nvPr/>
        </p:nvSpPr>
        <p:spPr>
          <a:xfrm>
            <a:off x="3465576" y="3429000"/>
            <a:ext cx="2286000" cy="201168"/>
          </a:xfrm>
          <a:prstGeom prst="rect">
            <a:avLst/>
          </a:prstGeom>
          <a:noFill/>
          <a:ln/>
        </p:spPr>
        <p:txBody>
          <a:bodyPr wrap="square" lIns="0" tIns="0" rIns="0" bIns="0" rtlCol="0" anchor="ctr"/>
          <a:lstStyle/>
          <a:p>
            <a:pPr marL="0" indent="0">
              <a:buNone/>
            </a:pPr>
            <a:r>
              <a:rPr lang="en-US" sz="900" b="1" kern="0" spc="100" dirty="0">
                <a:solidFill>
                  <a:srgbClr val="5C8A1B"/>
                </a:solidFill>
                <a:latin typeface="Calibri" pitchFamily="34" charset="0"/>
                <a:ea typeface="Calibri" pitchFamily="34" charset="-122"/>
                <a:cs typeface="Calibri" pitchFamily="34" charset="-120"/>
              </a:rPr>
              <a:t>USE FOR</a:t>
            </a:r>
            <a:endParaRPr lang="en-US" sz="900" dirty="0"/>
          </a:p>
        </p:txBody>
      </p:sp>
      <p:sp>
        <p:nvSpPr>
          <p:cNvPr id="14" name="Text 12"/>
          <p:cNvSpPr/>
          <p:nvPr/>
        </p:nvSpPr>
        <p:spPr>
          <a:xfrm>
            <a:off x="3465576" y="3630168"/>
            <a:ext cx="2331720" cy="457200"/>
          </a:xfrm>
          <a:prstGeom prst="rect">
            <a:avLst/>
          </a:prstGeom>
          <a:noFill/>
          <a:ln/>
        </p:spPr>
        <p:txBody>
          <a:bodyPr wrap="square" lIns="0" tIns="0" rIns="0" bIns="0" rtlCol="0" anchor="ctr"/>
          <a:lstStyle/>
          <a:p>
            <a:pPr marL="0" indent="0">
              <a:buNone/>
            </a:pPr>
            <a:r>
              <a:rPr lang="en-US" sz="1150" i="1" dirty="0">
                <a:solidFill>
                  <a:srgbClr val="26282A"/>
                </a:solidFill>
                <a:latin typeface="Calibri" pitchFamily="34" charset="0"/>
                <a:ea typeface="Calibri" pitchFamily="34" charset="-122"/>
                <a:cs typeface="Calibri" pitchFamily="34" charset="-120"/>
              </a:rPr>
              <a:t>Specialist or technical tasks</a:t>
            </a:r>
            <a:endParaRPr lang="en-US" sz="1150" dirty="0"/>
          </a:p>
        </p:txBody>
      </p:sp>
      <p:sp>
        <p:nvSpPr>
          <p:cNvPr id="15" name="Shape 13"/>
          <p:cNvSpPr/>
          <p:nvPr/>
        </p:nvSpPr>
        <p:spPr>
          <a:xfrm>
            <a:off x="6071616" y="1600200"/>
            <a:ext cx="2679192" cy="2514600"/>
          </a:xfrm>
          <a:prstGeom prst="roundRect">
            <a:avLst>
              <a:gd name="adj" fmla="val 2909"/>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6" name="Text 14"/>
          <p:cNvSpPr/>
          <p:nvPr/>
        </p:nvSpPr>
        <p:spPr>
          <a:xfrm>
            <a:off x="6272784" y="1783080"/>
            <a:ext cx="2331720" cy="502920"/>
          </a:xfrm>
          <a:prstGeom prst="rect">
            <a:avLst/>
          </a:prstGeom>
          <a:noFill/>
          <a:ln/>
        </p:spPr>
        <p:txBody>
          <a:bodyPr wrap="square" lIns="0" tIns="0" rIns="0" bIns="0" rtlCol="0" anchor="ctr"/>
          <a:lstStyle/>
          <a:p>
            <a:pPr marL="0" indent="0">
              <a:buNone/>
            </a:pPr>
            <a:r>
              <a:rPr lang="en-US" sz="1500" b="1" dirty="0">
                <a:solidFill>
                  <a:srgbClr val="26282A"/>
                </a:solidFill>
                <a:latin typeface="Cambria" pitchFamily="34" charset="0"/>
                <a:ea typeface="Cambria" pitchFamily="34" charset="-122"/>
                <a:cs typeface="Cambria" pitchFamily="34" charset="-120"/>
              </a:rPr>
              <a:t>Iterative refinement</a:t>
            </a:r>
            <a:endParaRPr lang="en-US" sz="1500" dirty="0"/>
          </a:p>
        </p:txBody>
      </p:sp>
      <p:sp>
        <p:nvSpPr>
          <p:cNvPr id="17" name="Text 15"/>
          <p:cNvSpPr/>
          <p:nvPr/>
        </p:nvSpPr>
        <p:spPr>
          <a:xfrm>
            <a:off x="6272784" y="2377440"/>
            <a:ext cx="2331720" cy="91440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Treat it as a conversation — refine the output.</a:t>
            </a:r>
            <a:endParaRPr lang="en-US" sz="1250" dirty="0"/>
          </a:p>
        </p:txBody>
      </p:sp>
      <p:sp>
        <p:nvSpPr>
          <p:cNvPr id="18" name="Text 16"/>
          <p:cNvSpPr/>
          <p:nvPr/>
        </p:nvSpPr>
        <p:spPr>
          <a:xfrm>
            <a:off x="6272784" y="3429000"/>
            <a:ext cx="2286000" cy="201168"/>
          </a:xfrm>
          <a:prstGeom prst="rect">
            <a:avLst/>
          </a:prstGeom>
          <a:noFill/>
          <a:ln/>
        </p:spPr>
        <p:txBody>
          <a:bodyPr wrap="square" lIns="0" tIns="0" rIns="0" bIns="0" rtlCol="0" anchor="ctr"/>
          <a:lstStyle/>
          <a:p>
            <a:pPr marL="0" indent="0">
              <a:buNone/>
            </a:pPr>
            <a:r>
              <a:rPr lang="en-US" sz="900" b="1" kern="0" spc="100" dirty="0">
                <a:solidFill>
                  <a:srgbClr val="5C8A1B"/>
                </a:solidFill>
                <a:latin typeface="Calibri" pitchFamily="34" charset="0"/>
                <a:ea typeface="Calibri" pitchFamily="34" charset="-122"/>
                <a:cs typeface="Calibri" pitchFamily="34" charset="-120"/>
              </a:rPr>
              <a:t>USE FOR</a:t>
            </a:r>
            <a:endParaRPr lang="en-US" sz="900" dirty="0"/>
          </a:p>
        </p:txBody>
      </p:sp>
      <p:sp>
        <p:nvSpPr>
          <p:cNvPr id="19" name="Text 17"/>
          <p:cNvSpPr/>
          <p:nvPr/>
        </p:nvSpPr>
        <p:spPr>
          <a:xfrm>
            <a:off x="6272784" y="3630168"/>
            <a:ext cx="2331720" cy="457200"/>
          </a:xfrm>
          <a:prstGeom prst="rect">
            <a:avLst/>
          </a:prstGeom>
          <a:noFill/>
          <a:ln/>
        </p:spPr>
        <p:txBody>
          <a:bodyPr wrap="square" lIns="0" tIns="0" rIns="0" bIns="0" rtlCol="0" anchor="ctr"/>
          <a:lstStyle/>
          <a:p>
            <a:pPr marL="0" indent="0">
              <a:buNone/>
            </a:pPr>
            <a:r>
              <a:rPr lang="en-US" sz="1150" i="1" dirty="0">
                <a:solidFill>
                  <a:srgbClr val="26282A"/>
                </a:solidFill>
                <a:latin typeface="Calibri" pitchFamily="34" charset="0"/>
                <a:ea typeface="Calibri" pitchFamily="34" charset="-122"/>
                <a:cs typeface="Calibri" pitchFamily="34" charset="-120"/>
              </a:rPr>
              <a:t>Almost always; first drafts are rarely final</a:t>
            </a:r>
            <a:endParaRPr lang="en-US" sz="1150" dirty="0"/>
          </a:p>
        </p:txBody>
      </p:sp>
      <p:sp>
        <p:nvSpPr>
          <p:cNvPr id="20" name="Text 18"/>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1" name="Text 19"/>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PROMPT ENGINEERING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Weak prompt vs strong prompt</a:t>
            </a:r>
            <a:endParaRPr lang="en-US" sz="2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2514600"/>
        </p:xfrm>
        <a:graphic>
          <a:graphicData uri="http://schemas.openxmlformats.org/drawingml/2006/table">
            <a:tbl>
              <a:tblPr/>
              <a:tblGrid>
                <a:gridCol w="31089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41148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Weak prompt</a:t>
                      </a:r>
                      <a:endParaRPr lang="en-US" sz="130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Strong prompt</a:t>
                      </a:r>
                      <a:endParaRPr lang="en-US" sz="130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extLst>
                  <a:ext uri="{0D108BD9-81ED-4DB2-BD59-A6C34878D82A}">
                    <a16:rowId xmlns:a16="http://schemas.microsoft.com/office/drawing/2014/main" val="10000"/>
                  </a:ext>
                </a:extLst>
              </a:tr>
              <a:tr h="1097280">
                <a:tc>
                  <a:txBody>
                    <a:bodyPr/>
                    <a:lstStyle/>
                    <a:p>
                      <a:pPr marL="0" indent="0" algn="l">
                        <a:buNone/>
                      </a:pPr>
                      <a:r>
                        <a:rPr lang="en-US" sz="1150" dirty="0">
                          <a:solidFill>
                            <a:srgbClr val="26282A"/>
                          </a:solidFill>
                          <a:latin typeface="Calibri" pitchFamily="34" charset="0"/>
                          <a:ea typeface="Calibri" pitchFamily="34" charset="-122"/>
                          <a:cs typeface="Calibri" pitchFamily="34" charset="-120"/>
                        </a:rPr>
                        <a:t>“Write about AI in banking.”</a:t>
                      </a:r>
                      <a:endParaRPr lang="en-US" sz="115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lgn="l">
                        <a:buNone/>
                      </a:pPr>
                      <a:r>
                        <a:rPr lang="en-US" sz="1150" dirty="0">
                          <a:solidFill>
                            <a:srgbClr val="26282A"/>
                          </a:solidFill>
                          <a:latin typeface="Calibri" pitchFamily="34" charset="0"/>
                          <a:ea typeface="Calibri" pitchFamily="34" charset="-122"/>
                          <a:cs typeface="Calibri" pitchFamily="34" charset="-120"/>
                        </a:rPr>
                        <a:t>“Act as a consultant. Write a 150-word exec summary on 3 ways GenAI improves efficiency in retail banking, for a COO, as bullets with a one-line impact each.”</a:t>
                      </a:r>
                      <a:endParaRPr lang="en-US" sz="115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extLst>
                  <a:ext uri="{0D108BD9-81ED-4DB2-BD59-A6C34878D82A}">
                    <a16:rowId xmlns:a16="http://schemas.microsoft.com/office/drawing/2014/main" val="10001"/>
                  </a:ext>
                </a:extLst>
              </a:tr>
              <a:tr h="1005840">
                <a:tc>
                  <a:txBody>
                    <a:bodyPr/>
                    <a:lstStyle/>
                    <a:p>
                      <a:pPr marL="0" indent="0" algn="l">
                        <a:buNone/>
                      </a:pPr>
                      <a:r>
                        <a:rPr lang="en-US" sz="1150" dirty="0">
                          <a:solidFill>
                            <a:srgbClr val="26282A"/>
                          </a:solidFill>
                          <a:latin typeface="Calibri" pitchFamily="34" charset="0"/>
                          <a:ea typeface="Calibri" pitchFamily="34" charset="-122"/>
                          <a:cs typeface="Calibri" pitchFamily="34" charset="-120"/>
                        </a:rPr>
                        <a:t>“Summarise this.”</a:t>
                      </a:r>
                      <a:endParaRPr lang="en-US" sz="115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lgn="l">
                        <a:buNone/>
                      </a:pPr>
                      <a:r>
                        <a:rPr lang="en-US" sz="1150" dirty="0">
                          <a:solidFill>
                            <a:srgbClr val="26282A"/>
                          </a:solidFill>
                          <a:latin typeface="Calibri" pitchFamily="34" charset="0"/>
                          <a:ea typeface="Calibri" pitchFamily="34" charset="-122"/>
                          <a:cs typeface="Calibri" pitchFamily="34" charset="-120"/>
                        </a:rPr>
                        <a:t>“Summarise this report in 5 bullets for a busy partner — highlight risks and recommended actions only.”</a:t>
                      </a:r>
                      <a:endParaRPr lang="en-US" sz="1150" dirty="0">
                        <a:latin typeface="Calibri" charset="0"/>
                        <a:ea typeface="Calibri" charset="0"/>
                        <a:cs typeface="Calibri" charset="0"/>
                      </a:endParaRPr>
                    </a:p>
                  </a:txBody>
                  <a:tcPr marL="101600" marR="101600" marT="63500" marB="635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extLst>
                  <a:ext uri="{0D108BD9-81ED-4DB2-BD59-A6C34878D82A}">
                    <a16:rowId xmlns:a16="http://schemas.microsoft.com/office/drawing/2014/main" val="10002"/>
                  </a:ext>
                </a:extLst>
              </a:tr>
            </a:tbl>
          </a:graphicData>
        </a:graphic>
      </p:graphicFrame>
      <p:sp>
        <p:nvSpPr>
          <p:cNvPr id="6" name="Text 3"/>
          <p:cNvSpPr/>
          <p:nvPr/>
        </p:nvSpPr>
        <p:spPr>
          <a:xfrm>
            <a:off x="457200" y="4224528"/>
            <a:ext cx="8229600" cy="320040"/>
          </a:xfrm>
          <a:prstGeom prst="rect">
            <a:avLst/>
          </a:prstGeom>
          <a:noFill/>
          <a:ln/>
        </p:spPr>
        <p:txBody>
          <a:bodyPr wrap="square" lIns="0" tIns="0" rIns="0" bIns="0" rtlCol="0" anchor="ctr"/>
          <a:lstStyle/>
          <a:p>
            <a:pPr marL="0" indent="0">
              <a:buNone/>
            </a:pPr>
            <a:r>
              <a:rPr lang="en-US" sz="1250" b="1" i="1" dirty="0">
                <a:solidFill>
                  <a:srgbClr val="5C8A1B"/>
                </a:solidFill>
                <a:latin typeface="Calibri" pitchFamily="34" charset="0"/>
                <a:ea typeface="Calibri" pitchFamily="34" charset="-122"/>
                <a:cs typeface="Calibri" pitchFamily="34" charset="-120"/>
              </a:rPr>
              <a:t>Same tool. Same model. The only difference is the instruction.</a:t>
            </a:r>
            <a:endParaRPr lang="en-US" sz="1250" dirty="0"/>
          </a:p>
        </p:txBody>
      </p:sp>
      <p:sp>
        <p:nvSpPr>
          <p:cNvPr id="7" name="Text 4"/>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8" name="Text 5"/>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PROMPT ENGINEERING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Common mistakes — and the fix</a:t>
            </a:r>
            <a:endParaRPr lang="en-US" sz="2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2606037"/>
        </p:xfrm>
        <a:graphic>
          <a:graphicData uri="http://schemas.openxmlformats.org/drawingml/2006/table">
            <a:tbl>
              <a:tblPr/>
              <a:tblGrid>
                <a:gridCol w="39319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tblGrid>
              <a:tr h="372291">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Mistake</a:t>
                      </a:r>
                      <a:endParaRPr lang="en-US" sz="1250" dirty="0">
                        <a:latin typeface="Calibri" charset="0"/>
                        <a:ea typeface="Calibri" charset="0"/>
                        <a:cs typeface="Calibri" charset="0"/>
                      </a:endParaRPr>
                    </a:p>
                  </a:txBody>
                  <a:tcPr marL="101600" marR="101600" marT="50800" marB="50800">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Fix</a:t>
                      </a:r>
                      <a:endParaRPr lang="en-US" sz="1250" dirty="0">
                        <a:latin typeface="Calibri" charset="0"/>
                        <a:ea typeface="Calibri" charset="0"/>
                        <a:cs typeface="Calibri" charset="0"/>
                      </a:endParaRPr>
                    </a:p>
                  </a:txBody>
                  <a:tcPr marL="101600" marR="101600" marT="50800" marB="50800">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26282A"/>
                    </a:solidFill>
                  </a:tcPr>
                </a:tc>
                <a:extLst>
                  <a:ext uri="{0D108BD9-81ED-4DB2-BD59-A6C34878D82A}">
                    <a16:rowId xmlns:a16="http://schemas.microsoft.com/office/drawing/2014/main" val="10000"/>
                  </a:ext>
                </a:extLst>
              </a:tr>
              <a:tr h="372291">
                <a:tc>
                  <a:txBody>
                    <a:bodyPr/>
                    <a:lstStyle/>
                    <a:p>
                      <a:pPr marL="0" indent="0">
                        <a:buNone/>
                      </a:pPr>
                      <a:r>
                        <a:rPr lang="en-US" sz="1150" dirty="0">
                          <a:solidFill>
                            <a:srgbClr val="26282A"/>
                          </a:solidFill>
                          <a:latin typeface="Calibri" pitchFamily="34" charset="0"/>
                          <a:ea typeface="Calibri" pitchFamily="34" charset="-122"/>
                          <a:cs typeface="Calibri" pitchFamily="34" charset="-120"/>
                        </a:rPr>
                        <a:t>Too vague / one-liners</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buNone/>
                      </a:pPr>
                      <a:r>
                        <a:rPr lang="en-US" sz="1150" dirty="0">
                          <a:solidFill>
                            <a:srgbClr val="44474A"/>
                          </a:solidFill>
                          <a:latin typeface="Calibri" pitchFamily="34" charset="0"/>
                          <a:ea typeface="Calibri" pitchFamily="34" charset="-122"/>
                          <a:cs typeface="Calibri" pitchFamily="34" charset="-120"/>
                        </a:rPr>
                        <a:t>Add role, context and desired format</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2291">
                <a:tc>
                  <a:txBody>
                    <a:bodyPr/>
                    <a:lstStyle/>
                    <a:p>
                      <a:pPr marL="0" indent="0">
                        <a:buNone/>
                      </a:pPr>
                      <a:r>
                        <a:rPr lang="en-US" sz="1150" dirty="0">
                          <a:solidFill>
                            <a:srgbClr val="26282A"/>
                          </a:solidFill>
                          <a:latin typeface="Calibri" pitchFamily="34" charset="0"/>
                          <a:ea typeface="Calibri" pitchFamily="34" charset="-122"/>
                          <a:cs typeface="Calibri" pitchFamily="34" charset="-120"/>
                        </a:rPr>
                        <a:t>Cramming 5 asks into one prompt</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buNone/>
                      </a:pPr>
                      <a:r>
                        <a:rPr lang="en-US" sz="1150" dirty="0">
                          <a:solidFill>
                            <a:srgbClr val="44474A"/>
                          </a:solidFill>
                          <a:latin typeface="Calibri" pitchFamily="34" charset="0"/>
                          <a:ea typeface="Calibri" pitchFamily="34" charset="-122"/>
                          <a:cs typeface="Calibri" pitchFamily="34" charset="-120"/>
                        </a:rPr>
                        <a:t>Break it into steps; iterate</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2291">
                <a:tc>
                  <a:txBody>
                    <a:bodyPr/>
                    <a:lstStyle/>
                    <a:p>
                      <a:pPr marL="0" indent="0">
                        <a:buNone/>
                      </a:pPr>
                      <a:r>
                        <a:rPr lang="en-US" sz="1150" dirty="0">
                          <a:solidFill>
                            <a:srgbClr val="26282A"/>
                          </a:solidFill>
                          <a:latin typeface="Calibri" pitchFamily="34" charset="0"/>
                          <a:ea typeface="Calibri" pitchFamily="34" charset="-122"/>
                          <a:cs typeface="Calibri" pitchFamily="34" charset="-120"/>
                        </a:rPr>
                        <a:t>No audience specified</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buNone/>
                      </a:pPr>
                      <a:r>
                        <a:rPr lang="en-US" sz="1150" dirty="0">
                          <a:solidFill>
                            <a:srgbClr val="44474A"/>
                          </a:solidFill>
                          <a:latin typeface="Calibri" pitchFamily="34" charset="0"/>
                          <a:ea typeface="Calibri" pitchFamily="34" charset="-122"/>
                          <a:cs typeface="Calibri" pitchFamily="34" charset="-120"/>
                        </a:rPr>
                        <a:t>Always say who it's for</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2291">
                <a:tc>
                  <a:txBody>
                    <a:bodyPr/>
                    <a:lstStyle/>
                    <a:p>
                      <a:pPr marL="0" indent="0">
                        <a:buNone/>
                      </a:pPr>
                      <a:r>
                        <a:rPr lang="en-US" sz="1150" dirty="0">
                          <a:solidFill>
                            <a:srgbClr val="26282A"/>
                          </a:solidFill>
                          <a:latin typeface="Calibri" pitchFamily="34" charset="0"/>
                          <a:ea typeface="Calibri" pitchFamily="34" charset="-122"/>
                          <a:cs typeface="Calibri" pitchFamily="34" charset="-120"/>
                        </a:rPr>
                        <a:t>Accepting the first draft</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buNone/>
                      </a:pPr>
                      <a:r>
                        <a:rPr lang="en-US" sz="1150" dirty="0">
                          <a:solidFill>
                            <a:srgbClr val="44474A"/>
                          </a:solidFill>
                          <a:latin typeface="Calibri" pitchFamily="34" charset="0"/>
                          <a:ea typeface="Calibri" pitchFamily="34" charset="-122"/>
                          <a:cs typeface="Calibri" pitchFamily="34" charset="-120"/>
                        </a:rPr>
                        <a:t>Refine: shorter / more formal / add data</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2291">
                <a:tc>
                  <a:txBody>
                    <a:bodyPr/>
                    <a:lstStyle/>
                    <a:p>
                      <a:pPr marL="0" indent="0">
                        <a:buNone/>
                      </a:pPr>
                      <a:r>
                        <a:rPr lang="en-US" sz="1150" dirty="0">
                          <a:solidFill>
                            <a:srgbClr val="26282A"/>
                          </a:solidFill>
                          <a:latin typeface="Calibri" pitchFamily="34" charset="0"/>
                          <a:ea typeface="Calibri" pitchFamily="34" charset="-122"/>
                          <a:cs typeface="Calibri" pitchFamily="34" charset="-120"/>
                        </a:rPr>
                        <a:t>Trusting output blindly</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BFBFB"/>
                    </a:solidFill>
                  </a:tcPr>
                </a:tc>
                <a:tc>
                  <a:txBody>
                    <a:bodyPr/>
                    <a:lstStyle/>
                    <a:p>
                      <a:pPr marL="0" indent="0">
                        <a:buNone/>
                      </a:pPr>
                      <a:r>
                        <a:rPr lang="en-US" sz="1150" dirty="0">
                          <a:solidFill>
                            <a:srgbClr val="44474A"/>
                          </a:solidFill>
                          <a:latin typeface="Calibri" pitchFamily="34" charset="0"/>
                          <a:ea typeface="Calibri" pitchFamily="34" charset="-122"/>
                          <a:cs typeface="Calibri" pitchFamily="34" charset="-120"/>
                        </a:rPr>
                        <a:t>Verify every fact and figure</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2291">
                <a:tc>
                  <a:txBody>
                    <a:bodyPr/>
                    <a:lstStyle/>
                    <a:p>
                      <a:pPr marL="0" indent="0">
                        <a:buNone/>
                      </a:pPr>
                      <a:r>
                        <a:rPr lang="en-US" sz="1150" b="1" dirty="0">
                          <a:solidFill>
                            <a:srgbClr val="26282A"/>
                          </a:solidFill>
                          <a:latin typeface="Calibri" pitchFamily="34" charset="0"/>
                          <a:ea typeface="Calibri" pitchFamily="34" charset="-122"/>
                          <a:cs typeface="Calibri" pitchFamily="34" charset="-120"/>
                        </a:rPr>
                        <a:t>Pasting confidential data into public tools</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6E7E4"/>
                    </a:solidFill>
                  </a:tcPr>
                </a:tc>
                <a:tc>
                  <a:txBody>
                    <a:bodyPr/>
                    <a:lstStyle/>
                    <a:p>
                      <a:pPr marL="0" indent="0">
                        <a:buNone/>
                      </a:pPr>
                      <a:r>
                        <a:rPr lang="en-US" sz="1150" b="1" dirty="0">
                          <a:solidFill>
                            <a:srgbClr val="B23A2E"/>
                          </a:solidFill>
                          <a:latin typeface="Calibri" pitchFamily="34" charset="0"/>
                          <a:ea typeface="Calibri" pitchFamily="34" charset="-122"/>
                          <a:cs typeface="Calibri" pitchFamily="34" charset="-120"/>
                        </a:rPr>
                        <a:t>Use approved tools only — never share sensitive data</a:t>
                      </a:r>
                      <a:endParaRPr lang="en-US" sz="1150" dirty="0">
                        <a:latin typeface="Calibri" charset="0"/>
                        <a:ea typeface="Calibri" charset="0"/>
                        <a:cs typeface="Calibri" charset="0"/>
                      </a:endParaRPr>
                    </a:p>
                  </a:txBody>
                  <a:tcPr marL="101600" marR="101600" marT="50800" marB="50800" anchor="ctr">
                    <a:lnL w="9525" cap="flat" cmpd="sng" algn="ctr">
                      <a:solidFill>
                        <a:srgbClr val="DADDE0"/>
                      </a:solidFill>
                      <a:prstDash val="solid"/>
                      <a:round/>
                      <a:headEnd type="none" w="med" len="med"/>
                      <a:tailEnd type="none" w="med" len="med"/>
                    </a:lnL>
                    <a:lnR w="9525" cap="flat" cmpd="sng" algn="ctr">
                      <a:solidFill>
                        <a:srgbClr val="DADDE0"/>
                      </a:solidFill>
                      <a:prstDash val="solid"/>
                      <a:round/>
                      <a:headEnd type="none" w="med" len="med"/>
                      <a:tailEnd type="none" w="med" len="med"/>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6E7E4"/>
                    </a:solidFill>
                  </a:tcPr>
                </a:tc>
                <a:extLst>
                  <a:ext uri="{0D108BD9-81ED-4DB2-BD59-A6C34878D82A}">
                    <a16:rowId xmlns:a16="http://schemas.microsoft.com/office/drawing/2014/main" val="10006"/>
                  </a:ext>
                </a:extLst>
              </a:tr>
            </a:tbl>
          </a:graphicData>
        </a:graphic>
      </p:graphicFrame>
      <p:sp>
        <p:nvSpPr>
          <p:cNvPr id="6" name="Text 3"/>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7" name="Text 4"/>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YOUR TURN</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Activity: Prompt Makeover</a:t>
            </a:r>
            <a:endParaRPr lang="en-US" sz="2900" dirty="0"/>
          </a:p>
        </p:txBody>
      </p:sp>
      <p:sp>
        <p:nvSpPr>
          <p:cNvPr id="5" name="Shape 3"/>
          <p:cNvSpPr/>
          <p:nvPr/>
        </p:nvSpPr>
        <p:spPr>
          <a:xfrm>
            <a:off x="457200" y="1417320"/>
            <a:ext cx="1394460" cy="292608"/>
          </a:xfrm>
          <a:prstGeom prst="roundRect">
            <a:avLst>
              <a:gd name="adj" fmla="val 50000"/>
            </a:avLst>
          </a:prstGeom>
          <a:solidFill>
            <a:srgbClr val="86BC25"/>
          </a:solidFill>
          <a:ln/>
        </p:spPr>
      </p:sp>
      <p:sp>
        <p:nvSpPr>
          <p:cNvPr id="6" name="Text 4"/>
          <p:cNvSpPr/>
          <p:nvPr/>
        </p:nvSpPr>
        <p:spPr>
          <a:xfrm>
            <a:off x="457200" y="1417320"/>
            <a:ext cx="1394460"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ACTIVITY · CHAT</a:t>
            </a:r>
            <a:endParaRPr lang="en-US" sz="1000" dirty="0"/>
          </a:p>
        </p:txBody>
      </p:sp>
      <p:sp>
        <p:nvSpPr>
          <p:cNvPr id="7" name="Shape 5"/>
          <p:cNvSpPr/>
          <p:nvPr/>
        </p:nvSpPr>
        <p:spPr>
          <a:xfrm>
            <a:off x="457200" y="1920240"/>
            <a:ext cx="8229600"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8" name="Text 6"/>
          <p:cNvSpPr/>
          <p:nvPr/>
        </p:nvSpPr>
        <p:spPr>
          <a:xfrm>
            <a:off x="685800" y="2057400"/>
            <a:ext cx="4572000" cy="256032"/>
          </a:xfrm>
          <a:prstGeom prst="rect">
            <a:avLst/>
          </a:prstGeom>
          <a:noFill/>
          <a:ln/>
        </p:spPr>
        <p:txBody>
          <a:bodyPr wrap="square" lIns="0" tIns="0" rIns="0" bIns="0" rtlCol="0" anchor="ctr"/>
          <a:lstStyle/>
          <a:p>
            <a:pPr marL="0" indent="0">
              <a:buNone/>
            </a:pPr>
            <a:r>
              <a:rPr lang="en-US" sz="1100" b="1" kern="0" spc="100" dirty="0">
                <a:solidFill>
                  <a:srgbClr val="5C8A1B"/>
                </a:solidFill>
                <a:latin typeface="Calibri" pitchFamily="34" charset="0"/>
                <a:ea typeface="Calibri" pitchFamily="34" charset="-122"/>
                <a:cs typeface="Calibri" pitchFamily="34" charset="-120"/>
              </a:rPr>
              <a:t>WEAK PROMPT ON SCREEN</a:t>
            </a:r>
            <a:endParaRPr lang="en-US" sz="1100" dirty="0"/>
          </a:p>
        </p:txBody>
      </p:sp>
      <p:sp>
        <p:nvSpPr>
          <p:cNvPr id="9" name="Text 7"/>
          <p:cNvSpPr/>
          <p:nvPr/>
        </p:nvSpPr>
        <p:spPr>
          <a:xfrm>
            <a:off x="685800" y="2331720"/>
            <a:ext cx="7772400" cy="411480"/>
          </a:xfrm>
          <a:prstGeom prst="rect">
            <a:avLst/>
          </a:prstGeom>
          <a:noFill/>
          <a:ln/>
        </p:spPr>
        <p:txBody>
          <a:bodyPr wrap="square" lIns="0" tIns="0" rIns="0" bIns="0" rtlCol="0" anchor="ctr"/>
          <a:lstStyle/>
          <a:p>
            <a:pPr marL="0" indent="0">
              <a:buNone/>
            </a:pPr>
            <a:r>
              <a:rPr lang="en-US" sz="1800" b="1" dirty="0">
                <a:solidFill>
                  <a:srgbClr val="26282A"/>
                </a:solidFill>
                <a:latin typeface="Cambria" pitchFamily="34" charset="0"/>
                <a:ea typeface="Cambria" pitchFamily="34" charset="-122"/>
                <a:cs typeface="Cambria" pitchFamily="34" charset="-120"/>
              </a:rPr>
              <a:t>“Make a study plan for my exams.”</a:t>
            </a:r>
            <a:endParaRPr lang="en-US" sz="1800" dirty="0"/>
          </a:p>
        </p:txBody>
      </p:sp>
      <p:sp>
        <p:nvSpPr>
          <p:cNvPr id="10" name="Text 8"/>
          <p:cNvSpPr/>
          <p:nvPr/>
        </p:nvSpPr>
        <p:spPr>
          <a:xfrm>
            <a:off x="685800" y="2788920"/>
            <a:ext cx="7772400" cy="320040"/>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Rewrite it using TAG, RACE or RTCROS — no tool access needed, just type.</a:t>
            </a:r>
            <a:endParaRPr lang="en-US" sz="1250" dirty="0"/>
          </a:p>
        </p:txBody>
      </p:sp>
      <p:sp>
        <p:nvSpPr>
          <p:cNvPr id="11" name="Text 9"/>
          <p:cNvSpPr/>
          <p:nvPr/>
        </p:nvSpPr>
        <p:spPr>
          <a:xfrm>
            <a:off x="685800" y="3337560"/>
            <a:ext cx="7772400" cy="914400"/>
          </a:xfrm>
          <a:prstGeom prst="rect">
            <a:avLst/>
          </a:prstGeom>
          <a:noFill/>
          <a:ln/>
        </p:spPr>
        <p:txBody>
          <a:bodyPr wrap="square" lIns="0" tIns="0" rIns="0" bIns="0" rtlCol="0" anchor="ctr"/>
          <a:lstStyle/>
          <a:p>
            <a:pPr marL="342900" indent="-342900">
              <a:spcAft>
                <a:spcPts val="700"/>
              </a:spcAft>
              <a:buSzPct val="100000"/>
              <a:buFont typeface="+mj-lt"/>
              <a:buAutoNum type="arabicPeriod"/>
            </a:pPr>
            <a:r>
              <a:rPr lang="en-US" sz="1300" dirty="0">
                <a:solidFill>
                  <a:srgbClr val="26282A"/>
                </a:solidFill>
                <a:latin typeface="Calibri" pitchFamily="34" charset="0"/>
                <a:ea typeface="Calibri" pitchFamily="34" charset="-122"/>
                <a:cs typeface="Calibri" pitchFamily="34" charset="-120"/>
              </a:rPr>
              <a:t>Rewrite the prompt and drop it in the </a:t>
            </a:r>
            <a:r>
              <a:rPr lang="en-US" sz="1300" dirty="0" smtClean="0">
                <a:solidFill>
                  <a:srgbClr val="26282A"/>
                </a:solidFill>
                <a:latin typeface="Calibri" pitchFamily="34" charset="0"/>
                <a:ea typeface="Calibri" pitchFamily="34" charset="-122"/>
                <a:cs typeface="Calibri" pitchFamily="34" charset="-120"/>
              </a:rPr>
              <a:t>chat</a:t>
            </a:r>
            <a:endParaRPr lang="en-US" sz="1300" dirty="0"/>
          </a:p>
          <a:p>
            <a:pPr marL="342900" indent="-342900">
              <a:spcAft>
                <a:spcPts val="700"/>
              </a:spcAft>
              <a:buSzPct val="100000"/>
              <a:buFont typeface="+mj-lt"/>
              <a:buAutoNum type="arabicPeriod"/>
            </a:pPr>
            <a:r>
              <a:rPr lang="en-US" sz="1300" dirty="0">
                <a:solidFill>
                  <a:srgbClr val="26282A"/>
                </a:solidFill>
                <a:latin typeface="Calibri" pitchFamily="34" charset="0"/>
                <a:ea typeface="Calibri" pitchFamily="34" charset="-122"/>
                <a:cs typeface="Calibri" pitchFamily="34" charset="-120"/>
              </a:rPr>
              <a:t>We pick 2–3 of the best and run them live on </a:t>
            </a:r>
            <a:r>
              <a:rPr lang="en-US" sz="1300" dirty="0" smtClean="0">
                <a:solidFill>
                  <a:srgbClr val="26282A"/>
                </a:solidFill>
                <a:latin typeface="Calibri" pitchFamily="34" charset="0"/>
                <a:ea typeface="Calibri" pitchFamily="34" charset="-122"/>
                <a:cs typeface="Calibri" pitchFamily="34" charset="-120"/>
              </a:rPr>
              <a:t>screen</a:t>
            </a:r>
            <a:endParaRPr lang="en-US" sz="1300" dirty="0"/>
          </a:p>
          <a:p>
            <a:pPr marL="342900" indent="-342900">
              <a:spcAft>
                <a:spcPts val="700"/>
              </a:spcAft>
              <a:buSzPct val="100000"/>
              <a:buFont typeface="+mj-lt"/>
              <a:buAutoNum type="arabicPeriod"/>
            </a:pPr>
            <a:r>
              <a:rPr lang="en-US" sz="1300" dirty="0">
                <a:solidFill>
                  <a:srgbClr val="26282A"/>
                </a:solidFill>
                <a:latin typeface="Calibri" pitchFamily="34" charset="0"/>
                <a:ea typeface="Calibri" pitchFamily="34" charset="-122"/>
                <a:cs typeface="Calibri" pitchFamily="34" charset="-120"/>
              </a:rPr>
              <a:t>Compare outputs — see how much the prompt changed the result</a:t>
            </a:r>
            <a:endParaRPr lang="en-US" sz="1300" dirty="0"/>
          </a:p>
        </p:txBody>
      </p:sp>
      <p:sp>
        <p:nvSpPr>
          <p:cNvPr id="12" name="Text 10"/>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3" name="Text 11"/>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9"/>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5 · AI FOR PRODUCTIVITY</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Use Cases</a:t>
            </a:r>
            <a:endParaRPr lang="en-US" sz="2900" dirty="0"/>
          </a:p>
        </p:txBody>
      </p:sp>
      <p:sp>
        <p:nvSpPr>
          <p:cNvPr id="5" name="Shape 3"/>
          <p:cNvSpPr/>
          <p:nvPr/>
        </p:nvSpPr>
        <p:spPr>
          <a:xfrm>
            <a:off x="1280160" y="1828800"/>
            <a:ext cx="6583680" cy="1874520"/>
          </a:xfrm>
          <a:prstGeom prst="roundRect">
            <a:avLst>
              <a:gd name="adj" fmla="val 4878"/>
            </a:avLst>
          </a:prstGeom>
          <a:solidFill>
            <a:srgbClr val="FFFFFF"/>
          </a:solidFill>
          <a:ln w="12700">
            <a:solidFill>
              <a:srgbClr val="DADDE0"/>
            </a:solidFill>
            <a:prstDash val="dash"/>
          </a:ln>
        </p:spPr>
      </p:sp>
      <p:sp>
        <p:nvSpPr>
          <p:cNvPr id="6" name="Text 4"/>
          <p:cNvSpPr/>
          <p:nvPr/>
        </p:nvSpPr>
        <p:spPr>
          <a:xfrm>
            <a:off x="1463040" y="2240280"/>
            <a:ext cx="6217920" cy="457200"/>
          </a:xfrm>
          <a:prstGeom prst="rect">
            <a:avLst/>
          </a:prstGeom>
          <a:noFill/>
          <a:ln/>
        </p:spPr>
        <p:txBody>
          <a:bodyPr wrap="square" lIns="0" tIns="0" rIns="0" bIns="0" rtlCol="0" anchor="ctr"/>
          <a:lstStyle/>
          <a:p>
            <a:pPr marL="0" indent="0" algn="ctr">
              <a:buNone/>
            </a:pPr>
            <a:r>
              <a:rPr lang="en-US" sz="2000" b="1" dirty="0">
                <a:solidFill>
                  <a:srgbClr val="7A7D81"/>
                </a:solidFill>
                <a:latin typeface="Cambria" pitchFamily="34" charset="0"/>
                <a:ea typeface="Cambria" pitchFamily="34" charset="-122"/>
                <a:cs typeface="Cambria" pitchFamily="34" charset="-120"/>
              </a:rPr>
              <a:t>Deloitte use-case slides to be inserted here</a:t>
            </a:r>
            <a:endParaRPr lang="en-US" sz="2000" dirty="0"/>
          </a:p>
        </p:txBody>
      </p:sp>
      <p:sp>
        <p:nvSpPr>
          <p:cNvPr id="7" name="Text 5"/>
          <p:cNvSpPr/>
          <p:nvPr/>
        </p:nvSpPr>
        <p:spPr>
          <a:xfrm>
            <a:off x="1554480" y="2834640"/>
            <a:ext cx="6035040" cy="731520"/>
          </a:xfrm>
          <a:prstGeom prst="rect">
            <a:avLst/>
          </a:prstGeom>
          <a:noFill/>
          <a:ln/>
        </p:spPr>
        <p:txBody>
          <a:bodyPr wrap="square" lIns="0" tIns="0" rIns="0" bIns="0" rtlCol="0" anchor="ctr"/>
          <a:lstStyle/>
          <a:p>
            <a:pPr marL="0" indent="0" algn="ctr">
              <a:buNone/>
            </a:pPr>
            <a:r>
              <a:rPr lang="en-US" sz="1250" dirty="0">
                <a:solidFill>
                  <a:srgbClr val="44474A"/>
                </a:solidFill>
                <a:latin typeface="Calibri" pitchFamily="34" charset="0"/>
                <a:ea typeface="Calibri" pitchFamily="34" charset="-122"/>
                <a:cs typeface="Calibri" pitchFamily="34" charset="-120"/>
              </a:rPr>
              <a:t>Placeholder — add function-specific examples (Consulting, Risk, Tax, Audit, Finance, Operations, HR, Tech) and the intern day-one use cases from existing Deloitte decks.</a:t>
            </a:r>
            <a:endParaRPr lang="en-US" sz="1250" dirty="0"/>
          </a:p>
        </p:txBody>
      </p:sp>
      <p:sp>
        <p:nvSpPr>
          <p:cNvPr id="8" name="Text 6"/>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9" name="Text 7"/>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6 · RESPONSIBLE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The mindset shift that matters most</a:t>
            </a:r>
            <a:endParaRPr lang="en-US" sz="2900" dirty="0"/>
          </a:p>
        </p:txBody>
      </p:sp>
      <p:sp>
        <p:nvSpPr>
          <p:cNvPr id="5" name="Shape 3"/>
          <p:cNvSpPr/>
          <p:nvPr/>
        </p:nvSpPr>
        <p:spPr>
          <a:xfrm>
            <a:off x="457200" y="1463040"/>
            <a:ext cx="4023360" cy="2148840"/>
          </a:xfrm>
          <a:prstGeom prst="roundRect">
            <a:avLst>
              <a:gd name="adj" fmla="val 3404"/>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85800" y="1600200"/>
            <a:ext cx="3657600" cy="274320"/>
          </a:xfrm>
          <a:prstGeom prst="rect">
            <a:avLst/>
          </a:prstGeom>
          <a:noFill/>
          <a:ln/>
        </p:spPr>
        <p:txBody>
          <a:bodyPr wrap="square" lIns="0" tIns="0" rIns="0" bIns="0" rtlCol="0" anchor="ctr"/>
          <a:lstStyle/>
          <a:p>
            <a:pPr marL="0" indent="0">
              <a:buNone/>
            </a:pPr>
            <a:r>
              <a:rPr lang="en-US" sz="1150" b="1" kern="0" spc="100" dirty="0">
                <a:solidFill>
                  <a:srgbClr val="7A7D81"/>
                </a:solidFill>
                <a:latin typeface="Calibri" pitchFamily="34" charset="0"/>
                <a:ea typeface="Calibri" pitchFamily="34" charset="-122"/>
                <a:cs typeface="Calibri" pitchFamily="34" charset="-120"/>
              </a:rPr>
              <a:t>AS A STUDENT YOU COULD…</a:t>
            </a:r>
            <a:endParaRPr lang="en-US" sz="1150" dirty="0"/>
          </a:p>
        </p:txBody>
      </p:sp>
      <p:sp>
        <p:nvSpPr>
          <p:cNvPr id="7" name="Text 5"/>
          <p:cNvSpPr/>
          <p:nvPr/>
        </p:nvSpPr>
        <p:spPr>
          <a:xfrm>
            <a:off x="685800" y="1920240"/>
            <a:ext cx="3611880" cy="155448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44474A"/>
                </a:solidFill>
                <a:latin typeface="Calibri" pitchFamily="34" charset="0"/>
                <a:ea typeface="Calibri" pitchFamily="34" charset="-122"/>
                <a:cs typeface="Calibri" pitchFamily="34" charset="-120"/>
              </a:rPr>
              <a:t>Paste anything into any free tool</a:t>
            </a:r>
            <a:endParaRPr lang="en-US" sz="1250" dirty="0"/>
          </a:p>
          <a:p>
            <a:pPr marL="342900" indent="-342900">
              <a:spcAft>
                <a:spcPts val="800"/>
              </a:spcAft>
              <a:buSzPct val="100000"/>
              <a:buChar char="•"/>
            </a:pPr>
            <a:r>
              <a:rPr lang="en-US" sz="1250" dirty="0">
                <a:solidFill>
                  <a:srgbClr val="44474A"/>
                </a:solidFill>
                <a:latin typeface="Calibri" pitchFamily="34" charset="0"/>
                <a:ea typeface="Calibri" pitchFamily="34" charset="-122"/>
                <a:cs typeface="Calibri" pitchFamily="34" charset="-120"/>
              </a:rPr>
              <a:t>Trust an answer if it sounded right</a:t>
            </a:r>
            <a:endParaRPr lang="en-US" sz="1250" dirty="0"/>
          </a:p>
          <a:p>
            <a:pPr marL="342900" indent="-342900">
              <a:spcAft>
                <a:spcPts val="800"/>
              </a:spcAft>
              <a:buSzPct val="100000"/>
              <a:buChar char="•"/>
            </a:pPr>
            <a:r>
              <a:rPr lang="en-US" sz="1250" dirty="0">
                <a:solidFill>
                  <a:srgbClr val="44474A"/>
                </a:solidFill>
                <a:latin typeface="Calibri" pitchFamily="34" charset="0"/>
                <a:ea typeface="Calibri" pitchFamily="34" charset="-122"/>
                <a:cs typeface="Calibri" pitchFamily="34" charset="-120"/>
              </a:rPr>
              <a:t>Submit AI output as-is</a:t>
            </a:r>
            <a:endParaRPr lang="en-US" sz="1250" dirty="0"/>
          </a:p>
          <a:p>
            <a:pPr marL="342900" indent="-342900">
              <a:buSzPct val="100000"/>
              <a:buChar char="•"/>
            </a:pPr>
            <a:r>
              <a:rPr lang="en-US" sz="1250" dirty="0">
                <a:solidFill>
                  <a:srgbClr val="44474A"/>
                </a:solidFill>
                <a:latin typeface="Calibri" pitchFamily="34" charset="0"/>
                <a:ea typeface="Calibri" pitchFamily="34" charset="-122"/>
                <a:cs typeface="Calibri" pitchFamily="34" charset="-120"/>
              </a:rPr>
              <a:t>Use it invisibly</a:t>
            </a:r>
            <a:endParaRPr lang="en-US" sz="1250" dirty="0"/>
          </a:p>
        </p:txBody>
      </p:sp>
      <p:sp>
        <p:nvSpPr>
          <p:cNvPr id="8" name="Shape 6"/>
          <p:cNvSpPr/>
          <p:nvPr/>
        </p:nvSpPr>
        <p:spPr>
          <a:xfrm>
            <a:off x="4663440" y="1463040"/>
            <a:ext cx="4023360" cy="2148840"/>
          </a:xfrm>
          <a:prstGeom prst="roundRect">
            <a:avLst>
              <a:gd name="adj" fmla="val 3404"/>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9" name="Text 7"/>
          <p:cNvSpPr/>
          <p:nvPr/>
        </p:nvSpPr>
        <p:spPr>
          <a:xfrm>
            <a:off x="4892040" y="1600200"/>
            <a:ext cx="3657600" cy="274320"/>
          </a:xfrm>
          <a:prstGeom prst="rect">
            <a:avLst/>
          </a:prstGeom>
          <a:noFill/>
          <a:ln/>
        </p:spPr>
        <p:txBody>
          <a:bodyPr wrap="square" lIns="0" tIns="0" rIns="0" bIns="0" rtlCol="0" anchor="ctr"/>
          <a:lstStyle/>
          <a:p>
            <a:pPr marL="0" indent="0">
              <a:buNone/>
            </a:pPr>
            <a:r>
              <a:rPr lang="en-US" sz="1150" b="1" kern="0" spc="100" dirty="0">
                <a:solidFill>
                  <a:srgbClr val="5C8A1B"/>
                </a:solidFill>
                <a:latin typeface="Calibri" pitchFamily="34" charset="0"/>
                <a:ea typeface="Calibri" pitchFamily="34" charset="-122"/>
                <a:cs typeface="Calibri" pitchFamily="34" charset="-120"/>
              </a:rPr>
              <a:t>AS A DELOITTE INTERN YOU MUST…</a:t>
            </a:r>
            <a:endParaRPr lang="en-US" sz="1150" dirty="0"/>
          </a:p>
        </p:txBody>
      </p:sp>
      <p:sp>
        <p:nvSpPr>
          <p:cNvPr id="10" name="Text 8"/>
          <p:cNvSpPr/>
          <p:nvPr/>
        </p:nvSpPr>
        <p:spPr>
          <a:xfrm>
            <a:off x="4892040" y="1920240"/>
            <a:ext cx="3611880" cy="155448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26282A"/>
                </a:solidFill>
                <a:latin typeface="Calibri" pitchFamily="34" charset="0"/>
                <a:ea typeface="Calibri" pitchFamily="34" charset="-122"/>
                <a:cs typeface="Calibri" pitchFamily="34" charset="-120"/>
              </a:rPr>
              <a:t>Use only approved tools — never paste client/personal data</a:t>
            </a:r>
            <a:endParaRPr lang="en-US" sz="1250" dirty="0"/>
          </a:p>
          <a:p>
            <a:pPr marL="342900" indent="-342900">
              <a:spcAft>
                <a:spcPts val="700"/>
              </a:spcAft>
              <a:buSzPct val="100000"/>
              <a:buChar char="•"/>
            </a:pPr>
            <a:r>
              <a:rPr lang="en-US" sz="1250" dirty="0">
                <a:solidFill>
                  <a:srgbClr val="26282A"/>
                </a:solidFill>
                <a:latin typeface="Calibri" pitchFamily="34" charset="0"/>
                <a:ea typeface="Calibri" pitchFamily="34" charset="-122"/>
                <a:cs typeface="Calibri" pitchFamily="34" charset="-120"/>
              </a:rPr>
              <a:t>Verify every fact, figure and name</a:t>
            </a:r>
            <a:endParaRPr lang="en-US" sz="1250" dirty="0"/>
          </a:p>
          <a:p>
            <a:pPr marL="342900" indent="-342900">
              <a:spcAft>
                <a:spcPts val="700"/>
              </a:spcAft>
              <a:buSzPct val="100000"/>
              <a:buChar char="•"/>
            </a:pPr>
            <a:r>
              <a:rPr lang="en-US" sz="1250" dirty="0">
                <a:solidFill>
                  <a:srgbClr val="26282A"/>
                </a:solidFill>
                <a:latin typeface="Calibri" pitchFamily="34" charset="0"/>
                <a:ea typeface="Calibri" pitchFamily="34" charset="-122"/>
                <a:cs typeface="Calibri" pitchFamily="34" charset="-120"/>
              </a:rPr>
              <a:t>Add your own judgement — you own it</a:t>
            </a:r>
            <a:endParaRPr lang="en-US" sz="1250" dirty="0"/>
          </a:p>
          <a:p>
            <a:pPr marL="342900" indent="-342900">
              <a:buSzPct val="100000"/>
              <a:buChar char="•"/>
            </a:pPr>
            <a:r>
              <a:rPr lang="en-US" sz="1250" dirty="0">
                <a:solidFill>
                  <a:srgbClr val="26282A"/>
                </a:solidFill>
                <a:latin typeface="Calibri" pitchFamily="34" charset="0"/>
                <a:ea typeface="Calibri" pitchFamily="34" charset="-122"/>
                <a:cs typeface="Calibri" pitchFamily="34" charset="-120"/>
              </a:rPr>
              <a:t>Disclose AI use per firm guidance</a:t>
            </a:r>
            <a:endParaRPr lang="en-US" sz="1250" dirty="0"/>
          </a:p>
        </p:txBody>
      </p:sp>
      <p:sp>
        <p:nvSpPr>
          <p:cNvPr id="11" name="Text 9"/>
          <p:cNvSpPr/>
          <p:nvPr/>
        </p:nvSpPr>
        <p:spPr>
          <a:xfrm>
            <a:off x="457200" y="3794760"/>
            <a:ext cx="8229600" cy="365760"/>
          </a:xfrm>
          <a:prstGeom prst="rect">
            <a:avLst/>
          </a:prstGeom>
          <a:noFill/>
          <a:ln/>
        </p:spPr>
        <p:txBody>
          <a:bodyPr wrap="square" lIns="0" tIns="0" rIns="0" bIns="0" rtlCol="0" anchor="ctr"/>
          <a:lstStyle/>
          <a:p>
            <a:pPr marL="0" indent="0">
              <a:buNone/>
            </a:pPr>
            <a:r>
              <a:rPr lang="en-US" sz="1300" b="1" dirty="0">
                <a:solidFill>
                  <a:srgbClr val="B23A2E"/>
                </a:solidFill>
                <a:latin typeface="Calibri" pitchFamily="34" charset="0"/>
                <a:ea typeface="Calibri" pitchFamily="34" charset="-122"/>
                <a:cs typeface="Calibri" pitchFamily="34" charset="-120"/>
              </a:rPr>
              <a:t>Same tool, completely different stakes. </a:t>
            </a:r>
            <a:r>
              <a:rPr lang="en-US" sz="1300" dirty="0">
                <a:solidFill>
                  <a:srgbClr val="26282A"/>
                </a:solidFill>
                <a:latin typeface="Calibri" pitchFamily="34" charset="0"/>
                <a:ea typeface="Calibri" pitchFamily="34" charset="-122"/>
                <a:cs typeface="Calibri" pitchFamily="34" charset="-120"/>
              </a:rPr>
              <a:t>At Deloitte you're handling firm and client information.</a:t>
            </a:r>
            <a:endParaRPr lang="en-US" sz="1300" dirty="0"/>
          </a:p>
        </p:txBody>
      </p:sp>
      <p:sp>
        <p:nvSpPr>
          <p:cNvPr id="12" name="Text 10"/>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3" name="Text 11"/>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6 · RESPONSIBLE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Trustworthy AI — what it means for you</a:t>
            </a:r>
            <a:endParaRPr lang="en-US" sz="2900" dirty="0"/>
          </a:p>
        </p:txBody>
      </p:sp>
      <p:sp>
        <p:nvSpPr>
          <p:cNvPr id="5" name="Shape 3"/>
          <p:cNvSpPr/>
          <p:nvPr/>
        </p:nvSpPr>
        <p:spPr>
          <a:xfrm>
            <a:off x="457200" y="14813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40080" y="1627632"/>
            <a:ext cx="2377440" cy="502920"/>
          </a:xfrm>
          <a:prstGeom prst="rect">
            <a:avLst/>
          </a:prstGeom>
          <a:noFill/>
          <a:ln/>
        </p:spPr>
        <p:txBody>
          <a:bodyPr wrap="square" lIns="0" tIns="0" rIns="0" bIns="0" rtlCol="0" anchor="ctr"/>
          <a:lstStyle/>
          <a:p>
            <a:pPr marL="0" indent="0">
              <a:buNone/>
            </a:pPr>
            <a:r>
              <a:rPr lang="en-US" sz="1250" b="1" dirty="0">
                <a:solidFill>
                  <a:srgbClr val="5C8A1B"/>
                </a:solidFill>
                <a:latin typeface="Calibri" pitchFamily="34" charset="0"/>
                <a:ea typeface="Calibri" pitchFamily="34" charset="-122"/>
                <a:cs typeface="Calibri" pitchFamily="34" charset="-120"/>
              </a:rPr>
              <a:t>Transparent &amp; Explainable</a:t>
            </a:r>
            <a:endParaRPr lang="en-US" sz="1250" dirty="0"/>
          </a:p>
        </p:txBody>
      </p:sp>
      <p:sp>
        <p:nvSpPr>
          <p:cNvPr id="7" name="Text 5"/>
          <p:cNvSpPr/>
          <p:nvPr/>
        </p:nvSpPr>
        <p:spPr>
          <a:xfrm>
            <a:off x="640080" y="2139696"/>
            <a:ext cx="2377440" cy="45720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Be able to explain how you used AI</a:t>
            </a:r>
            <a:endParaRPr lang="en-US" sz="1100" dirty="0"/>
          </a:p>
        </p:txBody>
      </p:sp>
      <p:sp>
        <p:nvSpPr>
          <p:cNvPr id="8" name="Shape 6"/>
          <p:cNvSpPr/>
          <p:nvPr/>
        </p:nvSpPr>
        <p:spPr>
          <a:xfrm>
            <a:off x="3264408" y="14813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9" name="Text 7"/>
          <p:cNvSpPr/>
          <p:nvPr/>
        </p:nvSpPr>
        <p:spPr>
          <a:xfrm>
            <a:off x="3447288" y="1627632"/>
            <a:ext cx="2377440" cy="502920"/>
          </a:xfrm>
          <a:prstGeom prst="rect">
            <a:avLst/>
          </a:prstGeom>
          <a:noFill/>
          <a:ln/>
        </p:spPr>
        <p:txBody>
          <a:bodyPr wrap="square" lIns="0" tIns="0" rIns="0" bIns="0" rtlCol="0" anchor="ctr"/>
          <a:lstStyle/>
          <a:p>
            <a:pPr marL="0" indent="0">
              <a:buNone/>
            </a:pPr>
            <a:r>
              <a:rPr lang="en-US" sz="1250" b="1" dirty="0">
                <a:solidFill>
                  <a:srgbClr val="5C8A1B"/>
                </a:solidFill>
                <a:latin typeface="Calibri" pitchFamily="34" charset="0"/>
                <a:ea typeface="Calibri" pitchFamily="34" charset="-122"/>
                <a:cs typeface="Calibri" pitchFamily="34" charset="-120"/>
              </a:rPr>
              <a:t>Fair &amp; Impartial</a:t>
            </a:r>
            <a:endParaRPr lang="en-US" sz="1250" dirty="0"/>
          </a:p>
        </p:txBody>
      </p:sp>
      <p:sp>
        <p:nvSpPr>
          <p:cNvPr id="10" name="Text 8"/>
          <p:cNvSpPr/>
          <p:nvPr/>
        </p:nvSpPr>
        <p:spPr>
          <a:xfrm>
            <a:off x="3447288" y="2139696"/>
            <a:ext cx="2377440" cy="45720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Watch for and challenge biased output</a:t>
            </a:r>
            <a:endParaRPr lang="en-US" sz="1100" dirty="0"/>
          </a:p>
        </p:txBody>
      </p:sp>
      <p:sp>
        <p:nvSpPr>
          <p:cNvPr id="11" name="Shape 9"/>
          <p:cNvSpPr/>
          <p:nvPr/>
        </p:nvSpPr>
        <p:spPr>
          <a:xfrm>
            <a:off x="6071616" y="14813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2" name="Text 10"/>
          <p:cNvSpPr/>
          <p:nvPr/>
        </p:nvSpPr>
        <p:spPr>
          <a:xfrm>
            <a:off x="6254496" y="1627632"/>
            <a:ext cx="2377440" cy="502920"/>
          </a:xfrm>
          <a:prstGeom prst="rect">
            <a:avLst/>
          </a:prstGeom>
          <a:noFill/>
          <a:ln/>
        </p:spPr>
        <p:txBody>
          <a:bodyPr wrap="square" lIns="0" tIns="0" rIns="0" bIns="0" rtlCol="0" anchor="ctr"/>
          <a:lstStyle/>
          <a:p>
            <a:pPr marL="0" indent="0">
              <a:buNone/>
            </a:pPr>
            <a:r>
              <a:rPr lang="en-US" sz="1250" b="1" dirty="0">
                <a:solidFill>
                  <a:srgbClr val="5C8A1B"/>
                </a:solidFill>
                <a:latin typeface="Calibri" pitchFamily="34" charset="0"/>
                <a:ea typeface="Calibri" pitchFamily="34" charset="-122"/>
                <a:cs typeface="Calibri" pitchFamily="34" charset="-120"/>
              </a:rPr>
              <a:t>Robust &amp; Reliable</a:t>
            </a:r>
            <a:endParaRPr lang="en-US" sz="1250" dirty="0"/>
          </a:p>
        </p:txBody>
      </p:sp>
      <p:sp>
        <p:nvSpPr>
          <p:cNvPr id="13" name="Text 11"/>
          <p:cNvSpPr/>
          <p:nvPr/>
        </p:nvSpPr>
        <p:spPr>
          <a:xfrm>
            <a:off x="6254496" y="2139696"/>
            <a:ext cx="2377440" cy="45720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Don't rely on what you can't verify</a:t>
            </a:r>
            <a:endParaRPr lang="en-US" sz="1100" dirty="0"/>
          </a:p>
        </p:txBody>
      </p:sp>
      <p:sp>
        <p:nvSpPr>
          <p:cNvPr id="14" name="Shape 12"/>
          <p:cNvSpPr/>
          <p:nvPr/>
        </p:nvSpPr>
        <p:spPr>
          <a:xfrm>
            <a:off x="457200" y="28529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5" name="Text 13"/>
          <p:cNvSpPr/>
          <p:nvPr/>
        </p:nvSpPr>
        <p:spPr>
          <a:xfrm>
            <a:off x="640080" y="2999232"/>
            <a:ext cx="2377440" cy="502920"/>
          </a:xfrm>
          <a:prstGeom prst="rect">
            <a:avLst/>
          </a:prstGeom>
          <a:noFill/>
          <a:ln/>
        </p:spPr>
        <p:txBody>
          <a:bodyPr wrap="square" lIns="0" tIns="0" rIns="0" bIns="0" rtlCol="0" anchor="ctr"/>
          <a:lstStyle/>
          <a:p>
            <a:pPr marL="0" indent="0">
              <a:buNone/>
            </a:pPr>
            <a:r>
              <a:rPr lang="en-US" sz="1250" b="1" dirty="0">
                <a:solidFill>
                  <a:srgbClr val="5C8A1B"/>
                </a:solidFill>
                <a:latin typeface="Calibri" pitchFamily="34" charset="0"/>
                <a:ea typeface="Calibri" pitchFamily="34" charset="-122"/>
                <a:cs typeface="Calibri" pitchFamily="34" charset="-120"/>
              </a:rPr>
              <a:t>Respectful of Privacy</a:t>
            </a:r>
            <a:endParaRPr lang="en-US" sz="1250" dirty="0"/>
          </a:p>
        </p:txBody>
      </p:sp>
      <p:sp>
        <p:nvSpPr>
          <p:cNvPr id="16" name="Text 14"/>
          <p:cNvSpPr/>
          <p:nvPr/>
        </p:nvSpPr>
        <p:spPr>
          <a:xfrm>
            <a:off x="640080" y="3511296"/>
            <a:ext cx="2377440" cy="45720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Never input confidential or personal data</a:t>
            </a:r>
            <a:endParaRPr lang="en-US" sz="1100" dirty="0"/>
          </a:p>
        </p:txBody>
      </p:sp>
      <p:sp>
        <p:nvSpPr>
          <p:cNvPr id="17" name="Shape 15"/>
          <p:cNvSpPr/>
          <p:nvPr/>
        </p:nvSpPr>
        <p:spPr>
          <a:xfrm>
            <a:off x="3264408" y="28529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8" name="Text 16"/>
          <p:cNvSpPr/>
          <p:nvPr/>
        </p:nvSpPr>
        <p:spPr>
          <a:xfrm>
            <a:off x="3447288" y="2999232"/>
            <a:ext cx="2377440" cy="502920"/>
          </a:xfrm>
          <a:prstGeom prst="rect">
            <a:avLst/>
          </a:prstGeom>
          <a:noFill/>
          <a:ln/>
        </p:spPr>
        <p:txBody>
          <a:bodyPr wrap="square" lIns="0" tIns="0" rIns="0" bIns="0" rtlCol="0" anchor="ctr"/>
          <a:lstStyle/>
          <a:p>
            <a:pPr marL="0" indent="0">
              <a:buNone/>
            </a:pPr>
            <a:r>
              <a:rPr lang="en-US" sz="1250" b="1" dirty="0">
                <a:solidFill>
                  <a:srgbClr val="5C8A1B"/>
                </a:solidFill>
                <a:latin typeface="Calibri" pitchFamily="34" charset="0"/>
                <a:ea typeface="Calibri" pitchFamily="34" charset="-122"/>
                <a:cs typeface="Calibri" pitchFamily="34" charset="-120"/>
              </a:rPr>
              <a:t>Safe &amp; Secure</a:t>
            </a:r>
            <a:endParaRPr lang="en-US" sz="1250" dirty="0"/>
          </a:p>
        </p:txBody>
      </p:sp>
      <p:sp>
        <p:nvSpPr>
          <p:cNvPr id="19" name="Text 17"/>
          <p:cNvSpPr/>
          <p:nvPr/>
        </p:nvSpPr>
        <p:spPr>
          <a:xfrm>
            <a:off x="3447288" y="3511296"/>
            <a:ext cx="2377440" cy="45720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Use only firm-approved tools &amp; channels</a:t>
            </a:r>
            <a:endParaRPr lang="en-US" sz="1100" dirty="0"/>
          </a:p>
        </p:txBody>
      </p:sp>
      <p:sp>
        <p:nvSpPr>
          <p:cNvPr id="20" name="Shape 18"/>
          <p:cNvSpPr/>
          <p:nvPr/>
        </p:nvSpPr>
        <p:spPr>
          <a:xfrm>
            <a:off x="6071616" y="2852928"/>
            <a:ext cx="2679192" cy="1234440"/>
          </a:xfrm>
          <a:prstGeom prst="roundRect">
            <a:avLst>
              <a:gd name="adj" fmla="val 592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1" name="Text 19"/>
          <p:cNvSpPr/>
          <p:nvPr/>
        </p:nvSpPr>
        <p:spPr>
          <a:xfrm>
            <a:off x="6254496" y="2999232"/>
            <a:ext cx="2377440" cy="502920"/>
          </a:xfrm>
          <a:prstGeom prst="rect">
            <a:avLst/>
          </a:prstGeom>
          <a:noFill/>
          <a:ln/>
        </p:spPr>
        <p:txBody>
          <a:bodyPr wrap="square" lIns="0" tIns="0" rIns="0" bIns="0" rtlCol="0" anchor="ctr"/>
          <a:lstStyle/>
          <a:p>
            <a:pPr marL="0" indent="0">
              <a:buNone/>
            </a:pPr>
            <a:r>
              <a:rPr lang="en-US" sz="1250" b="1" dirty="0">
                <a:solidFill>
                  <a:srgbClr val="5C8A1B"/>
                </a:solidFill>
                <a:latin typeface="Calibri" pitchFamily="34" charset="0"/>
                <a:ea typeface="Calibri" pitchFamily="34" charset="-122"/>
                <a:cs typeface="Calibri" pitchFamily="34" charset="-120"/>
              </a:rPr>
              <a:t>Responsible &amp; Accountable</a:t>
            </a:r>
            <a:endParaRPr lang="en-US" sz="1250" dirty="0"/>
          </a:p>
        </p:txBody>
      </p:sp>
      <p:sp>
        <p:nvSpPr>
          <p:cNvPr id="22" name="Text 20"/>
          <p:cNvSpPr/>
          <p:nvPr/>
        </p:nvSpPr>
        <p:spPr>
          <a:xfrm>
            <a:off x="6254496" y="3511296"/>
            <a:ext cx="2377440" cy="45720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You own the output — not the AI</a:t>
            </a:r>
            <a:endParaRPr lang="en-US" sz="1100" dirty="0"/>
          </a:p>
        </p:txBody>
      </p:sp>
      <p:sp>
        <p:nvSpPr>
          <p:cNvPr id="23" name="Text 21"/>
          <p:cNvSpPr/>
          <p:nvPr/>
        </p:nvSpPr>
        <p:spPr>
          <a:xfrm>
            <a:off x="457200" y="4279392"/>
            <a:ext cx="8229600" cy="274320"/>
          </a:xfrm>
          <a:prstGeom prst="rect">
            <a:avLst/>
          </a:prstGeom>
          <a:noFill/>
          <a:ln/>
        </p:spPr>
        <p:txBody>
          <a:bodyPr wrap="square" lIns="0" tIns="0" rIns="0" bIns="0" rtlCol="0" anchor="ctr"/>
          <a:lstStyle/>
          <a:p>
            <a:pPr marL="0" indent="0">
              <a:buNone/>
            </a:pPr>
            <a:r>
              <a:rPr lang="en-US" sz="1000" i="1" dirty="0">
                <a:solidFill>
                  <a:srgbClr val="7A7D81"/>
                </a:solidFill>
                <a:latin typeface="Calibri" pitchFamily="34" charset="0"/>
                <a:ea typeface="Calibri" pitchFamily="34" charset="-122"/>
                <a:cs typeface="Calibri" pitchFamily="34" charset="-120"/>
              </a:rPr>
              <a:t>Align to the current internal Deloitte Trustworthy AI framework before delivery.</a:t>
            </a:r>
            <a:endParaRPr lang="en-US" sz="1000" dirty="0"/>
          </a:p>
        </p:txBody>
      </p:sp>
      <p:sp>
        <p:nvSpPr>
          <p:cNvPr id="24" name="Text 22"/>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5" name="Text 23"/>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6 · RESPONSIBLE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The 4 golden rules — screenshot this</a:t>
            </a:r>
            <a:endParaRPr lang="en-US" sz="2900" dirty="0"/>
          </a:p>
        </p:txBody>
      </p:sp>
      <p:sp>
        <p:nvSpPr>
          <p:cNvPr id="5" name="Shape 3"/>
          <p:cNvSpPr/>
          <p:nvPr/>
        </p:nvSpPr>
        <p:spPr>
          <a:xfrm>
            <a:off x="457200" y="1554480"/>
            <a:ext cx="8229600" cy="713232"/>
          </a:xfrm>
          <a:prstGeom prst="roundRect">
            <a:avLst>
              <a:gd name="adj" fmla="val 10256"/>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6" name="Shape 4"/>
          <p:cNvSpPr/>
          <p:nvPr/>
        </p:nvSpPr>
        <p:spPr>
          <a:xfrm>
            <a:off x="658368" y="1682496"/>
            <a:ext cx="457200" cy="457200"/>
          </a:xfrm>
          <a:prstGeom prst="ellipse">
            <a:avLst/>
          </a:prstGeom>
          <a:solidFill>
            <a:srgbClr val="86BC25"/>
          </a:solidFill>
          <a:ln/>
        </p:spPr>
      </p:sp>
      <p:sp>
        <p:nvSpPr>
          <p:cNvPr id="7" name="Text 5"/>
          <p:cNvSpPr/>
          <p:nvPr/>
        </p:nvSpPr>
        <p:spPr>
          <a:xfrm>
            <a:off x="658368" y="168249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280160" y="1673352"/>
            <a:ext cx="1645920" cy="475488"/>
          </a:xfrm>
          <a:prstGeom prst="rect">
            <a:avLst/>
          </a:prstGeom>
          <a:noFill/>
          <a:ln/>
        </p:spPr>
        <p:txBody>
          <a:bodyPr wrap="square" lIns="0" tIns="0" rIns="0" bIns="0" rtlCol="0" anchor="ctr"/>
          <a:lstStyle/>
          <a:p>
            <a:pPr marL="0" indent="0">
              <a:buNone/>
            </a:pPr>
            <a:r>
              <a:rPr lang="en-US" sz="1600" b="1" dirty="0">
                <a:solidFill>
                  <a:srgbClr val="26282A"/>
                </a:solidFill>
                <a:latin typeface="Cambria" pitchFamily="34" charset="0"/>
                <a:ea typeface="Cambria" pitchFamily="34" charset="-122"/>
                <a:cs typeface="Cambria" pitchFamily="34" charset="-120"/>
              </a:rPr>
              <a:t>Verify</a:t>
            </a:r>
            <a:endParaRPr lang="en-US" sz="1600" dirty="0"/>
          </a:p>
        </p:txBody>
      </p:sp>
      <p:sp>
        <p:nvSpPr>
          <p:cNvPr id="9" name="Text 7"/>
          <p:cNvSpPr/>
          <p:nvPr/>
        </p:nvSpPr>
        <p:spPr>
          <a:xfrm>
            <a:off x="2926080" y="1673352"/>
            <a:ext cx="5577840" cy="475488"/>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Check every fact, figure, name and citation. It hallucinates confidently.</a:t>
            </a:r>
            <a:endParaRPr lang="en-US" sz="1250" dirty="0"/>
          </a:p>
        </p:txBody>
      </p:sp>
      <p:sp>
        <p:nvSpPr>
          <p:cNvPr id="10" name="Shape 8"/>
          <p:cNvSpPr/>
          <p:nvPr/>
        </p:nvSpPr>
        <p:spPr>
          <a:xfrm>
            <a:off x="457200" y="2340864"/>
            <a:ext cx="8229600" cy="713232"/>
          </a:xfrm>
          <a:prstGeom prst="roundRect">
            <a:avLst>
              <a:gd name="adj" fmla="val 1025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1" name="Shape 9"/>
          <p:cNvSpPr/>
          <p:nvPr/>
        </p:nvSpPr>
        <p:spPr>
          <a:xfrm>
            <a:off x="658368" y="2468880"/>
            <a:ext cx="457200" cy="457200"/>
          </a:xfrm>
          <a:prstGeom prst="ellipse">
            <a:avLst/>
          </a:prstGeom>
          <a:solidFill>
            <a:srgbClr val="86BC25"/>
          </a:solidFill>
          <a:ln/>
        </p:spPr>
      </p:sp>
      <p:sp>
        <p:nvSpPr>
          <p:cNvPr id="12" name="Text 10"/>
          <p:cNvSpPr/>
          <p:nvPr/>
        </p:nvSpPr>
        <p:spPr>
          <a:xfrm>
            <a:off x="658368" y="24688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280160" y="2459736"/>
            <a:ext cx="1645920" cy="475488"/>
          </a:xfrm>
          <a:prstGeom prst="rect">
            <a:avLst/>
          </a:prstGeom>
          <a:noFill/>
          <a:ln/>
        </p:spPr>
        <p:txBody>
          <a:bodyPr wrap="square" lIns="0" tIns="0" rIns="0" bIns="0" rtlCol="0" anchor="ctr"/>
          <a:lstStyle/>
          <a:p>
            <a:pPr marL="0" indent="0">
              <a:buNone/>
            </a:pPr>
            <a:r>
              <a:rPr lang="en-US" sz="1600" b="1" dirty="0">
                <a:solidFill>
                  <a:srgbClr val="26282A"/>
                </a:solidFill>
                <a:latin typeface="Cambria" pitchFamily="34" charset="0"/>
                <a:ea typeface="Cambria" pitchFamily="34" charset="-122"/>
                <a:cs typeface="Cambria" pitchFamily="34" charset="-120"/>
              </a:rPr>
              <a:t>Protect</a:t>
            </a:r>
            <a:endParaRPr lang="en-US" sz="1600" dirty="0"/>
          </a:p>
        </p:txBody>
      </p:sp>
      <p:sp>
        <p:nvSpPr>
          <p:cNvPr id="14" name="Text 12"/>
          <p:cNvSpPr/>
          <p:nvPr/>
        </p:nvSpPr>
        <p:spPr>
          <a:xfrm>
            <a:off x="2926080" y="2459736"/>
            <a:ext cx="5577840" cy="475488"/>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Never paste confidential, client or personal data into public tools.</a:t>
            </a:r>
            <a:endParaRPr lang="en-US" sz="1250" dirty="0"/>
          </a:p>
        </p:txBody>
      </p:sp>
      <p:sp>
        <p:nvSpPr>
          <p:cNvPr id="15" name="Shape 13"/>
          <p:cNvSpPr/>
          <p:nvPr/>
        </p:nvSpPr>
        <p:spPr>
          <a:xfrm>
            <a:off x="457200" y="3127248"/>
            <a:ext cx="8229600" cy="713232"/>
          </a:xfrm>
          <a:prstGeom prst="roundRect">
            <a:avLst>
              <a:gd name="adj" fmla="val 10256"/>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16" name="Shape 14"/>
          <p:cNvSpPr/>
          <p:nvPr/>
        </p:nvSpPr>
        <p:spPr>
          <a:xfrm>
            <a:off x="658368" y="3255264"/>
            <a:ext cx="457200" cy="457200"/>
          </a:xfrm>
          <a:prstGeom prst="ellipse">
            <a:avLst/>
          </a:prstGeom>
          <a:solidFill>
            <a:srgbClr val="86BC25"/>
          </a:solidFill>
          <a:ln/>
        </p:spPr>
      </p:sp>
      <p:sp>
        <p:nvSpPr>
          <p:cNvPr id="17" name="Text 15"/>
          <p:cNvSpPr/>
          <p:nvPr/>
        </p:nvSpPr>
        <p:spPr>
          <a:xfrm>
            <a:off x="658368" y="32552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280160" y="3246120"/>
            <a:ext cx="1645920" cy="475488"/>
          </a:xfrm>
          <a:prstGeom prst="rect">
            <a:avLst/>
          </a:prstGeom>
          <a:noFill/>
          <a:ln/>
        </p:spPr>
        <p:txBody>
          <a:bodyPr wrap="square" lIns="0" tIns="0" rIns="0" bIns="0" rtlCol="0" anchor="ctr"/>
          <a:lstStyle/>
          <a:p>
            <a:pPr marL="0" indent="0">
              <a:buNone/>
            </a:pPr>
            <a:r>
              <a:rPr lang="en-US" sz="1600" b="1" dirty="0">
                <a:solidFill>
                  <a:srgbClr val="26282A"/>
                </a:solidFill>
                <a:latin typeface="Cambria" pitchFamily="34" charset="0"/>
                <a:ea typeface="Cambria" pitchFamily="34" charset="-122"/>
                <a:cs typeface="Cambria" pitchFamily="34" charset="-120"/>
              </a:rPr>
              <a:t>Own</a:t>
            </a:r>
            <a:endParaRPr lang="en-US" sz="1600" dirty="0"/>
          </a:p>
        </p:txBody>
      </p:sp>
      <p:sp>
        <p:nvSpPr>
          <p:cNvPr id="19" name="Text 17"/>
          <p:cNvSpPr/>
          <p:nvPr/>
        </p:nvSpPr>
        <p:spPr>
          <a:xfrm>
            <a:off x="2926080" y="3246120"/>
            <a:ext cx="5577840" cy="475488"/>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You are accountable for anything you send, present or file.</a:t>
            </a:r>
            <a:endParaRPr lang="en-US" sz="1250" dirty="0"/>
          </a:p>
        </p:txBody>
      </p:sp>
      <p:sp>
        <p:nvSpPr>
          <p:cNvPr id="20" name="Shape 18"/>
          <p:cNvSpPr/>
          <p:nvPr/>
        </p:nvSpPr>
        <p:spPr>
          <a:xfrm>
            <a:off x="457200" y="3913632"/>
            <a:ext cx="8229600" cy="713232"/>
          </a:xfrm>
          <a:prstGeom prst="roundRect">
            <a:avLst>
              <a:gd name="adj" fmla="val 10256"/>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1" name="Shape 19"/>
          <p:cNvSpPr/>
          <p:nvPr/>
        </p:nvSpPr>
        <p:spPr>
          <a:xfrm>
            <a:off x="658368" y="4041648"/>
            <a:ext cx="457200" cy="457200"/>
          </a:xfrm>
          <a:prstGeom prst="ellipse">
            <a:avLst/>
          </a:prstGeom>
          <a:solidFill>
            <a:srgbClr val="86BC25"/>
          </a:solidFill>
          <a:ln/>
        </p:spPr>
      </p:sp>
      <p:sp>
        <p:nvSpPr>
          <p:cNvPr id="22" name="Text 20"/>
          <p:cNvSpPr/>
          <p:nvPr/>
        </p:nvSpPr>
        <p:spPr>
          <a:xfrm>
            <a:off x="658368" y="404164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280160" y="4032504"/>
            <a:ext cx="1645920" cy="475488"/>
          </a:xfrm>
          <a:prstGeom prst="rect">
            <a:avLst/>
          </a:prstGeom>
          <a:noFill/>
          <a:ln/>
        </p:spPr>
        <p:txBody>
          <a:bodyPr wrap="square" lIns="0" tIns="0" rIns="0" bIns="0" rtlCol="0" anchor="ctr"/>
          <a:lstStyle/>
          <a:p>
            <a:pPr marL="0" indent="0">
              <a:buNone/>
            </a:pPr>
            <a:r>
              <a:rPr lang="en-US" sz="1600" b="1" dirty="0">
                <a:solidFill>
                  <a:srgbClr val="26282A"/>
                </a:solidFill>
                <a:latin typeface="Cambria" pitchFamily="34" charset="0"/>
                <a:ea typeface="Cambria" pitchFamily="34" charset="-122"/>
                <a:cs typeface="Cambria" pitchFamily="34" charset="-120"/>
              </a:rPr>
              <a:t>Disclose</a:t>
            </a:r>
            <a:endParaRPr lang="en-US" sz="1600" dirty="0"/>
          </a:p>
        </p:txBody>
      </p:sp>
      <p:sp>
        <p:nvSpPr>
          <p:cNvPr id="24" name="Text 22"/>
          <p:cNvSpPr/>
          <p:nvPr/>
        </p:nvSpPr>
        <p:spPr>
          <a:xfrm>
            <a:off x="2926080" y="4032504"/>
            <a:ext cx="5577840" cy="475488"/>
          </a:xfrm>
          <a:prstGeom prst="rect">
            <a:avLst/>
          </a:prstGeom>
          <a:noFill/>
          <a:ln/>
        </p:spPr>
        <p:txBody>
          <a:bodyPr wrap="square" lIns="0" tIns="0" rIns="0" bIns="0" rtlCol="0" anchor="ctr"/>
          <a:lstStyle/>
          <a:p>
            <a:pPr marL="0" indent="0">
              <a:buNone/>
            </a:pPr>
            <a:r>
              <a:rPr lang="en-US" sz="1250" dirty="0">
                <a:solidFill>
                  <a:srgbClr val="44474A"/>
                </a:solidFill>
                <a:latin typeface="Calibri" pitchFamily="34" charset="0"/>
                <a:ea typeface="Calibri" pitchFamily="34" charset="-122"/>
                <a:cs typeface="Calibri" pitchFamily="34" charset="-120"/>
              </a:rPr>
              <a:t>Follow firm guidance on flagging AI-assisted work.</a:t>
            </a:r>
            <a:endParaRPr lang="en-US" sz="1250" dirty="0"/>
          </a:p>
        </p:txBody>
      </p:sp>
      <p:sp>
        <p:nvSpPr>
          <p:cNvPr id="25" name="Text 23"/>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6" name="Text 24"/>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6 · RESPONSIBLE AI</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See it, then judge it</a:t>
            </a:r>
            <a:endParaRPr lang="en-US" sz="2900" dirty="0"/>
          </a:p>
        </p:txBody>
      </p:sp>
      <p:sp>
        <p:nvSpPr>
          <p:cNvPr id="5" name="Shape 3"/>
          <p:cNvSpPr/>
          <p:nvPr/>
        </p:nvSpPr>
        <p:spPr>
          <a:xfrm>
            <a:off x="457200" y="1417320"/>
            <a:ext cx="939089" cy="292608"/>
          </a:xfrm>
          <a:prstGeom prst="roundRect">
            <a:avLst>
              <a:gd name="adj" fmla="val 50000"/>
            </a:avLst>
          </a:prstGeom>
          <a:solidFill>
            <a:srgbClr val="86BC25"/>
          </a:solidFill>
          <a:ln/>
        </p:spPr>
      </p:sp>
      <p:sp>
        <p:nvSpPr>
          <p:cNvPr id="6" name="Text 4"/>
          <p:cNvSpPr/>
          <p:nvPr/>
        </p:nvSpPr>
        <p:spPr>
          <a:xfrm>
            <a:off x="457200" y="1417320"/>
            <a:ext cx="939089" cy="292608"/>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REACTIONS</a:t>
            </a:r>
            <a:endParaRPr lang="en-US" sz="1000" dirty="0"/>
          </a:p>
        </p:txBody>
      </p:sp>
      <p:sp>
        <p:nvSpPr>
          <p:cNvPr id="7" name="Shape 5"/>
          <p:cNvSpPr/>
          <p:nvPr/>
        </p:nvSpPr>
        <p:spPr>
          <a:xfrm>
            <a:off x="457200" y="1874520"/>
            <a:ext cx="4023360" cy="2331720"/>
          </a:xfrm>
          <a:prstGeom prst="roundRect">
            <a:avLst>
              <a:gd name="adj" fmla="val 3137"/>
            </a:avLst>
          </a:prstGeom>
          <a:solidFill>
            <a:srgbClr val="F6E7E4"/>
          </a:solidFill>
          <a:ln w="9525">
            <a:solidFill>
              <a:srgbClr val="DADDE0"/>
            </a:solidFill>
            <a:prstDash val="solid"/>
          </a:ln>
          <a:effectLst>
            <a:outerShdw blurRad="88900" dist="25400" dir="5400000" algn="bl" rotWithShape="0">
              <a:srgbClr val="000000">
                <a:alpha val="10000"/>
              </a:srgbClr>
            </a:outerShdw>
          </a:effectLst>
        </p:spPr>
      </p:sp>
      <p:sp>
        <p:nvSpPr>
          <p:cNvPr id="8" name="Text 6"/>
          <p:cNvSpPr/>
          <p:nvPr/>
        </p:nvSpPr>
        <p:spPr>
          <a:xfrm>
            <a:off x="685800" y="2011680"/>
            <a:ext cx="3657600" cy="457200"/>
          </a:xfrm>
          <a:prstGeom prst="rect">
            <a:avLst/>
          </a:prstGeom>
          <a:noFill/>
          <a:ln/>
        </p:spPr>
        <p:txBody>
          <a:bodyPr wrap="square" lIns="0" tIns="0" rIns="0" bIns="0" rtlCol="0" anchor="ctr"/>
          <a:lstStyle/>
          <a:p>
            <a:pPr marL="0" indent="0">
              <a:buNone/>
            </a:pPr>
            <a:r>
              <a:rPr lang="en-US" sz="1100" b="1" kern="0" spc="50" dirty="0">
                <a:solidFill>
                  <a:srgbClr val="B23A2E"/>
                </a:solidFill>
                <a:latin typeface="Calibri" pitchFamily="34" charset="0"/>
                <a:ea typeface="Calibri" pitchFamily="34" charset="-122"/>
                <a:cs typeface="Calibri" pitchFamily="34" charset="-120"/>
              </a:rPr>
              <a:t>QUICK DEMO: THE CONFIDENT WRONG ANSWER</a:t>
            </a:r>
            <a:endParaRPr lang="en-US" sz="1100" dirty="0"/>
          </a:p>
        </p:txBody>
      </p:sp>
      <p:sp>
        <p:nvSpPr>
          <p:cNvPr id="9" name="Text 7"/>
          <p:cNvSpPr/>
          <p:nvPr/>
        </p:nvSpPr>
        <p:spPr>
          <a:xfrm>
            <a:off x="685800" y="2514600"/>
            <a:ext cx="3611880" cy="822960"/>
          </a:xfrm>
          <a:prstGeom prst="rect">
            <a:avLst/>
          </a:prstGeom>
          <a:noFill/>
          <a:ln/>
        </p:spPr>
        <p:txBody>
          <a:bodyPr wrap="square" lIns="0" tIns="0" rIns="0" bIns="0" rtlCol="0" anchor="ctr"/>
          <a:lstStyle/>
          <a:p>
            <a:pPr marL="0" indent="0">
              <a:buNone/>
            </a:pPr>
            <a:r>
              <a:rPr lang="en-US" sz="1250" dirty="0">
                <a:solidFill>
                  <a:srgbClr val="26282A"/>
                </a:solidFill>
                <a:latin typeface="Calibri" pitchFamily="34" charset="0"/>
                <a:ea typeface="Calibri" pitchFamily="34" charset="-122"/>
                <a:cs typeface="Calibri" pitchFamily="34" charset="-120"/>
              </a:rPr>
              <a:t>Ask the AI for an obscure statistic or a citation. It will often invent a convincing, wrong one.</a:t>
            </a:r>
            <a:endParaRPr lang="en-US" sz="1250" dirty="0"/>
          </a:p>
        </p:txBody>
      </p:sp>
      <p:sp>
        <p:nvSpPr>
          <p:cNvPr id="10" name="Text 8"/>
          <p:cNvSpPr/>
          <p:nvPr/>
        </p:nvSpPr>
        <p:spPr>
          <a:xfrm>
            <a:off x="685800" y="3383280"/>
            <a:ext cx="3611880" cy="731520"/>
          </a:xfrm>
          <a:prstGeom prst="rect">
            <a:avLst/>
          </a:prstGeom>
          <a:noFill/>
          <a:ln/>
        </p:spPr>
        <p:txBody>
          <a:bodyPr wrap="square" lIns="0" tIns="0" rIns="0" bIns="0" rtlCol="0" anchor="ctr"/>
          <a:lstStyle/>
          <a:p>
            <a:pPr marL="0" indent="0">
              <a:buNone/>
            </a:pPr>
            <a:r>
              <a:rPr lang="en-US" sz="1200" i="1" dirty="0">
                <a:solidFill>
                  <a:srgbClr val="44474A"/>
                </a:solidFill>
                <a:latin typeface="Calibri" pitchFamily="34" charset="0"/>
                <a:ea typeface="Calibri" pitchFamily="34" charset="-122"/>
                <a:cs typeface="Calibri" pitchFamily="34" charset="-120"/>
              </a:rPr>
              <a:t>Nothing teaches “always verify” faster than watching it happen.</a:t>
            </a:r>
            <a:endParaRPr lang="en-US" sz="1200" dirty="0"/>
          </a:p>
        </p:txBody>
      </p:sp>
      <p:sp>
        <p:nvSpPr>
          <p:cNvPr id="11" name="Shape 9"/>
          <p:cNvSpPr/>
          <p:nvPr/>
        </p:nvSpPr>
        <p:spPr>
          <a:xfrm>
            <a:off x="4663440" y="1874520"/>
            <a:ext cx="4023360" cy="2331720"/>
          </a:xfrm>
          <a:prstGeom prst="roundRect">
            <a:avLst>
              <a:gd name="adj" fmla="val 3137"/>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2" name="Text 10"/>
          <p:cNvSpPr/>
          <p:nvPr/>
        </p:nvSpPr>
        <p:spPr>
          <a:xfrm>
            <a:off x="4892040" y="2011680"/>
            <a:ext cx="3657600" cy="274320"/>
          </a:xfrm>
          <a:prstGeom prst="rect">
            <a:avLst/>
          </a:prstGeom>
          <a:noFill/>
          <a:ln/>
        </p:spPr>
        <p:txBody>
          <a:bodyPr wrap="square" lIns="0" tIns="0" rIns="0" bIns="0" rtlCol="0" anchor="ctr"/>
          <a:lstStyle/>
          <a:p>
            <a:pPr marL="0" indent="0">
              <a:buNone/>
            </a:pPr>
            <a:r>
              <a:rPr lang="en-US" sz="1100" b="1" kern="0" spc="50" dirty="0">
                <a:solidFill>
                  <a:srgbClr val="5C8A1B"/>
                </a:solidFill>
                <a:latin typeface="Calibri" pitchFamily="34" charset="0"/>
                <a:ea typeface="Calibri" pitchFamily="34" charset="-122"/>
                <a:cs typeface="Calibri" pitchFamily="34" charset="-120"/>
              </a:rPr>
              <a:t>RED FLAG / GREEN FLAG  🔴🟢</a:t>
            </a:r>
            <a:endParaRPr lang="en-US" sz="1100" dirty="0"/>
          </a:p>
        </p:txBody>
      </p:sp>
      <p:sp>
        <p:nvSpPr>
          <p:cNvPr id="13" name="Text 11"/>
          <p:cNvSpPr/>
          <p:nvPr/>
        </p:nvSpPr>
        <p:spPr>
          <a:xfrm>
            <a:off x="4892040" y="2331720"/>
            <a:ext cx="3611880" cy="1783080"/>
          </a:xfrm>
          <a:prstGeom prst="rect">
            <a:avLst/>
          </a:prstGeom>
          <a:noFill/>
          <a:ln/>
        </p:spPr>
        <p:txBody>
          <a:bodyPr wrap="square" lIns="0" tIns="0" rIns="0" bIns="0" rtlCol="0" anchor="ctr"/>
          <a:lstStyle/>
          <a:p>
            <a:pPr marL="0" indent="0">
              <a:spcAft>
                <a:spcPts val="600"/>
              </a:spcAft>
              <a:buNone/>
            </a:pPr>
            <a:r>
              <a:rPr lang="en-US" sz="1150" dirty="0">
                <a:solidFill>
                  <a:srgbClr val="26282A"/>
                </a:solidFill>
                <a:latin typeface="Calibri" pitchFamily="34" charset="0"/>
                <a:ea typeface="Calibri" pitchFamily="34" charset="-122"/>
                <a:cs typeface="Calibri" pitchFamily="34" charset="-120"/>
              </a:rPr>
              <a:t>🟢  Ask AI to explain a public regulation, then verify</a:t>
            </a:r>
            <a:endParaRPr lang="en-US" sz="1150" dirty="0"/>
          </a:p>
          <a:p>
            <a:pPr marL="0" indent="0">
              <a:spcAft>
                <a:spcPts val="600"/>
              </a:spcAft>
              <a:buNone/>
            </a:pPr>
            <a:r>
              <a:rPr lang="en-US" sz="1150" dirty="0">
                <a:solidFill>
                  <a:srgbClr val="26282A"/>
                </a:solidFill>
                <a:latin typeface="Calibri" pitchFamily="34" charset="0"/>
                <a:ea typeface="Calibri" pitchFamily="34" charset="-122"/>
                <a:cs typeface="Calibri" pitchFamily="34" charset="-120"/>
              </a:rPr>
              <a:t>🔴  Paste a client's financials into a public chatbot</a:t>
            </a:r>
            <a:endParaRPr lang="en-US" sz="1150" dirty="0"/>
          </a:p>
          <a:p>
            <a:pPr marL="0" indent="0">
              <a:spcAft>
                <a:spcPts val="600"/>
              </a:spcAft>
              <a:buNone/>
            </a:pPr>
            <a:r>
              <a:rPr lang="en-US" sz="1150" dirty="0">
                <a:solidFill>
                  <a:srgbClr val="26282A"/>
                </a:solidFill>
                <a:latin typeface="Calibri" pitchFamily="34" charset="0"/>
                <a:ea typeface="Calibri" pitchFamily="34" charset="-122"/>
                <a:cs typeface="Calibri" pitchFamily="34" charset="-120"/>
              </a:rPr>
              <a:t>🔴  Send an AI memo with unchecked figures to a client</a:t>
            </a:r>
            <a:endParaRPr lang="en-US" sz="1150" dirty="0"/>
          </a:p>
          <a:p>
            <a:pPr marL="0" indent="0">
              <a:buNone/>
            </a:pPr>
            <a:r>
              <a:rPr lang="en-US" sz="1150" dirty="0">
                <a:solidFill>
                  <a:srgbClr val="26282A"/>
                </a:solidFill>
                <a:latin typeface="Calibri" pitchFamily="34" charset="0"/>
                <a:ea typeface="Calibri" pitchFamily="34" charset="-122"/>
                <a:cs typeface="Calibri" pitchFamily="34" charset="-120"/>
              </a:rPr>
              <a:t>🟢  Draft an email from your own non-confidential notes</a:t>
            </a:r>
            <a:endParaRPr lang="en-US" sz="1150" dirty="0"/>
          </a:p>
        </p:txBody>
      </p:sp>
      <p:sp>
        <p:nvSpPr>
          <p:cNvPr id="14" name="Text 12"/>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5" name="Text 13"/>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WRAP-UP</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Key takeaways — your cheat sheet</a:t>
            </a:r>
            <a:endParaRPr lang="en-US" sz="2900" dirty="0"/>
          </a:p>
        </p:txBody>
      </p:sp>
      <p:sp>
        <p:nvSpPr>
          <p:cNvPr id="5" name="Shape 3"/>
          <p:cNvSpPr/>
          <p:nvPr/>
        </p:nvSpPr>
        <p:spPr>
          <a:xfrm>
            <a:off x="457200" y="1508760"/>
            <a:ext cx="8229600" cy="685800"/>
          </a:xfrm>
          <a:prstGeom prst="roundRect">
            <a:avLst>
              <a:gd name="adj" fmla="val 10667"/>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85800" y="1618488"/>
            <a:ext cx="2011680" cy="475488"/>
          </a:xfrm>
          <a:prstGeom prst="rect">
            <a:avLst/>
          </a:prstGeom>
          <a:noFill/>
          <a:ln/>
        </p:spPr>
        <p:txBody>
          <a:bodyPr wrap="square" lIns="0" tIns="0" rIns="0" bIns="0" rtlCol="0" anchor="ctr"/>
          <a:lstStyle/>
          <a:p>
            <a:pPr marL="0" indent="0">
              <a:buNone/>
            </a:pPr>
            <a:r>
              <a:rPr lang="en-US" sz="1400" b="1" dirty="0">
                <a:solidFill>
                  <a:srgbClr val="5C8A1B"/>
                </a:solidFill>
                <a:latin typeface="Cambria" pitchFamily="34" charset="0"/>
                <a:ea typeface="Cambria" pitchFamily="34" charset="-122"/>
                <a:cs typeface="Cambria" pitchFamily="34" charset="-120"/>
              </a:rPr>
              <a:t>The big picture</a:t>
            </a:r>
            <a:endParaRPr lang="en-US" sz="1400" dirty="0"/>
          </a:p>
        </p:txBody>
      </p:sp>
      <p:sp>
        <p:nvSpPr>
          <p:cNvPr id="7" name="Text 5"/>
          <p:cNvSpPr/>
          <p:nvPr/>
        </p:nvSpPr>
        <p:spPr>
          <a:xfrm>
            <a:off x="2743200" y="1618488"/>
            <a:ext cx="5760720" cy="475488"/>
          </a:xfrm>
          <a:prstGeom prst="rect">
            <a:avLst/>
          </a:prstGeom>
          <a:noFill/>
          <a:ln/>
        </p:spPr>
        <p:txBody>
          <a:bodyPr wrap="square" lIns="0" tIns="0" rIns="0" bIns="0" rtlCol="0" anchor="ctr"/>
          <a:lstStyle/>
          <a:p>
            <a:pPr marL="0" indent="0">
              <a:buNone/>
            </a:pPr>
            <a:r>
              <a:rPr lang="en-US" sz="1250" dirty="0">
                <a:solidFill>
                  <a:srgbClr val="26282A"/>
                </a:solidFill>
                <a:latin typeface="Calibri" pitchFamily="34" charset="0"/>
                <a:ea typeface="Calibri" pitchFamily="34" charset="-122"/>
                <a:cs typeface="Calibri" pitchFamily="34" charset="-120"/>
              </a:rPr>
              <a:t>AI </a:t>
            </a:r>
            <a:r>
              <a:rPr lang="en-US" sz="1250" dirty="0" smtClean="0">
                <a:solidFill>
                  <a:srgbClr val="26282A"/>
                </a:solidFill>
                <a:latin typeface="Calibri" pitchFamily="34" charset="0"/>
                <a:ea typeface="Calibri" pitchFamily="34" charset="-122"/>
                <a:cs typeface="Calibri" pitchFamily="34" charset="-120"/>
              </a:rPr>
              <a:t>&gt; </a:t>
            </a:r>
            <a:r>
              <a:rPr lang="en-US" sz="1250" dirty="0">
                <a:solidFill>
                  <a:srgbClr val="26282A"/>
                </a:solidFill>
                <a:latin typeface="Calibri" pitchFamily="34" charset="0"/>
                <a:ea typeface="Calibri" pitchFamily="34" charset="-122"/>
                <a:cs typeface="Calibri" pitchFamily="34" charset="-120"/>
              </a:rPr>
              <a:t>ML </a:t>
            </a:r>
            <a:r>
              <a:rPr lang="en-US" sz="1250" dirty="0" smtClean="0">
                <a:solidFill>
                  <a:srgbClr val="26282A"/>
                </a:solidFill>
                <a:latin typeface="Calibri" pitchFamily="34" charset="0"/>
                <a:ea typeface="Calibri" pitchFamily="34" charset="-122"/>
                <a:cs typeface="Calibri" pitchFamily="34" charset="-120"/>
              </a:rPr>
              <a:t>&gt; </a:t>
            </a:r>
            <a:r>
              <a:rPr lang="en-US" sz="1250" dirty="0">
                <a:solidFill>
                  <a:srgbClr val="26282A"/>
                </a:solidFill>
                <a:latin typeface="Calibri" pitchFamily="34" charset="0"/>
                <a:ea typeface="Calibri" pitchFamily="34" charset="-122"/>
                <a:cs typeface="Calibri" pitchFamily="34" charset="-120"/>
              </a:rPr>
              <a:t>Deep Learning </a:t>
            </a:r>
            <a:r>
              <a:rPr lang="en-US" sz="1250" dirty="0" smtClean="0">
                <a:solidFill>
                  <a:srgbClr val="26282A"/>
                </a:solidFill>
                <a:latin typeface="Calibri" pitchFamily="34" charset="0"/>
                <a:ea typeface="Calibri" pitchFamily="34" charset="-122"/>
                <a:cs typeface="Calibri" pitchFamily="34" charset="-120"/>
              </a:rPr>
              <a:t>&gt; </a:t>
            </a:r>
            <a:r>
              <a:rPr lang="en-US" sz="1250" dirty="0">
                <a:solidFill>
                  <a:srgbClr val="26282A"/>
                </a:solidFill>
                <a:latin typeface="Calibri" pitchFamily="34" charset="0"/>
                <a:ea typeface="Calibri" pitchFamily="34" charset="-122"/>
                <a:cs typeface="Calibri" pitchFamily="34" charset="-120"/>
              </a:rPr>
              <a:t>GenAI. LLMs = super-autocomplete that predicts the next word.</a:t>
            </a:r>
            <a:endParaRPr lang="en-US" sz="1250" dirty="0"/>
          </a:p>
        </p:txBody>
      </p:sp>
      <p:sp>
        <p:nvSpPr>
          <p:cNvPr id="8" name="Shape 6"/>
          <p:cNvSpPr/>
          <p:nvPr/>
        </p:nvSpPr>
        <p:spPr>
          <a:xfrm>
            <a:off x="457200" y="2258568"/>
            <a:ext cx="8229600" cy="685800"/>
          </a:xfrm>
          <a:prstGeom prst="roundRect">
            <a:avLst>
              <a:gd name="adj" fmla="val 10667"/>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9" name="Text 7"/>
          <p:cNvSpPr/>
          <p:nvPr/>
        </p:nvSpPr>
        <p:spPr>
          <a:xfrm>
            <a:off x="685800" y="2368296"/>
            <a:ext cx="2011680" cy="475488"/>
          </a:xfrm>
          <a:prstGeom prst="rect">
            <a:avLst/>
          </a:prstGeom>
          <a:noFill/>
          <a:ln/>
        </p:spPr>
        <p:txBody>
          <a:bodyPr wrap="square" lIns="0" tIns="0" rIns="0" bIns="0" rtlCol="0" anchor="ctr"/>
          <a:lstStyle/>
          <a:p>
            <a:pPr marL="0" indent="0">
              <a:buNone/>
            </a:pPr>
            <a:r>
              <a:rPr lang="en-US" sz="1400" b="1" dirty="0">
                <a:solidFill>
                  <a:srgbClr val="5C8A1B"/>
                </a:solidFill>
                <a:latin typeface="Cambria" pitchFamily="34" charset="0"/>
                <a:ea typeface="Cambria" pitchFamily="34" charset="-122"/>
                <a:cs typeface="Cambria" pitchFamily="34" charset="-120"/>
              </a:rPr>
              <a:t>Prompting</a:t>
            </a:r>
            <a:endParaRPr lang="en-US" sz="1400" dirty="0"/>
          </a:p>
        </p:txBody>
      </p:sp>
      <p:sp>
        <p:nvSpPr>
          <p:cNvPr id="10" name="Text 8"/>
          <p:cNvSpPr/>
          <p:nvPr/>
        </p:nvSpPr>
        <p:spPr>
          <a:xfrm>
            <a:off x="2743200" y="2368296"/>
            <a:ext cx="5760720" cy="475488"/>
          </a:xfrm>
          <a:prstGeom prst="rect">
            <a:avLst/>
          </a:prstGeom>
          <a:noFill/>
          <a:ln/>
        </p:spPr>
        <p:txBody>
          <a:bodyPr wrap="square" lIns="0" tIns="0" rIns="0" bIns="0" rtlCol="0" anchor="ctr"/>
          <a:lstStyle/>
          <a:p>
            <a:pPr marL="0" indent="0">
              <a:buNone/>
            </a:pPr>
            <a:r>
              <a:rPr lang="en-US" sz="1250" dirty="0">
                <a:solidFill>
                  <a:srgbClr val="26282A"/>
                </a:solidFill>
                <a:latin typeface="Calibri" pitchFamily="34" charset="0"/>
                <a:ea typeface="Calibri" pitchFamily="34" charset="-122"/>
                <a:cs typeface="Calibri" pitchFamily="34" charset="-120"/>
              </a:rPr>
              <a:t>Structure it: TAG (quick) · RACE (expert) · RTCROS (thorough). Add examples, ask it to reason, and iterate.</a:t>
            </a:r>
            <a:endParaRPr lang="en-US" sz="1250" dirty="0"/>
          </a:p>
        </p:txBody>
      </p:sp>
      <p:sp>
        <p:nvSpPr>
          <p:cNvPr id="11" name="Shape 9"/>
          <p:cNvSpPr/>
          <p:nvPr/>
        </p:nvSpPr>
        <p:spPr>
          <a:xfrm>
            <a:off x="457200" y="3008376"/>
            <a:ext cx="8229600" cy="685800"/>
          </a:xfrm>
          <a:prstGeom prst="roundRect">
            <a:avLst>
              <a:gd name="adj" fmla="val 10667"/>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2" name="Text 10"/>
          <p:cNvSpPr/>
          <p:nvPr/>
        </p:nvSpPr>
        <p:spPr>
          <a:xfrm>
            <a:off x="685800" y="3118104"/>
            <a:ext cx="2011680" cy="475488"/>
          </a:xfrm>
          <a:prstGeom prst="rect">
            <a:avLst/>
          </a:prstGeom>
          <a:noFill/>
          <a:ln/>
        </p:spPr>
        <p:txBody>
          <a:bodyPr wrap="square" lIns="0" tIns="0" rIns="0" bIns="0" rtlCol="0" anchor="ctr"/>
          <a:lstStyle/>
          <a:p>
            <a:pPr marL="0" indent="0">
              <a:buNone/>
            </a:pPr>
            <a:r>
              <a:rPr lang="en-US" sz="1400" b="1" dirty="0">
                <a:solidFill>
                  <a:srgbClr val="5C8A1B"/>
                </a:solidFill>
                <a:latin typeface="Cambria" pitchFamily="34" charset="0"/>
                <a:ea typeface="Cambria" pitchFamily="34" charset="-122"/>
                <a:cs typeface="Cambria" pitchFamily="34" charset="-120"/>
              </a:rPr>
              <a:t>At work</a:t>
            </a:r>
            <a:endParaRPr lang="en-US" sz="1400" dirty="0"/>
          </a:p>
        </p:txBody>
      </p:sp>
      <p:sp>
        <p:nvSpPr>
          <p:cNvPr id="13" name="Text 11"/>
          <p:cNvSpPr/>
          <p:nvPr/>
        </p:nvSpPr>
        <p:spPr>
          <a:xfrm>
            <a:off x="2743200" y="3118104"/>
            <a:ext cx="5760720" cy="475488"/>
          </a:xfrm>
          <a:prstGeom prst="rect">
            <a:avLst/>
          </a:prstGeom>
          <a:noFill/>
          <a:ln/>
        </p:spPr>
        <p:txBody>
          <a:bodyPr wrap="square" lIns="0" tIns="0" rIns="0" bIns="0" rtlCol="0" anchor="ctr"/>
          <a:lstStyle/>
          <a:p>
            <a:pPr marL="0" indent="0">
              <a:buNone/>
            </a:pPr>
            <a:r>
              <a:rPr lang="en-US" sz="1250" dirty="0">
                <a:solidFill>
                  <a:srgbClr val="26282A"/>
                </a:solidFill>
                <a:latin typeface="Calibri" pitchFamily="34" charset="0"/>
                <a:ea typeface="Calibri" pitchFamily="34" charset="-122"/>
                <a:cs typeface="Calibri" pitchFamily="34" charset="-120"/>
              </a:rPr>
              <a:t>AI drafts. You decide. You're accountable.</a:t>
            </a:r>
            <a:endParaRPr lang="en-US" sz="1250" dirty="0"/>
          </a:p>
        </p:txBody>
      </p:sp>
      <p:sp>
        <p:nvSpPr>
          <p:cNvPr id="14" name="Shape 12"/>
          <p:cNvSpPr/>
          <p:nvPr/>
        </p:nvSpPr>
        <p:spPr>
          <a:xfrm>
            <a:off x="457200" y="3758184"/>
            <a:ext cx="8229600" cy="685800"/>
          </a:xfrm>
          <a:prstGeom prst="roundRect">
            <a:avLst>
              <a:gd name="adj" fmla="val 10667"/>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15" name="Text 13"/>
          <p:cNvSpPr/>
          <p:nvPr/>
        </p:nvSpPr>
        <p:spPr>
          <a:xfrm>
            <a:off x="685800" y="3867912"/>
            <a:ext cx="2011680" cy="475488"/>
          </a:xfrm>
          <a:prstGeom prst="rect">
            <a:avLst/>
          </a:prstGeom>
          <a:noFill/>
          <a:ln/>
        </p:spPr>
        <p:txBody>
          <a:bodyPr wrap="square" lIns="0" tIns="0" rIns="0" bIns="0" rtlCol="0" anchor="ctr"/>
          <a:lstStyle/>
          <a:p>
            <a:pPr marL="0" indent="0">
              <a:buNone/>
            </a:pPr>
            <a:r>
              <a:rPr lang="en-US" sz="1400" b="1" dirty="0">
                <a:solidFill>
                  <a:srgbClr val="5C8A1B"/>
                </a:solidFill>
                <a:latin typeface="Cambria" pitchFamily="34" charset="0"/>
                <a:ea typeface="Cambria" pitchFamily="34" charset="-122"/>
                <a:cs typeface="Cambria" pitchFamily="34" charset="-120"/>
              </a:rPr>
              <a:t>The 4 rules</a:t>
            </a:r>
            <a:endParaRPr lang="en-US" sz="1400" dirty="0"/>
          </a:p>
        </p:txBody>
      </p:sp>
      <p:sp>
        <p:nvSpPr>
          <p:cNvPr id="16" name="Text 14"/>
          <p:cNvSpPr/>
          <p:nvPr/>
        </p:nvSpPr>
        <p:spPr>
          <a:xfrm>
            <a:off x="2743200" y="3867912"/>
            <a:ext cx="5760720" cy="475488"/>
          </a:xfrm>
          <a:prstGeom prst="rect">
            <a:avLst/>
          </a:prstGeom>
          <a:noFill/>
          <a:ln/>
        </p:spPr>
        <p:txBody>
          <a:bodyPr wrap="square" lIns="0" tIns="0" rIns="0" bIns="0" rtlCol="0" anchor="ctr"/>
          <a:lstStyle/>
          <a:p>
            <a:pPr marL="0" indent="0">
              <a:buNone/>
            </a:pPr>
            <a:r>
              <a:rPr lang="en-US" sz="1250" dirty="0">
                <a:solidFill>
                  <a:srgbClr val="26282A"/>
                </a:solidFill>
                <a:latin typeface="Calibri" pitchFamily="34" charset="0"/>
                <a:ea typeface="Calibri" pitchFamily="34" charset="-122"/>
                <a:cs typeface="Calibri" pitchFamily="34" charset="-120"/>
              </a:rPr>
              <a:t>Verify · Protect · Own · Disclose.</a:t>
            </a:r>
            <a:endParaRPr lang="en-US" sz="1250" dirty="0"/>
          </a:p>
        </p:txBody>
      </p:sp>
      <p:sp>
        <p:nvSpPr>
          <p:cNvPr id="17" name="Text 15"/>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8" name="Text 16"/>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WRAP-UP</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Rapid quiz</a:t>
            </a:r>
            <a:endParaRPr lang="en-US" sz="2900" dirty="0"/>
          </a:p>
        </p:txBody>
      </p:sp>
      <p:sp>
        <p:nvSpPr>
          <p:cNvPr id="5" name="Shape 3"/>
          <p:cNvSpPr/>
          <p:nvPr/>
        </p:nvSpPr>
        <p:spPr>
          <a:xfrm>
            <a:off x="457200" y="1417320"/>
            <a:ext cx="1622146" cy="292608"/>
          </a:xfrm>
          <a:prstGeom prst="roundRect">
            <a:avLst>
              <a:gd name="adj" fmla="val 50000"/>
            </a:avLst>
          </a:prstGeom>
          <a:solidFill>
            <a:srgbClr val="86BC25"/>
          </a:solidFill>
          <a:ln/>
        </p:spPr>
      </p:sp>
      <p:sp>
        <p:nvSpPr>
          <p:cNvPr id="6" name="Text 4"/>
          <p:cNvSpPr/>
          <p:nvPr/>
        </p:nvSpPr>
        <p:spPr>
          <a:xfrm>
            <a:off x="457200" y="1417320"/>
            <a:ext cx="1622146" cy="292608"/>
          </a:xfrm>
          <a:prstGeom prst="rect">
            <a:avLst/>
          </a:prstGeom>
          <a:noFill/>
          <a:ln/>
        </p:spPr>
        <p:txBody>
          <a:bodyPr wrap="square" lIns="0" tIns="0" rIns="0" bIns="0" rtlCol="0" anchor="ctr"/>
          <a:lstStyle/>
          <a:p>
            <a:pPr marL="0" indent="0" algn="ctr">
              <a:buNone/>
            </a:pPr>
            <a:r>
              <a:rPr lang="en-US" sz="1000" b="1" kern="0" spc="100" dirty="0" smtClean="0">
                <a:solidFill>
                  <a:srgbClr val="FFFFFF"/>
                </a:solidFill>
                <a:latin typeface="Calibri" pitchFamily="34" charset="0"/>
                <a:ea typeface="Calibri" pitchFamily="34" charset="-122"/>
                <a:cs typeface="Calibri" pitchFamily="34" charset="-120"/>
              </a:rPr>
              <a:t>QUIZ</a:t>
            </a:r>
            <a:endParaRPr lang="en-US" sz="1000" dirty="0"/>
          </a:p>
        </p:txBody>
      </p:sp>
      <p:sp>
        <p:nvSpPr>
          <p:cNvPr id="7" name="Shape 5"/>
          <p:cNvSpPr/>
          <p:nvPr/>
        </p:nvSpPr>
        <p:spPr>
          <a:xfrm>
            <a:off x="457200" y="1920240"/>
            <a:ext cx="8229600" cy="2194560"/>
          </a:xfrm>
          <a:prstGeom prst="roundRect">
            <a:avLst>
              <a:gd name="adj" fmla="val 3333"/>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8" name="Text 6"/>
          <p:cNvSpPr/>
          <p:nvPr/>
        </p:nvSpPr>
        <p:spPr>
          <a:xfrm>
            <a:off x="685800" y="2057400"/>
            <a:ext cx="3657600" cy="274320"/>
          </a:xfrm>
          <a:prstGeom prst="rect">
            <a:avLst/>
          </a:prstGeom>
          <a:noFill/>
          <a:ln/>
        </p:spPr>
        <p:txBody>
          <a:bodyPr wrap="square" lIns="0" tIns="0" rIns="0" bIns="0" rtlCol="0" anchor="ctr"/>
          <a:lstStyle/>
          <a:p>
            <a:pPr marL="0" indent="0">
              <a:buNone/>
            </a:pPr>
            <a:r>
              <a:rPr lang="en-US" sz="1100" b="1" kern="0" spc="100" dirty="0">
                <a:solidFill>
                  <a:srgbClr val="5C8A1B"/>
                </a:solidFill>
                <a:latin typeface="Calibri" pitchFamily="34" charset="0"/>
                <a:ea typeface="Calibri" pitchFamily="34" charset="-122"/>
                <a:cs typeface="Calibri" pitchFamily="34" charset="-120"/>
              </a:rPr>
              <a:t>Sample questions</a:t>
            </a:r>
            <a:endParaRPr lang="en-US" sz="1100" dirty="0"/>
          </a:p>
        </p:txBody>
      </p:sp>
      <p:sp>
        <p:nvSpPr>
          <p:cNvPr id="9" name="Text 7"/>
          <p:cNvSpPr/>
          <p:nvPr/>
        </p:nvSpPr>
        <p:spPr>
          <a:xfrm>
            <a:off x="685800" y="2377440"/>
            <a:ext cx="7772400" cy="1645920"/>
          </a:xfrm>
          <a:prstGeom prst="rect">
            <a:avLst/>
          </a:prstGeom>
          <a:noFill/>
          <a:ln/>
        </p:spPr>
        <p:txBody>
          <a:bodyPr wrap="square" lIns="0" tIns="0" rIns="0" bIns="0" rtlCol="0" anchor="ctr"/>
          <a:lstStyle/>
          <a:p>
            <a:pPr marL="0" indent="0">
              <a:spcAft>
                <a:spcPts val="900"/>
              </a:spcAft>
              <a:buNone/>
            </a:pPr>
            <a:r>
              <a:rPr lang="en-US" sz="1300" dirty="0">
                <a:solidFill>
                  <a:srgbClr val="26282A"/>
                </a:solidFill>
                <a:latin typeface="Calibri" pitchFamily="34" charset="0"/>
                <a:ea typeface="Calibri" pitchFamily="34" charset="-122"/>
                <a:cs typeface="Calibri" pitchFamily="34" charset="-120"/>
              </a:rPr>
              <a:t>1.  Which is the broadest term — ML, Deep Learning, AI, or GenAI?</a:t>
            </a:r>
            <a:endParaRPr lang="en-US" sz="1300" dirty="0"/>
          </a:p>
          <a:p>
            <a:pPr marL="0" indent="0">
              <a:spcAft>
                <a:spcPts val="900"/>
              </a:spcAft>
              <a:buNone/>
            </a:pPr>
            <a:r>
              <a:rPr lang="en-US" sz="1300" dirty="0">
                <a:solidFill>
                  <a:srgbClr val="26282A"/>
                </a:solidFill>
                <a:latin typeface="Calibri" pitchFamily="34" charset="0"/>
                <a:ea typeface="Calibri" pitchFamily="34" charset="-122"/>
                <a:cs typeface="Calibri" pitchFamily="34" charset="-120"/>
              </a:rPr>
              <a:t>2.  An LLM mainly works by… (searching / next-word prediction / a database)</a:t>
            </a:r>
            <a:endParaRPr lang="en-US" sz="1300" dirty="0"/>
          </a:p>
          <a:p>
            <a:pPr marL="0" indent="0">
              <a:spcAft>
                <a:spcPts val="900"/>
              </a:spcAft>
              <a:buNone/>
            </a:pPr>
            <a:r>
              <a:rPr lang="en-US" sz="1300" dirty="0">
                <a:solidFill>
                  <a:srgbClr val="26282A"/>
                </a:solidFill>
                <a:latin typeface="Calibri" pitchFamily="34" charset="0"/>
                <a:ea typeface="Calibri" pitchFamily="34" charset="-122"/>
                <a:cs typeface="Calibri" pitchFamily="34" charset="-120"/>
              </a:rPr>
              <a:t>3.  A confident but false AI answer is called a…</a:t>
            </a:r>
            <a:endParaRPr lang="en-US" sz="1300" dirty="0"/>
          </a:p>
          <a:p>
            <a:pPr marL="0" indent="0">
              <a:buNone/>
            </a:pPr>
            <a:r>
              <a:rPr lang="en-US" sz="1300" dirty="0">
                <a:solidFill>
                  <a:srgbClr val="26282A"/>
                </a:solidFill>
                <a:latin typeface="Calibri" pitchFamily="34" charset="0"/>
                <a:ea typeface="Calibri" pitchFamily="34" charset="-122"/>
                <a:cs typeface="Calibri" pitchFamily="34" charset="-120"/>
              </a:rPr>
              <a:t>4.  Who is accountable for AI-assisted work you submit?</a:t>
            </a:r>
            <a:endParaRPr lang="en-US" sz="1300" dirty="0"/>
          </a:p>
        </p:txBody>
      </p:sp>
      <p:sp>
        <p:nvSpPr>
          <p:cNvPr id="10" name="Text 8"/>
          <p:cNvSpPr/>
          <p:nvPr/>
        </p:nvSpPr>
        <p:spPr>
          <a:xfrm>
            <a:off x="457200" y="4251960"/>
            <a:ext cx="8229600" cy="274320"/>
          </a:xfrm>
          <a:prstGeom prst="rect">
            <a:avLst/>
          </a:prstGeom>
          <a:noFill/>
          <a:ln/>
        </p:spPr>
        <p:txBody>
          <a:bodyPr wrap="square" lIns="0" tIns="0" rIns="0" bIns="0" rtlCol="0" anchor="ctr"/>
          <a:lstStyle/>
          <a:p>
            <a:pPr marL="0" indent="0">
              <a:buNone/>
            </a:pPr>
            <a:r>
              <a:rPr lang="en-US" sz="1100" i="1" dirty="0" smtClean="0">
                <a:solidFill>
                  <a:schemeClr val="bg1"/>
                </a:solidFill>
                <a:latin typeface="Calibri" pitchFamily="34" charset="0"/>
                <a:ea typeface="Calibri" pitchFamily="34" charset="-122"/>
                <a:cs typeface="Calibri" pitchFamily="34" charset="-120"/>
              </a:rPr>
              <a:t>(</a:t>
            </a:r>
            <a:r>
              <a:rPr lang="en-US" sz="1100" i="1" dirty="0">
                <a:solidFill>
                  <a:schemeClr val="bg1"/>
                </a:solidFill>
                <a:latin typeface="Calibri" pitchFamily="34" charset="0"/>
                <a:ea typeface="Calibri" pitchFamily="34" charset="-122"/>
                <a:cs typeface="Calibri" pitchFamily="34" charset="-120"/>
              </a:rPr>
              <a:t>Answers: AI  ·  next-word prediction  ·  hallucination  ·  you.)</a:t>
            </a:r>
            <a:endParaRPr lang="en-US" sz="1100" dirty="0">
              <a:solidFill>
                <a:schemeClr val="bg1"/>
              </a:solidFill>
            </a:endParaRPr>
          </a:p>
        </p:txBody>
      </p:sp>
      <p:sp>
        <p:nvSpPr>
          <p:cNvPr id="11" name="Text 9"/>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2" name="Text 10"/>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28</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26282A"/>
        </a:solidFill>
        <a:effectLst/>
      </p:bgPr>
    </p:bg>
    <p:spTree>
      <p:nvGrpSpPr>
        <p:cNvPr id="1" name=""/>
        <p:cNvGrpSpPr/>
        <p:nvPr/>
      </p:nvGrpSpPr>
      <p:grpSpPr>
        <a:xfrm>
          <a:off x="0" y="0"/>
          <a:ext cx="0" cy="0"/>
          <a:chOff x="0" y="0"/>
          <a:chExt cx="0" cy="0"/>
        </a:xfrm>
      </p:grpSpPr>
      <p:sp>
        <p:nvSpPr>
          <p:cNvPr id="2" name="Shape 0"/>
          <p:cNvSpPr/>
          <p:nvPr/>
        </p:nvSpPr>
        <p:spPr>
          <a:xfrm>
            <a:off x="822960" y="1737360"/>
            <a:ext cx="146304" cy="146304"/>
          </a:xfrm>
          <a:prstGeom prst="ellipse">
            <a:avLst/>
          </a:prstGeom>
          <a:solidFill>
            <a:srgbClr val="86BC25"/>
          </a:solidFill>
          <a:ln/>
        </p:spPr>
      </p:sp>
      <p:sp>
        <p:nvSpPr>
          <p:cNvPr id="3" name="Text 1"/>
          <p:cNvSpPr/>
          <p:nvPr/>
        </p:nvSpPr>
        <p:spPr>
          <a:xfrm>
            <a:off x="1051560" y="1691640"/>
            <a:ext cx="7315200" cy="274320"/>
          </a:xfrm>
          <a:prstGeom prst="rect">
            <a:avLst/>
          </a:prstGeom>
          <a:noFill/>
          <a:ln/>
        </p:spPr>
        <p:txBody>
          <a:bodyPr wrap="square" lIns="0" tIns="0" rIns="0" bIns="0" rtlCol="0" anchor="ctr"/>
          <a:lstStyle/>
          <a:p>
            <a:pPr marL="0" indent="0">
              <a:buNone/>
            </a:pPr>
            <a:r>
              <a:rPr lang="en-US" sz="1300" b="1" kern="0" spc="300" dirty="0">
                <a:solidFill>
                  <a:srgbClr val="86BC25"/>
                </a:solidFill>
                <a:latin typeface="Calibri" pitchFamily="34" charset="0"/>
                <a:ea typeface="Calibri" pitchFamily="34" charset="-122"/>
                <a:cs typeface="Calibri" pitchFamily="34" charset="-120"/>
              </a:rPr>
              <a:t>THANK YOU</a:t>
            </a:r>
            <a:endParaRPr lang="en-US" sz="1300" dirty="0"/>
          </a:p>
        </p:txBody>
      </p:sp>
      <p:sp>
        <p:nvSpPr>
          <p:cNvPr id="4" name="Text 2"/>
          <p:cNvSpPr/>
          <p:nvPr/>
        </p:nvSpPr>
        <p:spPr>
          <a:xfrm>
            <a:off x="777240" y="2057400"/>
            <a:ext cx="7772400" cy="10058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Questions?</a:t>
            </a:r>
            <a:endParaRPr lang="en-US" sz="4600" dirty="0"/>
          </a:p>
        </p:txBody>
      </p:sp>
      <p:sp>
        <p:nvSpPr>
          <p:cNvPr id="5" name="Text 3"/>
          <p:cNvSpPr/>
          <p:nvPr/>
        </p:nvSpPr>
        <p:spPr>
          <a:xfrm>
            <a:off x="822960" y="3200400"/>
            <a:ext cx="7498080" cy="457200"/>
          </a:xfrm>
          <a:prstGeom prst="rect">
            <a:avLst/>
          </a:prstGeom>
          <a:noFill/>
          <a:ln/>
        </p:spPr>
        <p:txBody>
          <a:bodyPr wrap="square" lIns="0" tIns="0" rIns="0" bIns="0" rtlCol="0" anchor="ctr"/>
          <a:lstStyle/>
          <a:p>
            <a:pPr marL="0" indent="0">
              <a:buNone/>
            </a:pPr>
            <a:r>
              <a:rPr lang="en-US" sz="1500" dirty="0">
                <a:solidFill>
                  <a:srgbClr val="C9CCD0"/>
                </a:solidFill>
                <a:latin typeface="Calibri" pitchFamily="34" charset="0"/>
                <a:ea typeface="Calibri" pitchFamily="34" charset="-122"/>
                <a:cs typeface="Calibri" pitchFamily="34" charset="-120"/>
              </a:rPr>
              <a:t>You don't need to be an AI expert — just a confident, responsible user. You're there.</a:t>
            </a:r>
            <a:endParaRPr lang="en-US" sz="1500" dirty="0"/>
          </a:p>
        </p:txBody>
      </p:sp>
      <p:sp>
        <p:nvSpPr>
          <p:cNvPr id="6" name="Text 4"/>
          <p:cNvSpPr/>
          <p:nvPr/>
        </p:nvSpPr>
        <p:spPr>
          <a:xfrm>
            <a:off x="822960" y="3977640"/>
            <a:ext cx="7772400" cy="320040"/>
          </a:xfrm>
          <a:prstGeom prst="rect">
            <a:avLst/>
          </a:prstGeom>
          <a:noFill/>
          <a:ln/>
        </p:spPr>
        <p:txBody>
          <a:bodyPr wrap="square" lIns="0" tIns="0" rIns="0" bIns="0" rtlCol="0" anchor="ctr"/>
          <a:lstStyle/>
          <a:p>
            <a:pPr marL="0" indent="0">
              <a:buNone/>
            </a:pPr>
            <a:r>
              <a:rPr lang="en-US" sz="1200" b="1" dirty="0">
                <a:solidFill>
                  <a:srgbClr val="86BC25"/>
                </a:solidFill>
                <a:latin typeface="Calibri" pitchFamily="34" charset="0"/>
                <a:ea typeface="Calibri" pitchFamily="34" charset="-122"/>
                <a:cs typeface="Calibri" pitchFamily="34" charset="-120"/>
              </a:rPr>
              <a:t>Drop final questions in the </a:t>
            </a:r>
            <a:r>
              <a:rPr lang="en-US" sz="1200" b="1" dirty="0" smtClean="0">
                <a:solidFill>
                  <a:srgbClr val="86BC25"/>
                </a:solidFill>
                <a:latin typeface="Calibri" pitchFamily="34" charset="0"/>
                <a:ea typeface="Calibri" pitchFamily="34" charset="-122"/>
                <a:cs typeface="Calibri" pitchFamily="34" charset="-120"/>
              </a:rPr>
              <a:t>chat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WRAP-UP</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Where to go next</a:t>
            </a:r>
            <a:endParaRPr lang="en-US" sz="2900" dirty="0"/>
          </a:p>
        </p:txBody>
      </p:sp>
      <p:sp>
        <p:nvSpPr>
          <p:cNvPr id="5" name="Shape 3"/>
          <p:cNvSpPr/>
          <p:nvPr/>
        </p:nvSpPr>
        <p:spPr>
          <a:xfrm>
            <a:off x="457200" y="1508760"/>
            <a:ext cx="4023360" cy="1143000"/>
          </a:xfrm>
          <a:prstGeom prst="roundRect">
            <a:avLst>
              <a:gd name="adj" fmla="val 64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58368" y="1645920"/>
            <a:ext cx="3657600" cy="292608"/>
          </a:xfrm>
          <a:prstGeom prst="rect">
            <a:avLst/>
          </a:prstGeom>
          <a:noFill/>
          <a:ln/>
        </p:spPr>
        <p:txBody>
          <a:bodyPr wrap="square" lIns="0" tIns="0" rIns="0" bIns="0" rtlCol="0" anchor="ctr"/>
          <a:lstStyle/>
          <a:p>
            <a:pPr marL="0" indent="0">
              <a:buNone/>
            </a:pPr>
            <a:r>
              <a:rPr lang="en-US" sz="1350" b="1" dirty="0">
                <a:solidFill>
                  <a:srgbClr val="5C8A1B"/>
                </a:solidFill>
                <a:latin typeface="Calibri" pitchFamily="34" charset="0"/>
                <a:ea typeface="Calibri" pitchFamily="34" charset="-122"/>
                <a:cs typeface="Calibri" pitchFamily="34" charset="-120"/>
              </a:rPr>
              <a:t>Approved AI tools</a:t>
            </a:r>
            <a:endParaRPr lang="en-US" sz="1350" dirty="0"/>
          </a:p>
        </p:txBody>
      </p:sp>
      <p:sp>
        <p:nvSpPr>
          <p:cNvPr id="7" name="Text 5"/>
          <p:cNvSpPr/>
          <p:nvPr/>
        </p:nvSpPr>
        <p:spPr>
          <a:xfrm>
            <a:off x="658368" y="1965960"/>
            <a:ext cx="3657600" cy="59436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Use only firm-sanctioned tools — links &amp; access in your onboarding portal.</a:t>
            </a:r>
            <a:endParaRPr lang="en-US" sz="1150" dirty="0"/>
          </a:p>
        </p:txBody>
      </p:sp>
      <p:sp>
        <p:nvSpPr>
          <p:cNvPr id="8" name="Shape 6"/>
          <p:cNvSpPr/>
          <p:nvPr/>
        </p:nvSpPr>
        <p:spPr>
          <a:xfrm>
            <a:off x="4663440" y="1508760"/>
            <a:ext cx="4023360" cy="1143000"/>
          </a:xfrm>
          <a:prstGeom prst="roundRect">
            <a:avLst>
              <a:gd name="adj" fmla="val 64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9" name="Text 7"/>
          <p:cNvSpPr/>
          <p:nvPr/>
        </p:nvSpPr>
        <p:spPr>
          <a:xfrm>
            <a:off x="4864608" y="1645920"/>
            <a:ext cx="3657600" cy="292608"/>
          </a:xfrm>
          <a:prstGeom prst="rect">
            <a:avLst/>
          </a:prstGeom>
          <a:noFill/>
          <a:ln/>
        </p:spPr>
        <p:txBody>
          <a:bodyPr wrap="square" lIns="0" tIns="0" rIns="0" bIns="0" rtlCol="0" anchor="ctr"/>
          <a:lstStyle/>
          <a:p>
            <a:pPr marL="0" indent="0">
              <a:buNone/>
            </a:pPr>
            <a:r>
              <a:rPr lang="en-US" sz="1350" b="1" dirty="0">
                <a:solidFill>
                  <a:srgbClr val="5C8A1B"/>
                </a:solidFill>
                <a:latin typeface="Calibri" pitchFamily="34" charset="0"/>
                <a:ea typeface="Calibri" pitchFamily="34" charset="-122"/>
                <a:cs typeface="Calibri" pitchFamily="34" charset="-120"/>
              </a:rPr>
              <a:t>GenAI usage policy</a:t>
            </a:r>
            <a:endParaRPr lang="en-US" sz="1350" dirty="0"/>
          </a:p>
        </p:txBody>
      </p:sp>
      <p:sp>
        <p:nvSpPr>
          <p:cNvPr id="10" name="Text 8"/>
          <p:cNvSpPr/>
          <p:nvPr/>
        </p:nvSpPr>
        <p:spPr>
          <a:xfrm>
            <a:off x="4864608" y="1965960"/>
            <a:ext cx="3657600" cy="59436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Read the internal Trustworthy AI / GenAI policy before using AI on real work.</a:t>
            </a:r>
            <a:endParaRPr lang="en-US" sz="1150" dirty="0"/>
          </a:p>
        </p:txBody>
      </p:sp>
      <p:sp>
        <p:nvSpPr>
          <p:cNvPr id="11" name="Shape 9"/>
          <p:cNvSpPr/>
          <p:nvPr/>
        </p:nvSpPr>
        <p:spPr>
          <a:xfrm>
            <a:off x="457200" y="2834640"/>
            <a:ext cx="4023360" cy="1143000"/>
          </a:xfrm>
          <a:prstGeom prst="roundRect">
            <a:avLst>
              <a:gd name="adj" fmla="val 64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2" name="Text 10"/>
          <p:cNvSpPr/>
          <p:nvPr/>
        </p:nvSpPr>
        <p:spPr>
          <a:xfrm>
            <a:off x="658368" y="2971800"/>
            <a:ext cx="3657600" cy="292608"/>
          </a:xfrm>
          <a:prstGeom prst="rect">
            <a:avLst/>
          </a:prstGeom>
          <a:noFill/>
          <a:ln/>
        </p:spPr>
        <p:txBody>
          <a:bodyPr wrap="square" lIns="0" tIns="0" rIns="0" bIns="0" rtlCol="0" anchor="ctr"/>
          <a:lstStyle/>
          <a:p>
            <a:pPr marL="0" indent="0">
              <a:buNone/>
            </a:pPr>
            <a:r>
              <a:rPr lang="en-US" sz="1350" b="1" dirty="0">
                <a:solidFill>
                  <a:srgbClr val="5C8A1B"/>
                </a:solidFill>
                <a:latin typeface="Calibri" pitchFamily="34" charset="0"/>
                <a:ea typeface="Calibri" pitchFamily="34" charset="-122"/>
                <a:cs typeface="Calibri" pitchFamily="34" charset="-120"/>
              </a:rPr>
              <a:t>Prompt library</a:t>
            </a:r>
            <a:endParaRPr lang="en-US" sz="1350" dirty="0"/>
          </a:p>
        </p:txBody>
      </p:sp>
      <p:sp>
        <p:nvSpPr>
          <p:cNvPr id="13" name="Text 11"/>
          <p:cNvSpPr/>
          <p:nvPr/>
        </p:nvSpPr>
        <p:spPr>
          <a:xfrm>
            <a:off x="658368" y="3291840"/>
            <a:ext cx="3657600" cy="59436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Reuse and adapt tested prompts for common tasks.</a:t>
            </a:r>
            <a:endParaRPr lang="en-US" sz="1150" dirty="0"/>
          </a:p>
        </p:txBody>
      </p:sp>
      <p:sp>
        <p:nvSpPr>
          <p:cNvPr id="14" name="Shape 12"/>
          <p:cNvSpPr/>
          <p:nvPr/>
        </p:nvSpPr>
        <p:spPr>
          <a:xfrm>
            <a:off x="4663440" y="2834640"/>
            <a:ext cx="4023360" cy="1143000"/>
          </a:xfrm>
          <a:prstGeom prst="roundRect">
            <a:avLst>
              <a:gd name="adj" fmla="val 6400"/>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5" name="Text 13"/>
          <p:cNvSpPr/>
          <p:nvPr/>
        </p:nvSpPr>
        <p:spPr>
          <a:xfrm>
            <a:off x="4864608" y="2971800"/>
            <a:ext cx="3657600" cy="292608"/>
          </a:xfrm>
          <a:prstGeom prst="rect">
            <a:avLst/>
          </a:prstGeom>
          <a:noFill/>
          <a:ln/>
        </p:spPr>
        <p:txBody>
          <a:bodyPr wrap="square" lIns="0" tIns="0" rIns="0" bIns="0" rtlCol="0" anchor="ctr"/>
          <a:lstStyle/>
          <a:p>
            <a:pPr marL="0" indent="0">
              <a:buNone/>
            </a:pPr>
            <a:r>
              <a:rPr lang="en-US" sz="1350" b="1" dirty="0">
                <a:solidFill>
                  <a:srgbClr val="5C8A1B"/>
                </a:solidFill>
                <a:latin typeface="Calibri" pitchFamily="34" charset="0"/>
                <a:ea typeface="Calibri" pitchFamily="34" charset="-122"/>
                <a:cs typeface="Calibri" pitchFamily="34" charset="-120"/>
              </a:rPr>
              <a:t>Who to ask</a:t>
            </a:r>
            <a:endParaRPr lang="en-US" sz="1350" dirty="0"/>
          </a:p>
        </p:txBody>
      </p:sp>
      <p:sp>
        <p:nvSpPr>
          <p:cNvPr id="16" name="Text 14"/>
          <p:cNvSpPr/>
          <p:nvPr/>
        </p:nvSpPr>
        <p:spPr>
          <a:xfrm>
            <a:off x="4864608" y="3291840"/>
            <a:ext cx="3657600" cy="594360"/>
          </a:xfrm>
          <a:prstGeom prst="rect">
            <a:avLst/>
          </a:prstGeom>
          <a:noFill/>
          <a:ln/>
        </p:spPr>
        <p:txBody>
          <a:bodyPr wrap="square" lIns="0" tIns="0" rIns="0" bIns="0" rtlCol="0" anchor="ctr"/>
          <a:lstStyle/>
          <a:p>
            <a:pPr marL="0" indent="0">
              <a:buNone/>
            </a:pPr>
            <a:r>
              <a:rPr lang="en-US" sz="1150" dirty="0">
                <a:solidFill>
                  <a:srgbClr val="44474A"/>
                </a:solidFill>
                <a:latin typeface="Calibri" pitchFamily="34" charset="0"/>
                <a:ea typeface="Calibri" pitchFamily="34" charset="-122"/>
                <a:cs typeface="Calibri" pitchFamily="34" charset="-120"/>
              </a:rPr>
              <a:t>Escalate AI or data-security questions to your team lead / the stated contact.</a:t>
            </a:r>
            <a:endParaRPr lang="en-US" sz="1150" dirty="0"/>
          </a:p>
        </p:txBody>
      </p:sp>
      <p:sp>
        <p:nvSpPr>
          <p:cNvPr id="17" name="Text 15"/>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8" name="Text 16"/>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29</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How LLMs evolved — and where they're used</a:t>
            </a:r>
            <a:endParaRPr lang="en-US" sz="2900" dirty="0"/>
          </a:p>
        </p:txBody>
      </p:sp>
      <p:sp>
        <p:nvSpPr>
          <p:cNvPr id="5" name="Text 3"/>
          <p:cNvSpPr/>
          <p:nvPr/>
        </p:nvSpPr>
        <p:spPr>
          <a:xfrm>
            <a:off x="457200" y="1371600"/>
            <a:ext cx="8229600" cy="411480"/>
          </a:xfrm>
          <a:prstGeom prst="rect">
            <a:avLst/>
          </a:prstGeom>
          <a:noFill/>
          <a:ln/>
        </p:spPr>
        <p:txBody>
          <a:bodyPr wrap="square" lIns="0" tIns="0" rIns="0" bIns="0" rtlCol="0" anchor="ctr"/>
          <a:lstStyle/>
          <a:p>
            <a:pPr marL="0" indent="0">
              <a:buNone/>
            </a:pPr>
            <a:r>
              <a:rPr lang="en-US" sz="1300" dirty="0">
                <a:solidFill>
                  <a:srgbClr val="26282A"/>
                </a:solidFill>
                <a:latin typeface="Calibri" pitchFamily="34" charset="0"/>
                <a:ea typeface="Calibri" pitchFamily="34" charset="-122"/>
                <a:cs typeface="Calibri" pitchFamily="34" charset="-120"/>
              </a:rPr>
              <a:t>Same idea as before — trained on vast text to generate human-like language. Here's how fast they've grown, and how widely they're now used.</a:t>
            </a:r>
            <a:endParaRPr lang="en-US" sz="1300" dirty="0"/>
          </a:p>
        </p:txBody>
      </p:sp>
      <p:sp>
        <p:nvSpPr>
          <p:cNvPr id="6" name="Shape 4"/>
          <p:cNvSpPr/>
          <p:nvPr/>
        </p:nvSpPr>
        <p:spPr>
          <a:xfrm>
            <a:off x="457200" y="1874520"/>
            <a:ext cx="4023360" cy="1417320"/>
          </a:xfrm>
          <a:prstGeom prst="roundRect">
            <a:avLst>
              <a:gd name="adj" fmla="val 516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7" name="Text 5"/>
          <p:cNvSpPr/>
          <p:nvPr/>
        </p:nvSpPr>
        <p:spPr>
          <a:xfrm>
            <a:off x="685800" y="1993392"/>
            <a:ext cx="3657600" cy="274320"/>
          </a:xfrm>
          <a:prstGeom prst="rect">
            <a:avLst/>
          </a:prstGeom>
          <a:noFill/>
          <a:ln/>
        </p:spPr>
        <p:txBody>
          <a:bodyPr wrap="square" lIns="0" tIns="0" rIns="0" bIns="0" rtlCol="0" anchor="ctr"/>
          <a:lstStyle/>
          <a:p>
            <a:pPr marL="0" indent="0">
              <a:buNone/>
            </a:pPr>
            <a:r>
              <a:rPr lang="en-US" sz="1100" b="1" kern="0" spc="100" dirty="0">
                <a:solidFill>
                  <a:srgbClr val="5C8A1B"/>
                </a:solidFill>
                <a:latin typeface="Calibri" pitchFamily="34" charset="0"/>
                <a:ea typeface="Calibri" pitchFamily="34" charset="-122"/>
                <a:cs typeface="Calibri" pitchFamily="34" charset="-120"/>
              </a:rPr>
              <a:t>KEY CHARACTERISTICS</a:t>
            </a:r>
            <a:endParaRPr lang="en-US" sz="1100" dirty="0"/>
          </a:p>
        </p:txBody>
      </p:sp>
      <p:sp>
        <p:nvSpPr>
          <p:cNvPr id="8" name="Text 6"/>
          <p:cNvSpPr/>
          <p:nvPr/>
        </p:nvSpPr>
        <p:spPr>
          <a:xfrm>
            <a:off x="685800" y="2286000"/>
            <a:ext cx="3611880" cy="9144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6282A"/>
                </a:solidFill>
                <a:latin typeface="Calibri" pitchFamily="34" charset="0"/>
                <a:ea typeface="Calibri" pitchFamily="34" charset="-122"/>
                <a:cs typeface="Calibri" pitchFamily="34" charset="-120"/>
              </a:rPr>
              <a:t>Trained on billions–trillions of parameters</a:t>
            </a:r>
            <a:endParaRPr lang="en-US" sz="1200" dirty="0"/>
          </a:p>
          <a:p>
            <a:pPr marL="342900" indent="-342900">
              <a:spcAft>
                <a:spcPts val="600"/>
              </a:spcAft>
              <a:buSzPct val="100000"/>
              <a:buChar char="•"/>
            </a:pPr>
            <a:r>
              <a:rPr lang="en-US" sz="1200" dirty="0">
                <a:solidFill>
                  <a:srgbClr val="26282A"/>
                </a:solidFill>
                <a:latin typeface="Calibri" pitchFamily="34" charset="0"/>
                <a:ea typeface="Calibri" pitchFamily="34" charset="-122"/>
                <a:cs typeface="Calibri" pitchFamily="34" charset="-120"/>
              </a:rPr>
              <a:t>Understand context &amp; give coherent responses</a:t>
            </a:r>
            <a:endParaRPr lang="en-US" sz="1200" dirty="0"/>
          </a:p>
          <a:p>
            <a:pPr marL="342900" indent="-342900">
              <a:buSzPct val="100000"/>
              <a:buChar char="•"/>
            </a:pPr>
            <a:r>
              <a:rPr lang="en-US" sz="1200" dirty="0">
                <a:solidFill>
                  <a:srgbClr val="26282A"/>
                </a:solidFill>
                <a:latin typeface="Calibri" pitchFamily="34" charset="0"/>
                <a:ea typeface="Calibri" pitchFamily="34" charset="-122"/>
                <a:cs typeface="Calibri" pitchFamily="34" charset="-120"/>
              </a:rPr>
              <a:t>Handle many tasks with no task-specific training</a:t>
            </a:r>
            <a:endParaRPr lang="en-US" sz="1200" dirty="0"/>
          </a:p>
        </p:txBody>
      </p:sp>
      <p:sp>
        <p:nvSpPr>
          <p:cNvPr id="9" name="Shape 7"/>
          <p:cNvSpPr/>
          <p:nvPr/>
        </p:nvSpPr>
        <p:spPr>
          <a:xfrm>
            <a:off x="4663440" y="1874520"/>
            <a:ext cx="4023360" cy="1417320"/>
          </a:xfrm>
          <a:prstGeom prst="roundRect">
            <a:avLst>
              <a:gd name="adj" fmla="val 516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0" name="Text 8"/>
          <p:cNvSpPr/>
          <p:nvPr/>
        </p:nvSpPr>
        <p:spPr>
          <a:xfrm>
            <a:off x="4892040" y="1993392"/>
            <a:ext cx="3657600" cy="274320"/>
          </a:xfrm>
          <a:prstGeom prst="rect">
            <a:avLst/>
          </a:prstGeom>
          <a:noFill/>
          <a:ln/>
        </p:spPr>
        <p:txBody>
          <a:bodyPr wrap="square" lIns="0" tIns="0" rIns="0" bIns="0" rtlCol="0" anchor="ctr"/>
          <a:lstStyle/>
          <a:p>
            <a:pPr marL="0" indent="0">
              <a:buNone/>
            </a:pPr>
            <a:r>
              <a:rPr lang="en-US" sz="1100" b="1" kern="0" spc="100" dirty="0">
                <a:solidFill>
                  <a:srgbClr val="5C8A1B"/>
                </a:solidFill>
                <a:latin typeface="Calibri" pitchFamily="34" charset="0"/>
                <a:ea typeface="Calibri" pitchFamily="34" charset="-122"/>
                <a:cs typeface="Calibri" pitchFamily="34" charset="-120"/>
              </a:rPr>
              <a:t>REAL-WORLD APPLICATIONS</a:t>
            </a:r>
            <a:endParaRPr lang="en-US" sz="1100" dirty="0"/>
          </a:p>
        </p:txBody>
      </p:sp>
      <p:sp>
        <p:nvSpPr>
          <p:cNvPr id="11" name="Text 9"/>
          <p:cNvSpPr/>
          <p:nvPr/>
        </p:nvSpPr>
        <p:spPr>
          <a:xfrm>
            <a:off x="4892040" y="2286000"/>
            <a:ext cx="1828800" cy="91440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26282A"/>
                </a:solidFill>
                <a:latin typeface="Calibri" pitchFamily="34" charset="0"/>
                <a:ea typeface="Calibri" pitchFamily="34" charset="-122"/>
                <a:cs typeface="Calibri" pitchFamily="34" charset="-120"/>
              </a:rPr>
              <a:t>Content creation</a:t>
            </a:r>
            <a:endParaRPr lang="en-US" sz="1050" dirty="0"/>
          </a:p>
          <a:p>
            <a:pPr marL="342900" indent="-342900">
              <a:spcAft>
                <a:spcPts val="300"/>
              </a:spcAft>
              <a:buSzPct val="100000"/>
              <a:buChar char="•"/>
            </a:pPr>
            <a:r>
              <a:rPr lang="en-US" sz="1050" dirty="0">
                <a:solidFill>
                  <a:srgbClr val="26282A"/>
                </a:solidFill>
                <a:latin typeface="Calibri" pitchFamily="34" charset="0"/>
                <a:ea typeface="Calibri" pitchFamily="34" charset="-122"/>
                <a:cs typeface="Calibri" pitchFamily="34" charset="-120"/>
              </a:rPr>
              <a:t>Virtual assistants</a:t>
            </a:r>
            <a:endParaRPr lang="en-US" sz="1050" dirty="0"/>
          </a:p>
          <a:p>
            <a:pPr marL="342900" indent="-342900">
              <a:spcAft>
                <a:spcPts val="300"/>
              </a:spcAft>
              <a:buSzPct val="100000"/>
              <a:buChar char="•"/>
            </a:pPr>
            <a:r>
              <a:rPr lang="en-US" sz="1050" dirty="0">
                <a:solidFill>
                  <a:srgbClr val="26282A"/>
                </a:solidFill>
                <a:latin typeface="Calibri" pitchFamily="34" charset="0"/>
                <a:ea typeface="Calibri" pitchFamily="34" charset="-122"/>
                <a:cs typeface="Calibri" pitchFamily="34" charset="-120"/>
              </a:rPr>
              <a:t>Sales automation</a:t>
            </a:r>
            <a:endParaRPr lang="en-US" sz="1050" dirty="0"/>
          </a:p>
          <a:p>
            <a:pPr marL="342900" indent="-342900">
              <a:spcAft>
                <a:spcPts val="300"/>
              </a:spcAft>
              <a:buSzPct val="100000"/>
              <a:buChar char="•"/>
            </a:pPr>
            <a:r>
              <a:rPr lang="en-US" sz="1050" dirty="0">
                <a:solidFill>
                  <a:srgbClr val="26282A"/>
                </a:solidFill>
                <a:latin typeface="Calibri" pitchFamily="34" charset="0"/>
                <a:ea typeface="Calibri" pitchFamily="34" charset="-122"/>
                <a:cs typeface="Calibri" pitchFamily="34" charset="-120"/>
              </a:rPr>
              <a:t>Storytelling</a:t>
            </a:r>
            <a:endParaRPr lang="en-US" sz="1050" dirty="0"/>
          </a:p>
          <a:p>
            <a:pPr marL="342900" indent="-342900">
              <a:buSzPct val="100000"/>
              <a:buChar char="•"/>
            </a:pPr>
            <a:r>
              <a:rPr lang="en-US" sz="1050" dirty="0">
                <a:solidFill>
                  <a:srgbClr val="26282A"/>
                </a:solidFill>
                <a:latin typeface="Calibri" pitchFamily="34" charset="0"/>
                <a:ea typeface="Calibri" pitchFamily="34" charset="-122"/>
                <a:cs typeface="Calibri" pitchFamily="34" charset="-120"/>
              </a:rPr>
              <a:t>Translation</a:t>
            </a:r>
            <a:endParaRPr lang="en-US" sz="1050" dirty="0"/>
          </a:p>
        </p:txBody>
      </p:sp>
      <p:sp>
        <p:nvSpPr>
          <p:cNvPr id="12" name="Text 10"/>
          <p:cNvSpPr/>
          <p:nvPr/>
        </p:nvSpPr>
        <p:spPr>
          <a:xfrm>
            <a:off x="6812280" y="2286000"/>
            <a:ext cx="1828800" cy="91440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26282A"/>
                </a:solidFill>
                <a:latin typeface="Calibri" pitchFamily="34" charset="0"/>
                <a:ea typeface="Calibri" pitchFamily="34" charset="-122"/>
                <a:cs typeface="Calibri" pitchFamily="34" charset="-120"/>
              </a:rPr>
              <a:t>Code generation</a:t>
            </a:r>
            <a:endParaRPr lang="en-US" sz="1050" dirty="0"/>
          </a:p>
          <a:p>
            <a:pPr marL="342900" indent="-342900">
              <a:spcAft>
                <a:spcPts val="300"/>
              </a:spcAft>
              <a:buSzPct val="100000"/>
              <a:buChar char="•"/>
            </a:pPr>
            <a:r>
              <a:rPr lang="en-US" sz="1050" dirty="0">
                <a:solidFill>
                  <a:srgbClr val="26282A"/>
                </a:solidFill>
                <a:latin typeface="Calibri" pitchFamily="34" charset="0"/>
                <a:ea typeface="Calibri" pitchFamily="34" charset="-122"/>
                <a:cs typeface="Calibri" pitchFamily="34" charset="-120"/>
              </a:rPr>
              <a:t>Sentiment analysis</a:t>
            </a:r>
            <a:endParaRPr lang="en-US" sz="1050" dirty="0"/>
          </a:p>
          <a:p>
            <a:pPr marL="342900" indent="-342900">
              <a:spcAft>
                <a:spcPts val="300"/>
              </a:spcAft>
              <a:buSzPct val="100000"/>
              <a:buChar char="•"/>
            </a:pPr>
            <a:r>
              <a:rPr lang="en-US" sz="1050" dirty="0">
                <a:solidFill>
                  <a:srgbClr val="26282A"/>
                </a:solidFill>
                <a:latin typeface="Calibri" pitchFamily="34" charset="0"/>
                <a:ea typeface="Calibri" pitchFamily="34" charset="-122"/>
                <a:cs typeface="Calibri" pitchFamily="34" charset="-120"/>
              </a:rPr>
              <a:t>Transcription</a:t>
            </a:r>
            <a:endParaRPr lang="en-US" sz="1050" dirty="0"/>
          </a:p>
          <a:p>
            <a:pPr marL="342900" indent="-342900">
              <a:spcAft>
                <a:spcPts val="300"/>
              </a:spcAft>
              <a:buSzPct val="100000"/>
              <a:buChar char="•"/>
            </a:pPr>
            <a:r>
              <a:rPr lang="en-US" sz="1050" dirty="0">
                <a:solidFill>
                  <a:srgbClr val="26282A"/>
                </a:solidFill>
                <a:latin typeface="Calibri" pitchFamily="34" charset="0"/>
                <a:ea typeface="Calibri" pitchFamily="34" charset="-122"/>
                <a:cs typeface="Calibri" pitchFamily="34" charset="-120"/>
              </a:rPr>
              <a:t>Candidate screening</a:t>
            </a:r>
            <a:endParaRPr lang="en-US" sz="1050" dirty="0"/>
          </a:p>
          <a:p>
            <a:pPr marL="342900" indent="-342900">
              <a:buSzPct val="100000"/>
              <a:buChar char="•"/>
            </a:pPr>
            <a:r>
              <a:rPr lang="en-US" sz="1050" dirty="0">
                <a:solidFill>
                  <a:srgbClr val="26282A"/>
                </a:solidFill>
                <a:latin typeface="Calibri" pitchFamily="34" charset="0"/>
                <a:ea typeface="Calibri" pitchFamily="34" charset="-122"/>
                <a:cs typeface="Calibri" pitchFamily="34" charset="-120"/>
              </a:rPr>
              <a:t>Cyber-attack prevention</a:t>
            </a:r>
            <a:endParaRPr lang="en-US" sz="1050" dirty="0"/>
          </a:p>
        </p:txBody>
      </p:sp>
      <p:sp>
        <p:nvSpPr>
          <p:cNvPr id="13" name="Text 11"/>
          <p:cNvSpPr/>
          <p:nvPr/>
        </p:nvSpPr>
        <p:spPr>
          <a:xfrm>
            <a:off x="457200" y="3429000"/>
            <a:ext cx="8229600" cy="228600"/>
          </a:xfrm>
          <a:prstGeom prst="rect">
            <a:avLst/>
          </a:prstGeom>
          <a:noFill/>
          <a:ln/>
        </p:spPr>
        <p:txBody>
          <a:bodyPr wrap="square" lIns="0" tIns="0" rIns="0" bIns="0" rtlCol="0" anchor="ctr"/>
          <a:lstStyle/>
          <a:p>
            <a:pPr marL="0" indent="0" algn="ctr">
              <a:buNone/>
            </a:pPr>
            <a:r>
              <a:rPr lang="en-US" sz="1100" b="1" kern="0" spc="100" dirty="0">
                <a:solidFill>
                  <a:srgbClr val="5C8A1B"/>
                </a:solidFill>
                <a:latin typeface="Calibri" pitchFamily="34" charset="0"/>
                <a:ea typeface="Calibri" pitchFamily="34" charset="-122"/>
                <a:cs typeface="Calibri" pitchFamily="34" charset="-120"/>
              </a:rPr>
              <a:t>HOW LLMs HAVE EVOLVED</a:t>
            </a:r>
            <a:endParaRPr lang="en-US" sz="1100" dirty="0"/>
          </a:p>
        </p:txBody>
      </p:sp>
      <p:sp>
        <p:nvSpPr>
          <p:cNvPr id="14" name="Shape 12"/>
          <p:cNvSpPr/>
          <p:nvPr/>
        </p:nvSpPr>
        <p:spPr>
          <a:xfrm>
            <a:off x="1188720" y="4114800"/>
            <a:ext cx="6675120" cy="0"/>
          </a:xfrm>
          <a:prstGeom prst="line">
            <a:avLst/>
          </a:prstGeom>
          <a:noFill/>
          <a:ln w="25400">
            <a:solidFill>
              <a:srgbClr val="86BC25"/>
            </a:solidFill>
            <a:prstDash val="solid"/>
          </a:ln>
        </p:spPr>
      </p:sp>
      <p:sp>
        <p:nvSpPr>
          <p:cNvPr id="15" name="Text 13"/>
          <p:cNvSpPr/>
          <p:nvPr/>
        </p:nvSpPr>
        <p:spPr>
          <a:xfrm>
            <a:off x="411480" y="3767328"/>
            <a:ext cx="1554480" cy="274320"/>
          </a:xfrm>
          <a:prstGeom prst="rect">
            <a:avLst/>
          </a:prstGeom>
          <a:noFill/>
          <a:ln/>
        </p:spPr>
        <p:txBody>
          <a:bodyPr wrap="square" lIns="0" tIns="0" rIns="0" bIns="0" rtlCol="0" anchor="ctr"/>
          <a:lstStyle/>
          <a:p>
            <a:pPr marL="0" indent="0" algn="ctr">
              <a:buNone/>
            </a:pPr>
            <a:r>
              <a:rPr lang="en-US" sz="1200" b="1" dirty="0">
                <a:solidFill>
                  <a:srgbClr val="26282A"/>
                </a:solidFill>
                <a:latin typeface="Calibri" pitchFamily="34" charset="0"/>
                <a:ea typeface="Calibri" pitchFamily="34" charset="-122"/>
                <a:cs typeface="Calibri" pitchFamily="34" charset="-120"/>
              </a:rPr>
              <a:t>BERT</a:t>
            </a:r>
            <a:endParaRPr lang="en-US" sz="1200" dirty="0"/>
          </a:p>
        </p:txBody>
      </p:sp>
      <p:sp>
        <p:nvSpPr>
          <p:cNvPr id="16" name="Shape 14"/>
          <p:cNvSpPr/>
          <p:nvPr/>
        </p:nvSpPr>
        <p:spPr>
          <a:xfrm>
            <a:off x="1115568" y="4041648"/>
            <a:ext cx="146304" cy="146304"/>
          </a:xfrm>
          <a:prstGeom prst="ellipse">
            <a:avLst/>
          </a:prstGeom>
          <a:solidFill>
            <a:srgbClr val="86BC25"/>
          </a:solidFill>
          <a:ln w="19050">
            <a:solidFill>
              <a:srgbClr val="FFFFFF"/>
            </a:solidFill>
            <a:prstDash val="solid"/>
          </a:ln>
        </p:spPr>
      </p:sp>
      <p:sp>
        <p:nvSpPr>
          <p:cNvPr id="17" name="Text 15"/>
          <p:cNvSpPr/>
          <p:nvPr/>
        </p:nvSpPr>
        <p:spPr>
          <a:xfrm>
            <a:off x="411480" y="4206240"/>
            <a:ext cx="1554480" cy="256032"/>
          </a:xfrm>
          <a:prstGeom prst="rect">
            <a:avLst/>
          </a:prstGeom>
          <a:noFill/>
          <a:ln/>
        </p:spPr>
        <p:txBody>
          <a:bodyPr wrap="square" lIns="0" tIns="0" rIns="0" bIns="0" rtlCol="0" anchor="ctr"/>
          <a:lstStyle/>
          <a:p>
            <a:pPr marL="0" indent="0" algn="ctr">
              <a:buNone/>
            </a:pPr>
            <a:r>
              <a:rPr lang="en-US" sz="1100" dirty="0">
                <a:solidFill>
                  <a:srgbClr val="44474A"/>
                </a:solidFill>
                <a:latin typeface="Calibri" pitchFamily="34" charset="0"/>
                <a:ea typeface="Calibri" pitchFamily="34" charset="-122"/>
                <a:cs typeface="Calibri" pitchFamily="34" charset="-120"/>
              </a:rPr>
              <a:t>2018</a:t>
            </a:r>
            <a:endParaRPr lang="en-US" sz="1100" dirty="0"/>
          </a:p>
        </p:txBody>
      </p:sp>
      <p:sp>
        <p:nvSpPr>
          <p:cNvPr id="18" name="Text 16"/>
          <p:cNvSpPr/>
          <p:nvPr/>
        </p:nvSpPr>
        <p:spPr>
          <a:xfrm>
            <a:off x="2080260" y="3767328"/>
            <a:ext cx="1554480" cy="274320"/>
          </a:xfrm>
          <a:prstGeom prst="rect">
            <a:avLst/>
          </a:prstGeom>
          <a:noFill/>
          <a:ln/>
        </p:spPr>
        <p:txBody>
          <a:bodyPr wrap="square" lIns="0" tIns="0" rIns="0" bIns="0" rtlCol="0" anchor="ctr"/>
          <a:lstStyle/>
          <a:p>
            <a:pPr marL="0" indent="0" algn="ctr">
              <a:buNone/>
            </a:pPr>
            <a:r>
              <a:rPr lang="en-US" sz="1200" b="1" dirty="0">
                <a:solidFill>
                  <a:srgbClr val="26282A"/>
                </a:solidFill>
                <a:latin typeface="Calibri" pitchFamily="34" charset="0"/>
                <a:ea typeface="Calibri" pitchFamily="34" charset="-122"/>
                <a:cs typeface="Calibri" pitchFamily="34" charset="-120"/>
              </a:rPr>
              <a:t>GPT-3</a:t>
            </a:r>
            <a:endParaRPr lang="en-US" sz="1200" dirty="0"/>
          </a:p>
        </p:txBody>
      </p:sp>
      <p:sp>
        <p:nvSpPr>
          <p:cNvPr id="19" name="Shape 17"/>
          <p:cNvSpPr/>
          <p:nvPr/>
        </p:nvSpPr>
        <p:spPr>
          <a:xfrm>
            <a:off x="2784348" y="4041648"/>
            <a:ext cx="146304" cy="146304"/>
          </a:xfrm>
          <a:prstGeom prst="ellipse">
            <a:avLst/>
          </a:prstGeom>
          <a:solidFill>
            <a:srgbClr val="86BC25"/>
          </a:solidFill>
          <a:ln w="19050">
            <a:solidFill>
              <a:srgbClr val="FFFFFF"/>
            </a:solidFill>
            <a:prstDash val="solid"/>
          </a:ln>
        </p:spPr>
      </p:sp>
      <p:sp>
        <p:nvSpPr>
          <p:cNvPr id="20" name="Text 18"/>
          <p:cNvSpPr/>
          <p:nvPr/>
        </p:nvSpPr>
        <p:spPr>
          <a:xfrm>
            <a:off x="2080260" y="4206240"/>
            <a:ext cx="1554480" cy="256032"/>
          </a:xfrm>
          <a:prstGeom prst="rect">
            <a:avLst/>
          </a:prstGeom>
          <a:noFill/>
          <a:ln/>
        </p:spPr>
        <p:txBody>
          <a:bodyPr wrap="square" lIns="0" tIns="0" rIns="0" bIns="0" rtlCol="0" anchor="ctr"/>
          <a:lstStyle/>
          <a:p>
            <a:pPr marL="0" indent="0" algn="ctr">
              <a:buNone/>
            </a:pPr>
            <a:r>
              <a:rPr lang="en-US" sz="1100" dirty="0">
                <a:solidFill>
                  <a:srgbClr val="44474A"/>
                </a:solidFill>
                <a:latin typeface="Calibri" pitchFamily="34" charset="0"/>
                <a:ea typeface="Calibri" pitchFamily="34" charset="-122"/>
                <a:cs typeface="Calibri" pitchFamily="34" charset="-120"/>
              </a:rPr>
              <a:t>2020</a:t>
            </a:r>
            <a:endParaRPr lang="en-US" sz="1100" dirty="0"/>
          </a:p>
        </p:txBody>
      </p:sp>
      <p:sp>
        <p:nvSpPr>
          <p:cNvPr id="21" name="Text 19"/>
          <p:cNvSpPr/>
          <p:nvPr/>
        </p:nvSpPr>
        <p:spPr>
          <a:xfrm>
            <a:off x="3749040" y="3767328"/>
            <a:ext cx="1554480" cy="274320"/>
          </a:xfrm>
          <a:prstGeom prst="rect">
            <a:avLst/>
          </a:prstGeom>
          <a:noFill/>
          <a:ln/>
        </p:spPr>
        <p:txBody>
          <a:bodyPr wrap="square" lIns="0" tIns="0" rIns="0" bIns="0" rtlCol="0" anchor="ctr"/>
          <a:lstStyle/>
          <a:p>
            <a:pPr marL="0" indent="0" algn="ctr">
              <a:buNone/>
            </a:pPr>
            <a:r>
              <a:rPr lang="en-US" sz="1200" b="1" dirty="0">
                <a:solidFill>
                  <a:srgbClr val="26282A"/>
                </a:solidFill>
                <a:latin typeface="Calibri" pitchFamily="34" charset="0"/>
                <a:ea typeface="Calibri" pitchFamily="34" charset="-122"/>
                <a:cs typeface="Calibri" pitchFamily="34" charset="-120"/>
              </a:rPr>
              <a:t>ChatGPT</a:t>
            </a:r>
            <a:endParaRPr lang="en-US" sz="1200" dirty="0"/>
          </a:p>
        </p:txBody>
      </p:sp>
      <p:sp>
        <p:nvSpPr>
          <p:cNvPr id="22" name="Shape 20"/>
          <p:cNvSpPr/>
          <p:nvPr/>
        </p:nvSpPr>
        <p:spPr>
          <a:xfrm>
            <a:off x="4453128" y="4041648"/>
            <a:ext cx="146304" cy="146304"/>
          </a:xfrm>
          <a:prstGeom prst="ellipse">
            <a:avLst/>
          </a:prstGeom>
          <a:solidFill>
            <a:srgbClr val="86BC25"/>
          </a:solidFill>
          <a:ln w="19050">
            <a:solidFill>
              <a:srgbClr val="FFFFFF"/>
            </a:solidFill>
            <a:prstDash val="solid"/>
          </a:ln>
        </p:spPr>
      </p:sp>
      <p:sp>
        <p:nvSpPr>
          <p:cNvPr id="23" name="Text 21"/>
          <p:cNvSpPr/>
          <p:nvPr/>
        </p:nvSpPr>
        <p:spPr>
          <a:xfrm>
            <a:off x="3749040" y="4206240"/>
            <a:ext cx="1554480" cy="256032"/>
          </a:xfrm>
          <a:prstGeom prst="rect">
            <a:avLst/>
          </a:prstGeom>
          <a:noFill/>
          <a:ln/>
        </p:spPr>
        <p:txBody>
          <a:bodyPr wrap="square" lIns="0" tIns="0" rIns="0" bIns="0" rtlCol="0" anchor="ctr"/>
          <a:lstStyle/>
          <a:p>
            <a:pPr marL="0" indent="0" algn="ctr">
              <a:buNone/>
            </a:pPr>
            <a:r>
              <a:rPr lang="en-US" sz="1100" dirty="0">
                <a:solidFill>
                  <a:srgbClr val="44474A"/>
                </a:solidFill>
                <a:latin typeface="Calibri" pitchFamily="34" charset="0"/>
                <a:ea typeface="Calibri" pitchFamily="34" charset="-122"/>
                <a:cs typeface="Calibri" pitchFamily="34" charset="-120"/>
              </a:rPr>
              <a:t>2022</a:t>
            </a:r>
            <a:endParaRPr lang="en-US" sz="1100" dirty="0"/>
          </a:p>
        </p:txBody>
      </p:sp>
      <p:sp>
        <p:nvSpPr>
          <p:cNvPr id="24" name="Text 22"/>
          <p:cNvSpPr/>
          <p:nvPr/>
        </p:nvSpPr>
        <p:spPr>
          <a:xfrm>
            <a:off x="5417820" y="3767328"/>
            <a:ext cx="1554480" cy="274320"/>
          </a:xfrm>
          <a:prstGeom prst="rect">
            <a:avLst/>
          </a:prstGeom>
          <a:noFill/>
          <a:ln/>
        </p:spPr>
        <p:txBody>
          <a:bodyPr wrap="square" lIns="0" tIns="0" rIns="0" bIns="0" rtlCol="0" anchor="ctr"/>
          <a:lstStyle/>
          <a:p>
            <a:pPr marL="0" indent="0" algn="ctr">
              <a:buNone/>
            </a:pPr>
            <a:r>
              <a:rPr lang="en-US" sz="1200" b="1" dirty="0">
                <a:solidFill>
                  <a:srgbClr val="26282A"/>
                </a:solidFill>
                <a:latin typeface="Calibri" pitchFamily="34" charset="0"/>
                <a:ea typeface="Calibri" pitchFamily="34" charset="-122"/>
                <a:cs typeface="Calibri" pitchFamily="34" charset="-120"/>
              </a:rPr>
              <a:t>GPT-4</a:t>
            </a:r>
            <a:endParaRPr lang="en-US" sz="1200" dirty="0"/>
          </a:p>
        </p:txBody>
      </p:sp>
      <p:sp>
        <p:nvSpPr>
          <p:cNvPr id="25" name="Shape 23"/>
          <p:cNvSpPr/>
          <p:nvPr/>
        </p:nvSpPr>
        <p:spPr>
          <a:xfrm>
            <a:off x="6121908" y="4041648"/>
            <a:ext cx="146304" cy="146304"/>
          </a:xfrm>
          <a:prstGeom prst="ellipse">
            <a:avLst/>
          </a:prstGeom>
          <a:solidFill>
            <a:srgbClr val="86BC25"/>
          </a:solidFill>
          <a:ln w="19050">
            <a:solidFill>
              <a:srgbClr val="FFFFFF"/>
            </a:solidFill>
            <a:prstDash val="solid"/>
          </a:ln>
        </p:spPr>
      </p:sp>
      <p:sp>
        <p:nvSpPr>
          <p:cNvPr id="26" name="Text 24"/>
          <p:cNvSpPr/>
          <p:nvPr/>
        </p:nvSpPr>
        <p:spPr>
          <a:xfrm>
            <a:off x="5417820" y="4206240"/>
            <a:ext cx="1554480" cy="256032"/>
          </a:xfrm>
          <a:prstGeom prst="rect">
            <a:avLst/>
          </a:prstGeom>
          <a:noFill/>
          <a:ln/>
        </p:spPr>
        <p:txBody>
          <a:bodyPr wrap="square" lIns="0" tIns="0" rIns="0" bIns="0" rtlCol="0" anchor="ctr"/>
          <a:lstStyle/>
          <a:p>
            <a:pPr marL="0" indent="0" algn="ctr">
              <a:buNone/>
            </a:pPr>
            <a:r>
              <a:rPr lang="en-US" sz="1100" dirty="0">
                <a:solidFill>
                  <a:srgbClr val="44474A"/>
                </a:solidFill>
                <a:latin typeface="Calibri" pitchFamily="34" charset="0"/>
                <a:ea typeface="Calibri" pitchFamily="34" charset="-122"/>
                <a:cs typeface="Calibri" pitchFamily="34" charset="-120"/>
              </a:rPr>
              <a:t>2023</a:t>
            </a:r>
            <a:endParaRPr lang="en-US" sz="1100" dirty="0"/>
          </a:p>
        </p:txBody>
      </p:sp>
      <p:sp>
        <p:nvSpPr>
          <p:cNvPr id="27" name="Text 25"/>
          <p:cNvSpPr/>
          <p:nvPr/>
        </p:nvSpPr>
        <p:spPr>
          <a:xfrm>
            <a:off x="7086600" y="3767328"/>
            <a:ext cx="1554480" cy="274320"/>
          </a:xfrm>
          <a:prstGeom prst="rect">
            <a:avLst/>
          </a:prstGeom>
          <a:noFill/>
          <a:ln/>
        </p:spPr>
        <p:txBody>
          <a:bodyPr wrap="square" lIns="0" tIns="0" rIns="0" bIns="0" rtlCol="0" anchor="ctr"/>
          <a:lstStyle/>
          <a:p>
            <a:pPr marL="0" indent="0" algn="ctr">
              <a:buNone/>
            </a:pPr>
            <a:r>
              <a:rPr lang="en-US" sz="1200" b="1" dirty="0">
                <a:solidFill>
                  <a:srgbClr val="26282A"/>
                </a:solidFill>
                <a:latin typeface="Calibri" pitchFamily="34" charset="0"/>
                <a:ea typeface="Calibri" pitchFamily="34" charset="-122"/>
                <a:cs typeface="Calibri" pitchFamily="34" charset="-120"/>
              </a:rPr>
              <a:t>Multimodal</a:t>
            </a:r>
            <a:endParaRPr lang="en-US" sz="1200" dirty="0"/>
          </a:p>
        </p:txBody>
      </p:sp>
      <p:sp>
        <p:nvSpPr>
          <p:cNvPr id="28" name="Shape 26"/>
          <p:cNvSpPr/>
          <p:nvPr/>
        </p:nvSpPr>
        <p:spPr>
          <a:xfrm>
            <a:off x="7790688" y="4041648"/>
            <a:ext cx="146304" cy="146304"/>
          </a:xfrm>
          <a:prstGeom prst="ellipse">
            <a:avLst/>
          </a:prstGeom>
          <a:solidFill>
            <a:srgbClr val="86BC25"/>
          </a:solidFill>
          <a:ln w="19050">
            <a:solidFill>
              <a:srgbClr val="FFFFFF"/>
            </a:solidFill>
            <a:prstDash val="solid"/>
          </a:ln>
        </p:spPr>
      </p:sp>
      <p:sp>
        <p:nvSpPr>
          <p:cNvPr id="29" name="Text 27"/>
          <p:cNvSpPr/>
          <p:nvPr/>
        </p:nvSpPr>
        <p:spPr>
          <a:xfrm>
            <a:off x="7086600" y="4206240"/>
            <a:ext cx="1554480" cy="256032"/>
          </a:xfrm>
          <a:prstGeom prst="rect">
            <a:avLst/>
          </a:prstGeom>
          <a:noFill/>
          <a:ln/>
        </p:spPr>
        <p:txBody>
          <a:bodyPr wrap="square" lIns="0" tIns="0" rIns="0" bIns="0" rtlCol="0" anchor="ctr"/>
          <a:lstStyle/>
          <a:p>
            <a:pPr marL="0" indent="0" algn="ctr">
              <a:buNone/>
            </a:pPr>
            <a:r>
              <a:rPr lang="en-US" sz="1100" dirty="0">
                <a:solidFill>
                  <a:srgbClr val="44474A"/>
                </a:solidFill>
                <a:latin typeface="Calibri" pitchFamily="34" charset="0"/>
                <a:ea typeface="Calibri" pitchFamily="34" charset="-122"/>
                <a:cs typeface="Calibri" pitchFamily="34" charset="-120"/>
              </a:rPr>
              <a:t>2024–25</a:t>
            </a:r>
            <a:endParaRPr lang="en-US" sz="1100" dirty="0"/>
          </a:p>
        </p:txBody>
      </p:sp>
      <p:sp>
        <p:nvSpPr>
          <p:cNvPr id="30" name="Text 28"/>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31" name="Text 29"/>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smtClean="0">
                <a:solidFill>
                  <a:srgbClr val="7A7D81"/>
                </a:solidFill>
                <a:latin typeface="Calibri" pitchFamily="34" charset="0"/>
                <a:ea typeface="Calibri" pitchFamily="34" charset="-122"/>
                <a:cs typeface="Calibri" pitchFamily="34" charset="-120"/>
              </a:rPr>
              <a:t>11</a:t>
            </a:r>
            <a:endParaRPr lang="en-US" sz="800" dirty="0"/>
          </a:p>
        </p:txBody>
      </p:sp>
    </p:spTree>
    <p:extLst>
      <p:ext uri="{BB962C8B-B14F-4D97-AF65-F5344CB8AC3E}">
        <p14:creationId xmlns:p14="http://schemas.microsoft.com/office/powerpoint/2010/main" val="3492420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Tokenization — how text becomes numbers</a:t>
            </a:r>
            <a:endParaRPr lang="en-US" sz="2900" dirty="0"/>
          </a:p>
        </p:txBody>
      </p:sp>
      <p:sp>
        <p:nvSpPr>
          <p:cNvPr id="5" name="Shape 3"/>
          <p:cNvSpPr/>
          <p:nvPr/>
        </p:nvSpPr>
        <p:spPr>
          <a:xfrm>
            <a:off x="457200" y="1828800"/>
            <a:ext cx="192024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Shape 4"/>
          <p:cNvSpPr/>
          <p:nvPr/>
        </p:nvSpPr>
        <p:spPr>
          <a:xfrm>
            <a:off x="1211580" y="1993392"/>
            <a:ext cx="411480" cy="411480"/>
          </a:xfrm>
          <a:prstGeom prst="ellipse">
            <a:avLst/>
          </a:prstGeom>
          <a:solidFill>
            <a:srgbClr val="86BC25"/>
          </a:solidFill>
          <a:ln/>
        </p:spPr>
      </p:sp>
      <p:sp>
        <p:nvSpPr>
          <p:cNvPr id="7" name="Text 5"/>
          <p:cNvSpPr/>
          <p:nvPr/>
        </p:nvSpPr>
        <p:spPr>
          <a:xfrm>
            <a:off x="1211580" y="1993392"/>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502920" y="2468880"/>
            <a:ext cx="1828800" cy="274320"/>
          </a:xfrm>
          <a:prstGeom prst="rect">
            <a:avLst/>
          </a:prstGeom>
          <a:noFill/>
          <a:ln/>
        </p:spPr>
        <p:txBody>
          <a:bodyPr wrap="square" lIns="0" tIns="0" rIns="0" bIns="0" rtlCol="0" anchor="ctr"/>
          <a:lstStyle/>
          <a:p>
            <a:pPr marL="0" indent="0" algn="ctr">
              <a:buNone/>
            </a:pPr>
            <a:r>
              <a:rPr lang="en-US" sz="1250" b="1" dirty="0">
                <a:solidFill>
                  <a:srgbClr val="26282A"/>
                </a:solidFill>
                <a:latin typeface="Calibri" pitchFamily="34" charset="0"/>
                <a:ea typeface="Calibri" pitchFamily="34" charset="-122"/>
                <a:cs typeface="Calibri" pitchFamily="34" charset="-120"/>
              </a:rPr>
              <a:t>Input text</a:t>
            </a:r>
            <a:endParaRPr lang="en-US" sz="1250" dirty="0"/>
          </a:p>
        </p:txBody>
      </p:sp>
      <p:sp>
        <p:nvSpPr>
          <p:cNvPr id="9" name="Text 7"/>
          <p:cNvSpPr/>
          <p:nvPr/>
        </p:nvSpPr>
        <p:spPr>
          <a:xfrm>
            <a:off x="548640" y="2743200"/>
            <a:ext cx="1737360" cy="640080"/>
          </a:xfrm>
          <a:prstGeom prst="rect">
            <a:avLst/>
          </a:prstGeom>
          <a:noFill/>
          <a:ln/>
        </p:spPr>
        <p:txBody>
          <a:bodyPr wrap="square" lIns="0" tIns="0" rIns="0" bIns="0" rtlCol="0" anchor="ctr"/>
          <a:lstStyle/>
          <a:p>
            <a:pPr marL="0" indent="0" algn="ctr">
              <a:buNone/>
            </a:pPr>
            <a:r>
              <a:rPr lang="en-US" sz="950" dirty="0">
                <a:solidFill>
                  <a:srgbClr val="44474A"/>
                </a:solidFill>
                <a:latin typeface="Calibri" pitchFamily="34" charset="0"/>
                <a:ea typeface="Calibri" pitchFamily="34" charset="-122"/>
                <a:cs typeface="Calibri" pitchFamily="34" charset="-120"/>
              </a:rPr>
              <a:t>Raw text goes into the tokenizer</a:t>
            </a:r>
            <a:endParaRPr lang="en-US" sz="950" dirty="0"/>
          </a:p>
        </p:txBody>
      </p:sp>
      <p:sp>
        <p:nvSpPr>
          <p:cNvPr id="10" name="Shape 8"/>
          <p:cNvSpPr/>
          <p:nvPr/>
        </p:nvSpPr>
        <p:spPr>
          <a:xfrm>
            <a:off x="2560320" y="1828800"/>
            <a:ext cx="192024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1" name="Shape 9"/>
          <p:cNvSpPr/>
          <p:nvPr/>
        </p:nvSpPr>
        <p:spPr>
          <a:xfrm>
            <a:off x="3314700" y="1993392"/>
            <a:ext cx="411480" cy="411480"/>
          </a:xfrm>
          <a:prstGeom prst="ellipse">
            <a:avLst/>
          </a:prstGeom>
          <a:solidFill>
            <a:srgbClr val="86BC25"/>
          </a:solidFill>
          <a:ln/>
        </p:spPr>
      </p:sp>
      <p:sp>
        <p:nvSpPr>
          <p:cNvPr id="12" name="Text 10"/>
          <p:cNvSpPr/>
          <p:nvPr/>
        </p:nvSpPr>
        <p:spPr>
          <a:xfrm>
            <a:off x="3314700" y="1993392"/>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2606040" y="2468880"/>
            <a:ext cx="1828800" cy="274320"/>
          </a:xfrm>
          <a:prstGeom prst="rect">
            <a:avLst/>
          </a:prstGeom>
          <a:noFill/>
          <a:ln/>
        </p:spPr>
        <p:txBody>
          <a:bodyPr wrap="square" lIns="0" tIns="0" rIns="0" bIns="0" rtlCol="0" anchor="ctr"/>
          <a:lstStyle/>
          <a:p>
            <a:pPr marL="0" indent="0" algn="ctr">
              <a:buNone/>
            </a:pPr>
            <a:r>
              <a:rPr lang="en-US" sz="1250" b="1" dirty="0">
                <a:solidFill>
                  <a:srgbClr val="26282A"/>
                </a:solidFill>
                <a:latin typeface="Calibri" pitchFamily="34" charset="0"/>
                <a:ea typeface="Calibri" pitchFamily="34" charset="-122"/>
                <a:cs typeface="Calibri" pitchFamily="34" charset="-120"/>
              </a:rPr>
              <a:t>Tokenization</a:t>
            </a:r>
            <a:endParaRPr lang="en-US" sz="1250" dirty="0"/>
          </a:p>
        </p:txBody>
      </p:sp>
      <p:sp>
        <p:nvSpPr>
          <p:cNvPr id="14" name="Text 12"/>
          <p:cNvSpPr/>
          <p:nvPr/>
        </p:nvSpPr>
        <p:spPr>
          <a:xfrm>
            <a:off x="2651760" y="2743200"/>
            <a:ext cx="1737360" cy="640080"/>
          </a:xfrm>
          <a:prstGeom prst="rect">
            <a:avLst/>
          </a:prstGeom>
          <a:noFill/>
          <a:ln/>
        </p:spPr>
        <p:txBody>
          <a:bodyPr wrap="square" lIns="0" tIns="0" rIns="0" bIns="0" rtlCol="0" anchor="ctr"/>
          <a:lstStyle/>
          <a:p>
            <a:pPr marL="0" indent="0" algn="ctr">
              <a:buNone/>
            </a:pPr>
            <a:r>
              <a:rPr lang="en-US" sz="950" dirty="0">
                <a:solidFill>
                  <a:srgbClr val="44474A"/>
                </a:solidFill>
                <a:latin typeface="Calibri" pitchFamily="34" charset="0"/>
                <a:ea typeface="Calibri" pitchFamily="34" charset="-122"/>
                <a:cs typeface="Calibri" pitchFamily="34" charset="-120"/>
              </a:rPr>
              <a:t>Split into tokens: words, sub-words or characters</a:t>
            </a:r>
            <a:endParaRPr lang="en-US" sz="950" dirty="0"/>
          </a:p>
        </p:txBody>
      </p:sp>
      <p:sp>
        <p:nvSpPr>
          <p:cNvPr id="15" name="Shape 13"/>
          <p:cNvSpPr/>
          <p:nvPr/>
        </p:nvSpPr>
        <p:spPr>
          <a:xfrm>
            <a:off x="4663440" y="1828800"/>
            <a:ext cx="192024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6" name="Shape 14"/>
          <p:cNvSpPr/>
          <p:nvPr/>
        </p:nvSpPr>
        <p:spPr>
          <a:xfrm>
            <a:off x="5417820" y="1993392"/>
            <a:ext cx="411480" cy="411480"/>
          </a:xfrm>
          <a:prstGeom prst="ellipse">
            <a:avLst/>
          </a:prstGeom>
          <a:solidFill>
            <a:srgbClr val="86BC25"/>
          </a:solidFill>
          <a:ln/>
        </p:spPr>
      </p:sp>
      <p:sp>
        <p:nvSpPr>
          <p:cNvPr id="17" name="Text 15"/>
          <p:cNvSpPr/>
          <p:nvPr/>
        </p:nvSpPr>
        <p:spPr>
          <a:xfrm>
            <a:off x="5417820" y="1993392"/>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4709160" y="2468880"/>
            <a:ext cx="1828800" cy="274320"/>
          </a:xfrm>
          <a:prstGeom prst="rect">
            <a:avLst/>
          </a:prstGeom>
          <a:noFill/>
          <a:ln/>
        </p:spPr>
        <p:txBody>
          <a:bodyPr wrap="square" lIns="0" tIns="0" rIns="0" bIns="0" rtlCol="0" anchor="ctr"/>
          <a:lstStyle/>
          <a:p>
            <a:pPr marL="0" indent="0" algn="ctr">
              <a:buNone/>
            </a:pPr>
            <a:r>
              <a:rPr lang="en-US" sz="1250" b="1" dirty="0">
                <a:solidFill>
                  <a:srgbClr val="26282A"/>
                </a:solidFill>
                <a:latin typeface="Calibri" pitchFamily="34" charset="0"/>
                <a:ea typeface="Calibri" pitchFamily="34" charset="-122"/>
                <a:cs typeface="Calibri" pitchFamily="34" charset="-120"/>
              </a:rPr>
              <a:t>Token IDs</a:t>
            </a:r>
            <a:endParaRPr lang="en-US" sz="1250" dirty="0"/>
          </a:p>
        </p:txBody>
      </p:sp>
      <p:sp>
        <p:nvSpPr>
          <p:cNvPr id="19" name="Text 17"/>
          <p:cNvSpPr/>
          <p:nvPr/>
        </p:nvSpPr>
        <p:spPr>
          <a:xfrm>
            <a:off x="4754880" y="2743200"/>
            <a:ext cx="1737360" cy="640080"/>
          </a:xfrm>
          <a:prstGeom prst="rect">
            <a:avLst/>
          </a:prstGeom>
          <a:noFill/>
          <a:ln/>
        </p:spPr>
        <p:txBody>
          <a:bodyPr wrap="square" lIns="0" tIns="0" rIns="0" bIns="0" rtlCol="0" anchor="ctr"/>
          <a:lstStyle/>
          <a:p>
            <a:pPr marL="0" indent="0" algn="ctr">
              <a:buNone/>
            </a:pPr>
            <a:r>
              <a:rPr lang="en-US" sz="950" dirty="0">
                <a:solidFill>
                  <a:srgbClr val="44474A"/>
                </a:solidFill>
                <a:latin typeface="Calibri" pitchFamily="34" charset="0"/>
                <a:ea typeface="Calibri" pitchFamily="34" charset="-122"/>
                <a:cs typeface="Calibri" pitchFamily="34" charset="-120"/>
              </a:rPr>
              <a:t>Each token becomes a unique number</a:t>
            </a:r>
            <a:endParaRPr lang="en-US" sz="950" dirty="0"/>
          </a:p>
        </p:txBody>
      </p:sp>
      <p:sp>
        <p:nvSpPr>
          <p:cNvPr id="20" name="Shape 18"/>
          <p:cNvSpPr/>
          <p:nvPr/>
        </p:nvSpPr>
        <p:spPr>
          <a:xfrm>
            <a:off x="6766560" y="1828800"/>
            <a:ext cx="1920240" cy="1600200"/>
          </a:xfrm>
          <a:prstGeom prst="roundRect">
            <a:avLst>
              <a:gd name="adj" fmla="val 457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1" name="Shape 19"/>
          <p:cNvSpPr/>
          <p:nvPr/>
        </p:nvSpPr>
        <p:spPr>
          <a:xfrm>
            <a:off x="7520940" y="1993392"/>
            <a:ext cx="411480" cy="411480"/>
          </a:xfrm>
          <a:prstGeom prst="ellipse">
            <a:avLst/>
          </a:prstGeom>
          <a:solidFill>
            <a:srgbClr val="86BC25"/>
          </a:solidFill>
          <a:ln/>
        </p:spPr>
      </p:sp>
      <p:sp>
        <p:nvSpPr>
          <p:cNvPr id="22" name="Text 20"/>
          <p:cNvSpPr/>
          <p:nvPr/>
        </p:nvSpPr>
        <p:spPr>
          <a:xfrm>
            <a:off x="7520940" y="1993392"/>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6812280" y="2468880"/>
            <a:ext cx="1828800" cy="274320"/>
          </a:xfrm>
          <a:prstGeom prst="rect">
            <a:avLst/>
          </a:prstGeom>
          <a:noFill/>
          <a:ln/>
        </p:spPr>
        <p:txBody>
          <a:bodyPr wrap="square" lIns="0" tIns="0" rIns="0" bIns="0" rtlCol="0" anchor="ctr"/>
          <a:lstStyle/>
          <a:p>
            <a:pPr marL="0" indent="0" algn="ctr">
              <a:buNone/>
            </a:pPr>
            <a:r>
              <a:rPr lang="en-US" sz="1250" b="1" dirty="0">
                <a:solidFill>
                  <a:srgbClr val="26282A"/>
                </a:solidFill>
                <a:latin typeface="Calibri" pitchFamily="34" charset="0"/>
                <a:ea typeface="Calibri" pitchFamily="34" charset="-122"/>
                <a:cs typeface="Calibri" pitchFamily="34" charset="-120"/>
              </a:rPr>
              <a:t>Embeddings</a:t>
            </a:r>
            <a:endParaRPr lang="en-US" sz="1250" dirty="0"/>
          </a:p>
        </p:txBody>
      </p:sp>
      <p:sp>
        <p:nvSpPr>
          <p:cNvPr id="24" name="Text 22"/>
          <p:cNvSpPr/>
          <p:nvPr/>
        </p:nvSpPr>
        <p:spPr>
          <a:xfrm>
            <a:off x="6858000" y="2743200"/>
            <a:ext cx="1737360" cy="640080"/>
          </a:xfrm>
          <a:prstGeom prst="rect">
            <a:avLst/>
          </a:prstGeom>
          <a:noFill/>
          <a:ln/>
        </p:spPr>
        <p:txBody>
          <a:bodyPr wrap="square" lIns="0" tIns="0" rIns="0" bIns="0" rtlCol="0" anchor="ctr"/>
          <a:lstStyle/>
          <a:p>
            <a:pPr marL="0" indent="0" algn="ctr">
              <a:buNone/>
            </a:pPr>
            <a:r>
              <a:rPr lang="en-US" sz="950" dirty="0">
                <a:solidFill>
                  <a:srgbClr val="44474A"/>
                </a:solidFill>
                <a:latin typeface="Calibri" pitchFamily="34" charset="0"/>
                <a:ea typeface="Calibri" pitchFamily="34" charset="-122"/>
                <a:cs typeface="Calibri" pitchFamily="34" charset="-120"/>
              </a:rPr>
              <a:t>Numbers become vectors that capture meaning</a:t>
            </a:r>
            <a:endParaRPr lang="en-US" sz="950" dirty="0"/>
          </a:p>
        </p:txBody>
      </p:sp>
      <p:sp>
        <p:nvSpPr>
          <p:cNvPr id="25" name="Text 23"/>
          <p:cNvSpPr/>
          <p:nvPr/>
        </p:nvSpPr>
        <p:spPr>
          <a:xfrm>
            <a:off x="2377440" y="2377440"/>
            <a:ext cx="274320" cy="365760"/>
          </a:xfrm>
          <a:prstGeom prst="rect">
            <a:avLst/>
          </a:prstGeom>
          <a:noFill/>
          <a:ln/>
        </p:spPr>
        <p:txBody>
          <a:bodyPr wrap="square" lIns="0" tIns="0" rIns="0" bIns="0" rtlCol="0" anchor="ctr"/>
          <a:lstStyle/>
          <a:p>
            <a:pPr marL="0" indent="0" algn="ctr">
              <a:buNone/>
            </a:pPr>
            <a:r>
              <a:rPr lang="en-US" sz="1800" b="1" dirty="0">
                <a:solidFill>
                  <a:srgbClr val="86BC25"/>
                </a:solidFill>
                <a:latin typeface="Calibri" pitchFamily="34" charset="0"/>
                <a:ea typeface="Calibri" pitchFamily="34" charset="-122"/>
                <a:cs typeface="Calibri" pitchFamily="34" charset="-120"/>
              </a:rPr>
              <a:t>→</a:t>
            </a:r>
            <a:endParaRPr lang="en-US" sz="1800" dirty="0"/>
          </a:p>
        </p:txBody>
      </p:sp>
      <p:sp>
        <p:nvSpPr>
          <p:cNvPr id="26" name="Text 24"/>
          <p:cNvSpPr/>
          <p:nvPr/>
        </p:nvSpPr>
        <p:spPr>
          <a:xfrm>
            <a:off x="4480560" y="2377440"/>
            <a:ext cx="274320" cy="365760"/>
          </a:xfrm>
          <a:prstGeom prst="rect">
            <a:avLst/>
          </a:prstGeom>
          <a:noFill/>
          <a:ln/>
        </p:spPr>
        <p:txBody>
          <a:bodyPr wrap="square" lIns="0" tIns="0" rIns="0" bIns="0" rtlCol="0" anchor="ctr"/>
          <a:lstStyle/>
          <a:p>
            <a:pPr marL="0" indent="0" algn="ctr">
              <a:buNone/>
            </a:pPr>
            <a:r>
              <a:rPr lang="en-US" sz="1800" b="1" dirty="0">
                <a:solidFill>
                  <a:srgbClr val="86BC25"/>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6583680" y="2377440"/>
            <a:ext cx="274320" cy="365760"/>
          </a:xfrm>
          <a:prstGeom prst="rect">
            <a:avLst/>
          </a:prstGeom>
          <a:noFill/>
          <a:ln/>
        </p:spPr>
        <p:txBody>
          <a:bodyPr wrap="square" lIns="0" tIns="0" rIns="0" bIns="0" rtlCol="0" anchor="ctr"/>
          <a:lstStyle/>
          <a:p>
            <a:pPr marL="0" indent="0" algn="ctr">
              <a:buNone/>
            </a:pPr>
            <a:r>
              <a:rPr lang="en-US" sz="1800" b="1" dirty="0">
                <a:solidFill>
                  <a:srgbClr val="86BC25"/>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457200" y="3611880"/>
            <a:ext cx="8229600" cy="960120"/>
          </a:xfrm>
          <a:prstGeom prst="roundRect">
            <a:avLst>
              <a:gd name="adj" fmla="val 7619"/>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9" name="Text 27"/>
          <p:cNvSpPr/>
          <p:nvPr/>
        </p:nvSpPr>
        <p:spPr>
          <a:xfrm>
            <a:off x="685800" y="3712464"/>
            <a:ext cx="3657600" cy="228600"/>
          </a:xfrm>
          <a:prstGeom prst="rect">
            <a:avLst/>
          </a:prstGeom>
          <a:noFill/>
          <a:ln/>
        </p:spPr>
        <p:txBody>
          <a:bodyPr wrap="square" lIns="0" tIns="0" rIns="0" bIns="0" rtlCol="0" anchor="ctr"/>
          <a:lstStyle/>
          <a:p>
            <a:pPr marL="0" indent="0">
              <a:buNone/>
            </a:pPr>
            <a:r>
              <a:rPr lang="en-US" sz="1000" b="1" kern="0" spc="100" dirty="0">
                <a:solidFill>
                  <a:srgbClr val="5C8A1B"/>
                </a:solidFill>
                <a:latin typeface="Calibri" pitchFamily="34" charset="0"/>
                <a:ea typeface="Calibri" pitchFamily="34" charset="-122"/>
                <a:cs typeface="Calibri" pitchFamily="34" charset="-120"/>
              </a:rPr>
              <a:t>EXAMPLE</a:t>
            </a:r>
            <a:endParaRPr lang="en-US" sz="1000" dirty="0"/>
          </a:p>
        </p:txBody>
      </p:sp>
      <p:sp>
        <p:nvSpPr>
          <p:cNvPr id="30" name="Text 28"/>
          <p:cNvSpPr/>
          <p:nvPr/>
        </p:nvSpPr>
        <p:spPr>
          <a:xfrm>
            <a:off x="685800" y="3950208"/>
            <a:ext cx="7772400" cy="320040"/>
          </a:xfrm>
          <a:prstGeom prst="rect">
            <a:avLst/>
          </a:prstGeom>
          <a:noFill/>
          <a:ln/>
        </p:spPr>
        <p:txBody>
          <a:bodyPr wrap="square" lIns="0" tIns="0" rIns="0" bIns="0" rtlCol="0" anchor="ctr"/>
          <a:lstStyle/>
          <a:p>
            <a:pPr marL="0" indent="0">
              <a:buNone/>
            </a:pPr>
            <a:r>
              <a:rPr lang="en-US" sz="1250" b="1" dirty="0">
                <a:solidFill>
                  <a:srgbClr val="26282A"/>
                </a:solidFill>
                <a:latin typeface="Calibri" pitchFamily="34" charset="0"/>
                <a:ea typeface="Calibri" pitchFamily="34" charset="-122"/>
                <a:cs typeface="Calibri" pitchFamily="34" charset="-120"/>
              </a:rPr>
              <a:t>Input: </a:t>
            </a:r>
            <a:r>
              <a:rPr lang="en-US" sz="1250" dirty="0">
                <a:solidFill>
                  <a:srgbClr val="26282A"/>
                </a:solidFill>
                <a:latin typeface="Calibri" pitchFamily="34" charset="0"/>
                <a:ea typeface="Calibri" pitchFamily="34" charset="-122"/>
                <a:cs typeface="Calibri" pitchFamily="34" charset="-120"/>
              </a:rPr>
              <a:t>“Apple is a fruit”    →    </a:t>
            </a:r>
            <a:r>
              <a:rPr lang="en-US" sz="1250" b="1" dirty="0">
                <a:solidFill>
                  <a:srgbClr val="26282A"/>
                </a:solidFill>
                <a:latin typeface="Calibri" pitchFamily="34" charset="0"/>
                <a:ea typeface="Calibri" pitchFamily="34" charset="-122"/>
                <a:cs typeface="Calibri" pitchFamily="34" charset="-120"/>
              </a:rPr>
              <a:t>Tokens: </a:t>
            </a:r>
            <a:r>
              <a:rPr lang="en-US" sz="1250" dirty="0">
                <a:solidFill>
                  <a:srgbClr val="26282A"/>
                </a:solidFill>
                <a:latin typeface="Calibri" pitchFamily="34" charset="0"/>
                <a:ea typeface="Calibri" pitchFamily="34" charset="-122"/>
                <a:cs typeface="Calibri" pitchFamily="34" charset="-120"/>
              </a:rPr>
              <a:t>Apple · is · a · fruit    →    </a:t>
            </a:r>
            <a:r>
              <a:rPr lang="en-US" sz="1250" b="1" dirty="0">
                <a:solidFill>
                  <a:srgbClr val="26282A"/>
                </a:solidFill>
                <a:latin typeface="Calibri" pitchFamily="34" charset="0"/>
                <a:ea typeface="Calibri" pitchFamily="34" charset="-122"/>
                <a:cs typeface="Calibri" pitchFamily="34" charset="-120"/>
              </a:rPr>
              <a:t>Token IDs: </a:t>
            </a:r>
            <a:r>
              <a:rPr lang="en-US" sz="1250" dirty="0">
                <a:solidFill>
                  <a:srgbClr val="26282A"/>
                </a:solidFill>
                <a:latin typeface="Calibri" pitchFamily="34" charset="0"/>
                <a:ea typeface="Calibri" pitchFamily="34" charset="-122"/>
                <a:cs typeface="Calibri" pitchFamily="34" charset="-120"/>
              </a:rPr>
              <a:t>[1015, 318, 257, 4083]</a:t>
            </a:r>
            <a:endParaRPr lang="en-US" sz="1250" dirty="0"/>
          </a:p>
        </p:txBody>
      </p:sp>
      <p:sp>
        <p:nvSpPr>
          <p:cNvPr id="31" name="Text 29"/>
          <p:cNvSpPr/>
          <p:nvPr/>
        </p:nvSpPr>
        <p:spPr>
          <a:xfrm>
            <a:off x="685800" y="4279392"/>
            <a:ext cx="7772400" cy="256032"/>
          </a:xfrm>
          <a:prstGeom prst="rect">
            <a:avLst/>
          </a:prstGeom>
          <a:noFill/>
          <a:ln/>
        </p:spPr>
        <p:txBody>
          <a:bodyPr wrap="square" lIns="0" tIns="0" rIns="0" bIns="0" rtlCol="0" anchor="ctr"/>
          <a:lstStyle/>
          <a:p>
            <a:pPr marL="0" indent="0">
              <a:buNone/>
            </a:pPr>
            <a:r>
              <a:rPr lang="en-US" sz="1100" i="1" dirty="0">
                <a:solidFill>
                  <a:srgbClr val="44474A"/>
                </a:solidFill>
                <a:latin typeface="Calibri" pitchFamily="34" charset="0"/>
                <a:ea typeface="Calibri" pitchFamily="34" charset="-122"/>
                <a:cs typeface="Calibri" pitchFamily="34" charset="-120"/>
              </a:rPr>
              <a:t>Those IDs then become embeddings — vectors that capture meaning (next slide).</a:t>
            </a:r>
            <a:endParaRPr lang="en-US" sz="1100" dirty="0"/>
          </a:p>
        </p:txBody>
      </p:sp>
      <p:sp>
        <p:nvSpPr>
          <p:cNvPr id="32" name="Text 30"/>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33" name="Text 31"/>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2</a:t>
            </a:r>
            <a:endParaRPr lang="en-US" sz="800" dirty="0"/>
          </a:p>
        </p:txBody>
      </p:sp>
    </p:spTree>
    <p:extLst>
      <p:ext uri="{BB962C8B-B14F-4D97-AF65-F5344CB8AC3E}">
        <p14:creationId xmlns:p14="http://schemas.microsoft.com/office/powerpoint/2010/main" val="32180499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Embeddings — how AI captures meaning</a:t>
            </a:r>
            <a:endParaRPr lang="en-US" sz="2900" dirty="0"/>
          </a:p>
        </p:txBody>
      </p:sp>
      <p:sp>
        <p:nvSpPr>
          <p:cNvPr id="5" name="Shape 3"/>
          <p:cNvSpPr/>
          <p:nvPr/>
        </p:nvSpPr>
        <p:spPr>
          <a:xfrm>
            <a:off x="457200" y="1417320"/>
            <a:ext cx="4023360" cy="1325880"/>
          </a:xfrm>
          <a:prstGeom prst="roundRect">
            <a:avLst>
              <a:gd name="adj" fmla="val 5517"/>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85800" y="1536192"/>
            <a:ext cx="3657600" cy="274320"/>
          </a:xfrm>
          <a:prstGeom prst="rect">
            <a:avLst/>
          </a:prstGeom>
          <a:noFill/>
          <a:ln/>
        </p:spPr>
        <p:txBody>
          <a:bodyPr wrap="square" lIns="0" tIns="0" rIns="0" bIns="0" rtlCol="0" anchor="ctr"/>
          <a:lstStyle/>
          <a:p>
            <a:pPr marL="0" indent="0">
              <a:buNone/>
            </a:pPr>
            <a:r>
              <a:rPr lang="en-US" sz="1100" b="1" dirty="0">
                <a:solidFill>
                  <a:srgbClr val="5C8A1B"/>
                </a:solidFill>
                <a:latin typeface="Calibri" pitchFamily="34" charset="0"/>
                <a:ea typeface="Calibri" pitchFamily="34" charset="-122"/>
                <a:cs typeface="Calibri" pitchFamily="34" charset="-120"/>
              </a:rPr>
              <a:t>TOKENS  (recap)</a:t>
            </a:r>
            <a:endParaRPr lang="en-US" sz="1100" dirty="0"/>
          </a:p>
        </p:txBody>
      </p:sp>
      <p:sp>
        <p:nvSpPr>
          <p:cNvPr id="7" name="Text 5"/>
          <p:cNvSpPr/>
          <p:nvPr/>
        </p:nvSpPr>
        <p:spPr>
          <a:xfrm>
            <a:off x="685800" y="1828800"/>
            <a:ext cx="3611880" cy="822960"/>
          </a:xfrm>
          <a:prstGeom prst="rect">
            <a:avLst/>
          </a:prstGeom>
          <a:noFill/>
          <a:ln/>
        </p:spPr>
        <p:txBody>
          <a:bodyPr wrap="square" lIns="0" tIns="0" rIns="0" bIns="0" rtlCol="0" anchor="ctr"/>
          <a:lstStyle/>
          <a:p>
            <a:pPr marL="0" indent="0">
              <a:buNone/>
            </a:pPr>
            <a:r>
              <a:rPr lang="en-US" sz="1250" dirty="0">
                <a:solidFill>
                  <a:srgbClr val="26282A"/>
                </a:solidFill>
                <a:latin typeface="Calibri" pitchFamily="34" charset="0"/>
                <a:ea typeface="Calibri" pitchFamily="34" charset="-122"/>
                <a:cs typeface="Calibri" pitchFamily="34" charset="-120"/>
              </a:rPr>
              <a:t>The basic units an LLM reads — a word, part of a word, or a single character.</a:t>
            </a:r>
            <a:endParaRPr lang="en-US" sz="1250" dirty="0"/>
          </a:p>
        </p:txBody>
      </p:sp>
      <p:sp>
        <p:nvSpPr>
          <p:cNvPr id="8" name="Shape 6"/>
          <p:cNvSpPr/>
          <p:nvPr/>
        </p:nvSpPr>
        <p:spPr>
          <a:xfrm>
            <a:off x="4663440" y="1417320"/>
            <a:ext cx="4023360" cy="1325880"/>
          </a:xfrm>
          <a:prstGeom prst="roundRect">
            <a:avLst>
              <a:gd name="adj" fmla="val 5517"/>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9" name="Text 7"/>
          <p:cNvSpPr/>
          <p:nvPr/>
        </p:nvSpPr>
        <p:spPr>
          <a:xfrm>
            <a:off x="4892040" y="1536192"/>
            <a:ext cx="3657600" cy="274320"/>
          </a:xfrm>
          <a:prstGeom prst="rect">
            <a:avLst/>
          </a:prstGeom>
          <a:noFill/>
          <a:ln/>
        </p:spPr>
        <p:txBody>
          <a:bodyPr wrap="square" lIns="0" tIns="0" rIns="0" bIns="0" rtlCol="0" anchor="ctr"/>
          <a:lstStyle/>
          <a:p>
            <a:pPr marL="0" indent="0">
              <a:buNone/>
            </a:pPr>
            <a:r>
              <a:rPr lang="en-US" sz="1100" b="1" dirty="0">
                <a:solidFill>
                  <a:srgbClr val="5C8A1B"/>
                </a:solidFill>
                <a:latin typeface="Calibri" pitchFamily="34" charset="0"/>
                <a:ea typeface="Calibri" pitchFamily="34" charset="-122"/>
                <a:cs typeface="Calibri" pitchFamily="34" charset="-120"/>
              </a:rPr>
              <a:t>EMBEDDINGS  (new)</a:t>
            </a:r>
            <a:endParaRPr lang="en-US" sz="1100" dirty="0"/>
          </a:p>
        </p:txBody>
      </p:sp>
      <p:sp>
        <p:nvSpPr>
          <p:cNvPr id="10" name="Text 8"/>
          <p:cNvSpPr/>
          <p:nvPr/>
        </p:nvSpPr>
        <p:spPr>
          <a:xfrm>
            <a:off x="4892040" y="1828800"/>
            <a:ext cx="3611880" cy="868680"/>
          </a:xfrm>
          <a:prstGeom prst="rect">
            <a:avLst/>
          </a:prstGeom>
          <a:noFill/>
          <a:ln/>
        </p:spPr>
        <p:txBody>
          <a:bodyPr wrap="square" lIns="0" tIns="0" rIns="0" bIns="0" rtlCol="0" anchor="ctr"/>
          <a:lstStyle/>
          <a:p>
            <a:pPr marL="0" indent="0">
              <a:buNone/>
            </a:pPr>
            <a:r>
              <a:rPr lang="en-US" sz="1250" dirty="0">
                <a:solidFill>
                  <a:srgbClr val="26282A"/>
                </a:solidFill>
                <a:latin typeface="Calibri" pitchFamily="34" charset="0"/>
                <a:ea typeface="Calibri" pitchFamily="34" charset="-122"/>
                <a:cs typeface="Calibri" pitchFamily="34" charset="-120"/>
              </a:rPr>
              <a:t>Numbers that place each token as a point in a huge “meaning space” — capturing what it means and how it relates to other words.</a:t>
            </a:r>
            <a:endParaRPr lang="en-US" sz="1250" dirty="0"/>
          </a:p>
        </p:txBody>
      </p:sp>
      <p:sp>
        <p:nvSpPr>
          <p:cNvPr id="11" name="Text 9"/>
          <p:cNvSpPr/>
          <p:nvPr/>
        </p:nvSpPr>
        <p:spPr>
          <a:xfrm>
            <a:off x="502920" y="2880360"/>
            <a:ext cx="8229600" cy="10515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6282A"/>
                </a:solidFill>
                <a:latin typeface="Calibri" pitchFamily="34" charset="0"/>
                <a:ea typeface="Calibri" pitchFamily="34" charset="-122"/>
                <a:cs typeface="Calibri" pitchFamily="34" charset="-120"/>
              </a:rPr>
              <a:t>Tokens are the words; embeddings are their mathematical form (vectors).</a:t>
            </a:r>
            <a:endParaRPr lang="en-US" sz="1200" dirty="0"/>
          </a:p>
          <a:p>
            <a:pPr marL="342900" indent="-342900">
              <a:spcAft>
                <a:spcPts val="600"/>
              </a:spcAft>
              <a:buSzPct val="100000"/>
              <a:buChar char="•"/>
            </a:pPr>
            <a:r>
              <a:rPr lang="en-US" sz="1200" dirty="0">
                <a:solidFill>
                  <a:srgbClr val="26282A"/>
                </a:solidFill>
                <a:latin typeface="Calibri" pitchFamily="34" charset="0"/>
                <a:ea typeface="Calibri" pitchFamily="34" charset="-122"/>
                <a:cs typeface="Calibri" pitchFamily="34" charset="-120"/>
              </a:rPr>
              <a:t>They keep semantic context — so the model grasps meaning and relationships, not just spelling.</a:t>
            </a:r>
            <a:endParaRPr lang="en-US" sz="1200" dirty="0"/>
          </a:p>
          <a:p>
            <a:pPr marL="342900" indent="-342900">
              <a:spcAft>
                <a:spcPts val="600"/>
              </a:spcAft>
              <a:buSzPct val="100000"/>
              <a:buChar char="•"/>
            </a:pPr>
            <a:r>
              <a:rPr lang="en-US" sz="1200" dirty="0">
                <a:solidFill>
                  <a:srgbClr val="26282A"/>
                </a:solidFill>
                <a:latin typeface="Calibri" pitchFamily="34" charset="0"/>
                <a:ea typeface="Calibri" pitchFamily="34" charset="-122"/>
                <a:cs typeface="Calibri" pitchFamily="34" charset="-120"/>
              </a:rPr>
              <a:t>Similar meanings sit closer together in that space.</a:t>
            </a:r>
            <a:endParaRPr lang="en-US" sz="1200" dirty="0"/>
          </a:p>
          <a:p>
            <a:pPr marL="342900" indent="-342900">
              <a:buSzPct val="100000"/>
              <a:buChar char="•"/>
            </a:pPr>
            <a:r>
              <a:rPr lang="en-US" sz="1200" dirty="0">
                <a:solidFill>
                  <a:srgbClr val="26282A"/>
                </a:solidFill>
                <a:latin typeface="Calibri" pitchFamily="34" charset="0"/>
                <a:ea typeface="Calibri" pitchFamily="34" charset="-122"/>
                <a:cs typeface="Calibri" pitchFamily="34" charset="-120"/>
              </a:rPr>
              <a:t>They're the foundation of modern LLMs and power things like semantic search.</a:t>
            </a:r>
            <a:endParaRPr lang="en-US" sz="1200" dirty="0"/>
          </a:p>
        </p:txBody>
      </p:sp>
      <p:sp>
        <p:nvSpPr>
          <p:cNvPr id="12" name="Shape 10"/>
          <p:cNvSpPr/>
          <p:nvPr/>
        </p:nvSpPr>
        <p:spPr>
          <a:xfrm>
            <a:off x="457200" y="4041648"/>
            <a:ext cx="8229600" cy="566928"/>
          </a:xfrm>
          <a:prstGeom prst="roundRect">
            <a:avLst>
              <a:gd name="adj" fmla="val 12903"/>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13" name="Text 11"/>
          <p:cNvSpPr/>
          <p:nvPr/>
        </p:nvSpPr>
        <p:spPr>
          <a:xfrm>
            <a:off x="685800" y="4142232"/>
            <a:ext cx="7772400" cy="365760"/>
          </a:xfrm>
          <a:prstGeom prst="rect">
            <a:avLst/>
          </a:prstGeom>
          <a:noFill/>
          <a:ln/>
        </p:spPr>
        <p:txBody>
          <a:bodyPr wrap="square" lIns="0" tIns="0" rIns="0" bIns="0" rtlCol="0" anchor="ctr"/>
          <a:lstStyle/>
          <a:p>
            <a:pPr marL="0" indent="0">
              <a:buNone/>
            </a:pPr>
            <a:r>
              <a:rPr lang="en-US" sz="1200" b="1" dirty="0">
                <a:solidFill>
                  <a:srgbClr val="5C8A1B"/>
                </a:solidFill>
                <a:latin typeface="Calibri" pitchFamily="34" charset="0"/>
                <a:ea typeface="Calibri" pitchFamily="34" charset="-122"/>
                <a:cs typeface="Calibri" pitchFamily="34" charset="-120"/>
              </a:rPr>
              <a:t>Picture a map of meaning:  </a:t>
            </a:r>
            <a:r>
              <a:rPr lang="en-US" sz="1200" dirty="0">
                <a:solidFill>
                  <a:srgbClr val="26282A"/>
                </a:solidFill>
                <a:latin typeface="Calibri" pitchFamily="34" charset="0"/>
                <a:ea typeface="Calibri" pitchFamily="34" charset="-122"/>
                <a:cs typeface="Calibri" pitchFamily="34" charset="-120"/>
              </a:rPr>
              <a:t>“coffee” and “tea” are neighbours; “coffee” and “concrete” are far apart. Embeddings are the coordinates.</a:t>
            </a:r>
            <a:endParaRPr lang="en-US" sz="1200" dirty="0"/>
          </a:p>
        </p:txBody>
      </p:sp>
      <p:sp>
        <p:nvSpPr>
          <p:cNvPr id="14" name="Text 12"/>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5" name="Text 13"/>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3</a:t>
            </a:r>
            <a:endParaRPr lang="en-US" sz="800" dirty="0"/>
          </a:p>
        </p:txBody>
      </p:sp>
    </p:spTree>
    <p:extLst>
      <p:ext uri="{BB962C8B-B14F-4D97-AF65-F5344CB8AC3E}">
        <p14:creationId xmlns:p14="http://schemas.microsoft.com/office/powerpoint/2010/main" val="77349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3 · GENERATIVE AI &amp; LLMS</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RAG — giving AI real, current knowledge</a:t>
            </a:r>
            <a:endParaRPr lang="en-US" sz="2900" dirty="0"/>
          </a:p>
        </p:txBody>
      </p:sp>
      <p:sp>
        <p:nvSpPr>
          <p:cNvPr id="5" name="Text 3"/>
          <p:cNvSpPr/>
          <p:nvPr/>
        </p:nvSpPr>
        <p:spPr>
          <a:xfrm>
            <a:off x="457200" y="1371600"/>
            <a:ext cx="8229600" cy="457200"/>
          </a:xfrm>
          <a:prstGeom prst="rect">
            <a:avLst/>
          </a:prstGeom>
          <a:noFill/>
          <a:ln/>
        </p:spPr>
        <p:txBody>
          <a:bodyPr wrap="square" lIns="0" tIns="0" rIns="0" bIns="0" rtlCol="0" anchor="ctr"/>
          <a:lstStyle/>
          <a:p>
            <a:pPr marL="0" indent="0">
              <a:buNone/>
            </a:pPr>
            <a:r>
              <a:rPr lang="en-US" sz="1400" dirty="0">
                <a:solidFill>
                  <a:srgbClr val="26282A"/>
                </a:solidFill>
                <a:latin typeface="Calibri" pitchFamily="34" charset="0"/>
                <a:ea typeface="Calibri" pitchFamily="34" charset="-122"/>
                <a:cs typeface="Calibri" pitchFamily="34" charset="-120"/>
              </a:rPr>
              <a:t>On its own, an LLM only knows its training data — and it can confidently make things up. RAG fixes that by letting it look things up first.</a:t>
            </a:r>
            <a:endParaRPr lang="en-US" sz="1400" dirty="0"/>
          </a:p>
        </p:txBody>
      </p:sp>
      <p:sp>
        <p:nvSpPr>
          <p:cNvPr id="6" name="Shape 4"/>
          <p:cNvSpPr/>
          <p:nvPr/>
        </p:nvSpPr>
        <p:spPr>
          <a:xfrm>
            <a:off x="457200" y="1874520"/>
            <a:ext cx="2679192" cy="1417320"/>
          </a:xfrm>
          <a:prstGeom prst="roundRect">
            <a:avLst>
              <a:gd name="adj" fmla="val 516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7" name="Shape 5"/>
          <p:cNvSpPr/>
          <p:nvPr/>
        </p:nvSpPr>
        <p:spPr>
          <a:xfrm>
            <a:off x="658368" y="2057400"/>
            <a:ext cx="457200" cy="457200"/>
          </a:xfrm>
          <a:prstGeom prst="ellipse">
            <a:avLst/>
          </a:prstGeom>
          <a:solidFill>
            <a:srgbClr val="86BC25"/>
          </a:solidFill>
          <a:ln/>
        </p:spPr>
      </p:sp>
      <p:sp>
        <p:nvSpPr>
          <p:cNvPr id="8" name="Text 6"/>
          <p:cNvSpPr/>
          <p:nvPr/>
        </p:nvSpPr>
        <p:spPr>
          <a:xfrm>
            <a:off x="658368" y="20574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1234440" y="2121408"/>
            <a:ext cx="1737360" cy="320040"/>
          </a:xfrm>
          <a:prstGeom prst="rect">
            <a:avLst/>
          </a:prstGeom>
          <a:noFill/>
          <a:ln/>
        </p:spPr>
        <p:txBody>
          <a:bodyPr wrap="square" lIns="0" tIns="0" rIns="0" bIns="0" rtlCol="0" anchor="ctr"/>
          <a:lstStyle/>
          <a:p>
            <a:pPr marL="0" indent="0">
              <a:buNone/>
            </a:pPr>
            <a:r>
              <a:rPr lang="en-US" sz="1500" b="1" dirty="0">
                <a:solidFill>
                  <a:srgbClr val="26282A"/>
                </a:solidFill>
                <a:latin typeface="Cambria" pitchFamily="34" charset="0"/>
                <a:ea typeface="Cambria" pitchFamily="34" charset="-122"/>
                <a:cs typeface="Cambria" pitchFamily="34" charset="-120"/>
              </a:rPr>
              <a:t>Retrieve</a:t>
            </a:r>
            <a:endParaRPr lang="en-US" sz="1500" dirty="0"/>
          </a:p>
        </p:txBody>
      </p:sp>
      <p:sp>
        <p:nvSpPr>
          <p:cNvPr id="10" name="Text 8"/>
          <p:cNvSpPr/>
          <p:nvPr/>
        </p:nvSpPr>
        <p:spPr>
          <a:xfrm>
            <a:off x="658368" y="2606040"/>
            <a:ext cx="2331720" cy="59436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Find relevant, trusted info — your files, policies, knowledge base</a:t>
            </a:r>
            <a:endParaRPr lang="en-US" sz="1100" dirty="0"/>
          </a:p>
        </p:txBody>
      </p:sp>
      <p:sp>
        <p:nvSpPr>
          <p:cNvPr id="11" name="Shape 9"/>
          <p:cNvSpPr/>
          <p:nvPr/>
        </p:nvSpPr>
        <p:spPr>
          <a:xfrm>
            <a:off x="3264408" y="1874520"/>
            <a:ext cx="2679192" cy="1417320"/>
          </a:xfrm>
          <a:prstGeom prst="roundRect">
            <a:avLst>
              <a:gd name="adj" fmla="val 516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2" name="Shape 10"/>
          <p:cNvSpPr/>
          <p:nvPr/>
        </p:nvSpPr>
        <p:spPr>
          <a:xfrm>
            <a:off x="3465576" y="2057400"/>
            <a:ext cx="457200" cy="457200"/>
          </a:xfrm>
          <a:prstGeom prst="ellipse">
            <a:avLst/>
          </a:prstGeom>
          <a:solidFill>
            <a:srgbClr val="86BC25"/>
          </a:solidFill>
          <a:ln/>
        </p:spPr>
      </p:sp>
      <p:sp>
        <p:nvSpPr>
          <p:cNvPr id="13" name="Text 11"/>
          <p:cNvSpPr/>
          <p:nvPr/>
        </p:nvSpPr>
        <p:spPr>
          <a:xfrm>
            <a:off x="3465576" y="20574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4041648" y="2121408"/>
            <a:ext cx="1737360" cy="320040"/>
          </a:xfrm>
          <a:prstGeom prst="rect">
            <a:avLst/>
          </a:prstGeom>
          <a:noFill/>
          <a:ln/>
        </p:spPr>
        <p:txBody>
          <a:bodyPr wrap="square" lIns="0" tIns="0" rIns="0" bIns="0" rtlCol="0" anchor="ctr"/>
          <a:lstStyle/>
          <a:p>
            <a:pPr marL="0" indent="0">
              <a:buNone/>
            </a:pPr>
            <a:r>
              <a:rPr lang="en-US" sz="1500" b="1" dirty="0">
                <a:solidFill>
                  <a:srgbClr val="26282A"/>
                </a:solidFill>
                <a:latin typeface="Cambria" pitchFamily="34" charset="0"/>
                <a:ea typeface="Cambria" pitchFamily="34" charset="-122"/>
                <a:cs typeface="Cambria" pitchFamily="34" charset="-120"/>
              </a:rPr>
              <a:t>Augment</a:t>
            </a:r>
            <a:endParaRPr lang="en-US" sz="1500" dirty="0"/>
          </a:p>
        </p:txBody>
      </p:sp>
      <p:sp>
        <p:nvSpPr>
          <p:cNvPr id="15" name="Text 13"/>
          <p:cNvSpPr/>
          <p:nvPr/>
        </p:nvSpPr>
        <p:spPr>
          <a:xfrm>
            <a:off x="3465576" y="2606040"/>
            <a:ext cx="2331720" cy="59436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Add that info into the prompt as context</a:t>
            </a:r>
            <a:endParaRPr lang="en-US" sz="1100" dirty="0"/>
          </a:p>
        </p:txBody>
      </p:sp>
      <p:sp>
        <p:nvSpPr>
          <p:cNvPr id="16" name="Shape 14"/>
          <p:cNvSpPr/>
          <p:nvPr/>
        </p:nvSpPr>
        <p:spPr>
          <a:xfrm>
            <a:off x="6071616" y="1874520"/>
            <a:ext cx="2679192" cy="1417320"/>
          </a:xfrm>
          <a:prstGeom prst="roundRect">
            <a:avLst>
              <a:gd name="adj" fmla="val 5161"/>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17" name="Shape 15"/>
          <p:cNvSpPr/>
          <p:nvPr/>
        </p:nvSpPr>
        <p:spPr>
          <a:xfrm>
            <a:off x="6272784" y="2057400"/>
            <a:ext cx="457200" cy="457200"/>
          </a:xfrm>
          <a:prstGeom prst="ellipse">
            <a:avLst/>
          </a:prstGeom>
          <a:solidFill>
            <a:srgbClr val="86BC25"/>
          </a:solidFill>
          <a:ln/>
        </p:spPr>
      </p:sp>
      <p:sp>
        <p:nvSpPr>
          <p:cNvPr id="18" name="Text 16"/>
          <p:cNvSpPr/>
          <p:nvPr/>
        </p:nvSpPr>
        <p:spPr>
          <a:xfrm>
            <a:off x="6272784" y="20574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6848856" y="2121408"/>
            <a:ext cx="1737360" cy="320040"/>
          </a:xfrm>
          <a:prstGeom prst="rect">
            <a:avLst/>
          </a:prstGeom>
          <a:noFill/>
          <a:ln/>
        </p:spPr>
        <p:txBody>
          <a:bodyPr wrap="square" lIns="0" tIns="0" rIns="0" bIns="0" rtlCol="0" anchor="ctr"/>
          <a:lstStyle/>
          <a:p>
            <a:pPr marL="0" indent="0">
              <a:buNone/>
            </a:pPr>
            <a:r>
              <a:rPr lang="en-US" sz="1500" b="1" dirty="0">
                <a:solidFill>
                  <a:srgbClr val="26282A"/>
                </a:solidFill>
                <a:latin typeface="Cambria" pitchFamily="34" charset="0"/>
                <a:ea typeface="Cambria" pitchFamily="34" charset="-122"/>
                <a:cs typeface="Cambria" pitchFamily="34" charset="-120"/>
              </a:rPr>
              <a:t>Generate</a:t>
            </a:r>
            <a:endParaRPr lang="en-US" sz="1500" dirty="0"/>
          </a:p>
        </p:txBody>
      </p:sp>
      <p:sp>
        <p:nvSpPr>
          <p:cNvPr id="20" name="Text 18"/>
          <p:cNvSpPr/>
          <p:nvPr/>
        </p:nvSpPr>
        <p:spPr>
          <a:xfrm>
            <a:off x="6272784" y="2606040"/>
            <a:ext cx="2331720" cy="594360"/>
          </a:xfrm>
          <a:prstGeom prst="rect">
            <a:avLst/>
          </a:prstGeom>
          <a:noFill/>
          <a:ln/>
        </p:spPr>
        <p:txBody>
          <a:bodyPr wrap="square" lIns="0" tIns="0" rIns="0" bIns="0" rtlCol="0" anchor="ctr"/>
          <a:lstStyle/>
          <a:p>
            <a:pPr marL="0" indent="0">
              <a:buNone/>
            </a:pPr>
            <a:r>
              <a:rPr lang="en-US" sz="1100" dirty="0">
                <a:solidFill>
                  <a:srgbClr val="44474A"/>
                </a:solidFill>
                <a:latin typeface="Calibri" pitchFamily="34" charset="0"/>
                <a:ea typeface="Calibri" pitchFamily="34" charset="-122"/>
                <a:cs typeface="Calibri" pitchFamily="34" charset="-120"/>
              </a:rPr>
              <a:t>Answer grounded in the retrieved facts</a:t>
            </a:r>
            <a:endParaRPr lang="en-US" sz="1100" dirty="0"/>
          </a:p>
        </p:txBody>
      </p:sp>
      <p:sp>
        <p:nvSpPr>
          <p:cNvPr id="21" name="Shape 19"/>
          <p:cNvSpPr/>
          <p:nvPr/>
        </p:nvSpPr>
        <p:spPr>
          <a:xfrm>
            <a:off x="457200" y="3429000"/>
            <a:ext cx="8229600" cy="566928"/>
          </a:xfrm>
          <a:prstGeom prst="roundRect">
            <a:avLst>
              <a:gd name="adj" fmla="val 12903"/>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22" name="Text 20"/>
          <p:cNvSpPr/>
          <p:nvPr/>
        </p:nvSpPr>
        <p:spPr>
          <a:xfrm>
            <a:off x="685800" y="3529584"/>
            <a:ext cx="7772400" cy="365760"/>
          </a:xfrm>
          <a:prstGeom prst="rect">
            <a:avLst/>
          </a:prstGeom>
          <a:noFill/>
          <a:ln/>
        </p:spPr>
        <p:txBody>
          <a:bodyPr wrap="square" lIns="0" tIns="0" rIns="0" bIns="0" rtlCol="0" anchor="ctr"/>
          <a:lstStyle/>
          <a:p>
            <a:pPr marL="0" indent="0">
              <a:buNone/>
            </a:pPr>
            <a:r>
              <a:rPr lang="en-US" sz="1200" b="1" dirty="0">
                <a:solidFill>
                  <a:srgbClr val="5C8A1B"/>
                </a:solidFill>
                <a:latin typeface="Calibri" pitchFamily="34" charset="0"/>
                <a:ea typeface="Calibri" pitchFamily="34" charset="-122"/>
                <a:cs typeface="Calibri" pitchFamily="34" charset="-120"/>
              </a:rPr>
              <a:t>Why it matters:  </a:t>
            </a:r>
            <a:r>
              <a:rPr lang="en-US" sz="1200" dirty="0">
                <a:solidFill>
                  <a:srgbClr val="26282A"/>
                </a:solidFill>
                <a:latin typeface="Calibri" pitchFamily="34" charset="0"/>
                <a:ea typeface="Calibri" pitchFamily="34" charset="-122"/>
                <a:cs typeface="Calibri" pitchFamily="34" charset="-120"/>
              </a:rPr>
              <a:t>answers grounded in your approved, current data  ·  far fewer hallucinations  ·  sources you can actually check.</a:t>
            </a:r>
            <a:endParaRPr lang="en-US" sz="1200" dirty="0"/>
          </a:p>
        </p:txBody>
      </p:sp>
      <p:sp>
        <p:nvSpPr>
          <p:cNvPr id="23" name="Shape 21"/>
          <p:cNvSpPr/>
          <p:nvPr/>
        </p:nvSpPr>
        <p:spPr>
          <a:xfrm>
            <a:off x="457200" y="4114800"/>
            <a:ext cx="8229600" cy="502920"/>
          </a:xfrm>
          <a:prstGeom prst="roundRect">
            <a:avLst>
              <a:gd name="adj" fmla="val 14545"/>
            </a:avLst>
          </a:prstGeom>
          <a:solidFill>
            <a:srgbClr val="F4F5F6"/>
          </a:solidFill>
          <a:ln w="9525">
            <a:solidFill>
              <a:srgbClr val="DADDE0"/>
            </a:solidFill>
            <a:prstDash val="solid"/>
          </a:ln>
          <a:effectLst>
            <a:outerShdw blurRad="88900" dist="25400" dir="5400000" algn="bl" rotWithShape="0">
              <a:srgbClr val="000000">
                <a:alpha val="10000"/>
              </a:srgbClr>
            </a:outerShdw>
          </a:effectLst>
        </p:spPr>
      </p:sp>
      <p:sp>
        <p:nvSpPr>
          <p:cNvPr id="24" name="Text 22"/>
          <p:cNvSpPr/>
          <p:nvPr/>
        </p:nvSpPr>
        <p:spPr>
          <a:xfrm>
            <a:off x="685800" y="4206240"/>
            <a:ext cx="7772400" cy="329184"/>
          </a:xfrm>
          <a:prstGeom prst="rect">
            <a:avLst/>
          </a:prstGeom>
          <a:noFill/>
          <a:ln/>
        </p:spPr>
        <p:txBody>
          <a:bodyPr wrap="square" lIns="0" tIns="0" rIns="0" bIns="0" rtlCol="0" anchor="ctr"/>
          <a:lstStyle/>
          <a:p>
            <a:pPr marL="0" indent="0">
              <a:buNone/>
            </a:pPr>
            <a:r>
              <a:rPr lang="en-US" sz="1200" b="1" i="1" dirty="0">
                <a:solidFill>
                  <a:srgbClr val="26282A"/>
                </a:solidFill>
                <a:latin typeface="Calibri" pitchFamily="34" charset="0"/>
                <a:ea typeface="Calibri" pitchFamily="34" charset="-122"/>
                <a:cs typeface="Calibri" pitchFamily="34" charset="-120"/>
              </a:rPr>
              <a:t>Analogy:  </a:t>
            </a:r>
            <a:r>
              <a:rPr lang="en-US" sz="1200" i="1" dirty="0">
                <a:solidFill>
                  <a:srgbClr val="44474A"/>
                </a:solidFill>
                <a:latin typeface="Calibri" pitchFamily="34" charset="0"/>
                <a:ea typeface="Calibri" pitchFamily="34" charset="-122"/>
                <a:cs typeface="Calibri" pitchFamily="34" charset="-120"/>
              </a:rPr>
              <a:t>closed-book vs open-book exam. A plain LLM answers from memory; RAG lets it check the textbook first.</a:t>
            </a:r>
            <a:endParaRPr lang="en-US" sz="1200" dirty="0"/>
          </a:p>
        </p:txBody>
      </p:sp>
      <p:sp>
        <p:nvSpPr>
          <p:cNvPr id="25" name="Text 23"/>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26" name="Text 24"/>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4</a:t>
            </a:r>
            <a:endParaRPr lang="en-US" sz="800" dirty="0"/>
          </a:p>
        </p:txBody>
      </p:sp>
    </p:spTree>
    <p:extLst>
      <p:ext uri="{BB962C8B-B14F-4D97-AF65-F5344CB8AC3E}">
        <p14:creationId xmlns:p14="http://schemas.microsoft.com/office/powerpoint/2010/main" val="703147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402336"/>
            <a:ext cx="109728" cy="109728"/>
          </a:xfrm>
          <a:prstGeom prst="ellipse">
            <a:avLst/>
          </a:prstGeom>
          <a:solidFill>
            <a:srgbClr val="86BC25"/>
          </a:solidFill>
          <a:ln/>
        </p:spPr>
      </p:sp>
      <p:sp>
        <p:nvSpPr>
          <p:cNvPr id="3" name="Text 1"/>
          <p:cNvSpPr/>
          <p:nvPr/>
        </p:nvSpPr>
        <p:spPr>
          <a:xfrm>
            <a:off x="658368" y="329184"/>
            <a:ext cx="7955280" cy="256032"/>
          </a:xfrm>
          <a:prstGeom prst="rect">
            <a:avLst/>
          </a:prstGeom>
          <a:noFill/>
          <a:ln/>
        </p:spPr>
        <p:txBody>
          <a:bodyPr wrap="square" lIns="0" tIns="0" rIns="0" bIns="0" rtlCol="0" anchor="ctr"/>
          <a:lstStyle/>
          <a:p>
            <a:pPr marL="0" indent="0">
              <a:buNone/>
            </a:pPr>
            <a:r>
              <a:rPr lang="en-US" sz="1100" b="1" kern="0" spc="200" dirty="0">
                <a:solidFill>
                  <a:srgbClr val="5C8A1B"/>
                </a:solidFill>
                <a:latin typeface="Calibri" pitchFamily="34" charset="0"/>
                <a:ea typeface="Calibri" pitchFamily="34" charset="-122"/>
                <a:cs typeface="Calibri" pitchFamily="34" charset="-120"/>
              </a:rPr>
              <a:t>MODULE 4 · PROMPT ENGINEERING</a:t>
            </a:r>
            <a:endParaRPr lang="en-US" sz="1100" dirty="0"/>
          </a:p>
        </p:txBody>
      </p:sp>
      <p:sp>
        <p:nvSpPr>
          <p:cNvPr id="4" name="Text 2"/>
          <p:cNvSpPr/>
          <p:nvPr/>
        </p:nvSpPr>
        <p:spPr>
          <a:xfrm>
            <a:off x="457200" y="603504"/>
            <a:ext cx="8229600" cy="640080"/>
          </a:xfrm>
          <a:prstGeom prst="rect">
            <a:avLst/>
          </a:prstGeom>
          <a:noFill/>
          <a:ln/>
        </p:spPr>
        <p:txBody>
          <a:bodyPr wrap="square" lIns="0" tIns="0" rIns="0" bIns="0" rtlCol="0" anchor="ctr"/>
          <a:lstStyle/>
          <a:p>
            <a:pPr marL="0" indent="0">
              <a:buNone/>
            </a:pPr>
            <a:r>
              <a:rPr lang="en-US" sz="2900" b="1" dirty="0">
                <a:solidFill>
                  <a:srgbClr val="26282A"/>
                </a:solidFill>
                <a:latin typeface="Cambria" pitchFamily="34" charset="0"/>
                <a:ea typeface="Cambria" pitchFamily="34" charset="-122"/>
                <a:cs typeface="Cambria" pitchFamily="34" charset="-120"/>
              </a:rPr>
              <a:t>Bad vs good prompt — a worked example</a:t>
            </a:r>
            <a:endParaRPr lang="en-US" sz="2900" dirty="0"/>
          </a:p>
        </p:txBody>
      </p:sp>
      <p:sp>
        <p:nvSpPr>
          <p:cNvPr id="5" name="Shape 3"/>
          <p:cNvSpPr/>
          <p:nvPr/>
        </p:nvSpPr>
        <p:spPr>
          <a:xfrm>
            <a:off x="457200" y="1371600"/>
            <a:ext cx="8229600" cy="1051560"/>
          </a:xfrm>
          <a:prstGeom prst="roundRect">
            <a:avLst>
              <a:gd name="adj" fmla="val 6957"/>
            </a:avLst>
          </a:prstGeom>
          <a:solidFill>
            <a:srgbClr val="F6E7E4"/>
          </a:solidFill>
          <a:ln w="9525">
            <a:solidFill>
              <a:srgbClr val="DADDE0"/>
            </a:solidFill>
            <a:prstDash val="solid"/>
          </a:ln>
          <a:effectLst>
            <a:outerShdw blurRad="88900" dist="25400" dir="5400000" algn="bl" rotWithShape="0">
              <a:srgbClr val="000000">
                <a:alpha val="10000"/>
              </a:srgbClr>
            </a:outerShdw>
          </a:effectLst>
        </p:spPr>
      </p:sp>
      <p:sp>
        <p:nvSpPr>
          <p:cNvPr id="6" name="Text 4"/>
          <p:cNvSpPr/>
          <p:nvPr/>
        </p:nvSpPr>
        <p:spPr>
          <a:xfrm>
            <a:off x="685800" y="1463040"/>
            <a:ext cx="2743200" cy="256032"/>
          </a:xfrm>
          <a:prstGeom prst="rect">
            <a:avLst/>
          </a:prstGeom>
          <a:noFill/>
          <a:ln/>
        </p:spPr>
        <p:txBody>
          <a:bodyPr wrap="square" lIns="0" tIns="0" rIns="0" bIns="0" rtlCol="0" anchor="ctr"/>
          <a:lstStyle/>
          <a:p>
            <a:pPr marL="0" indent="0">
              <a:buNone/>
            </a:pPr>
            <a:r>
              <a:rPr lang="en-US" sz="1100" b="1" kern="0" spc="100" dirty="0">
                <a:solidFill>
                  <a:srgbClr val="B23A2E"/>
                </a:solidFill>
                <a:latin typeface="Calibri" pitchFamily="34" charset="0"/>
                <a:ea typeface="Calibri" pitchFamily="34" charset="-122"/>
                <a:cs typeface="Calibri" pitchFamily="34" charset="-120"/>
              </a:rPr>
              <a:t>✗  BAD PROMPT</a:t>
            </a:r>
            <a:endParaRPr lang="en-US" sz="1100" dirty="0"/>
          </a:p>
        </p:txBody>
      </p:sp>
      <p:sp>
        <p:nvSpPr>
          <p:cNvPr id="7" name="Text 5"/>
          <p:cNvSpPr/>
          <p:nvPr/>
        </p:nvSpPr>
        <p:spPr>
          <a:xfrm>
            <a:off x="685800" y="1737360"/>
            <a:ext cx="7772400" cy="365760"/>
          </a:xfrm>
          <a:prstGeom prst="rect">
            <a:avLst/>
          </a:prstGeom>
          <a:noFill/>
          <a:ln/>
        </p:spPr>
        <p:txBody>
          <a:bodyPr wrap="square" lIns="0" tIns="0" rIns="0" bIns="0" rtlCol="0" anchor="ctr"/>
          <a:lstStyle/>
          <a:p>
            <a:pPr marL="0" indent="0">
              <a:buNone/>
            </a:pPr>
            <a:r>
              <a:rPr lang="en-US" sz="1200" b="1" dirty="0">
                <a:solidFill>
                  <a:srgbClr val="26282A"/>
                </a:solidFill>
                <a:latin typeface="Calibri" pitchFamily="34" charset="0"/>
                <a:ea typeface="Calibri" pitchFamily="34" charset="-122"/>
                <a:cs typeface="Calibri" pitchFamily="34" charset="-120"/>
              </a:rPr>
              <a:t>“Summarize this client's data.”     →  Output: </a:t>
            </a:r>
            <a:r>
              <a:rPr lang="en-US" sz="1200" dirty="0">
                <a:solidFill>
                  <a:srgbClr val="44474A"/>
                </a:solidFill>
                <a:latin typeface="Calibri" pitchFamily="34" charset="0"/>
                <a:ea typeface="Calibri" pitchFamily="34" charset="-122"/>
                <a:cs typeface="Calibri" pitchFamily="34" charset="-120"/>
              </a:rPr>
              <a:t>“The client operates in the consumer goods sector and sells multiple products globally.”</a:t>
            </a:r>
            <a:endParaRPr lang="en-US" sz="1200" dirty="0"/>
          </a:p>
        </p:txBody>
      </p:sp>
      <p:sp>
        <p:nvSpPr>
          <p:cNvPr id="8" name="Text 6"/>
          <p:cNvSpPr/>
          <p:nvPr/>
        </p:nvSpPr>
        <p:spPr>
          <a:xfrm>
            <a:off x="685800" y="2103120"/>
            <a:ext cx="7772400" cy="256032"/>
          </a:xfrm>
          <a:prstGeom prst="rect">
            <a:avLst/>
          </a:prstGeom>
          <a:noFill/>
          <a:ln/>
        </p:spPr>
        <p:txBody>
          <a:bodyPr wrap="square" lIns="0" tIns="0" rIns="0" bIns="0" rtlCol="0" anchor="ctr"/>
          <a:lstStyle/>
          <a:p>
            <a:pPr marL="0" indent="0">
              <a:buNone/>
            </a:pPr>
            <a:r>
              <a:rPr lang="en-US" sz="1100" i="1" dirty="0">
                <a:solidFill>
                  <a:srgbClr val="B23A2E"/>
                </a:solidFill>
                <a:latin typeface="Calibri" pitchFamily="34" charset="0"/>
                <a:ea typeface="Calibri" pitchFamily="34" charset="-122"/>
                <a:cs typeface="Calibri" pitchFamily="34" charset="-120"/>
              </a:rPr>
              <a:t>Generic — lacks focus and business insight.</a:t>
            </a:r>
            <a:endParaRPr lang="en-US" sz="1100" dirty="0"/>
          </a:p>
        </p:txBody>
      </p:sp>
      <p:sp>
        <p:nvSpPr>
          <p:cNvPr id="9" name="Shape 7"/>
          <p:cNvSpPr/>
          <p:nvPr/>
        </p:nvSpPr>
        <p:spPr>
          <a:xfrm>
            <a:off x="457200" y="2560320"/>
            <a:ext cx="8229600" cy="2194560"/>
          </a:xfrm>
          <a:prstGeom prst="roundRect">
            <a:avLst>
              <a:gd name="adj" fmla="val 3333"/>
            </a:avLst>
          </a:prstGeom>
          <a:solidFill>
            <a:srgbClr val="EDF4DF"/>
          </a:solidFill>
          <a:ln w="9525">
            <a:solidFill>
              <a:srgbClr val="DADDE0"/>
            </a:solidFill>
            <a:prstDash val="solid"/>
          </a:ln>
          <a:effectLst>
            <a:outerShdw blurRad="88900" dist="25400" dir="5400000" algn="bl" rotWithShape="0">
              <a:srgbClr val="000000">
                <a:alpha val="10000"/>
              </a:srgbClr>
            </a:outerShdw>
          </a:effectLst>
        </p:spPr>
      </p:sp>
      <p:sp>
        <p:nvSpPr>
          <p:cNvPr id="10" name="Text 8"/>
          <p:cNvSpPr/>
          <p:nvPr/>
        </p:nvSpPr>
        <p:spPr>
          <a:xfrm>
            <a:off x="685800" y="2651760"/>
            <a:ext cx="2743200" cy="256032"/>
          </a:xfrm>
          <a:prstGeom prst="rect">
            <a:avLst/>
          </a:prstGeom>
          <a:noFill/>
          <a:ln/>
        </p:spPr>
        <p:txBody>
          <a:bodyPr wrap="square" lIns="0" tIns="0" rIns="0" bIns="0" rtlCol="0" anchor="ctr"/>
          <a:lstStyle/>
          <a:p>
            <a:pPr marL="0" indent="0">
              <a:buNone/>
            </a:pPr>
            <a:r>
              <a:rPr lang="en-US" sz="1100" b="1" kern="0" spc="100" dirty="0">
                <a:solidFill>
                  <a:srgbClr val="5C8A1B"/>
                </a:solidFill>
                <a:latin typeface="Calibri" pitchFamily="34" charset="0"/>
                <a:ea typeface="Calibri" pitchFamily="34" charset="-122"/>
                <a:cs typeface="Calibri" pitchFamily="34" charset="-120"/>
              </a:rPr>
              <a:t>✓  GOOD PROMPT</a:t>
            </a:r>
            <a:endParaRPr lang="en-US" sz="1100" dirty="0"/>
          </a:p>
        </p:txBody>
      </p:sp>
      <p:sp>
        <p:nvSpPr>
          <p:cNvPr id="11" name="Text 9"/>
          <p:cNvSpPr/>
          <p:nvPr/>
        </p:nvSpPr>
        <p:spPr>
          <a:xfrm>
            <a:off x="685800" y="2907792"/>
            <a:ext cx="7772400" cy="502920"/>
          </a:xfrm>
          <a:prstGeom prst="rect">
            <a:avLst/>
          </a:prstGeom>
          <a:noFill/>
          <a:ln/>
        </p:spPr>
        <p:txBody>
          <a:bodyPr wrap="square" lIns="0" tIns="0" rIns="0" bIns="0" rtlCol="0" anchor="ctr"/>
          <a:lstStyle/>
          <a:p>
            <a:pPr marL="0" indent="0">
              <a:buNone/>
            </a:pPr>
            <a:r>
              <a:rPr lang="en-US" sz="1200" b="1" dirty="0">
                <a:solidFill>
                  <a:srgbClr val="26282A"/>
                </a:solidFill>
                <a:latin typeface="Calibri" pitchFamily="34" charset="0"/>
                <a:ea typeface="Calibri" pitchFamily="34" charset="-122"/>
                <a:cs typeface="Calibri" pitchFamily="34" charset="-120"/>
              </a:rPr>
              <a:t>“Analyze this client's quarterly sales data and summarize the top three performance trends. Highlight potential business risks and recommend two data-driven actions to improve revenue growth.”</a:t>
            </a:r>
            <a:endParaRPr lang="en-US" sz="1200" dirty="0"/>
          </a:p>
        </p:txBody>
      </p:sp>
      <p:sp>
        <p:nvSpPr>
          <p:cNvPr id="12" name="Text 10"/>
          <p:cNvSpPr/>
          <p:nvPr/>
        </p:nvSpPr>
        <p:spPr>
          <a:xfrm>
            <a:off x="685800" y="3401568"/>
            <a:ext cx="7772400" cy="1051560"/>
          </a:xfrm>
          <a:prstGeom prst="rect">
            <a:avLst/>
          </a:prstGeom>
          <a:noFill/>
          <a:ln/>
        </p:spPr>
        <p:txBody>
          <a:bodyPr wrap="square" lIns="0" tIns="0" rIns="0" bIns="0" rtlCol="0" anchor="ctr"/>
          <a:lstStyle/>
          <a:p>
            <a:pPr marL="0" indent="0">
              <a:spcAft>
                <a:spcPts val="300"/>
              </a:spcAft>
              <a:buNone/>
            </a:pPr>
            <a:r>
              <a:rPr lang="en-US" sz="1100" b="1" dirty="0">
                <a:solidFill>
                  <a:srgbClr val="26282A"/>
                </a:solidFill>
                <a:latin typeface="Calibri" pitchFamily="34" charset="0"/>
                <a:ea typeface="Calibri" pitchFamily="34" charset="-122"/>
                <a:cs typeface="Calibri" pitchFamily="34" charset="-120"/>
              </a:rPr>
              <a:t>→ Output:</a:t>
            </a:r>
            <a:endParaRPr lang="en-US" sz="1100" dirty="0"/>
          </a:p>
          <a:p>
            <a:pPr marL="0" indent="0">
              <a:spcAft>
                <a:spcPts val="200"/>
              </a:spcAft>
              <a:buNone/>
            </a:pPr>
            <a:r>
              <a:rPr lang="en-US" sz="1100" dirty="0">
                <a:solidFill>
                  <a:srgbClr val="26282A"/>
                </a:solidFill>
                <a:latin typeface="Calibri" pitchFamily="34" charset="0"/>
                <a:ea typeface="Calibri" pitchFamily="34" charset="-122"/>
                <a:cs typeface="Calibri" pitchFamily="34" charset="-120"/>
              </a:rPr>
              <a:t>1.  Sales growth concentration: 70% of revenue from two SKUs — over-dependence risk.</a:t>
            </a:r>
            <a:endParaRPr lang="en-US" sz="1100" dirty="0"/>
          </a:p>
          <a:p>
            <a:pPr marL="0" indent="0">
              <a:spcAft>
                <a:spcPts val="200"/>
              </a:spcAft>
              <a:buNone/>
            </a:pPr>
            <a:r>
              <a:rPr lang="en-US" sz="1100" dirty="0">
                <a:solidFill>
                  <a:srgbClr val="26282A"/>
                </a:solidFill>
                <a:latin typeface="Calibri" pitchFamily="34" charset="0"/>
                <a:ea typeface="Calibri" pitchFamily="34" charset="-122"/>
                <a:cs typeface="Calibri" pitchFamily="34" charset="-120"/>
              </a:rPr>
              <a:t>2.  Declining market share: 5% drop in Tier-2 cities — needs regional re-engagement.</a:t>
            </a:r>
            <a:endParaRPr lang="en-US" sz="1100" dirty="0"/>
          </a:p>
          <a:p>
            <a:pPr marL="0" indent="0">
              <a:spcAft>
                <a:spcPts val="300"/>
              </a:spcAft>
              <a:buNone/>
            </a:pPr>
            <a:r>
              <a:rPr lang="en-US" sz="1100" dirty="0">
                <a:solidFill>
                  <a:srgbClr val="26282A"/>
                </a:solidFill>
                <a:latin typeface="Calibri" pitchFamily="34" charset="0"/>
                <a:ea typeface="Calibri" pitchFamily="34" charset="-122"/>
                <a:cs typeface="Calibri" pitchFamily="34" charset="-120"/>
              </a:rPr>
              <a:t>3.  Inventory turnover 20% slower than industry average — optimisation opportunity.</a:t>
            </a:r>
            <a:endParaRPr lang="en-US" sz="1100" dirty="0"/>
          </a:p>
          <a:p>
            <a:pPr marL="0" indent="0">
              <a:buNone/>
            </a:pPr>
            <a:r>
              <a:rPr lang="en-US" sz="1100" b="1" dirty="0">
                <a:solidFill>
                  <a:srgbClr val="26282A"/>
                </a:solidFill>
                <a:latin typeface="Calibri" pitchFamily="34" charset="0"/>
                <a:ea typeface="Calibri" pitchFamily="34" charset="-122"/>
                <a:cs typeface="Calibri" pitchFamily="34" charset="-120"/>
              </a:rPr>
              <a:t>Recommend: </a:t>
            </a:r>
            <a:r>
              <a:rPr lang="en-US" sz="1100" dirty="0">
                <a:solidFill>
                  <a:srgbClr val="26282A"/>
                </a:solidFill>
                <a:latin typeface="Calibri" pitchFamily="34" charset="0"/>
                <a:ea typeface="Calibri" pitchFamily="34" charset="-122"/>
                <a:cs typeface="Calibri" pitchFamily="34" charset="-120"/>
              </a:rPr>
              <a:t>targeted promotions in Tier-2 regions  ·  predictive demand planning for top SKUs.</a:t>
            </a:r>
            <a:endParaRPr lang="en-US" sz="1100" dirty="0"/>
          </a:p>
        </p:txBody>
      </p:sp>
      <p:sp>
        <p:nvSpPr>
          <p:cNvPr id="13" name="Text 11"/>
          <p:cNvSpPr/>
          <p:nvPr/>
        </p:nvSpPr>
        <p:spPr>
          <a:xfrm>
            <a:off x="685800" y="4480560"/>
            <a:ext cx="7772400" cy="256032"/>
          </a:xfrm>
          <a:prstGeom prst="rect">
            <a:avLst/>
          </a:prstGeom>
          <a:noFill/>
          <a:ln/>
        </p:spPr>
        <p:txBody>
          <a:bodyPr wrap="square" lIns="0" tIns="0" rIns="0" bIns="0" rtlCol="0" anchor="ctr"/>
          <a:lstStyle/>
          <a:p>
            <a:pPr marL="0" indent="0">
              <a:buNone/>
            </a:pPr>
            <a:r>
              <a:rPr lang="en-US" sz="1100" i="1" dirty="0">
                <a:solidFill>
                  <a:srgbClr val="5C8A1B"/>
                </a:solidFill>
                <a:latin typeface="Calibri" pitchFamily="34" charset="0"/>
                <a:ea typeface="Calibri" pitchFamily="34" charset="-122"/>
                <a:cs typeface="Calibri" pitchFamily="34" charset="-120"/>
              </a:rPr>
              <a:t>Precise, reasoned, controlled — how GenAI is actually used in consulting.</a:t>
            </a:r>
            <a:endParaRPr lang="en-US" sz="1100" dirty="0"/>
          </a:p>
        </p:txBody>
      </p:sp>
      <p:sp>
        <p:nvSpPr>
          <p:cNvPr id="14" name="Text 12"/>
          <p:cNvSpPr/>
          <p:nvPr/>
        </p:nvSpPr>
        <p:spPr>
          <a:xfrm>
            <a:off x="457200" y="4873752"/>
            <a:ext cx="5486400" cy="228600"/>
          </a:xfrm>
          <a:prstGeom prst="rect">
            <a:avLst/>
          </a:prstGeom>
          <a:noFill/>
          <a:ln/>
        </p:spPr>
        <p:txBody>
          <a:bodyPr wrap="square" lIns="0" tIns="0" rIns="0" bIns="0" rtlCol="0" anchor="ctr"/>
          <a:lstStyle/>
          <a:p>
            <a:pPr marL="0" indent="0">
              <a:buNone/>
            </a:pPr>
            <a:r>
              <a:rPr lang="en-US" sz="800" dirty="0">
                <a:solidFill>
                  <a:srgbClr val="7A7D81"/>
                </a:solidFill>
                <a:latin typeface="Calibri" pitchFamily="34" charset="0"/>
                <a:ea typeface="Calibri" pitchFamily="34" charset="-122"/>
                <a:cs typeface="Calibri" pitchFamily="34" charset="-120"/>
              </a:rPr>
              <a:t>Basics of AI/ML &amp; Prompt Engineering</a:t>
            </a:r>
            <a:endParaRPr lang="en-US" sz="800" dirty="0"/>
          </a:p>
        </p:txBody>
      </p:sp>
      <p:sp>
        <p:nvSpPr>
          <p:cNvPr id="15" name="Text 13"/>
          <p:cNvSpPr/>
          <p:nvPr/>
        </p:nvSpPr>
        <p:spPr>
          <a:xfrm>
            <a:off x="8321040" y="4873752"/>
            <a:ext cx="365760" cy="228600"/>
          </a:xfrm>
          <a:prstGeom prst="rect">
            <a:avLst/>
          </a:prstGeom>
          <a:noFill/>
          <a:ln/>
        </p:spPr>
        <p:txBody>
          <a:bodyPr wrap="square" lIns="0" tIns="0" rIns="0" bIns="0" rtlCol="0" anchor="ctr"/>
          <a:lstStyle/>
          <a:p>
            <a:pPr marL="0" indent="0" algn="r">
              <a:buNone/>
            </a:pPr>
            <a:r>
              <a:rPr lang="en-US" sz="800" dirty="0">
                <a:solidFill>
                  <a:srgbClr val="7A7D81"/>
                </a:solidFill>
                <a:latin typeface="Calibri" pitchFamily="34" charset="0"/>
                <a:ea typeface="Calibri" pitchFamily="34" charset="-122"/>
                <a:cs typeface="Calibri" pitchFamily="34" charset="-120"/>
              </a:rPr>
              <a:t>5</a:t>
            </a:r>
            <a:endParaRPr lang="en-US" sz="800" dirty="0"/>
          </a:p>
        </p:txBody>
      </p:sp>
    </p:spTree>
    <p:extLst>
      <p:ext uri="{BB962C8B-B14F-4D97-AF65-F5344CB8AC3E}">
        <p14:creationId xmlns:p14="http://schemas.microsoft.com/office/powerpoint/2010/main" val="12607257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606</TotalTime>
  <Words>6363</Words>
  <Application>Microsoft Office PowerPoint</Application>
  <PresentationFormat>On-screen Show (16:9)</PresentationFormat>
  <Paragraphs>671</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AI/ML &amp; Prompt Engineering</dc:title>
  <dc:subject>PptxGenJS Presentation</dc:subject>
  <dc:creator>L&amp;D</dc:creator>
  <cp:lastModifiedBy>Windows User</cp:lastModifiedBy>
  <cp:revision>29</cp:revision>
  <dcterms:created xsi:type="dcterms:W3CDTF">2026-07-01T11:19:50Z</dcterms:created>
  <dcterms:modified xsi:type="dcterms:W3CDTF">2026-07-01T22:08:53Z</dcterms:modified>
</cp:coreProperties>
</file>