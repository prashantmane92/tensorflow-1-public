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15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29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2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14.png"/><Relationship Id="rId39" Type="http://schemas.openxmlformats.org/officeDocument/2006/relationships/image" Target="../media/image-1-11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15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slideLayout" Target="../slideLayouts/slideLayout1.xml"/><Relationship Id="rId4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PLATFORM ARCHITECTURE — AWS STACK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 cloud — ingestion, lakehouse, ML &amp; GenAI, operations, and consumption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281160" y="146304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B8650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1463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to be finalized during detailed design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5B6B79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7863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LEGACY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060704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</p:spPr>
      </p:sp>
      <p:pic>
        <p:nvPicPr>
          <p:cNvPr id="10" name="Image 0" descr="/home/claude/aws_arch/icons/legacy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7957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216" y="1060704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On-Prem Databases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256032" y="155448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</p:spPr>
      </p:sp>
      <p:pic>
        <p:nvPicPr>
          <p:cNvPr id="13" name="Image 1" descr="/home/claude/aws_arch/icons/main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7335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" y="155448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Systems</a:t>
            </a:r>
            <a:endParaRPr lang="en-US" sz="730" dirty="0"/>
          </a:p>
        </p:txBody>
      </p:sp>
      <p:sp>
        <p:nvSpPr>
          <p:cNvPr id="15" name="Shape 11"/>
          <p:cNvSpPr/>
          <p:nvPr/>
        </p:nvSpPr>
        <p:spPr>
          <a:xfrm>
            <a:off x="256032" y="2048256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</p:spPr>
      </p:sp>
      <p:pic>
        <p:nvPicPr>
          <p:cNvPr id="16" name="Image 2" descr="/home/claude/aws_arch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6712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" y="2048256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Servers / Shares</a:t>
            </a:r>
            <a:endParaRPr lang="en-US" sz="730" dirty="0"/>
          </a:p>
        </p:txBody>
      </p:sp>
      <p:sp>
        <p:nvSpPr>
          <p:cNvPr id="18" name="Shape 13"/>
          <p:cNvSpPr/>
          <p:nvPr/>
        </p:nvSpPr>
        <p:spPr>
          <a:xfrm rot="5400000">
            <a:off x="891540" y="2478024"/>
            <a:ext cx="182880" cy="128016"/>
          </a:xfrm>
          <a:prstGeom prst="rightArrow">
            <a:avLst/>
          </a:prstGeom>
          <a:solidFill>
            <a:srgbClr val="2D6CA0"/>
          </a:solidFill>
          <a:ln/>
        </p:spPr>
      </p:sp>
      <p:sp>
        <p:nvSpPr>
          <p:cNvPr id="19" name="Shape 14"/>
          <p:cNvSpPr/>
          <p:nvPr/>
        </p:nvSpPr>
        <p:spPr>
          <a:xfrm>
            <a:off x="256032" y="265176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2D6CA0"/>
          </a:solidFill>
          <a:ln/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/home/claude/aws_arch/icons/mig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73405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" y="2688336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Ingestion</a:t>
            </a:r>
            <a:endParaRPr lang="en-US" sz="760" dirty="0"/>
          </a:p>
        </p:txBody>
      </p:sp>
      <p:sp>
        <p:nvSpPr>
          <p:cNvPr id="22" name="Text 16"/>
          <p:cNvSpPr/>
          <p:nvPr/>
        </p:nvSpPr>
        <p:spPr>
          <a:xfrm>
            <a:off x="347472" y="29626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• DataSync • Direct Connect / VPN</a:t>
            </a:r>
            <a:endParaRPr lang="en-US" sz="640" dirty="0"/>
          </a:p>
        </p:txBody>
      </p:sp>
      <p:pic>
        <p:nvPicPr>
          <p:cNvPr id="23" name="Image 4" descr="/home/claude/aws_arch/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328416"/>
            <a:ext cx="237744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56032" y="35204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Boundary</a:t>
            </a:r>
            <a:endParaRPr lang="en-US" sz="630" dirty="0"/>
          </a:p>
        </p:txBody>
      </p:sp>
      <p:sp>
        <p:nvSpPr>
          <p:cNvPr id="25" name="Shape 18"/>
          <p:cNvSpPr/>
          <p:nvPr/>
        </p:nvSpPr>
        <p:spPr>
          <a:xfrm>
            <a:off x="1728216" y="786384"/>
            <a:ext cx="0" cy="4919472"/>
          </a:xfrm>
          <a:prstGeom prst="line">
            <a:avLst/>
          </a:prstGeom>
          <a:noFill/>
          <a:ln w="15875">
            <a:solidFill>
              <a:srgbClr val="9AAAB6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1709928" y="1357884"/>
            <a:ext cx="109728" cy="137160"/>
          </a:xfrm>
          <a:prstGeom prst="rightArrow">
            <a:avLst/>
          </a:prstGeom>
          <a:solidFill>
            <a:srgbClr val="2D6CA0"/>
          </a:solidFill>
          <a:ln/>
        </p:spPr>
      </p:sp>
      <p:sp>
        <p:nvSpPr>
          <p:cNvPr id="27" name="Shape 20"/>
          <p:cNvSpPr/>
          <p:nvPr/>
        </p:nvSpPr>
        <p:spPr>
          <a:xfrm>
            <a:off x="1783080" y="786384"/>
            <a:ext cx="862553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1C7A6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783080" y="786384"/>
            <a:ext cx="8625535" cy="237744"/>
          </a:xfrm>
          <a:prstGeom prst="roundRect">
            <a:avLst>
              <a:gd name="adj" fmla="val 23077"/>
            </a:avLst>
          </a:prstGeom>
          <a:solidFill>
            <a:srgbClr val="1C7A6E"/>
          </a:solidFill>
          <a:ln/>
        </p:spPr>
      </p:sp>
      <p:sp>
        <p:nvSpPr>
          <p:cNvPr id="29" name="Shape 22"/>
          <p:cNvSpPr/>
          <p:nvPr/>
        </p:nvSpPr>
        <p:spPr>
          <a:xfrm>
            <a:off x="1783080" y="932688"/>
            <a:ext cx="8625535" cy="91440"/>
          </a:xfrm>
          <a:prstGeom prst="rect">
            <a:avLst/>
          </a:prstGeom>
          <a:solidFill>
            <a:srgbClr val="1C7A6E"/>
          </a:solidFill>
          <a:ln/>
        </p:spPr>
      </p:sp>
      <p:sp>
        <p:nvSpPr>
          <p:cNvPr id="30" name="Text 23"/>
          <p:cNvSpPr/>
          <p:nvPr/>
        </p:nvSpPr>
        <p:spPr>
          <a:xfrm>
            <a:off x="1874520" y="786384"/>
            <a:ext cx="8442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LAKEHOUSE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1874520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929384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33" name="Image 5" descr="/home/claude/aws_arch/icons/fact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0532" y="1175004"/>
            <a:ext cx="118872" cy="1188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176272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Orchestrate</a:t>
            </a:r>
            <a:endParaRPr lang="en-US" sz="820" dirty="0"/>
          </a:p>
        </p:txBody>
      </p:sp>
      <p:sp>
        <p:nvSpPr>
          <p:cNvPr id="35" name="Text 27"/>
          <p:cNvSpPr/>
          <p:nvPr/>
        </p:nvSpPr>
        <p:spPr>
          <a:xfrm>
            <a:off x="1956816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(ETL/crawlers)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 • MWAA • Step Fn</a:t>
            </a:r>
            <a:endParaRPr lang="en-US" sz="630" dirty="0"/>
          </a:p>
        </p:txBody>
      </p:sp>
      <p:sp>
        <p:nvSpPr>
          <p:cNvPr id="36" name="Shape 28"/>
          <p:cNvSpPr/>
          <p:nvPr/>
        </p:nvSpPr>
        <p:spPr>
          <a:xfrm>
            <a:off x="4008044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062908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38" name="Image 6" descr="/home/claude/aws_arch/icons/sp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4056" y="1175004"/>
            <a:ext cx="118872" cy="1188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309796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(Batch/RT)</a:t>
            </a:r>
            <a:endParaRPr lang="en-US" sz="820" dirty="0"/>
          </a:p>
        </p:txBody>
      </p:sp>
      <p:sp>
        <p:nvSpPr>
          <p:cNvPr id="40" name="Text 31"/>
          <p:cNvSpPr/>
          <p:nvPr/>
        </p:nvSpPr>
        <p:spPr>
          <a:xfrm>
            <a:off x="4090340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/ EMR (Spark)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• Firehose</a:t>
            </a:r>
            <a:endParaRPr lang="en-US" sz="630" dirty="0"/>
          </a:p>
        </p:txBody>
      </p:sp>
      <p:sp>
        <p:nvSpPr>
          <p:cNvPr id="41" name="Shape 32"/>
          <p:cNvSpPr/>
          <p:nvPr/>
        </p:nvSpPr>
        <p:spPr>
          <a:xfrm>
            <a:off x="6141568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196432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43" name="Image 7" descr="/home/claude/aws_arch/icons/medall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580" y="1175004"/>
            <a:ext cx="118872" cy="1188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43320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Lakehouse</a:t>
            </a:r>
            <a:endParaRPr lang="en-US" sz="820" dirty="0"/>
          </a:p>
        </p:txBody>
      </p:sp>
      <p:sp>
        <p:nvSpPr>
          <p:cNvPr id="45" name="Text 35"/>
          <p:cNvSpPr/>
          <p:nvPr/>
        </p:nvSpPr>
        <p:spPr>
          <a:xfrm>
            <a:off x="6223864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Lake Formation</a:t>
            </a:r>
            <a:endParaRPr lang="en-US" sz="630" dirty="0"/>
          </a:p>
        </p:txBody>
      </p:sp>
      <p:sp>
        <p:nvSpPr>
          <p:cNvPr id="46" name="Shape 36"/>
          <p:cNvSpPr/>
          <p:nvPr/>
        </p:nvSpPr>
        <p:spPr>
          <a:xfrm>
            <a:off x="8275091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29955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48" name="Image 8" descr="/home/claude/aws_arch/icons/lak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1103" y="1175004"/>
            <a:ext cx="118872" cy="11887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576843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Governance</a:t>
            </a:r>
            <a:endParaRPr lang="en-US" sz="820" dirty="0"/>
          </a:p>
        </p:txBody>
      </p:sp>
      <p:sp>
        <p:nvSpPr>
          <p:cNvPr id="50" name="Text 39"/>
          <p:cNvSpPr/>
          <p:nvPr/>
        </p:nvSpPr>
        <p:spPr>
          <a:xfrm>
            <a:off x="8357387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DataZone • Lineage</a:t>
            </a:r>
            <a:endParaRPr lang="en-US" sz="630" dirty="0"/>
          </a:p>
        </p:txBody>
      </p:sp>
      <p:sp>
        <p:nvSpPr>
          <p:cNvPr id="51" name="Shape 40"/>
          <p:cNvSpPr/>
          <p:nvPr/>
        </p:nvSpPr>
        <p:spPr>
          <a:xfrm rot="5400000">
            <a:off x="6022696" y="2048256"/>
            <a:ext cx="182880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52" name="Shape 41"/>
          <p:cNvSpPr/>
          <p:nvPr/>
        </p:nvSpPr>
        <p:spPr>
          <a:xfrm>
            <a:off x="10422331" y="3182112"/>
            <a:ext cx="82296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53" name="Shape 42"/>
          <p:cNvSpPr/>
          <p:nvPr/>
        </p:nvSpPr>
        <p:spPr>
          <a:xfrm>
            <a:off x="1783080" y="2157984"/>
            <a:ext cx="42487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5875">
            <a:solidFill>
              <a:srgbClr val="C97A1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1783080" y="2157984"/>
            <a:ext cx="4248760" cy="237744"/>
          </a:xfrm>
          <a:prstGeom prst="roundRect">
            <a:avLst>
              <a:gd name="adj" fmla="val 23077"/>
            </a:avLst>
          </a:prstGeom>
          <a:solidFill>
            <a:srgbClr val="C97A1A"/>
          </a:solidFill>
          <a:ln/>
        </p:spPr>
      </p:sp>
      <p:sp>
        <p:nvSpPr>
          <p:cNvPr id="55" name="Shape 44"/>
          <p:cNvSpPr/>
          <p:nvPr/>
        </p:nvSpPr>
        <p:spPr>
          <a:xfrm>
            <a:off x="1783080" y="2304288"/>
            <a:ext cx="4248760" cy="91440"/>
          </a:xfrm>
          <a:prstGeom prst="rect">
            <a:avLst/>
          </a:prstGeom>
          <a:solidFill>
            <a:srgbClr val="C97A1A"/>
          </a:solidFill>
          <a:ln/>
        </p:spPr>
      </p:sp>
      <p:sp>
        <p:nvSpPr>
          <p:cNvPr id="56" name="Text 45"/>
          <p:cNvSpPr/>
          <p:nvPr/>
        </p:nvSpPr>
        <p:spPr>
          <a:xfrm>
            <a:off x="1874520" y="2157984"/>
            <a:ext cx="406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57" name="Shape 46"/>
          <p:cNvSpPr/>
          <p:nvPr/>
        </p:nvSpPr>
        <p:spPr>
          <a:xfrm>
            <a:off x="1874520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1929384" y="2505456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59" name="Image 9" descr="/home/claude/aws_arch/icons/featur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0532" y="2546604"/>
            <a:ext cx="118872" cy="118872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2176272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20" dirty="0"/>
          </a:p>
        </p:txBody>
      </p:sp>
      <p:sp>
        <p:nvSpPr>
          <p:cNvPr id="61" name="Text 49"/>
          <p:cNvSpPr/>
          <p:nvPr/>
        </p:nvSpPr>
        <p:spPr>
          <a:xfrm>
            <a:off x="1956816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Feature Store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Wrangler</a:t>
            </a:r>
            <a:endParaRPr lang="en-US" sz="630" dirty="0"/>
          </a:p>
        </p:txBody>
      </p:sp>
      <p:sp>
        <p:nvSpPr>
          <p:cNvPr id="62" name="Shape 50"/>
          <p:cNvSpPr/>
          <p:nvPr/>
        </p:nvSpPr>
        <p:spPr>
          <a:xfrm>
            <a:off x="1874520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3" name="Shape 51"/>
          <p:cNvSpPr/>
          <p:nvPr/>
        </p:nvSpPr>
        <p:spPr>
          <a:xfrm>
            <a:off x="1929384" y="3493008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64" name="Image 10" descr="/home/claude/aws_arch/icons/linea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0532" y="3534156"/>
            <a:ext cx="118872" cy="118872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2176272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820" dirty="0"/>
          </a:p>
        </p:txBody>
      </p:sp>
      <p:sp>
        <p:nvSpPr>
          <p:cNvPr id="66" name="Text 53"/>
          <p:cNvSpPr/>
          <p:nvPr/>
        </p:nvSpPr>
        <p:spPr>
          <a:xfrm>
            <a:off x="1956816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Experiments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630" dirty="0"/>
          </a:p>
        </p:txBody>
      </p:sp>
      <p:sp>
        <p:nvSpPr>
          <p:cNvPr id="67" name="Shape 54"/>
          <p:cNvSpPr/>
          <p:nvPr/>
        </p:nvSpPr>
        <p:spPr>
          <a:xfrm>
            <a:off x="3257245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3312109" y="2505456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69" name="Image 11" descr="/home/claude/aws_arch/icons/trai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3257" y="2546604"/>
            <a:ext cx="118872" cy="118872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3558997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820" dirty="0"/>
          </a:p>
        </p:txBody>
      </p:sp>
      <p:sp>
        <p:nvSpPr>
          <p:cNvPr id="71" name="Text 57"/>
          <p:cNvSpPr/>
          <p:nvPr/>
        </p:nvSpPr>
        <p:spPr>
          <a:xfrm>
            <a:off x="3339541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630" dirty="0"/>
          </a:p>
        </p:txBody>
      </p:sp>
      <p:sp>
        <p:nvSpPr>
          <p:cNvPr id="72" name="Shape 58"/>
          <p:cNvSpPr/>
          <p:nvPr/>
        </p:nvSpPr>
        <p:spPr>
          <a:xfrm>
            <a:off x="3257245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3" name="Shape 59"/>
          <p:cNvSpPr/>
          <p:nvPr/>
        </p:nvSpPr>
        <p:spPr>
          <a:xfrm>
            <a:off x="3312109" y="3493008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74" name="Image 12" descr="/home/claude/aws_arch/icons/deplo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3257" y="3534156"/>
            <a:ext cx="118872" cy="118872"/>
          </a:xfrm>
          <a:prstGeom prst="rect">
            <a:avLst/>
          </a:prstGeom>
        </p:spPr>
      </p:pic>
      <p:sp>
        <p:nvSpPr>
          <p:cNvPr id="75" name="Text 60"/>
          <p:cNvSpPr/>
          <p:nvPr/>
        </p:nvSpPr>
        <p:spPr>
          <a:xfrm>
            <a:off x="3558997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20" dirty="0"/>
          </a:p>
        </p:txBody>
      </p:sp>
      <p:sp>
        <p:nvSpPr>
          <p:cNvPr id="76" name="Text 61"/>
          <p:cNvSpPr/>
          <p:nvPr/>
        </p:nvSpPr>
        <p:spPr>
          <a:xfrm>
            <a:off x="3339541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batch endpoints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Pipelines</a:t>
            </a:r>
            <a:endParaRPr lang="en-US" sz="630" dirty="0"/>
          </a:p>
        </p:txBody>
      </p:sp>
      <p:sp>
        <p:nvSpPr>
          <p:cNvPr id="77" name="Shape 62"/>
          <p:cNvSpPr/>
          <p:nvPr/>
        </p:nvSpPr>
        <p:spPr>
          <a:xfrm>
            <a:off x="4639970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8" name="Shape 63"/>
          <p:cNvSpPr/>
          <p:nvPr/>
        </p:nvSpPr>
        <p:spPr>
          <a:xfrm>
            <a:off x="4694834" y="2505456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79" name="Image 13" descr="/home/claude/aws_arch/icons/monito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5982" y="2546604"/>
            <a:ext cx="118872" cy="118872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4941722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20" dirty="0"/>
          </a:p>
        </p:txBody>
      </p:sp>
      <p:sp>
        <p:nvSpPr>
          <p:cNvPr id="81" name="Text 65"/>
          <p:cNvSpPr/>
          <p:nvPr/>
        </p:nvSpPr>
        <p:spPr>
          <a:xfrm>
            <a:off x="4722266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Model Monitor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quality checks</a:t>
            </a:r>
            <a:endParaRPr lang="en-US" sz="630" dirty="0"/>
          </a:p>
        </p:txBody>
      </p:sp>
      <p:sp>
        <p:nvSpPr>
          <p:cNvPr id="82" name="Shape 66"/>
          <p:cNvSpPr/>
          <p:nvPr/>
        </p:nvSpPr>
        <p:spPr>
          <a:xfrm>
            <a:off x="4639970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3" name="Shape 67"/>
          <p:cNvSpPr/>
          <p:nvPr/>
        </p:nvSpPr>
        <p:spPr>
          <a:xfrm>
            <a:off x="4694834" y="3493008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84" name="Image 14" descr="/home/claude/aws_arch/icons/safet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5982" y="3534156"/>
            <a:ext cx="118872" cy="118872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4941722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20" dirty="0"/>
          </a:p>
        </p:txBody>
      </p:sp>
      <p:sp>
        <p:nvSpPr>
          <p:cNvPr id="86" name="Text 69"/>
          <p:cNvSpPr/>
          <p:nvPr/>
        </p:nvSpPr>
        <p:spPr>
          <a:xfrm>
            <a:off x="4722266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Clarify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630" dirty="0"/>
          </a:p>
        </p:txBody>
      </p:sp>
      <p:sp>
        <p:nvSpPr>
          <p:cNvPr id="87" name="Shape 70"/>
          <p:cNvSpPr/>
          <p:nvPr/>
        </p:nvSpPr>
        <p:spPr>
          <a:xfrm>
            <a:off x="6159856" y="2157984"/>
            <a:ext cx="42487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5875">
            <a:solidFill>
              <a:srgbClr val="6A3DB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8" name="Shape 71"/>
          <p:cNvSpPr/>
          <p:nvPr/>
        </p:nvSpPr>
        <p:spPr>
          <a:xfrm>
            <a:off x="6159856" y="2157984"/>
            <a:ext cx="4248760" cy="237744"/>
          </a:xfrm>
          <a:prstGeom prst="roundRect">
            <a:avLst>
              <a:gd name="adj" fmla="val 23077"/>
            </a:avLst>
          </a:prstGeom>
          <a:solidFill>
            <a:srgbClr val="6A3DB8"/>
          </a:solidFill>
          <a:ln/>
        </p:spPr>
      </p:sp>
      <p:sp>
        <p:nvSpPr>
          <p:cNvPr id="89" name="Shape 72"/>
          <p:cNvSpPr/>
          <p:nvPr/>
        </p:nvSpPr>
        <p:spPr>
          <a:xfrm>
            <a:off x="6159856" y="2304288"/>
            <a:ext cx="4248760" cy="91440"/>
          </a:xfrm>
          <a:prstGeom prst="rect">
            <a:avLst/>
          </a:prstGeom>
          <a:solidFill>
            <a:srgbClr val="6A3DB8"/>
          </a:solidFill>
          <a:ln/>
        </p:spPr>
      </p:sp>
      <p:sp>
        <p:nvSpPr>
          <p:cNvPr id="90" name="Text 73"/>
          <p:cNvSpPr/>
          <p:nvPr/>
        </p:nvSpPr>
        <p:spPr>
          <a:xfrm>
            <a:off x="6251296" y="2157984"/>
            <a:ext cx="406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50" dirty="0"/>
          </a:p>
        </p:txBody>
      </p:sp>
      <p:sp>
        <p:nvSpPr>
          <p:cNvPr id="91" name="Shape 74"/>
          <p:cNvSpPr/>
          <p:nvPr/>
        </p:nvSpPr>
        <p:spPr>
          <a:xfrm>
            <a:off x="6251296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92" name="Shape 75"/>
          <p:cNvSpPr/>
          <p:nvPr/>
        </p:nvSpPr>
        <p:spPr>
          <a:xfrm>
            <a:off x="6306160" y="2505456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93" name="Image 15" descr="/home/claude/aws_arch/icons/bedro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7308" y="2546604"/>
            <a:ext cx="118872" cy="118872"/>
          </a:xfrm>
          <a:prstGeom prst="rect">
            <a:avLst/>
          </a:prstGeom>
        </p:spPr>
      </p:pic>
      <p:sp>
        <p:nvSpPr>
          <p:cNvPr id="94" name="Text 76"/>
          <p:cNvSpPr/>
          <p:nvPr/>
        </p:nvSpPr>
        <p:spPr>
          <a:xfrm>
            <a:off x="6553048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820" dirty="0"/>
          </a:p>
        </p:txBody>
      </p:sp>
      <p:sp>
        <p:nvSpPr>
          <p:cNvPr id="95" name="Text 77"/>
          <p:cNvSpPr/>
          <p:nvPr/>
        </p:nvSpPr>
        <p:spPr>
          <a:xfrm>
            <a:off x="6333592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Titan, etc.</a:t>
            </a:r>
            <a:endParaRPr lang="en-US" sz="630" dirty="0"/>
          </a:p>
        </p:txBody>
      </p:sp>
      <p:sp>
        <p:nvSpPr>
          <p:cNvPr id="96" name="Shape 78"/>
          <p:cNvSpPr/>
          <p:nvPr/>
        </p:nvSpPr>
        <p:spPr>
          <a:xfrm>
            <a:off x="6251296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97" name="Shape 79"/>
          <p:cNvSpPr/>
          <p:nvPr/>
        </p:nvSpPr>
        <p:spPr>
          <a:xfrm>
            <a:off x="6306160" y="3493008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98" name="Image 16" descr="/home/claude/aws_arch/icons/vecto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7308" y="3534156"/>
            <a:ext cx="118872" cy="118872"/>
          </a:xfrm>
          <a:prstGeom prst="rect">
            <a:avLst/>
          </a:prstGeom>
        </p:spPr>
      </p:pic>
      <p:sp>
        <p:nvSpPr>
          <p:cNvPr id="99" name="Text 80"/>
          <p:cNvSpPr/>
          <p:nvPr/>
        </p:nvSpPr>
        <p:spPr>
          <a:xfrm>
            <a:off x="6553048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820" dirty="0"/>
          </a:p>
        </p:txBody>
      </p:sp>
      <p:sp>
        <p:nvSpPr>
          <p:cNvPr id="100" name="Text 81"/>
          <p:cNvSpPr/>
          <p:nvPr/>
        </p:nvSpPr>
        <p:spPr>
          <a:xfrm>
            <a:off x="6333592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</a:t>
            </a:r>
            <a:endParaRPr lang="en-US" sz="630" dirty="0"/>
          </a:p>
        </p:txBody>
      </p:sp>
      <p:sp>
        <p:nvSpPr>
          <p:cNvPr id="101" name="Shape 82"/>
          <p:cNvSpPr/>
          <p:nvPr/>
        </p:nvSpPr>
        <p:spPr>
          <a:xfrm>
            <a:off x="7634021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02" name="Shape 83"/>
          <p:cNvSpPr/>
          <p:nvPr/>
        </p:nvSpPr>
        <p:spPr>
          <a:xfrm>
            <a:off x="7688885" y="2505456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03" name="Image 17" descr="/home/claude/aws_arch/icons/ra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0033" y="2546604"/>
            <a:ext cx="118872" cy="118872"/>
          </a:xfrm>
          <a:prstGeom prst="rect">
            <a:avLst/>
          </a:prstGeom>
        </p:spPr>
      </p:pic>
      <p:sp>
        <p:nvSpPr>
          <p:cNvPr id="104" name="Text 84"/>
          <p:cNvSpPr/>
          <p:nvPr/>
        </p:nvSpPr>
        <p:spPr>
          <a:xfrm>
            <a:off x="7935773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20" dirty="0"/>
          </a:p>
        </p:txBody>
      </p:sp>
      <p:sp>
        <p:nvSpPr>
          <p:cNvPr id="105" name="Text 85"/>
          <p:cNvSpPr/>
          <p:nvPr/>
        </p:nvSpPr>
        <p:spPr>
          <a:xfrm>
            <a:off x="7716317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Retrieve-Augment-Generate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embeddings</a:t>
            </a:r>
            <a:endParaRPr lang="en-US" sz="630" dirty="0"/>
          </a:p>
        </p:txBody>
      </p:sp>
      <p:sp>
        <p:nvSpPr>
          <p:cNvPr id="106" name="Shape 86"/>
          <p:cNvSpPr/>
          <p:nvPr/>
        </p:nvSpPr>
        <p:spPr>
          <a:xfrm>
            <a:off x="7634021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07" name="Shape 87"/>
          <p:cNvSpPr/>
          <p:nvPr/>
        </p:nvSpPr>
        <p:spPr>
          <a:xfrm>
            <a:off x="7688885" y="3493008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08" name="Image 18" descr="/home/claude/aws_arch/icons/agen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30033" y="3534156"/>
            <a:ext cx="118872" cy="118872"/>
          </a:xfrm>
          <a:prstGeom prst="rect">
            <a:avLst/>
          </a:prstGeom>
        </p:spPr>
      </p:pic>
      <p:sp>
        <p:nvSpPr>
          <p:cNvPr id="109" name="Text 88"/>
          <p:cNvSpPr/>
          <p:nvPr/>
        </p:nvSpPr>
        <p:spPr>
          <a:xfrm>
            <a:off x="7935773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20" dirty="0"/>
          </a:p>
        </p:txBody>
      </p:sp>
      <p:sp>
        <p:nvSpPr>
          <p:cNvPr id="110" name="Text 89"/>
          <p:cNvSpPr/>
          <p:nvPr/>
        </p:nvSpPr>
        <p:spPr>
          <a:xfrm>
            <a:off x="7716317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 Bedrock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</a:t>
            </a:r>
            <a:endParaRPr lang="en-US" sz="630" dirty="0"/>
          </a:p>
        </p:txBody>
      </p:sp>
      <p:sp>
        <p:nvSpPr>
          <p:cNvPr id="111" name="Shape 90"/>
          <p:cNvSpPr/>
          <p:nvPr/>
        </p:nvSpPr>
        <p:spPr>
          <a:xfrm>
            <a:off x="9016746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12" name="Shape 91"/>
          <p:cNvSpPr/>
          <p:nvPr/>
        </p:nvSpPr>
        <p:spPr>
          <a:xfrm>
            <a:off x="9071610" y="2505456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13" name="Image 19" descr="/home/claude/aws_arch/icons/llm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12758" y="2546604"/>
            <a:ext cx="118872" cy="118872"/>
          </a:xfrm>
          <a:prstGeom prst="rect">
            <a:avLst/>
          </a:prstGeom>
        </p:spPr>
      </p:pic>
      <p:sp>
        <p:nvSpPr>
          <p:cNvPr id="114" name="Text 92"/>
          <p:cNvSpPr/>
          <p:nvPr/>
        </p:nvSpPr>
        <p:spPr>
          <a:xfrm>
            <a:off x="9318498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820" dirty="0"/>
          </a:p>
        </p:txBody>
      </p:sp>
      <p:sp>
        <p:nvSpPr>
          <p:cNvPr id="115" name="Text 93"/>
          <p:cNvSpPr/>
          <p:nvPr/>
        </p:nvSpPr>
        <p:spPr>
          <a:xfrm>
            <a:off x="9099042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orchestration</a:t>
            </a:r>
            <a:endParaRPr lang="en-US" sz="630" dirty="0"/>
          </a:p>
        </p:txBody>
      </p:sp>
      <p:sp>
        <p:nvSpPr>
          <p:cNvPr id="116" name="Shape 94"/>
          <p:cNvSpPr/>
          <p:nvPr/>
        </p:nvSpPr>
        <p:spPr>
          <a:xfrm>
            <a:off x="9016746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17" name="Shape 95"/>
          <p:cNvSpPr/>
          <p:nvPr/>
        </p:nvSpPr>
        <p:spPr>
          <a:xfrm>
            <a:off x="9071610" y="3493008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18" name="Image 20" descr="/home/claude/aws_arch/icons/safe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12758" y="3534156"/>
            <a:ext cx="118872" cy="118872"/>
          </a:xfrm>
          <a:prstGeom prst="rect">
            <a:avLst/>
          </a:prstGeom>
        </p:spPr>
      </p:pic>
      <p:sp>
        <p:nvSpPr>
          <p:cNvPr id="119" name="Text 96"/>
          <p:cNvSpPr/>
          <p:nvPr/>
        </p:nvSpPr>
        <p:spPr>
          <a:xfrm>
            <a:off x="9318498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820" dirty="0"/>
          </a:p>
        </p:txBody>
      </p:sp>
      <p:sp>
        <p:nvSpPr>
          <p:cNvPr id="120" name="Text 97"/>
          <p:cNvSpPr/>
          <p:nvPr/>
        </p:nvSpPr>
        <p:spPr>
          <a:xfrm>
            <a:off x="9099042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</a:t>
            </a:r>
            <a:endParaRPr lang="en-US" sz="630" dirty="0"/>
          </a:p>
        </p:txBody>
      </p:sp>
      <p:sp>
        <p:nvSpPr>
          <p:cNvPr id="121" name="Shape 98"/>
          <p:cNvSpPr/>
          <p:nvPr/>
        </p:nvSpPr>
        <p:spPr>
          <a:xfrm rot="5400000">
            <a:off x="6022696" y="4315968"/>
            <a:ext cx="182880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22" name="Shape 99"/>
          <p:cNvSpPr/>
          <p:nvPr/>
        </p:nvSpPr>
        <p:spPr>
          <a:xfrm>
            <a:off x="1783080" y="4425696"/>
            <a:ext cx="862553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23" name="Shape 100"/>
          <p:cNvSpPr/>
          <p:nvPr/>
        </p:nvSpPr>
        <p:spPr>
          <a:xfrm>
            <a:off x="1783080" y="4425696"/>
            <a:ext cx="8625535" cy="237744"/>
          </a:xfrm>
          <a:prstGeom prst="roundRect">
            <a:avLst>
              <a:gd name="adj" fmla="val 23077"/>
            </a:avLst>
          </a:prstGeom>
          <a:solidFill>
            <a:srgbClr val="1F4E79"/>
          </a:solidFill>
          <a:ln/>
        </p:spPr>
      </p:sp>
      <p:sp>
        <p:nvSpPr>
          <p:cNvPr id="124" name="Shape 101"/>
          <p:cNvSpPr/>
          <p:nvPr/>
        </p:nvSpPr>
        <p:spPr>
          <a:xfrm>
            <a:off x="1783080" y="4572000"/>
            <a:ext cx="8625535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5" name="Text 102"/>
          <p:cNvSpPr/>
          <p:nvPr/>
        </p:nvSpPr>
        <p:spPr>
          <a:xfrm>
            <a:off x="1874520" y="4425696"/>
            <a:ext cx="8442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ML &amp; AI (MLOps / LLMOps)</a:t>
            </a:r>
            <a:endParaRPr lang="en-US" sz="950" dirty="0"/>
          </a:p>
        </p:txBody>
      </p:sp>
      <p:sp>
        <p:nvSpPr>
          <p:cNvPr id="126" name="Shape 103"/>
          <p:cNvSpPr/>
          <p:nvPr/>
        </p:nvSpPr>
        <p:spPr>
          <a:xfrm>
            <a:off x="1874520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27" name="Shape 104"/>
          <p:cNvSpPr/>
          <p:nvPr/>
        </p:nvSpPr>
        <p:spPr>
          <a:xfrm>
            <a:off x="1929384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28" name="Image 21" descr="/home/claude/aws_arch/icons/containe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70532" y="4814316"/>
            <a:ext cx="118872" cy="118872"/>
          </a:xfrm>
          <a:prstGeom prst="rect">
            <a:avLst/>
          </a:prstGeom>
        </p:spPr>
      </p:pic>
      <p:sp>
        <p:nvSpPr>
          <p:cNvPr id="129" name="Text 105"/>
          <p:cNvSpPr/>
          <p:nvPr/>
        </p:nvSpPr>
        <p:spPr>
          <a:xfrm>
            <a:off x="2176272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Registry</a:t>
            </a:r>
            <a:endParaRPr lang="en-US" sz="820" dirty="0"/>
          </a:p>
        </p:txBody>
      </p:sp>
      <p:sp>
        <p:nvSpPr>
          <p:cNvPr id="130" name="Text 106"/>
          <p:cNvSpPr/>
          <p:nvPr/>
        </p:nvSpPr>
        <p:spPr>
          <a:xfrm>
            <a:off x="1956816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/ ECS</a:t>
            </a:r>
            <a:endParaRPr lang="en-US" sz="630" dirty="0"/>
          </a:p>
        </p:txBody>
      </p:sp>
      <p:sp>
        <p:nvSpPr>
          <p:cNvPr id="131" name="Shape 107"/>
          <p:cNvSpPr/>
          <p:nvPr/>
        </p:nvSpPr>
        <p:spPr>
          <a:xfrm>
            <a:off x="4008044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32" name="Shape 108"/>
          <p:cNvSpPr/>
          <p:nvPr/>
        </p:nvSpPr>
        <p:spPr>
          <a:xfrm>
            <a:off x="4062908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33" name="Image 22" descr="/home/claude/aws_arch/icons/git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04056" y="4814316"/>
            <a:ext cx="118872" cy="118872"/>
          </a:xfrm>
          <a:prstGeom prst="rect">
            <a:avLst/>
          </a:prstGeom>
        </p:spPr>
      </p:pic>
      <p:sp>
        <p:nvSpPr>
          <p:cNvPr id="134" name="Text 109"/>
          <p:cNvSpPr/>
          <p:nvPr/>
        </p:nvSpPr>
        <p:spPr>
          <a:xfrm>
            <a:off x="4309796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20" dirty="0"/>
          </a:p>
        </p:txBody>
      </p:sp>
      <p:sp>
        <p:nvSpPr>
          <p:cNvPr id="135" name="Text 110"/>
          <p:cNvSpPr/>
          <p:nvPr/>
        </p:nvSpPr>
        <p:spPr>
          <a:xfrm>
            <a:off x="4090340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 / GitHub Actions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(CDK/Terraform)</a:t>
            </a:r>
            <a:endParaRPr lang="en-US" sz="630" dirty="0"/>
          </a:p>
        </p:txBody>
      </p:sp>
      <p:sp>
        <p:nvSpPr>
          <p:cNvPr id="136" name="Shape 111"/>
          <p:cNvSpPr/>
          <p:nvPr/>
        </p:nvSpPr>
        <p:spPr>
          <a:xfrm>
            <a:off x="6141568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37" name="Shape 112"/>
          <p:cNvSpPr/>
          <p:nvPr/>
        </p:nvSpPr>
        <p:spPr>
          <a:xfrm>
            <a:off x="6196432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38" name="Image 23" descr="/home/claude/aws_arch/icons/ops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37580" y="4814316"/>
            <a:ext cx="118872" cy="118872"/>
          </a:xfrm>
          <a:prstGeom prst="rect">
            <a:avLst/>
          </a:prstGeom>
        </p:spPr>
      </p:pic>
      <p:sp>
        <p:nvSpPr>
          <p:cNvPr id="139" name="Text 113"/>
          <p:cNvSpPr/>
          <p:nvPr/>
        </p:nvSpPr>
        <p:spPr>
          <a:xfrm>
            <a:off x="6443320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20" dirty="0"/>
          </a:p>
        </p:txBody>
      </p:sp>
      <p:sp>
        <p:nvSpPr>
          <p:cNvPr id="140" name="Text 114"/>
          <p:cNvSpPr/>
          <p:nvPr/>
        </p:nvSpPr>
        <p:spPr>
          <a:xfrm>
            <a:off x="6223864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• X-Ray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LLM monitoring</a:t>
            </a:r>
            <a:endParaRPr lang="en-US" sz="630" dirty="0"/>
          </a:p>
        </p:txBody>
      </p:sp>
      <p:sp>
        <p:nvSpPr>
          <p:cNvPr id="141" name="Shape 115"/>
          <p:cNvSpPr/>
          <p:nvPr/>
        </p:nvSpPr>
        <p:spPr>
          <a:xfrm>
            <a:off x="8275091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42" name="Shape 116"/>
          <p:cNvSpPr/>
          <p:nvPr/>
        </p:nvSpPr>
        <p:spPr>
          <a:xfrm>
            <a:off x="8329955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43" name="Image 24" descr="/home/claude/aws_arch/icons/key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71103" y="4814316"/>
            <a:ext cx="118872" cy="118872"/>
          </a:xfrm>
          <a:prstGeom prst="rect">
            <a:avLst/>
          </a:prstGeom>
        </p:spPr>
      </p:pic>
      <p:sp>
        <p:nvSpPr>
          <p:cNvPr id="144" name="Text 117"/>
          <p:cNvSpPr/>
          <p:nvPr/>
        </p:nvSpPr>
        <p:spPr>
          <a:xfrm>
            <a:off x="8576843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Access</a:t>
            </a:r>
            <a:endParaRPr lang="en-US" sz="820" dirty="0"/>
          </a:p>
        </p:txBody>
      </p:sp>
      <p:sp>
        <p:nvSpPr>
          <p:cNvPr id="145" name="Text 118"/>
          <p:cNvSpPr/>
          <p:nvPr/>
        </p:nvSpPr>
        <p:spPr>
          <a:xfrm>
            <a:off x="8357387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• IAM</a:t>
            </a:r>
            <a:endParaRPr lang="en-US" sz="630" dirty="0"/>
          </a:p>
        </p:txBody>
      </p:sp>
      <p:sp>
        <p:nvSpPr>
          <p:cNvPr id="146" name="Shape 119"/>
          <p:cNvSpPr/>
          <p:nvPr/>
        </p:nvSpPr>
        <p:spPr>
          <a:xfrm rot="5400000">
            <a:off x="6022696" y="5696712"/>
            <a:ext cx="182880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47" name="Shape 120"/>
          <p:cNvSpPr/>
          <p:nvPr/>
        </p:nvSpPr>
        <p:spPr>
          <a:xfrm>
            <a:off x="10518343" y="786384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B5396B"/>
          </a:solidFill>
          <a:ln/>
        </p:spPr>
      </p:sp>
      <p:sp>
        <p:nvSpPr>
          <p:cNvPr id="148" name="Text 121"/>
          <p:cNvSpPr/>
          <p:nvPr/>
        </p:nvSpPr>
        <p:spPr>
          <a:xfrm>
            <a:off x="10518343" y="7863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CONSUMPTION</a:t>
            </a:r>
            <a:endParaRPr lang="en-US" sz="820" dirty="0"/>
          </a:p>
        </p:txBody>
      </p:sp>
      <p:sp>
        <p:nvSpPr>
          <p:cNvPr id="149" name="Shape 122"/>
          <p:cNvSpPr/>
          <p:nvPr/>
        </p:nvSpPr>
        <p:spPr>
          <a:xfrm>
            <a:off x="10518343" y="1060704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50" name="Image 25" descr="/home/claude/aws_arch/icons/dashboar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91495" y="1124712"/>
            <a:ext cx="164592" cy="164592"/>
          </a:xfrm>
          <a:prstGeom prst="rect">
            <a:avLst/>
          </a:prstGeom>
        </p:spPr>
      </p:pic>
      <p:sp>
        <p:nvSpPr>
          <p:cNvPr id="151" name="Text 123"/>
          <p:cNvSpPr/>
          <p:nvPr/>
        </p:nvSpPr>
        <p:spPr>
          <a:xfrm>
            <a:off x="10792663" y="1097280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710" dirty="0"/>
          </a:p>
        </p:txBody>
      </p:sp>
      <p:sp>
        <p:nvSpPr>
          <p:cNvPr id="152" name="Text 124"/>
          <p:cNvSpPr/>
          <p:nvPr/>
        </p:nvSpPr>
        <p:spPr>
          <a:xfrm>
            <a:off x="10591495" y="1307592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QuickSight, embedded BI</a:t>
            </a:r>
            <a:endParaRPr lang="en-US" sz="590" dirty="0"/>
          </a:p>
        </p:txBody>
      </p:sp>
      <p:sp>
        <p:nvSpPr>
          <p:cNvPr id="153" name="Shape 125"/>
          <p:cNvSpPr/>
          <p:nvPr/>
        </p:nvSpPr>
        <p:spPr>
          <a:xfrm>
            <a:off x="10518343" y="155448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54" name="Image 26" descr="/home/claude/aws_arch/icons/chat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91495" y="1618488"/>
            <a:ext cx="164592" cy="164592"/>
          </a:xfrm>
          <a:prstGeom prst="rect">
            <a:avLst/>
          </a:prstGeom>
        </p:spPr>
      </p:pic>
      <p:sp>
        <p:nvSpPr>
          <p:cNvPr id="155" name="Text 126"/>
          <p:cNvSpPr/>
          <p:nvPr/>
        </p:nvSpPr>
        <p:spPr>
          <a:xfrm>
            <a:off x="10792663" y="159105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Interfaces</a:t>
            </a:r>
            <a:endParaRPr lang="en-US" sz="710" dirty="0"/>
          </a:p>
        </p:txBody>
      </p:sp>
      <p:sp>
        <p:nvSpPr>
          <p:cNvPr id="156" name="Text 127"/>
          <p:cNvSpPr/>
          <p:nvPr/>
        </p:nvSpPr>
        <p:spPr>
          <a:xfrm>
            <a:off x="10591495" y="1801368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Q, Bedrock Agents</a:t>
            </a:r>
            <a:endParaRPr lang="en-US" sz="590" dirty="0"/>
          </a:p>
        </p:txBody>
      </p:sp>
      <p:sp>
        <p:nvSpPr>
          <p:cNvPr id="157" name="Shape 128"/>
          <p:cNvSpPr/>
          <p:nvPr/>
        </p:nvSpPr>
        <p:spPr>
          <a:xfrm>
            <a:off x="10518343" y="2048256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58" name="Image 27" descr="/home/claude/aws_arch/icons/we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91495" y="2112264"/>
            <a:ext cx="164592" cy="164592"/>
          </a:xfrm>
          <a:prstGeom prst="rect">
            <a:avLst/>
          </a:prstGeom>
        </p:spPr>
      </p:pic>
      <p:sp>
        <p:nvSpPr>
          <p:cNvPr id="159" name="Text 129"/>
          <p:cNvSpPr/>
          <p:nvPr/>
        </p:nvSpPr>
        <p:spPr>
          <a:xfrm>
            <a:off x="10792663" y="208483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Apps</a:t>
            </a:r>
            <a:endParaRPr lang="en-US" sz="710" dirty="0"/>
          </a:p>
        </p:txBody>
      </p:sp>
      <p:sp>
        <p:nvSpPr>
          <p:cNvPr id="160" name="Text 130"/>
          <p:cNvSpPr/>
          <p:nvPr/>
        </p:nvSpPr>
        <p:spPr>
          <a:xfrm>
            <a:off x="10591495" y="2295144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Amplify, React / Next.js</a:t>
            </a:r>
            <a:endParaRPr lang="en-US" sz="590" dirty="0"/>
          </a:p>
        </p:txBody>
      </p:sp>
      <p:sp>
        <p:nvSpPr>
          <p:cNvPr id="161" name="Shape 131"/>
          <p:cNvSpPr/>
          <p:nvPr/>
        </p:nvSpPr>
        <p:spPr>
          <a:xfrm>
            <a:off x="10518343" y="2542032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62" name="Image 28" descr="/home/claude/aws_arch/icons/gatewa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91495" y="2606040"/>
            <a:ext cx="164592" cy="164592"/>
          </a:xfrm>
          <a:prstGeom prst="rect">
            <a:avLst/>
          </a:prstGeom>
        </p:spPr>
      </p:pic>
      <p:sp>
        <p:nvSpPr>
          <p:cNvPr id="163" name="Text 132"/>
          <p:cNvSpPr/>
          <p:nvPr/>
        </p:nvSpPr>
        <p:spPr>
          <a:xfrm>
            <a:off x="10792663" y="257860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for Partners</a:t>
            </a:r>
            <a:endParaRPr lang="en-US" sz="710" dirty="0"/>
          </a:p>
        </p:txBody>
      </p:sp>
      <p:sp>
        <p:nvSpPr>
          <p:cNvPr id="164" name="Text 133"/>
          <p:cNvSpPr/>
          <p:nvPr/>
        </p:nvSpPr>
        <p:spPr>
          <a:xfrm>
            <a:off x="10591495" y="2788920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exposed APIs</a:t>
            </a:r>
            <a:endParaRPr lang="en-US" sz="590" dirty="0"/>
          </a:p>
        </p:txBody>
      </p:sp>
      <p:sp>
        <p:nvSpPr>
          <p:cNvPr id="165" name="Shape 134"/>
          <p:cNvSpPr/>
          <p:nvPr/>
        </p:nvSpPr>
        <p:spPr>
          <a:xfrm>
            <a:off x="10518343" y="3035808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66" name="Image 29" descr="/home/claude/aws_arch/icons/integration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91495" y="3099816"/>
            <a:ext cx="164592" cy="164592"/>
          </a:xfrm>
          <a:prstGeom prst="rect">
            <a:avLst/>
          </a:prstGeom>
        </p:spPr>
      </p:pic>
      <p:sp>
        <p:nvSpPr>
          <p:cNvPr id="167" name="Text 135"/>
          <p:cNvSpPr/>
          <p:nvPr/>
        </p:nvSpPr>
        <p:spPr>
          <a:xfrm>
            <a:off x="10792663" y="307238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710" dirty="0"/>
          </a:p>
        </p:txBody>
      </p:sp>
      <p:sp>
        <p:nvSpPr>
          <p:cNvPr id="168" name="Text 136"/>
          <p:cNvSpPr/>
          <p:nvPr/>
        </p:nvSpPr>
        <p:spPr>
          <a:xfrm>
            <a:off x="10591495" y="3282696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EventBridge, B2B feeds</a:t>
            </a:r>
            <a:endParaRPr lang="en-US" sz="590" dirty="0"/>
          </a:p>
        </p:txBody>
      </p:sp>
      <p:sp>
        <p:nvSpPr>
          <p:cNvPr id="169" name="Shape 137"/>
          <p:cNvSpPr/>
          <p:nvPr/>
        </p:nvSpPr>
        <p:spPr>
          <a:xfrm>
            <a:off x="256032" y="5815584"/>
            <a:ext cx="11679631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70" name="Text 138"/>
          <p:cNvSpPr/>
          <p:nvPr/>
        </p:nvSpPr>
        <p:spPr>
          <a:xfrm>
            <a:off x="384048" y="5870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 SERVICES</a:t>
            </a:r>
            <a:endParaRPr lang="en-US" sz="1000" dirty="0"/>
          </a:p>
        </p:txBody>
      </p:sp>
      <p:sp>
        <p:nvSpPr>
          <p:cNvPr id="171" name="Text 139"/>
          <p:cNvSpPr/>
          <p:nvPr/>
        </p:nvSpPr>
        <p:spPr>
          <a:xfrm>
            <a:off x="384048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660" dirty="0"/>
          </a:p>
        </p:txBody>
      </p:sp>
      <p:pic>
        <p:nvPicPr>
          <p:cNvPr id="172" name="Image 30" descr="/home/claude/aws_arch/icons/gateway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4048" y="6263640"/>
            <a:ext cx="118872" cy="118872"/>
          </a:xfrm>
          <a:prstGeom prst="rect">
            <a:avLst/>
          </a:prstGeom>
        </p:spPr>
      </p:pic>
      <p:sp>
        <p:nvSpPr>
          <p:cNvPr id="173" name="Text 140"/>
          <p:cNvSpPr/>
          <p:nvPr/>
        </p:nvSpPr>
        <p:spPr>
          <a:xfrm>
            <a:off x="548640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660" dirty="0"/>
          </a:p>
        </p:txBody>
      </p:sp>
      <p:pic>
        <p:nvPicPr>
          <p:cNvPr id="174" name="Image 31" descr="/home/claude/aws_arch/icons/lambda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4048" y="6414516"/>
            <a:ext cx="118872" cy="118872"/>
          </a:xfrm>
          <a:prstGeom prst="rect">
            <a:avLst/>
          </a:prstGeom>
        </p:spPr>
      </p:pic>
      <p:sp>
        <p:nvSpPr>
          <p:cNvPr id="175" name="Text 141"/>
          <p:cNvSpPr/>
          <p:nvPr/>
        </p:nvSpPr>
        <p:spPr>
          <a:xfrm>
            <a:off x="548640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Fargate</a:t>
            </a:r>
            <a:endParaRPr lang="en-US" sz="660" dirty="0"/>
          </a:p>
        </p:txBody>
      </p:sp>
      <p:pic>
        <p:nvPicPr>
          <p:cNvPr id="176" name="Image 32" descr="/home/claude/aws_arch/icons/throttl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84048" y="6565392"/>
            <a:ext cx="118872" cy="118872"/>
          </a:xfrm>
          <a:prstGeom prst="rect">
            <a:avLst/>
          </a:prstGeom>
        </p:spPr>
      </p:pic>
      <p:sp>
        <p:nvSpPr>
          <p:cNvPr id="177" name="Text 142"/>
          <p:cNvSpPr/>
          <p:nvPr/>
        </p:nvSpPr>
        <p:spPr>
          <a:xfrm>
            <a:off x="548640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660" dirty="0"/>
          </a:p>
        </p:txBody>
      </p:sp>
      <p:sp>
        <p:nvSpPr>
          <p:cNvPr id="178" name="Text 143"/>
          <p:cNvSpPr/>
          <p:nvPr/>
        </p:nvSpPr>
        <p:spPr>
          <a:xfrm>
            <a:off x="2690713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IDENTITY</a:t>
            </a:r>
            <a:endParaRPr lang="en-US" sz="660" dirty="0"/>
          </a:p>
        </p:txBody>
      </p:sp>
      <p:pic>
        <p:nvPicPr>
          <p:cNvPr id="179" name="Image 33" descr="/home/claude/aws_arch/icons/auth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90713" y="6263640"/>
            <a:ext cx="118872" cy="118872"/>
          </a:xfrm>
          <a:prstGeom prst="rect">
            <a:avLst/>
          </a:prstGeom>
        </p:spPr>
      </p:pic>
      <p:sp>
        <p:nvSpPr>
          <p:cNvPr id="180" name="Text 144"/>
          <p:cNvSpPr/>
          <p:nvPr/>
        </p:nvSpPr>
        <p:spPr>
          <a:xfrm>
            <a:off x="2855305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IAM</a:t>
            </a:r>
            <a:endParaRPr lang="en-US" sz="660" dirty="0"/>
          </a:p>
        </p:txBody>
      </p:sp>
      <p:pic>
        <p:nvPicPr>
          <p:cNvPr id="181" name="Image 34" descr="/home/claude/aws_arch/icons/key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690713" y="6414516"/>
            <a:ext cx="118872" cy="118872"/>
          </a:xfrm>
          <a:prstGeom prst="rect">
            <a:avLst/>
          </a:prstGeom>
        </p:spPr>
      </p:pic>
      <p:sp>
        <p:nvSpPr>
          <p:cNvPr id="182" name="Text 145"/>
          <p:cNvSpPr/>
          <p:nvPr/>
        </p:nvSpPr>
        <p:spPr>
          <a:xfrm>
            <a:off x="2855305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/ Secrets Mgr</a:t>
            </a:r>
            <a:endParaRPr lang="en-US" sz="660" dirty="0"/>
          </a:p>
        </p:txBody>
      </p:sp>
      <p:pic>
        <p:nvPicPr>
          <p:cNvPr id="183" name="Image 35" descr="/home/claude/aws_arch/icons/shiel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690713" y="6565392"/>
            <a:ext cx="118872" cy="118872"/>
          </a:xfrm>
          <a:prstGeom prst="rect">
            <a:avLst/>
          </a:prstGeom>
        </p:spPr>
      </p:pic>
      <p:sp>
        <p:nvSpPr>
          <p:cNvPr id="184" name="Text 146"/>
          <p:cNvSpPr/>
          <p:nvPr/>
        </p:nvSpPr>
        <p:spPr>
          <a:xfrm>
            <a:off x="2855305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GuardDuty</a:t>
            </a:r>
            <a:endParaRPr lang="en-US" sz="660" dirty="0"/>
          </a:p>
        </p:txBody>
      </p:sp>
      <p:sp>
        <p:nvSpPr>
          <p:cNvPr id="185" name="Text 147"/>
          <p:cNvSpPr/>
          <p:nvPr/>
        </p:nvSpPr>
        <p:spPr>
          <a:xfrm>
            <a:off x="4997379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660" dirty="0"/>
          </a:p>
        </p:txBody>
      </p:sp>
      <p:pic>
        <p:nvPicPr>
          <p:cNvPr id="186" name="Image 36" descr="/home/claude/aws_arch/icons/log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997379" y="6263640"/>
            <a:ext cx="118872" cy="118872"/>
          </a:xfrm>
          <a:prstGeom prst="rect">
            <a:avLst/>
          </a:prstGeom>
        </p:spPr>
      </p:pic>
      <p:sp>
        <p:nvSpPr>
          <p:cNvPr id="187" name="Text 148"/>
          <p:cNvSpPr/>
          <p:nvPr/>
        </p:nvSpPr>
        <p:spPr>
          <a:xfrm>
            <a:off x="5161971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660" dirty="0"/>
          </a:p>
        </p:txBody>
      </p:sp>
      <p:pic>
        <p:nvPicPr>
          <p:cNvPr id="188" name="Image 37" descr="/home/claude/aws_arch/icons/monitor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997379" y="6414516"/>
            <a:ext cx="118872" cy="118872"/>
          </a:xfrm>
          <a:prstGeom prst="rect">
            <a:avLst/>
          </a:prstGeom>
        </p:spPr>
      </p:pic>
      <p:sp>
        <p:nvSpPr>
          <p:cNvPr id="189" name="Text 149"/>
          <p:cNvSpPr/>
          <p:nvPr/>
        </p:nvSpPr>
        <p:spPr>
          <a:xfrm>
            <a:off x="5161971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/ X-Ray</a:t>
            </a:r>
            <a:endParaRPr lang="en-US" sz="660" dirty="0"/>
          </a:p>
        </p:txBody>
      </p:sp>
      <p:pic>
        <p:nvPicPr>
          <p:cNvPr id="190" name="Image 38" descr="/home/claude/aws_arch/icons/lineag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97379" y="6565392"/>
            <a:ext cx="118872" cy="118872"/>
          </a:xfrm>
          <a:prstGeom prst="rect">
            <a:avLst/>
          </a:prstGeom>
        </p:spPr>
      </p:pic>
      <p:sp>
        <p:nvSpPr>
          <p:cNvPr id="191" name="Text 150"/>
          <p:cNvSpPr/>
          <p:nvPr/>
        </p:nvSpPr>
        <p:spPr>
          <a:xfrm>
            <a:off x="5161971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Lineage</a:t>
            </a:r>
            <a:endParaRPr lang="en-US" sz="660" dirty="0"/>
          </a:p>
        </p:txBody>
      </p:sp>
      <p:sp>
        <p:nvSpPr>
          <p:cNvPr id="192" name="Text 151"/>
          <p:cNvSpPr/>
          <p:nvPr/>
        </p:nvSpPr>
        <p:spPr>
          <a:xfrm>
            <a:off x="7304044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660" dirty="0"/>
          </a:p>
        </p:txBody>
      </p:sp>
      <p:pic>
        <p:nvPicPr>
          <p:cNvPr id="193" name="Image 39" descr="/home/claude/aws_arch/icons/privacy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304044" y="6263640"/>
            <a:ext cx="118872" cy="118872"/>
          </a:xfrm>
          <a:prstGeom prst="rect">
            <a:avLst/>
          </a:prstGeom>
        </p:spPr>
      </p:pic>
      <p:sp>
        <p:nvSpPr>
          <p:cNvPr id="194" name="Text 152"/>
          <p:cNvSpPr/>
          <p:nvPr/>
        </p:nvSpPr>
        <p:spPr>
          <a:xfrm>
            <a:off x="7468636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HIPAA</a:t>
            </a:r>
            <a:endParaRPr lang="en-US" sz="660" dirty="0"/>
          </a:p>
        </p:txBody>
      </p:sp>
      <p:pic>
        <p:nvPicPr>
          <p:cNvPr id="195" name="Image 40" descr="/home/claude/aws_arch/icons/check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304044" y="6414516"/>
            <a:ext cx="118872" cy="118872"/>
          </a:xfrm>
          <a:prstGeom prst="rect">
            <a:avLst/>
          </a:prstGeom>
        </p:spPr>
      </p:pic>
      <p:sp>
        <p:nvSpPr>
          <p:cNvPr id="196" name="Text 153"/>
          <p:cNvSpPr/>
          <p:nvPr/>
        </p:nvSpPr>
        <p:spPr>
          <a:xfrm>
            <a:off x="7468636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Controls</a:t>
            </a:r>
            <a:endParaRPr lang="en-US" sz="660" dirty="0"/>
          </a:p>
        </p:txBody>
      </p:sp>
      <p:pic>
        <p:nvPicPr>
          <p:cNvPr id="197" name="Image 41" descr="/home/claude/aws_arch/icons/safety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04044" y="6565392"/>
            <a:ext cx="118872" cy="118872"/>
          </a:xfrm>
          <a:prstGeom prst="rect">
            <a:avLst/>
          </a:prstGeom>
        </p:spPr>
      </p:pic>
      <p:sp>
        <p:nvSpPr>
          <p:cNvPr id="198" name="Text 154"/>
          <p:cNvSpPr/>
          <p:nvPr/>
        </p:nvSpPr>
        <p:spPr>
          <a:xfrm>
            <a:off x="7468636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60" dirty="0"/>
          </a:p>
        </p:txBody>
      </p:sp>
      <p:sp>
        <p:nvSpPr>
          <p:cNvPr id="199" name="Text 155"/>
          <p:cNvSpPr/>
          <p:nvPr/>
        </p:nvSpPr>
        <p:spPr>
          <a:xfrm>
            <a:off x="9610710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RELIABILITY</a:t>
            </a:r>
            <a:endParaRPr lang="en-US" sz="660" dirty="0"/>
          </a:p>
        </p:txBody>
      </p:sp>
      <p:pic>
        <p:nvPicPr>
          <p:cNvPr id="200" name="Image 42" descr="/home/claude/aws_arch/icons/cost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10710" y="6263640"/>
            <a:ext cx="118872" cy="118872"/>
          </a:xfrm>
          <a:prstGeom prst="rect">
            <a:avLst/>
          </a:prstGeom>
        </p:spPr>
      </p:pic>
      <p:sp>
        <p:nvSpPr>
          <p:cNvPr id="201" name="Text 156"/>
          <p:cNvSpPr/>
          <p:nvPr/>
        </p:nvSpPr>
        <p:spPr>
          <a:xfrm>
            <a:off x="9775302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Explorer / Budgets</a:t>
            </a:r>
            <a:endParaRPr lang="en-US" sz="660" dirty="0"/>
          </a:p>
        </p:txBody>
      </p:sp>
      <p:pic>
        <p:nvPicPr>
          <p:cNvPr id="202" name="Image 43" descr="/home/claude/aws_arch/icons/scal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610710" y="6414516"/>
            <a:ext cx="118872" cy="118872"/>
          </a:xfrm>
          <a:prstGeom prst="rect">
            <a:avLst/>
          </a:prstGeom>
        </p:spPr>
      </p:pic>
      <p:sp>
        <p:nvSpPr>
          <p:cNvPr id="203" name="Text 157"/>
          <p:cNvSpPr/>
          <p:nvPr/>
        </p:nvSpPr>
        <p:spPr>
          <a:xfrm>
            <a:off x="9775302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660" dirty="0"/>
          </a:p>
        </p:txBody>
      </p:sp>
      <p:pic>
        <p:nvPicPr>
          <p:cNvPr id="204" name="Image 44" descr="/home/claude/aws_arch/icons/backup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610710" y="6565392"/>
            <a:ext cx="118872" cy="118872"/>
          </a:xfrm>
          <a:prstGeom prst="rect">
            <a:avLst/>
          </a:prstGeom>
        </p:spPr>
      </p:pic>
      <p:sp>
        <p:nvSpPr>
          <p:cNvPr id="205" name="Text 158"/>
          <p:cNvSpPr/>
          <p:nvPr/>
        </p:nvSpPr>
        <p:spPr>
          <a:xfrm>
            <a:off x="9775302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660" dirty="0"/>
          </a:p>
        </p:txBody>
      </p:sp>
      <p:sp>
        <p:nvSpPr>
          <p:cNvPr id="206" name="Text 159"/>
          <p:cNvSpPr/>
          <p:nvPr/>
        </p:nvSpPr>
        <p:spPr>
          <a:xfrm>
            <a:off x="256032" y="66934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reference architecture  |  Legacy → Ingestion → Lakehouse → ML / GenAI → Operations → Consumption</a:t>
            </a:r>
            <a:endParaRPr lang="en-US" sz="700" dirty="0"/>
          </a:p>
        </p:txBody>
      </p:sp>
      <p:sp>
        <p:nvSpPr>
          <p:cNvPr id="207" name="Text 160"/>
          <p:cNvSpPr/>
          <p:nvPr/>
        </p:nvSpPr>
        <p:spPr>
          <a:xfrm>
            <a:off x="10838383" y="66934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Platform Architecture - AWS Stack</dc:title>
  <dc:subject>PptxGenJS Presentation</dc:subject>
  <dc:creator>Enterprise Architecture</dc:creator>
  <cp:lastModifiedBy>Enterprise Architecture</cp:lastModifiedBy>
  <cp:revision>1</cp:revision>
  <dcterms:created xsi:type="dcterms:W3CDTF">2026-06-30T07:32:53Z</dcterms:created>
  <dcterms:modified xsi:type="dcterms:W3CDTF">2026-06-30T07:32:53Z</dcterms:modified>
</cp:coreProperties>
</file>