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10"/>
  </p:normalViewPr>
  <p:slideViewPr>
    <p:cSldViewPr snapToGrid="0" snapToObjects="1">
      <p:cViewPr varScale="1">
        <p:scale>
          <a:sx n="194" d="100"/>
          <a:sy n="194" d="100"/>
        </p:scale>
        <p:origin x="163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8954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9418320" cy="2926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  —  governance &amp; business value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612648"/>
            <a:ext cx="9418320" cy="62179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649224"/>
            <a:ext cx="2171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217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insights, AI automation, better CX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66060" y="649224"/>
            <a:ext cx="2171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66060" y="868680"/>
            <a:ext cx="217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Right-sizing, autoscaling, serverless storage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120640" y="649224"/>
            <a:ext cx="2171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security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20640" y="868680"/>
            <a:ext cx="217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encryption, audit &amp; monitoring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475220" y="649224"/>
            <a:ext cx="2171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resilience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75220" y="868680"/>
            <a:ext cx="217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Multi-AZ, backups, DR, high availability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921240" y="320040"/>
            <a:ext cx="1920240" cy="6217920"/>
          </a:xfrm>
          <a:prstGeom prst="rect">
            <a:avLst/>
          </a:prstGeom>
          <a:solidFill>
            <a:srgbClr val="FAFAFB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21240" y="320040"/>
            <a:ext cx="1920240" cy="274320"/>
          </a:xfrm>
          <a:prstGeom prst="rect">
            <a:avLst/>
          </a:prstGeom>
          <a:solidFill>
            <a:srgbClr val="4C3F9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12680" y="320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58400" y="736092"/>
            <a:ext cx="73152" cy="73152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17" name="Text 15"/>
          <p:cNvSpPr/>
          <p:nvPr/>
        </p:nvSpPr>
        <p:spPr>
          <a:xfrm>
            <a:off x="10195560" y="68580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(roles)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058400" y="1024128"/>
            <a:ext cx="73152" cy="73152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19" name="Text 17"/>
          <p:cNvSpPr/>
          <p:nvPr/>
        </p:nvSpPr>
        <p:spPr>
          <a:xfrm>
            <a:off x="10195560" y="97383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058400" y="1312164"/>
            <a:ext cx="73152" cy="73152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21" name="Text 19"/>
          <p:cNvSpPr/>
          <p:nvPr/>
        </p:nvSpPr>
        <p:spPr>
          <a:xfrm>
            <a:off x="10195560" y="12618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KMS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058400" y="1600200"/>
            <a:ext cx="73152" cy="73152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23" name="Text 21"/>
          <p:cNvSpPr/>
          <p:nvPr/>
        </p:nvSpPr>
        <p:spPr>
          <a:xfrm>
            <a:off x="10195560" y="15499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058400" y="1888236"/>
            <a:ext cx="73152" cy="73152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25" name="Text 23"/>
          <p:cNvSpPr/>
          <p:nvPr/>
        </p:nvSpPr>
        <p:spPr>
          <a:xfrm>
            <a:off x="10195560" y="183794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058400" y="2176272"/>
            <a:ext cx="73152" cy="73152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27" name="Text 25"/>
          <p:cNvSpPr/>
          <p:nvPr/>
        </p:nvSpPr>
        <p:spPr>
          <a:xfrm>
            <a:off x="10195560" y="21259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CloudTrail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058400" y="2464308"/>
            <a:ext cx="73152" cy="73152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29" name="Text 27"/>
          <p:cNvSpPr/>
          <p:nvPr/>
        </p:nvSpPr>
        <p:spPr>
          <a:xfrm>
            <a:off x="10195560" y="24140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EventBridge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058400" y="2752344"/>
            <a:ext cx="73152" cy="73152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31" name="Text 29"/>
          <p:cNvSpPr/>
          <p:nvPr/>
        </p:nvSpPr>
        <p:spPr>
          <a:xfrm>
            <a:off x="10195560" y="270205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Flow Logs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058400" y="3040380"/>
            <a:ext cx="73152" cy="73152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33" name="Text 31"/>
          <p:cNvSpPr/>
          <p:nvPr/>
        </p:nvSpPr>
        <p:spPr>
          <a:xfrm>
            <a:off x="10195560" y="299008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Config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058400" y="34427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observability benefits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0" y="37170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monitoring &amp; alarms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058400" y="39822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Centralized logging &amp; audit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058400" y="42473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Security threat detection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058400" y="45125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Compliance &amp; governance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1371600"/>
            <a:ext cx="1508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11480" y="14264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1480" y="166420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Applications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11480" y="186994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Web / mobile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11480" y="20756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IoT / devices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11480" y="22814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Files / docs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11480" y="24871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Third-party APIs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828800" y="2029968"/>
            <a:ext cx="10972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965960" y="1371600"/>
            <a:ext cx="7772400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8" name="Text 46"/>
          <p:cNvSpPr/>
          <p:nvPr/>
        </p:nvSpPr>
        <p:spPr>
          <a:xfrm>
            <a:off x="2057400" y="137160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— ingestion &amp; storage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965960" y="1600200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39112" y="1668780"/>
            <a:ext cx="73152" cy="73152"/>
          </a:xfrm>
          <a:prstGeom prst="ellipse">
            <a:avLst/>
          </a:prstGeom>
          <a:solidFill>
            <a:srgbClr val="4C7A3D"/>
          </a:solidFill>
          <a:ln/>
        </p:spPr>
      </p:sp>
      <p:sp>
        <p:nvSpPr>
          <p:cNvPr id="51" name="Text 49"/>
          <p:cNvSpPr/>
          <p:nvPr/>
        </p:nvSpPr>
        <p:spPr>
          <a:xfrm>
            <a:off x="2167128" y="16093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167128" y="177027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3273552" y="1600200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46704" y="1668780"/>
            <a:ext cx="73152" cy="7315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55" name="Text 53"/>
          <p:cNvSpPr/>
          <p:nvPr/>
        </p:nvSpPr>
        <p:spPr>
          <a:xfrm>
            <a:off x="3474720" y="16093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Schema Registry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474720" y="177027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governance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4581144" y="1600200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54296" y="1668780"/>
            <a:ext cx="73152" cy="7315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59" name="Text 57"/>
          <p:cNvSpPr/>
          <p:nvPr/>
        </p:nvSpPr>
        <p:spPr>
          <a:xfrm>
            <a:off x="4782312" y="16093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Data Streams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782312" y="177027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ingestion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5888736" y="1600200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61888" y="1668780"/>
            <a:ext cx="73152" cy="7315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63" name="Text 61"/>
          <p:cNvSpPr/>
          <p:nvPr/>
        </p:nvSpPr>
        <p:spPr>
          <a:xfrm>
            <a:off x="6089904" y="16093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MSK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089904" y="177027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Kafka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7196328" y="1600200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69480" y="1668780"/>
            <a:ext cx="73152" cy="73152"/>
          </a:xfrm>
          <a:prstGeom prst="ellipse">
            <a:avLst/>
          </a:prstGeom>
          <a:solidFill>
            <a:srgbClr val="B3336B"/>
          </a:solidFill>
          <a:ln/>
        </p:spPr>
      </p:sp>
      <p:sp>
        <p:nvSpPr>
          <p:cNvPr id="67" name="Text 65"/>
          <p:cNvSpPr/>
          <p:nvPr/>
        </p:nvSpPr>
        <p:spPr>
          <a:xfrm>
            <a:off x="7397496" y="16093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EventBridge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397496" y="177027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routing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8503920" y="1600200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577072" y="1668780"/>
            <a:ext cx="73152" cy="73152"/>
          </a:xfrm>
          <a:prstGeom prst="ellipse">
            <a:avLst/>
          </a:prstGeom>
          <a:solidFill>
            <a:srgbClr val="B3336B"/>
          </a:solidFill>
          <a:ln/>
        </p:spPr>
      </p:sp>
      <p:sp>
        <p:nvSpPr>
          <p:cNvPr id="71" name="Text 69"/>
          <p:cNvSpPr/>
          <p:nvPr/>
        </p:nvSpPr>
        <p:spPr>
          <a:xfrm>
            <a:off x="8705088" y="16093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SNS / SQS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705088" y="177027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5852160" y="1976933"/>
            <a:ext cx="0" cy="2377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1965960" y="2011680"/>
            <a:ext cx="7772400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5" name="Text 73"/>
          <p:cNvSpPr/>
          <p:nvPr/>
        </p:nvSpPr>
        <p:spPr>
          <a:xfrm>
            <a:off x="2057400" y="201168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integration layer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1965960" y="2240280"/>
            <a:ext cx="2499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039112" y="2308860"/>
            <a:ext cx="73152" cy="73152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78" name="Text 76"/>
          <p:cNvSpPr/>
          <p:nvPr/>
        </p:nvSpPr>
        <p:spPr>
          <a:xfrm>
            <a:off x="2167128" y="2249424"/>
            <a:ext cx="222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MWAA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2167128" y="2410358"/>
            <a:ext cx="222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Airflow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4483608" y="2423160"/>
            <a:ext cx="100584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4602480" y="2240280"/>
            <a:ext cx="2499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675632" y="2308860"/>
            <a:ext cx="73152" cy="73152"/>
          </a:xfrm>
          <a:prstGeom prst="ellipse">
            <a:avLst/>
          </a:prstGeom>
          <a:solidFill>
            <a:srgbClr val="B3336B"/>
          </a:solidFill>
          <a:ln/>
        </p:spPr>
      </p:sp>
      <p:sp>
        <p:nvSpPr>
          <p:cNvPr id="83" name="Text 81"/>
          <p:cNvSpPr/>
          <p:nvPr/>
        </p:nvSpPr>
        <p:spPr>
          <a:xfrm>
            <a:off x="4803648" y="2249424"/>
            <a:ext cx="222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Step Functions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803648" y="2410358"/>
            <a:ext cx="222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7120128" y="2423160"/>
            <a:ext cx="100584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7239000" y="2240280"/>
            <a:ext cx="2499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312152" y="2308860"/>
            <a:ext cx="73152" cy="73152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88" name="Text 86"/>
          <p:cNvSpPr/>
          <p:nvPr/>
        </p:nvSpPr>
        <p:spPr>
          <a:xfrm>
            <a:off x="7440168" y="2249424"/>
            <a:ext cx="222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7440168" y="2410358"/>
            <a:ext cx="222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5852160" y="2617013"/>
            <a:ext cx="0" cy="2377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1965960" y="2651760"/>
            <a:ext cx="7772400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2" name="Text 90"/>
          <p:cNvSpPr/>
          <p:nvPr/>
        </p:nvSpPr>
        <p:spPr>
          <a:xfrm>
            <a:off x="2057400" y="265176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compute layer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1965960" y="2880360"/>
            <a:ext cx="149595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039112" y="2948940"/>
            <a:ext cx="73152" cy="73152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95" name="Text 93"/>
          <p:cNvSpPr/>
          <p:nvPr/>
        </p:nvSpPr>
        <p:spPr>
          <a:xfrm>
            <a:off x="2167128" y="2889504"/>
            <a:ext cx="12216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EMR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2167128" y="3050438"/>
            <a:ext cx="12216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processing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3535070" y="2880360"/>
            <a:ext cx="149595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08222" y="2948940"/>
            <a:ext cx="73152" cy="73152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99" name="Text 97"/>
          <p:cNvSpPr/>
          <p:nvPr/>
        </p:nvSpPr>
        <p:spPr>
          <a:xfrm>
            <a:off x="3736238" y="2889504"/>
            <a:ext cx="12216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EKS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3736238" y="3050438"/>
            <a:ext cx="12216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5104181" y="2880360"/>
            <a:ext cx="149595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177333" y="2948940"/>
            <a:ext cx="73152" cy="73152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103" name="Text 101"/>
          <p:cNvSpPr/>
          <p:nvPr/>
        </p:nvSpPr>
        <p:spPr>
          <a:xfrm>
            <a:off x="5305349" y="2889504"/>
            <a:ext cx="12216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5305349" y="3050438"/>
            <a:ext cx="12216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processing</a:t>
            </a:r>
            <a:endParaRPr lang="en-US" sz="600" dirty="0"/>
          </a:p>
        </p:txBody>
      </p:sp>
      <p:sp>
        <p:nvSpPr>
          <p:cNvPr id="105" name="Shape 103"/>
          <p:cNvSpPr/>
          <p:nvPr/>
        </p:nvSpPr>
        <p:spPr>
          <a:xfrm>
            <a:off x="6673291" y="2880360"/>
            <a:ext cx="149595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46443" y="294894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7" name="Text 105"/>
          <p:cNvSpPr/>
          <p:nvPr/>
        </p:nvSpPr>
        <p:spPr>
          <a:xfrm>
            <a:off x="6874459" y="2889504"/>
            <a:ext cx="12216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Redis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6874459" y="3050438"/>
            <a:ext cx="12216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cache</a:t>
            </a:r>
            <a:endParaRPr lang="en-US" sz="600" dirty="0"/>
          </a:p>
        </p:txBody>
      </p:sp>
      <p:sp>
        <p:nvSpPr>
          <p:cNvPr id="109" name="Shape 107"/>
          <p:cNvSpPr/>
          <p:nvPr/>
        </p:nvSpPr>
        <p:spPr>
          <a:xfrm>
            <a:off x="8242402" y="2880360"/>
            <a:ext cx="149595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315554" y="294894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1" name="Text 109"/>
          <p:cNvSpPr/>
          <p:nvPr/>
        </p:nvSpPr>
        <p:spPr>
          <a:xfrm>
            <a:off x="8443570" y="2889504"/>
            <a:ext cx="12216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8443570" y="3050438"/>
            <a:ext cx="12216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store</a:t>
            </a:r>
            <a:endParaRPr lang="en-US" sz="600" dirty="0"/>
          </a:p>
        </p:txBody>
      </p:sp>
      <p:sp>
        <p:nvSpPr>
          <p:cNvPr id="113" name="Shape 111"/>
          <p:cNvSpPr/>
          <p:nvPr/>
        </p:nvSpPr>
        <p:spPr>
          <a:xfrm>
            <a:off x="1965960" y="3291840"/>
            <a:ext cx="2499360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4" name="Text 112"/>
          <p:cNvSpPr/>
          <p:nvPr/>
        </p:nvSpPr>
        <p:spPr>
          <a:xfrm>
            <a:off x="2057400" y="3291840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AI services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4602480" y="3291840"/>
            <a:ext cx="2499360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6" name="Text 114"/>
          <p:cNvSpPr/>
          <p:nvPr/>
        </p:nvSpPr>
        <p:spPr>
          <a:xfrm>
            <a:off x="4693920" y="3291840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doc &amp; content AI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7239000" y="3291840"/>
            <a:ext cx="2499360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8" name="Text 116"/>
          <p:cNvSpPr/>
          <p:nvPr/>
        </p:nvSpPr>
        <p:spPr>
          <a:xfrm>
            <a:off x="7330440" y="3291840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analytics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5852160" y="3257093"/>
            <a:ext cx="0" cy="2377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1965960" y="3520440"/>
            <a:ext cx="121310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039112" y="358902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2" name="Text 120"/>
          <p:cNvSpPr/>
          <p:nvPr/>
        </p:nvSpPr>
        <p:spPr>
          <a:xfrm>
            <a:off x="2167128" y="3529584"/>
            <a:ext cx="93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SageMaker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2167128" y="3666378"/>
            <a:ext cx="9387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</a:t>
            </a:r>
            <a:endParaRPr lang="en-US" sz="550" dirty="0"/>
          </a:p>
        </p:txBody>
      </p:sp>
      <p:sp>
        <p:nvSpPr>
          <p:cNvPr id="124" name="Shape 122"/>
          <p:cNvSpPr/>
          <p:nvPr/>
        </p:nvSpPr>
        <p:spPr>
          <a:xfrm>
            <a:off x="3252216" y="3520440"/>
            <a:ext cx="121310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325368" y="358902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6" name="Text 124"/>
          <p:cNvSpPr/>
          <p:nvPr/>
        </p:nvSpPr>
        <p:spPr>
          <a:xfrm>
            <a:off x="3453384" y="3529584"/>
            <a:ext cx="93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3453384" y="3666378"/>
            <a:ext cx="9387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550" dirty="0"/>
          </a:p>
        </p:txBody>
      </p:sp>
      <p:sp>
        <p:nvSpPr>
          <p:cNvPr id="128" name="Shape 126"/>
          <p:cNvSpPr/>
          <p:nvPr/>
        </p:nvSpPr>
        <p:spPr>
          <a:xfrm>
            <a:off x="1965960" y="3877056"/>
            <a:ext cx="121310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039112" y="3945636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0" name="Text 128"/>
          <p:cNvSpPr/>
          <p:nvPr/>
        </p:nvSpPr>
        <p:spPr>
          <a:xfrm>
            <a:off x="2167128" y="3886200"/>
            <a:ext cx="93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2167128" y="4022994"/>
            <a:ext cx="9387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550" dirty="0"/>
          </a:p>
        </p:txBody>
      </p:sp>
      <p:sp>
        <p:nvSpPr>
          <p:cNvPr id="132" name="Shape 130"/>
          <p:cNvSpPr/>
          <p:nvPr/>
        </p:nvSpPr>
        <p:spPr>
          <a:xfrm>
            <a:off x="3252216" y="3877056"/>
            <a:ext cx="121310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325368" y="3945636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4" name="Text 132"/>
          <p:cNvSpPr/>
          <p:nvPr/>
        </p:nvSpPr>
        <p:spPr>
          <a:xfrm>
            <a:off x="3453384" y="3886200"/>
            <a:ext cx="93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650" dirty="0"/>
          </a:p>
        </p:txBody>
      </p:sp>
      <p:sp>
        <p:nvSpPr>
          <p:cNvPr id="135" name="Text 133"/>
          <p:cNvSpPr/>
          <p:nvPr/>
        </p:nvSpPr>
        <p:spPr>
          <a:xfrm>
            <a:off x="3453384" y="4022994"/>
            <a:ext cx="9387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policy</a:t>
            </a:r>
            <a:endParaRPr lang="en-US" sz="550" dirty="0"/>
          </a:p>
        </p:txBody>
      </p:sp>
      <p:sp>
        <p:nvSpPr>
          <p:cNvPr id="136" name="Shape 134"/>
          <p:cNvSpPr/>
          <p:nvPr/>
        </p:nvSpPr>
        <p:spPr>
          <a:xfrm>
            <a:off x="4602480" y="3520440"/>
            <a:ext cx="121310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675632" y="3589020"/>
            <a:ext cx="73152" cy="73152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138" name="Text 136"/>
          <p:cNvSpPr/>
          <p:nvPr/>
        </p:nvSpPr>
        <p:spPr>
          <a:xfrm>
            <a:off x="4803648" y="3529584"/>
            <a:ext cx="93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Comprehend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4803648" y="3666378"/>
            <a:ext cx="9387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550" dirty="0"/>
          </a:p>
        </p:txBody>
      </p:sp>
      <p:sp>
        <p:nvSpPr>
          <p:cNvPr id="140" name="Shape 138"/>
          <p:cNvSpPr/>
          <p:nvPr/>
        </p:nvSpPr>
        <p:spPr>
          <a:xfrm>
            <a:off x="5888736" y="3520440"/>
            <a:ext cx="121310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961888" y="3589020"/>
            <a:ext cx="73152" cy="73152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142" name="Text 140"/>
          <p:cNvSpPr/>
          <p:nvPr/>
        </p:nvSpPr>
        <p:spPr>
          <a:xfrm>
            <a:off x="6089904" y="3529584"/>
            <a:ext cx="93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Rekognition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6089904" y="3666378"/>
            <a:ext cx="9387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550" dirty="0"/>
          </a:p>
        </p:txBody>
      </p:sp>
      <p:sp>
        <p:nvSpPr>
          <p:cNvPr id="144" name="Shape 142"/>
          <p:cNvSpPr/>
          <p:nvPr/>
        </p:nvSpPr>
        <p:spPr>
          <a:xfrm>
            <a:off x="4602480" y="3877056"/>
            <a:ext cx="121310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675632" y="3945636"/>
            <a:ext cx="73152" cy="73152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146" name="Text 144"/>
          <p:cNvSpPr/>
          <p:nvPr/>
        </p:nvSpPr>
        <p:spPr>
          <a:xfrm>
            <a:off x="4803648" y="3886200"/>
            <a:ext cx="93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Textract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4803648" y="4022994"/>
            <a:ext cx="9387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OCR/documents</a:t>
            </a:r>
            <a:endParaRPr lang="en-US" sz="550" dirty="0"/>
          </a:p>
        </p:txBody>
      </p:sp>
      <p:sp>
        <p:nvSpPr>
          <p:cNvPr id="148" name="Shape 146"/>
          <p:cNvSpPr/>
          <p:nvPr/>
        </p:nvSpPr>
        <p:spPr>
          <a:xfrm>
            <a:off x="5888736" y="3877056"/>
            <a:ext cx="121310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961888" y="3945636"/>
            <a:ext cx="73152" cy="73152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089904" y="3886200"/>
            <a:ext cx="93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Transcribe</a:t>
            </a:r>
            <a:endParaRPr lang="en-US" sz="650" dirty="0"/>
          </a:p>
        </p:txBody>
      </p:sp>
      <p:sp>
        <p:nvSpPr>
          <p:cNvPr id="151" name="Text 149"/>
          <p:cNvSpPr/>
          <p:nvPr/>
        </p:nvSpPr>
        <p:spPr>
          <a:xfrm>
            <a:off x="6089904" y="4022994"/>
            <a:ext cx="9387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550" dirty="0"/>
          </a:p>
        </p:txBody>
      </p:sp>
      <p:sp>
        <p:nvSpPr>
          <p:cNvPr id="152" name="Shape 150"/>
          <p:cNvSpPr/>
          <p:nvPr/>
        </p:nvSpPr>
        <p:spPr>
          <a:xfrm>
            <a:off x="4602480" y="4233672"/>
            <a:ext cx="121310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675632" y="4302252"/>
            <a:ext cx="73152" cy="73152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154" name="Text 152"/>
          <p:cNvSpPr/>
          <p:nvPr/>
        </p:nvSpPr>
        <p:spPr>
          <a:xfrm>
            <a:off x="4803648" y="4242816"/>
            <a:ext cx="938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Polly</a:t>
            </a:r>
            <a:endParaRPr lang="en-US" sz="650" dirty="0"/>
          </a:p>
        </p:txBody>
      </p:sp>
      <p:sp>
        <p:nvSpPr>
          <p:cNvPr id="155" name="Text 153"/>
          <p:cNvSpPr/>
          <p:nvPr/>
        </p:nvSpPr>
        <p:spPr>
          <a:xfrm>
            <a:off x="4803648" y="4379610"/>
            <a:ext cx="9387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550" dirty="0"/>
          </a:p>
        </p:txBody>
      </p:sp>
      <p:sp>
        <p:nvSpPr>
          <p:cNvPr id="156" name="Shape 154"/>
          <p:cNvSpPr/>
          <p:nvPr/>
        </p:nvSpPr>
        <p:spPr>
          <a:xfrm>
            <a:off x="7239000" y="3520440"/>
            <a:ext cx="24993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312152" y="3589020"/>
            <a:ext cx="73152" cy="73152"/>
          </a:xfrm>
          <a:prstGeom prst="ellipse">
            <a:avLst/>
          </a:prstGeom>
          <a:solidFill>
            <a:srgbClr val="4C7A3D"/>
          </a:solidFill>
          <a:ln/>
        </p:spPr>
      </p:sp>
      <p:sp>
        <p:nvSpPr>
          <p:cNvPr id="158" name="Text 156"/>
          <p:cNvSpPr/>
          <p:nvPr/>
        </p:nvSpPr>
        <p:spPr>
          <a:xfrm>
            <a:off x="7440168" y="3529584"/>
            <a:ext cx="2225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OpenSearch</a:t>
            </a:r>
            <a:endParaRPr lang="en-US" sz="700" dirty="0"/>
          </a:p>
        </p:txBody>
      </p:sp>
      <p:sp>
        <p:nvSpPr>
          <p:cNvPr id="159" name="Text 157"/>
          <p:cNvSpPr/>
          <p:nvPr/>
        </p:nvSpPr>
        <p:spPr>
          <a:xfrm>
            <a:off x="7440168" y="3666378"/>
            <a:ext cx="2225040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log analytics</a:t>
            </a:r>
            <a:endParaRPr lang="en-US" sz="600" dirty="0"/>
          </a:p>
        </p:txBody>
      </p:sp>
      <p:sp>
        <p:nvSpPr>
          <p:cNvPr id="160" name="Shape 158"/>
          <p:cNvSpPr/>
          <p:nvPr/>
        </p:nvSpPr>
        <p:spPr>
          <a:xfrm>
            <a:off x="7239000" y="3877056"/>
            <a:ext cx="24993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312152" y="3945636"/>
            <a:ext cx="73152" cy="7315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62" name="Text 160"/>
          <p:cNvSpPr/>
          <p:nvPr/>
        </p:nvSpPr>
        <p:spPr>
          <a:xfrm>
            <a:off x="7440168" y="3886200"/>
            <a:ext cx="2225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Neptune</a:t>
            </a:r>
            <a:endParaRPr lang="en-US" sz="700" dirty="0"/>
          </a:p>
        </p:txBody>
      </p:sp>
      <p:sp>
        <p:nvSpPr>
          <p:cNvPr id="163" name="Text 161"/>
          <p:cNvSpPr/>
          <p:nvPr/>
        </p:nvSpPr>
        <p:spPr>
          <a:xfrm>
            <a:off x="7440168" y="4022994"/>
            <a:ext cx="2225040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database</a:t>
            </a:r>
            <a:endParaRPr lang="en-US" sz="600" dirty="0"/>
          </a:p>
        </p:txBody>
      </p:sp>
      <p:sp>
        <p:nvSpPr>
          <p:cNvPr id="164" name="Shape 162"/>
          <p:cNvSpPr/>
          <p:nvPr/>
        </p:nvSpPr>
        <p:spPr>
          <a:xfrm>
            <a:off x="8488680" y="3838651"/>
            <a:ext cx="0" cy="3109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5" name="Shape 163"/>
          <p:cNvSpPr/>
          <p:nvPr/>
        </p:nvSpPr>
        <p:spPr>
          <a:xfrm>
            <a:off x="5852160" y="4668012"/>
            <a:ext cx="0" cy="10058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6" name="Shape 164"/>
          <p:cNvSpPr/>
          <p:nvPr/>
        </p:nvSpPr>
        <p:spPr>
          <a:xfrm>
            <a:off x="1965960" y="4773168"/>
            <a:ext cx="7772400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67" name="Text 165"/>
          <p:cNvSpPr/>
          <p:nvPr/>
        </p:nvSpPr>
        <p:spPr>
          <a:xfrm>
            <a:off x="2057400" y="477316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delivery layer</a:t>
            </a:r>
            <a:endParaRPr lang="en-US" sz="1050" dirty="0"/>
          </a:p>
        </p:txBody>
      </p:sp>
      <p:sp>
        <p:nvSpPr>
          <p:cNvPr id="168" name="Shape 166"/>
          <p:cNvSpPr/>
          <p:nvPr/>
        </p:nvSpPr>
        <p:spPr>
          <a:xfrm>
            <a:off x="1965960" y="5001768"/>
            <a:ext cx="187452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2039112" y="5070348"/>
            <a:ext cx="73152" cy="73152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170" name="Text 168"/>
          <p:cNvSpPr/>
          <p:nvPr/>
        </p:nvSpPr>
        <p:spPr>
          <a:xfrm>
            <a:off x="2167128" y="50109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/ backend services</a:t>
            </a:r>
            <a:endParaRPr lang="en-US" sz="750" dirty="0"/>
          </a:p>
        </p:txBody>
      </p:sp>
      <p:sp>
        <p:nvSpPr>
          <p:cNvPr id="171" name="Text 169"/>
          <p:cNvSpPr/>
          <p:nvPr/>
        </p:nvSpPr>
        <p:spPr>
          <a:xfrm>
            <a:off x="2167128" y="517184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Gateway, Lambda</a:t>
            </a:r>
            <a:endParaRPr lang="en-US" sz="600" dirty="0"/>
          </a:p>
        </p:txBody>
      </p:sp>
      <p:sp>
        <p:nvSpPr>
          <p:cNvPr id="172" name="Shape 170"/>
          <p:cNvSpPr/>
          <p:nvPr/>
        </p:nvSpPr>
        <p:spPr>
          <a:xfrm>
            <a:off x="3858768" y="5184648"/>
            <a:ext cx="54864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3" name="Shape 171"/>
          <p:cNvSpPr/>
          <p:nvPr/>
        </p:nvSpPr>
        <p:spPr>
          <a:xfrm>
            <a:off x="3931920" y="5001768"/>
            <a:ext cx="187452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005072" y="5070348"/>
            <a:ext cx="73152" cy="73152"/>
          </a:xfrm>
          <a:prstGeom prst="ellipse">
            <a:avLst/>
          </a:prstGeom>
          <a:solidFill>
            <a:srgbClr val="4C7A3D"/>
          </a:solidFill>
          <a:ln/>
        </p:spPr>
      </p:sp>
      <p:sp>
        <p:nvSpPr>
          <p:cNvPr id="175" name="Text 173"/>
          <p:cNvSpPr/>
          <p:nvPr/>
        </p:nvSpPr>
        <p:spPr>
          <a:xfrm>
            <a:off x="4133088" y="50109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applications</a:t>
            </a:r>
            <a:endParaRPr lang="en-US" sz="750" dirty="0"/>
          </a:p>
        </p:txBody>
      </p:sp>
      <p:sp>
        <p:nvSpPr>
          <p:cNvPr id="176" name="Text 174"/>
          <p:cNvSpPr/>
          <p:nvPr/>
        </p:nvSpPr>
        <p:spPr>
          <a:xfrm>
            <a:off x="4133088" y="517184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interfaces</a:t>
            </a:r>
            <a:endParaRPr lang="en-US" sz="600" dirty="0"/>
          </a:p>
        </p:txBody>
      </p:sp>
      <p:sp>
        <p:nvSpPr>
          <p:cNvPr id="177" name="Shape 175"/>
          <p:cNvSpPr/>
          <p:nvPr/>
        </p:nvSpPr>
        <p:spPr>
          <a:xfrm>
            <a:off x="5824728" y="5184648"/>
            <a:ext cx="54864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>
            <a:off x="5897880" y="5001768"/>
            <a:ext cx="187452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971032" y="5070348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0" name="Text 178"/>
          <p:cNvSpPr/>
          <p:nvPr/>
        </p:nvSpPr>
        <p:spPr>
          <a:xfrm>
            <a:off x="6099048" y="50109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agents</a:t>
            </a:r>
            <a:endParaRPr lang="en-US" sz="750" dirty="0"/>
          </a:p>
        </p:txBody>
      </p:sp>
      <p:sp>
        <p:nvSpPr>
          <p:cNvPr id="181" name="Text 179"/>
          <p:cNvSpPr/>
          <p:nvPr/>
        </p:nvSpPr>
        <p:spPr>
          <a:xfrm>
            <a:off x="6099048" y="517184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UI</a:t>
            </a:r>
            <a:endParaRPr lang="en-US" sz="600" dirty="0"/>
          </a:p>
        </p:txBody>
      </p:sp>
      <p:sp>
        <p:nvSpPr>
          <p:cNvPr id="182" name="Shape 180"/>
          <p:cNvSpPr/>
          <p:nvPr/>
        </p:nvSpPr>
        <p:spPr>
          <a:xfrm>
            <a:off x="7790688" y="5184648"/>
            <a:ext cx="54864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3" name="Shape 181"/>
          <p:cNvSpPr/>
          <p:nvPr/>
        </p:nvSpPr>
        <p:spPr>
          <a:xfrm>
            <a:off x="7863840" y="5001768"/>
            <a:ext cx="187452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936992" y="5070348"/>
            <a:ext cx="73152" cy="73152"/>
          </a:xfrm>
          <a:prstGeom prst="ellipse">
            <a:avLst/>
          </a:prstGeom>
          <a:solidFill>
            <a:srgbClr val="B3336B"/>
          </a:solidFill>
          <a:ln/>
        </p:spPr>
      </p:sp>
      <p:sp>
        <p:nvSpPr>
          <p:cNvPr id="185" name="Text 183"/>
          <p:cNvSpPr/>
          <p:nvPr/>
        </p:nvSpPr>
        <p:spPr>
          <a:xfrm>
            <a:off x="8065008" y="50109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186" name="Text 184"/>
          <p:cNvSpPr/>
          <p:nvPr/>
        </p:nvSpPr>
        <p:spPr>
          <a:xfrm>
            <a:off x="8065008" y="517184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/ SQS</a:t>
            </a:r>
            <a:endParaRPr lang="en-US" sz="600" dirty="0"/>
          </a:p>
        </p:txBody>
      </p:sp>
      <p:sp>
        <p:nvSpPr>
          <p:cNvPr id="187" name="Shape 185"/>
          <p:cNvSpPr/>
          <p:nvPr/>
        </p:nvSpPr>
        <p:spPr>
          <a:xfrm>
            <a:off x="5852160" y="5378501"/>
            <a:ext cx="0" cy="2377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>
            <a:off x="1965960" y="5413248"/>
            <a:ext cx="7772400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89" name="Text 187"/>
          <p:cNvSpPr/>
          <p:nvPr/>
        </p:nvSpPr>
        <p:spPr>
          <a:xfrm>
            <a:off x="2057400" y="541324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connectivity layer</a:t>
            </a:r>
            <a:endParaRPr lang="en-US" sz="1050" dirty="0"/>
          </a:p>
        </p:txBody>
      </p:sp>
      <p:sp>
        <p:nvSpPr>
          <p:cNvPr id="190" name="Shape 188"/>
          <p:cNvSpPr/>
          <p:nvPr/>
        </p:nvSpPr>
        <p:spPr>
          <a:xfrm>
            <a:off x="1965960" y="5641848"/>
            <a:ext cx="2499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039112" y="5710428"/>
            <a:ext cx="73152" cy="7315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92" name="Text 190"/>
          <p:cNvSpPr/>
          <p:nvPr/>
        </p:nvSpPr>
        <p:spPr>
          <a:xfrm>
            <a:off x="2167128" y="5650992"/>
            <a:ext cx="222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PrivateLink</a:t>
            </a:r>
            <a:endParaRPr lang="en-US" sz="800" dirty="0"/>
          </a:p>
        </p:txBody>
      </p:sp>
      <p:sp>
        <p:nvSpPr>
          <p:cNvPr id="193" name="Text 191"/>
          <p:cNvSpPr/>
          <p:nvPr/>
        </p:nvSpPr>
        <p:spPr>
          <a:xfrm>
            <a:off x="2167128" y="5811926"/>
            <a:ext cx="222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access</a:t>
            </a:r>
            <a:endParaRPr lang="en-US" sz="650" dirty="0"/>
          </a:p>
        </p:txBody>
      </p:sp>
      <p:sp>
        <p:nvSpPr>
          <p:cNvPr id="194" name="Shape 192"/>
          <p:cNvSpPr/>
          <p:nvPr/>
        </p:nvSpPr>
        <p:spPr>
          <a:xfrm>
            <a:off x="4602480" y="5641848"/>
            <a:ext cx="2499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675632" y="5710428"/>
            <a:ext cx="73152" cy="7315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96" name="Text 194"/>
          <p:cNvSpPr/>
          <p:nvPr/>
        </p:nvSpPr>
        <p:spPr>
          <a:xfrm>
            <a:off x="4803648" y="5650992"/>
            <a:ext cx="222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Transit Gateway</a:t>
            </a:r>
            <a:endParaRPr lang="en-US" sz="800" dirty="0"/>
          </a:p>
        </p:txBody>
      </p:sp>
      <p:sp>
        <p:nvSpPr>
          <p:cNvPr id="197" name="Text 195"/>
          <p:cNvSpPr/>
          <p:nvPr/>
        </p:nvSpPr>
        <p:spPr>
          <a:xfrm>
            <a:off x="4803648" y="5811926"/>
            <a:ext cx="222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connectivity</a:t>
            </a:r>
            <a:endParaRPr lang="en-US" sz="650" dirty="0"/>
          </a:p>
        </p:txBody>
      </p:sp>
      <p:sp>
        <p:nvSpPr>
          <p:cNvPr id="198" name="Shape 196"/>
          <p:cNvSpPr/>
          <p:nvPr/>
        </p:nvSpPr>
        <p:spPr>
          <a:xfrm>
            <a:off x="7239000" y="5641848"/>
            <a:ext cx="2499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12152" y="5710428"/>
            <a:ext cx="73152" cy="7315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00" name="Text 198"/>
          <p:cNvSpPr/>
          <p:nvPr/>
        </p:nvSpPr>
        <p:spPr>
          <a:xfrm>
            <a:off x="7440168" y="5650992"/>
            <a:ext cx="222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Endpoints</a:t>
            </a:r>
            <a:endParaRPr lang="en-US" sz="800" dirty="0"/>
          </a:p>
        </p:txBody>
      </p:sp>
      <p:sp>
        <p:nvSpPr>
          <p:cNvPr id="201" name="Text 199"/>
          <p:cNvSpPr/>
          <p:nvPr/>
        </p:nvSpPr>
        <p:spPr>
          <a:xfrm>
            <a:off x="7440168" y="5811926"/>
            <a:ext cx="222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Kinesis, DynamoDB</a:t>
            </a:r>
            <a:endParaRPr lang="en-US" sz="650" dirty="0"/>
          </a:p>
        </p:txBody>
      </p:sp>
      <p:sp>
        <p:nvSpPr>
          <p:cNvPr id="202" name="Shape 200"/>
          <p:cNvSpPr/>
          <p:nvPr/>
        </p:nvSpPr>
        <p:spPr>
          <a:xfrm>
            <a:off x="9875520" y="2148840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03" name="Shape 201"/>
          <p:cNvSpPr/>
          <p:nvPr/>
        </p:nvSpPr>
        <p:spPr>
          <a:xfrm>
            <a:off x="9875520" y="3703320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04" name="Shape 202"/>
          <p:cNvSpPr/>
          <p:nvPr/>
        </p:nvSpPr>
        <p:spPr>
          <a:xfrm>
            <a:off x="320040" y="6208776"/>
            <a:ext cx="29260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5" name="Text 203"/>
          <p:cNvSpPr/>
          <p:nvPr/>
        </p:nvSpPr>
        <p:spPr>
          <a:xfrm>
            <a:off x="685800" y="61356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1737360" y="6208776"/>
            <a:ext cx="29260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07" name="Text 205"/>
          <p:cNvSpPr/>
          <p:nvPr/>
        </p:nvSpPr>
        <p:spPr>
          <a:xfrm>
            <a:off x="2103120" y="61356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/ orchestration flow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</Words>
  <Application>Microsoft Office PowerPoint</Application>
  <PresentationFormat>Widescreen</PresentationFormat>
  <Paragraphs>105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Windows User</cp:lastModifiedBy>
  <cp:revision>1</cp:revision>
  <dcterms:created xsi:type="dcterms:W3CDTF">2026-07-16T05:47:20Z</dcterms:created>
  <dcterms:modified xsi:type="dcterms:W3CDTF">2026-07-16T06:02:32Z</dcterms:modified>
</cp:coreProperties>
</file>