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20040"/>
            <a:ext cx="9418320" cy="29260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320040"/>
            <a:ext cx="9235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layer  —  governance &amp; business value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320040" y="612648"/>
            <a:ext cx="9418320" cy="621792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" y="649224"/>
            <a:ext cx="21717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outcomes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11480" y="868680"/>
            <a:ext cx="21717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Data-driven insights, AI automation, better CX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766060" y="649224"/>
            <a:ext cx="21717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optimization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766060" y="868680"/>
            <a:ext cx="21717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Right-sizing, autoscaling, serverless storage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5120640" y="649224"/>
            <a:ext cx="21717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&amp; security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120640" y="868680"/>
            <a:ext cx="21717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privilege, encryption, audit &amp; monitoring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7475220" y="649224"/>
            <a:ext cx="21717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&amp; resilience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475220" y="868680"/>
            <a:ext cx="21717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Multi-AZ, backups, DR, high availability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9921240" y="320040"/>
            <a:ext cx="1920240" cy="6217920"/>
          </a:xfrm>
          <a:prstGeom prst="rect">
            <a:avLst/>
          </a:prstGeom>
          <a:solidFill>
            <a:srgbClr val="FAFAFB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1240" y="320040"/>
            <a:ext cx="1920240" cy="274320"/>
          </a:xfrm>
          <a:prstGeom prst="rect">
            <a:avLst/>
          </a:prstGeom>
          <a:solidFill>
            <a:srgbClr val="4C3F91"/>
          </a:solidFill>
          <a:ln/>
        </p:spPr>
      </p:sp>
      <p:sp>
        <p:nvSpPr>
          <p:cNvPr id="15" name="Text 13"/>
          <p:cNvSpPr/>
          <p:nvPr/>
        </p:nvSpPr>
        <p:spPr>
          <a:xfrm>
            <a:off x="10012680" y="3200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compliance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10058400" y="736092"/>
            <a:ext cx="73152" cy="73152"/>
          </a:xfrm>
          <a:prstGeom prst="ellipse">
            <a:avLst/>
          </a:prstGeom>
          <a:solidFill>
            <a:srgbClr val="A32D2D"/>
          </a:solidFill>
          <a:ln/>
        </p:spPr>
      </p:sp>
      <p:sp>
        <p:nvSpPr>
          <p:cNvPr id="17" name="Text 15"/>
          <p:cNvSpPr/>
          <p:nvPr/>
        </p:nvSpPr>
        <p:spPr>
          <a:xfrm>
            <a:off x="10195560" y="685800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(roles)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10058400" y="1024128"/>
            <a:ext cx="73152" cy="73152"/>
          </a:xfrm>
          <a:prstGeom prst="ellipse">
            <a:avLst/>
          </a:prstGeom>
          <a:solidFill>
            <a:srgbClr val="A32D2D"/>
          </a:solidFill>
          <a:ln/>
        </p:spPr>
      </p:sp>
      <p:sp>
        <p:nvSpPr>
          <p:cNvPr id="19" name="Text 17"/>
          <p:cNvSpPr/>
          <p:nvPr/>
        </p:nvSpPr>
        <p:spPr>
          <a:xfrm>
            <a:off x="10195560" y="973836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Secrets Manager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10058400" y="1312164"/>
            <a:ext cx="73152" cy="73152"/>
          </a:xfrm>
          <a:prstGeom prst="ellipse">
            <a:avLst/>
          </a:prstGeom>
          <a:solidFill>
            <a:srgbClr val="A32D2D"/>
          </a:solidFill>
          <a:ln/>
        </p:spPr>
      </p:sp>
      <p:sp>
        <p:nvSpPr>
          <p:cNvPr id="21" name="Text 19"/>
          <p:cNvSpPr/>
          <p:nvPr/>
        </p:nvSpPr>
        <p:spPr>
          <a:xfrm>
            <a:off x="10195560" y="1261872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KMS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0058400" y="1600200"/>
            <a:ext cx="73152" cy="73152"/>
          </a:xfrm>
          <a:prstGeom prst="ellipse">
            <a:avLst/>
          </a:prstGeom>
          <a:solidFill>
            <a:srgbClr val="A32D2D"/>
          </a:solidFill>
          <a:ln/>
        </p:spPr>
      </p:sp>
      <p:sp>
        <p:nvSpPr>
          <p:cNvPr id="23" name="Text 21"/>
          <p:cNvSpPr/>
          <p:nvPr/>
        </p:nvSpPr>
        <p:spPr>
          <a:xfrm>
            <a:off x="10195560" y="1549908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WAF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10058400" y="1888236"/>
            <a:ext cx="73152" cy="73152"/>
          </a:xfrm>
          <a:prstGeom prst="ellipse">
            <a:avLst/>
          </a:prstGeom>
          <a:solidFill>
            <a:srgbClr val="A32D2D"/>
          </a:solidFill>
          <a:ln/>
        </p:spPr>
      </p:sp>
      <p:sp>
        <p:nvSpPr>
          <p:cNvPr id="25" name="Text 23"/>
          <p:cNvSpPr/>
          <p:nvPr/>
        </p:nvSpPr>
        <p:spPr>
          <a:xfrm>
            <a:off x="10195560" y="1837944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CloudWatch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10058400" y="2176272"/>
            <a:ext cx="73152" cy="73152"/>
          </a:xfrm>
          <a:prstGeom prst="ellipse">
            <a:avLst/>
          </a:prstGeom>
          <a:solidFill>
            <a:srgbClr val="A32D2D"/>
          </a:solidFill>
          <a:ln/>
        </p:spPr>
      </p:sp>
      <p:sp>
        <p:nvSpPr>
          <p:cNvPr id="27" name="Text 25"/>
          <p:cNvSpPr/>
          <p:nvPr/>
        </p:nvSpPr>
        <p:spPr>
          <a:xfrm>
            <a:off x="10195560" y="2125980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CloudTrail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10058400" y="2464308"/>
            <a:ext cx="73152" cy="73152"/>
          </a:xfrm>
          <a:prstGeom prst="ellipse">
            <a:avLst/>
          </a:prstGeom>
          <a:solidFill>
            <a:srgbClr val="A32D2D"/>
          </a:solidFill>
          <a:ln/>
        </p:spPr>
      </p:sp>
      <p:sp>
        <p:nvSpPr>
          <p:cNvPr id="29" name="Text 27"/>
          <p:cNvSpPr/>
          <p:nvPr/>
        </p:nvSpPr>
        <p:spPr>
          <a:xfrm>
            <a:off x="10195560" y="2414016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EventBridge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10058400" y="2752344"/>
            <a:ext cx="73152" cy="73152"/>
          </a:xfrm>
          <a:prstGeom prst="ellipse">
            <a:avLst/>
          </a:prstGeom>
          <a:solidFill>
            <a:srgbClr val="A32D2D"/>
          </a:solidFill>
          <a:ln/>
        </p:spPr>
      </p:sp>
      <p:sp>
        <p:nvSpPr>
          <p:cNvPr id="31" name="Text 29"/>
          <p:cNvSpPr/>
          <p:nvPr/>
        </p:nvSpPr>
        <p:spPr>
          <a:xfrm>
            <a:off x="10195560" y="2702052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Flow Logs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10058400" y="3040380"/>
            <a:ext cx="73152" cy="73152"/>
          </a:xfrm>
          <a:prstGeom prst="ellipse">
            <a:avLst/>
          </a:prstGeom>
          <a:solidFill>
            <a:srgbClr val="A32D2D"/>
          </a:solidFill>
          <a:ln/>
        </p:spPr>
      </p:sp>
      <p:sp>
        <p:nvSpPr>
          <p:cNvPr id="33" name="Text 31"/>
          <p:cNvSpPr/>
          <p:nvPr/>
        </p:nvSpPr>
        <p:spPr>
          <a:xfrm>
            <a:off x="10195560" y="2990088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Config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10058400" y="3442716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observability benefits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058400" y="3717036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B6D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Real-time monitoring &amp; alarms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10058400" y="398221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B6D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Centralized logging &amp; audit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10058400" y="4247388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B6D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Security threat detection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0058400" y="4512564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B6D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Compliance &amp; governance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320040" y="1371600"/>
            <a:ext cx="150876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94A3B8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411480" y="1426464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11480" y="1664208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Applications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411480" y="1869948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Web / mobile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11480" y="2075688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IoT / devices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11480" y="2281428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Files / docs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411480" y="2487168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Third-party APIs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1828800" y="2029968"/>
            <a:ext cx="109728" cy="0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1965960" y="1371600"/>
            <a:ext cx="7772400" cy="18288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48" name="Text 46"/>
          <p:cNvSpPr/>
          <p:nvPr/>
        </p:nvSpPr>
        <p:spPr>
          <a:xfrm>
            <a:off x="2057400" y="1371600"/>
            <a:ext cx="7589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layer — ingestion &amp; storage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1965960" y="1600200"/>
            <a:ext cx="123444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039112" y="1668780"/>
            <a:ext cx="73152" cy="73152"/>
          </a:xfrm>
          <a:prstGeom prst="ellipse">
            <a:avLst/>
          </a:prstGeom>
          <a:solidFill>
            <a:srgbClr val="4C7A3D"/>
          </a:solidFill>
          <a:ln/>
        </p:spPr>
      </p:sp>
      <p:sp>
        <p:nvSpPr>
          <p:cNvPr id="51" name="Text 49"/>
          <p:cNvSpPr/>
          <p:nvPr/>
        </p:nvSpPr>
        <p:spPr>
          <a:xfrm>
            <a:off x="2167128" y="1609344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S3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2167128" y="1770278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lake</a:t>
            </a:r>
            <a:endParaRPr lang="en-US" sz="600" dirty="0"/>
          </a:p>
        </p:txBody>
      </p:sp>
      <p:sp>
        <p:nvSpPr>
          <p:cNvPr id="53" name="Shape 51"/>
          <p:cNvSpPr/>
          <p:nvPr/>
        </p:nvSpPr>
        <p:spPr>
          <a:xfrm>
            <a:off x="3273552" y="1600200"/>
            <a:ext cx="123444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346704" y="1668780"/>
            <a:ext cx="73152" cy="73152"/>
          </a:xfrm>
          <a:prstGeom prst="ellipse">
            <a:avLst/>
          </a:prstGeom>
          <a:solidFill>
            <a:srgbClr val="6D28D9"/>
          </a:solidFill>
          <a:ln/>
        </p:spPr>
      </p:sp>
      <p:sp>
        <p:nvSpPr>
          <p:cNvPr id="55" name="Text 53"/>
          <p:cNvSpPr/>
          <p:nvPr/>
        </p:nvSpPr>
        <p:spPr>
          <a:xfrm>
            <a:off x="3474720" y="1609344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Glue Schema Registry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3474720" y="1770278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governance</a:t>
            </a:r>
            <a:endParaRPr lang="en-US" sz="600" dirty="0"/>
          </a:p>
        </p:txBody>
      </p:sp>
      <p:sp>
        <p:nvSpPr>
          <p:cNvPr id="57" name="Shape 55"/>
          <p:cNvSpPr/>
          <p:nvPr/>
        </p:nvSpPr>
        <p:spPr>
          <a:xfrm>
            <a:off x="4581144" y="1600200"/>
            <a:ext cx="123444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654296" y="1668780"/>
            <a:ext cx="73152" cy="73152"/>
          </a:xfrm>
          <a:prstGeom prst="ellipse">
            <a:avLst/>
          </a:prstGeom>
          <a:solidFill>
            <a:srgbClr val="6D28D9"/>
          </a:solidFill>
          <a:ln/>
        </p:spPr>
      </p:sp>
      <p:sp>
        <p:nvSpPr>
          <p:cNvPr id="59" name="Text 57"/>
          <p:cNvSpPr/>
          <p:nvPr/>
        </p:nvSpPr>
        <p:spPr>
          <a:xfrm>
            <a:off x="4782312" y="1609344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Kinesis Data Streams</a:t>
            </a:r>
            <a:endParaRPr lang="en-US" sz="750" dirty="0"/>
          </a:p>
        </p:txBody>
      </p:sp>
      <p:sp>
        <p:nvSpPr>
          <p:cNvPr id="60" name="Text 58"/>
          <p:cNvSpPr/>
          <p:nvPr/>
        </p:nvSpPr>
        <p:spPr>
          <a:xfrm>
            <a:off x="4782312" y="1770278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ingestion</a:t>
            </a:r>
            <a:endParaRPr lang="en-US" sz="600" dirty="0"/>
          </a:p>
        </p:txBody>
      </p:sp>
      <p:sp>
        <p:nvSpPr>
          <p:cNvPr id="61" name="Shape 59"/>
          <p:cNvSpPr/>
          <p:nvPr/>
        </p:nvSpPr>
        <p:spPr>
          <a:xfrm>
            <a:off x="5888736" y="1600200"/>
            <a:ext cx="123444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961888" y="1668780"/>
            <a:ext cx="73152" cy="73152"/>
          </a:xfrm>
          <a:prstGeom prst="ellipse">
            <a:avLst/>
          </a:prstGeom>
          <a:solidFill>
            <a:srgbClr val="6D28D9"/>
          </a:solidFill>
          <a:ln/>
        </p:spPr>
      </p:sp>
      <p:sp>
        <p:nvSpPr>
          <p:cNvPr id="63" name="Text 61"/>
          <p:cNvSpPr/>
          <p:nvPr/>
        </p:nvSpPr>
        <p:spPr>
          <a:xfrm>
            <a:off x="6089904" y="1609344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MSK</a:t>
            </a:r>
            <a:endParaRPr lang="en-US" sz="750" dirty="0"/>
          </a:p>
        </p:txBody>
      </p:sp>
      <p:sp>
        <p:nvSpPr>
          <p:cNvPr id="64" name="Text 62"/>
          <p:cNvSpPr/>
          <p:nvPr/>
        </p:nvSpPr>
        <p:spPr>
          <a:xfrm>
            <a:off x="6089904" y="1770278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Kafka</a:t>
            </a:r>
            <a:endParaRPr lang="en-US" sz="600" dirty="0"/>
          </a:p>
        </p:txBody>
      </p:sp>
      <p:sp>
        <p:nvSpPr>
          <p:cNvPr id="65" name="Shape 63"/>
          <p:cNvSpPr/>
          <p:nvPr/>
        </p:nvSpPr>
        <p:spPr>
          <a:xfrm>
            <a:off x="7196328" y="1600200"/>
            <a:ext cx="123444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269480" y="1668780"/>
            <a:ext cx="73152" cy="73152"/>
          </a:xfrm>
          <a:prstGeom prst="ellipse">
            <a:avLst/>
          </a:prstGeom>
          <a:solidFill>
            <a:srgbClr val="B3336B"/>
          </a:solidFill>
          <a:ln/>
        </p:spPr>
      </p:sp>
      <p:sp>
        <p:nvSpPr>
          <p:cNvPr id="67" name="Text 65"/>
          <p:cNvSpPr/>
          <p:nvPr/>
        </p:nvSpPr>
        <p:spPr>
          <a:xfrm>
            <a:off x="7397496" y="1609344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EventBridge</a:t>
            </a:r>
            <a:endParaRPr lang="en-US" sz="750" dirty="0"/>
          </a:p>
        </p:txBody>
      </p:sp>
      <p:sp>
        <p:nvSpPr>
          <p:cNvPr id="68" name="Text 66"/>
          <p:cNvSpPr/>
          <p:nvPr/>
        </p:nvSpPr>
        <p:spPr>
          <a:xfrm>
            <a:off x="7397496" y="1770278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routing</a:t>
            </a:r>
            <a:endParaRPr lang="en-US" sz="600" dirty="0"/>
          </a:p>
        </p:txBody>
      </p:sp>
      <p:sp>
        <p:nvSpPr>
          <p:cNvPr id="69" name="Shape 67"/>
          <p:cNvSpPr/>
          <p:nvPr/>
        </p:nvSpPr>
        <p:spPr>
          <a:xfrm>
            <a:off x="8503920" y="1600200"/>
            <a:ext cx="123444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577072" y="1668780"/>
            <a:ext cx="73152" cy="73152"/>
          </a:xfrm>
          <a:prstGeom prst="ellipse">
            <a:avLst/>
          </a:prstGeom>
          <a:solidFill>
            <a:srgbClr val="B3336B"/>
          </a:solidFill>
          <a:ln/>
        </p:spPr>
      </p:sp>
      <p:sp>
        <p:nvSpPr>
          <p:cNvPr id="71" name="Text 69"/>
          <p:cNvSpPr/>
          <p:nvPr/>
        </p:nvSpPr>
        <p:spPr>
          <a:xfrm>
            <a:off x="8705088" y="1609344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SNS / SQS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8705088" y="1770278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</a:t>
            </a:r>
            <a:endParaRPr lang="en-US" sz="600" dirty="0"/>
          </a:p>
        </p:txBody>
      </p:sp>
      <p:sp>
        <p:nvSpPr>
          <p:cNvPr id="73" name="Shape 71"/>
          <p:cNvSpPr/>
          <p:nvPr/>
        </p:nvSpPr>
        <p:spPr>
          <a:xfrm>
            <a:off x="5852160" y="1976933"/>
            <a:ext cx="0" cy="23774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74" name="Shape 72"/>
          <p:cNvSpPr/>
          <p:nvPr/>
        </p:nvSpPr>
        <p:spPr>
          <a:xfrm>
            <a:off x="1965960" y="2011680"/>
            <a:ext cx="7772400" cy="18288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75" name="Text 73"/>
          <p:cNvSpPr/>
          <p:nvPr/>
        </p:nvSpPr>
        <p:spPr>
          <a:xfrm>
            <a:off x="2057400" y="2011680"/>
            <a:ext cx="7589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 &amp; integration layer</a:t>
            </a:r>
            <a:endParaRPr lang="en-US" sz="1050" dirty="0"/>
          </a:p>
        </p:txBody>
      </p:sp>
      <p:sp>
        <p:nvSpPr>
          <p:cNvPr id="76" name="Shape 74"/>
          <p:cNvSpPr/>
          <p:nvPr/>
        </p:nvSpPr>
        <p:spPr>
          <a:xfrm>
            <a:off x="1965960" y="2240280"/>
            <a:ext cx="249936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2039112" y="2308860"/>
            <a:ext cx="73152" cy="73152"/>
          </a:xfrm>
          <a:prstGeom prst="ellipse">
            <a:avLst/>
          </a:prstGeom>
          <a:solidFill>
            <a:srgbClr val="D2691E"/>
          </a:solidFill>
          <a:ln/>
        </p:spPr>
      </p:sp>
      <p:sp>
        <p:nvSpPr>
          <p:cNvPr id="78" name="Text 76"/>
          <p:cNvSpPr/>
          <p:nvPr/>
        </p:nvSpPr>
        <p:spPr>
          <a:xfrm>
            <a:off x="2167128" y="2249424"/>
            <a:ext cx="2225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MWAA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2167128" y="2410358"/>
            <a:ext cx="222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Airflow</a:t>
            </a:r>
            <a:endParaRPr lang="en-US" sz="650" dirty="0"/>
          </a:p>
        </p:txBody>
      </p:sp>
      <p:sp>
        <p:nvSpPr>
          <p:cNvPr id="80" name="Shape 78"/>
          <p:cNvSpPr/>
          <p:nvPr/>
        </p:nvSpPr>
        <p:spPr>
          <a:xfrm>
            <a:off x="4483608" y="2423160"/>
            <a:ext cx="100584" cy="0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81" name="Shape 79"/>
          <p:cNvSpPr/>
          <p:nvPr/>
        </p:nvSpPr>
        <p:spPr>
          <a:xfrm>
            <a:off x="4602480" y="2240280"/>
            <a:ext cx="249936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4675632" y="2308860"/>
            <a:ext cx="73152" cy="73152"/>
          </a:xfrm>
          <a:prstGeom prst="ellipse">
            <a:avLst/>
          </a:prstGeom>
          <a:solidFill>
            <a:srgbClr val="B3336B"/>
          </a:solidFill>
          <a:ln/>
        </p:spPr>
      </p:sp>
      <p:sp>
        <p:nvSpPr>
          <p:cNvPr id="83" name="Text 81"/>
          <p:cNvSpPr/>
          <p:nvPr/>
        </p:nvSpPr>
        <p:spPr>
          <a:xfrm>
            <a:off x="4803648" y="2249424"/>
            <a:ext cx="2225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Step Functions</a:t>
            </a:r>
            <a:endParaRPr lang="en-US" sz="800" dirty="0"/>
          </a:p>
        </p:txBody>
      </p:sp>
      <p:sp>
        <p:nvSpPr>
          <p:cNvPr id="84" name="Text 82"/>
          <p:cNvSpPr/>
          <p:nvPr/>
        </p:nvSpPr>
        <p:spPr>
          <a:xfrm>
            <a:off x="4803648" y="2410358"/>
            <a:ext cx="222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orchestration</a:t>
            </a:r>
            <a:endParaRPr lang="en-US" sz="650" dirty="0"/>
          </a:p>
        </p:txBody>
      </p:sp>
      <p:sp>
        <p:nvSpPr>
          <p:cNvPr id="85" name="Shape 83"/>
          <p:cNvSpPr/>
          <p:nvPr/>
        </p:nvSpPr>
        <p:spPr>
          <a:xfrm>
            <a:off x="7120128" y="2423160"/>
            <a:ext cx="100584" cy="0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86" name="Shape 84"/>
          <p:cNvSpPr/>
          <p:nvPr/>
        </p:nvSpPr>
        <p:spPr>
          <a:xfrm>
            <a:off x="7239000" y="2240280"/>
            <a:ext cx="249936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7312152" y="2308860"/>
            <a:ext cx="73152" cy="73152"/>
          </a:xfrm>
          <a:prstGeom prst="ellipse">
            <a:avLst/>
          </a:prstGeom>
          <a:solidFill>
            <a:srgbClr val="D2691E"/>
          </a:solidFill>
          <a:ln/>
        </p:spPr>
      </p:sp>
      <p:sp>
        <p:nvSpPr>
          <p:cNvPr id="88" name="Text 86"/>
          <p:cNvSpPr/>
          <p:nvPr/>
        </p:nvSpPr>
        <p:spPr>
          <a:xfrm>
            <a:off x="7440168" y="2249424"/>
            <a:ext cx="2225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800" dirty="0"/>
          </a:p>
        </p:txBody>
      </p:sp>
      <p:sp>
        <p:nvSpPr>
          <p:cNvPr id="89" name="Text 87"/>
          <p:cNvSpPr/>
          <p:nvPr/>
        </p:nvSpPr>
        <p:spPr>
          <a:xfrm>
            <a:off x="7440168" y="2410358"/>
            <a:ext cx="222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 compute</a:t>
            </a:r>
            <a:endParaRPr lang="en-US" sz="650" dirty="0"/>
          </a:p>
        </p:txBody>
      </p:sp>
      <p:sp>
        <p:nvSpPr>
          <p:cNvPr id="90" name="Shape 88"/>
          <p:cNvSpPr/>
          <p:nvPr/>
        </p:nvSpPr>
        <p:spPr>
          <a:xfrm>
            <a:off x="5852160" y="2617013"/>
            <a:ext cx="0" cy="23774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91" name="Shape 89"/>
          <p:cNvSpPr/>
          <p:nvPr/>
        </p:nvSpPr>
        <p:spPr>
          <a:xfrm>
            <a:off x="1965960" y="2651760"/>
            <a:ext cx="7772400" cy="18288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92" name="Text 90"/>
          <p:cNvSpPr/>
          <p:nvPr/>
        </p:nvSpPr>
        <p:spPr>
          <a:xfrm>
            <a:off x="2057400" y="2651760"/>
            <a:ext cx="7589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 &amp; compute layer</a:t>
            </a:r>
            <a:endParaRPr lang="en-US" sz="1050" dirty="0"/>
          </a:p>
        </p:txBody>
      </p:sp>
      <p:sp>
        <p:nvSpPr>
          <p:cNvPr id="93" name="Shape 91"/>
          <p:cNvSpPr/>
          <p:nvPr/>
        </p:nvSpPr>
        <p:spPr>
          <a:xfrm>
            <a:off x="1965960" y="2880360"/>
            <a:ext cx="1495958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2039112" y="2948940"/>
            <a:ext cx="73152" cy="73152"/>
          </a:xfrm>
          <a:prstGeom prst="ellipse">
            <a:avLst/>
          </a:prstGeom>
          <a:solidFill>
            <a:srgbClr val="D2691E"/>
          </a:solidFill>
          <a:ln/>
        </p:spPr>
      </p:sp>
      <p:sp>
        <p:nvSpPr>
          <p:cNvPr id="95" name="Text 93"/>
          <p:cNvSpPr/>
          <p:nvPr/>
        </p:nvSpPr>
        <p:spPr>
          <a:xfrm>
            <a:off x="2167128" y="2889504"/>
            <a:ext cx="122163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EMR</a:t>
            </a:r>
            <a:endParaRPr lang="en-US" sz="750" dirty="0"/>
          </a:p>
        </p:txBody>
      </p:sp>
      <p:sp>
        <p:nvSpPr>
          <p:cNvPr id="96" name="Text 94"/>
          <p:cNvSpPr/>
          <p:nvPr/>
        </p:nvSpPr>
        <p:spPr>
          <a:xfrm>
            <a:off x="2167128" y="3050438"/>
            <a:ext cx="12216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processing</a:t>
            </a:r>
            <a:endParaRPr lang="en-US" sz="600" dirty="0"/>
          </a:p>
        </p:txBody>
      </p:sp>
      <p:sp>
        <p:nvSpPr>
          <p:cNvPr id="97" name="Shape 95"/>
          <p:cNvSpPr/>
          <p:nvPr/>
        </p:nvSpPr>
        <p:spPr>
          <a:xfrm>
            <a:off x="3535070" y="2880360"/>
            <a:ext cx="1495958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3608222" y="2948940"/>
            <a:ext cx="73152" cy="73152"/>
          </a:xfrm>
          <a:prstGeom prst="ellipse">
            <a:avLst/>
          </a:prstGeom>
          <a:solidFill>
            <a:srgbClr val="D2691E"/>
          </a:solidFill>
          <a:ln/>
        </p:spPr>
      </p:sp>
      <p:sp>
        <p:nvSpPr>
          <p:cNvPr id="99" name="Text 97"/>
          <p:cNvSpPr/>
          <p:nvPr/>
        </p:nvSpPr>
        <p:spPr>
          <a:xfrm>
            <a:off x="3736238" y="2889504"/>
            <a:ext cx="122163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EKS</a:t>
            </a:r>
            <a:endParaRPr lang="en-US" sz="750" dirty="0"/>
          </a:p>
        </p:txBody>
      </p:sp>
      <p:sp>
        <p:nvSpPr>
          <p:cNvPr id="100" name="Text 98"/>
          <p:cNvSpPr/>
          <p:nvPr/>
        </p:nvSpPr>
        <p:spPr>
          <a:xfrm>
            <a:off x="3736238" y="3050438"/>
            <a:ext cx="12216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</a:t>
            </a:r>
            <a:endParaRPr lang="en-US" sz="600" dirty="0"/>
          </a:p>
        </p:txBody>
      </p:sp>
      <p:sp>
        <p:nvSpPr>
          <p:cNvPr id="101" name="Shape 99"/>
          <p:cNvSpPr/>
          <p:nvPr/>
        </p:nvSpPr>
        <p:spPr>
          <a:xfrm>
            <a:off x="5104181" y="2880360"/>
            <a:ext cx="1495958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5177333" y="2948940"/>
            <a:ext cx="73152" cy="73152"/>
          </a:xfrm>
          <a:prstGeom prst="ellipse">
            <a:avLst/>
          </a:prstGeom>
          <a:solidFill>
            <a:srgbClr val="D2691E"/>
          </a:solidFill>
          <a:ln/>
        </p:spPr>
      </p:sp>
      <p:sp>
        <p:nvSpPr>
          <p:cNvPr id="103" name="Text 101"/>
          <p:cNvSpPr/>
          <p:nvPr/>
        </p:nvSpPr>
        <p:spPr>
          <a:xfrm>
            <a:off x="5305349" y="2889504"/>
            <a:ext cx="122163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750" dirty="0"/>
          </a:p>
        </p:txBody>
      </p:sp>
      <p:sp>
        <p:nvSpPr>
          <p:cNvPr id="104" name="Text 102"/>
          <p:cNvSpPr/>
          <p:nvPr/>
        </p:nvSpPr>
        <p:spPr>
          <a:xfrm>
            <a:off x="5305349" y="3050438"/>
            <a:ext cx="12216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processing</a:t>
            </a:r>
            <a:endParaRPr lang="en-US" sz="600" dirty="0"/>
          </a:p>
        </p:txBody>
      </p:sp>
      <p:sp>
        <p:nvSpPr>
          <p:cNvPr id="105" name="Shape 103"/>
          <p:cNvSpPr/>
          <p:nvPr/>
        </p:nvSpPr>
        <p:spPr>
          <a:xfrm>
            <a:off x="6673291" y="2880360"/>
            <a:ext cx="1495958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6746443" y="2948940"/>
            <a:ext cx="73152" cy="73152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07" name="Text 105"/>
          <p:cNvSpPr/>
          <p:nvPr/>
        </p:nvSpPr>
        <p:spPr>
          <a:xfrm>
            <a:off x="6874459" y="2889504"/>
            <a:ext cx="122163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ElastiCache Redis</a:t>
            </a:r>
            <a:endParaRPr lang="en-US" sz="750" dirty="0"/>
          </a:p>
        </p:txBody>
      </p:sp>
      <p:sp>
        <p:nvSpPr>
          <p:cNvPr id="108" name="Text 106"/>
          <p:cNvSpPr/>
          <p:nvPr/>
        </p:nvSpPr>
        <p:spPr>
          <a:xfrm>
            <a:off x="6874459" y="3050438"/>
            <a:ext cx="12216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In-memory cache</a:t>
            </a:r>
            <a:endParaRPr lang="en-US" sz="600" dirty="0"/>
          </a:p>
        </p:txBody>
      </p:sp>
      <p:sp>
        <p:nvSpPr>
          <p:cNvPr id="109" name="Shape 107"/>
          <p:cNvSpPr/>
          <p:nvPr/>
        </p:nvSpPr>
        <p:spPr>
          <a:xfrm>
            <a:off x="8242402" y="2880360"/>
            <a:ext cx="1495958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315554" y="2948940"/>
            <a:ext cx="73152" cy="73152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11" name="Text 109"/>
          <p:cNvSpPr/>
          <p:nvPr/>
        </p:nvSpPr>
        <p:spPr>
          <a:xfrm>
            <a:off x="8443570" y="2889504"/>
            <a:ext cx="122163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DynamoDB</a:t>
            </a:r>
            <a:endParaRPr lang="en-US" sz="750" dirty="0"/>
          </a:p>
        </p:txBody>
      </p:sp>
      <p:sp>
        <p:nvSpPr>
          <p:cNvPr id="112" name="Text 110"/>
          <p:cNvSpPr/>
          <p:nvPr/>
        </p:nvSpPr>
        <p:spPr>
          <a:xfrm>
            <a:off x="8443570" y="3050438"/>
            <a:ext cx="12216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NoSQL store</a:t>
            </a:r>
            <a:endParaRPr lang="en-US" sz="600" dirty="0"/>
          </a:p>
        </p:txBody>
      </p:sp>
      <p:sp>
        <p:nvSpPr>
          <p:cNvPr id="113" name="Shape 111"/>
          <p:cNvSpPr/>
          <p:nvPr/>
        </p:nvSpPr>
        <p:spPr>
          <a:xfrm>
            <a:off x="1965960" y="3291840"/>
            <a:ext cx="2499360" cy="18288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114" name="Text 112"/>
          <p:cNvSpPr/>
          <p:nvPr/>
        </p:nvSpPr>
        <p:spPr>
          <a:xfrm>
            <a:off x="2057400" y="3291840"/>
            <a:ext cx="2316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&amp; AI services</a:t>
            </a:r>
            <a:endParaRPr lang="en-US" sz="1050" dirty="0"/>
          </a:p>
        </p:txBody>
      </p:sp>
      <p:sp>
        <p:nvSpPr>
          <p:cNvPr id="115" name="Shape 113"/>
          <p:cNvSpPr/>
          <p:nvPr/>
        </p:nvSpPr>
        <p:spPr>
          <a:xfrm>
            <a:off x="4602480" y="3291840"/>
            <a:ext cx="2499360" cy="18288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116" name="Text 114"/>
          <p:cNvSpPr/>
          <p:nvPr/>
        </p:nvSpPr>
        <p:spPr>
          <a:xfrm>
            <a:off x="4693920" y="3291840"/>
            <a:ext cx="2316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 doc &amp; content AI</a:t>
            </a:r>
            <a:endParaRPr lang="en-US" sz="1050" dirty="0"/>
          </a:p>
        </p:txBody>
      </p:sp>
      <p:sp>
        <p:nvSpPr>
          <p:cNvPr id="117" name="Shape 115"/>
          <p:cNvSpPr/>
          <p:nvPr/>
        </p:nvSpPr>
        <p:spPr>
          <a:xfrm>
            <a:off x="7239000" y="3291840"/>
            <a:ext cx="2499360" cy="18288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118" name="Text 116"/>
          <p:cNvSpPr/>
          <p:nvPr/>
        </p:nvSpPr>
        <p:spPr>
          <a:xfrm>
            <a:off x="7330440" y="3291840"/>
            <a:ext cx="2316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&amp; analytics</a:t>
            </a:r>
            <a:endParaRPr lang="en-US" sz="1050" dirty="0"/>
          </a:p>
        </p:txBody>
      </p:sp>
      <p:sp>
        <p:nvSpPr>
          <p:cNvPr id="119" name="Shape 117"/>
          <p:cNvSpPr/>
          <p:nvPr/>
        </p:nvSpPr>
        <p:spPr>
          <a:xfrm>
            <a:off x="5852160" y="3257093"/>
            <a:ext cx="0" cy="23774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20" name="Shape 118"/>
          <p:cNvSpPr/>
          <p:nvPr/>
        </p:nvSpPr>
        <p:spPr>
          <a:xfrm>
            <a:off x="1965960" y="3520440"/>
            <a:ext cx="1213104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2039112" y="3589020"/>
            <a:ext cx="73152" cy="73152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22" name="Text 120"/>
          <p:cNvSpPr/>
          <p:nvPr/>
        </p:nvSpPr>
        <p:spPr>
          <a:xfrm>
            <a:off x="2167128" y="3529584"/>
            <a:ext cx="9387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SageMaker</a:t>
            </a:r>
            <a:endParaRPr lang="en-US" sz="650" dirty="0"/>
          </a:p>
        </p:txBody>
      </p:sp>
      <p:sp>
        <p:nvSpPr>
          <p:cNvPr id="123" name="Text 121"/>
          <p:cNvSpPr/>
          <p:nvPr/>
        </p:nvSpPr>
        <p:spPr>
          <a:xfrm>
            <a:off x="2167128" y="3666378"/>
            <a:ext cx="938784" cy="1709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training</a:t>
            </a:r>
            <a:endParaRPr lang="en-US" sz="550" dirty="0"/>
          </a:p>
        </p:txBody>
      </p:sp>
      <p:sp>
        <p:nvSpPr>
          <p:cNvPr id="124" name="Shape 122"/>
          <p:cNvSpPr/>
          <p:nvPr/>
        </p:nvSpPr>
        <p:spPr>
          <a:xfrm>
            <a:off x="3252216" y="3520440"/>
            <a:ext cx="1213104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3325368" y="3589020"/>
            <a:ext cx="73152" cy="73152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26" name="Text 124"/>
          <p:cNvSpPr/>
          <p:nvPr/>
        </p:nvSpPr>
        <p:spPr>
          <a:xfrm>
            <a:off x="3453384" y="3529584"/>
            <a:ext cx="9387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</a:t>
            </a:r>
            <a:endParaRPr lang="en-US" sz="650" dirty="0"/>
          </a:p>
        </p:txBody>
      </p:sp>
      <p:sp>
        <p:nvSpPr>
          <p:cNvPr id="127" name="Text 125"/>
          <p:cNvSpPr/>
          <p:nvPr/>
        </p:nvSpPr>
        <p:spPr>
          <a:xfrm>
            <a:off x="3453384" y="3666378"/>
            <a:ext cx="938784" cy="1709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models</a:t>
            </a:r>
            <a:endParaRPr lang="en-US" sz="550" dirty="0"/>
          </a:p>
        </p:txBody>
      </p:sp>
      <p:sp>
        <p:nvSpPr>
          <p:cNvPr id="128" name="Shape 126"/>
          <p:cNvSpPr/>
          <p:nvPr/>
        </p:nvSpPr>
        <p:spPr>
          <a:xfrm>
            <a:off x="1965960" y="3877056"/>
            <a:ext cx="1213104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2039112" y="3945636"/>
            <a:ext cx="73152" cy="73152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30" name="Text 128"/>
          <p:cNvSpPr/>
          <p:nvPr/>
        </p:nvSpPr>
        <p:spPr>
          <a:xfrm>
            <a:off x="2167128" y="3886200"/>
            <a:ext cx="9387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AgentCore</a:t>
            </a:r>
            <a:endParaRPr lang="en-US" sz="650" dirty="0"/>
          </a:p>
        </p:txBody>
      </p:sp>
      <p:sp>
        <p:nvSpPr>
          <p:cNvPr id="131" name="Text 129"/>
          <p:cNvSpPr/>
          <p:nvPr/>
        </p:nvSpPr>
        <p:spPr>
          <a:xfrm>
            <a:off x="2167128" y="4022994"/>
            <a:ext cx="938784" cy="1709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orchestration</a:t>
            </a:r>
            <a:endParaRPr lang="en-US" sz="550" dirty="0"/>
          </a:p>
        </p:txBody>
      </p:sp>
      <p:sp>
        <p:nvSpPr>
          <p:cNvPr id="132" name="Shape 130"/>
          <p:cNvSpPr/>
          <p:nvPr/>
        </p:nvSpPr>
        <p:spPr>
          <a:xfrm>
            <a:off x="3252216" y="3877056"/>
            <a:ext cx="1213104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3325368" y="3945636"/>
            <a:ext cx="73152" cy="73152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34" name="Text 132"/>
          <p:cNvSpPr/>
          <p:nvPr/>
        </p:nvSpPr>
        <p:spPr>
          <a:xfrm>
            <a:off x="3453384" y="3886200"/>
            <a:ext cx="9387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</a:t>
            </a:r>
            <a:endParaRPr lang="en-US" sz="650" dirty="0"/>
          </a:p>
        </p:txBody>
      </p:sp>
      <p:sp>
        <p:nvSpPr>
          <p:cNvPr id="135" name="Text 133"/>
          <p:cNvSpPr/>
          <p:nvPr/>
        </p:nvSpPr>
        <p:spPr>
          <a:xfrm>
            <a:off x="3453384" y="4022994"/>
            <a:ext cx="938784" cy="1709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policy</a:t>
            </a:r>
            <a:endParaRPr lang="en-US" sz="550" dirty="0"/>
          </a:p>
        </p:txBody>
      </p:sp>
      <p:sp>
        <p:nvSpPr>
          <p:cNvPr id="136" name="Shape 134"/>
          <p:cNvSpPr/>
          <p:nvPr/>
        </p:nvSpPr>
        <p:spPr>
          <a:xfrm>
            <a:off x="4602480" y="3520440"/>
            <a:ext cx="1213104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4675632" y="3589020"/>
            <a:ext cx="73152" cy="73152"/>
          </a:xfrm>
          <a:prstGeom prst="ellipse">
            <a:avLst/>
          </a:prstGeom>
          <a:solidFill>
            <a:srgbClr val="D2691E"/>
          </a:solidFill>
          <a:ln/>
        </p:spPr>
      </p:sp>
      <p:sp>
        <p:nvSpPr>
          <p:cNvPr id="138" name="Text 136"/>
          <p:cNvSpPr/>
          <p:nvPr/>
        </p:nvSpPr>
        <p:spPr>
          <a:xfrm>
            <a:off x="4803648" y="3529584"/>
            <a:ext cx="9387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Comprehend</a:t>
            </a:r>
            <a:endParaRPr lang="en-US" sz="650" dirty="0"/>
          </a:p>
        </p:txBody>
      </p:sp>
      <p:sp>
        <p:nvSpPr>
          <p:cNvPr id="139" name="Text 137"/>
          <p:cNvSpPr/>
          <p:nvPr/>
        </p:nvSpPr>
        <p:spPr>
          <a:xfrm>
            <a:off x="4803648" y="3666378"/>
            <a:ext cx="938784" cy="1709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</a:t>
            </a:r>
            <a:endParaRPr lang="en-US" sz="550" dirty="0"/>
          </a:p>
        </p:txBody>
      </p:sp>
      <p:sp>
        <p:nvSpPr>
          <p:cNvPr id="140" name="Shape 138"/>
          <p:cNvSpPr/>
          <p:nvPr/>
        </p:nvSpPr>
        <p:spPr>
          <a:xfrm>
            <a:off x="5888736" y="3520440"/>
            <a:ext cx="1213104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61888" y="3589020"/>
            <a:ext cx="73152" cy="73152"/>
          </a:xfrm>
          <a:prstGeom prst="ellipse">
            <a:avLst/>
          </a:prstGeom>
          <a:solidFill>
            <a:srgbClr val="D2691E"/>
          </a:solidFill>
          <a:ln/>
        </p:spPr>
      </p:sp>
      <p:sp>
        <p:nvSpPr>
          <p:cNvPr id="142" name="Text 140"/>
          <p:cNvSpPr/>
          <p:nvPr/>
        </p:nvSpPr>
        <p:spPr>
          <a:xfrm>
            <a:off x="6089904" y="3529584"/>
            <a:ext cx="9387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Rekognition</a:t>
            </a:r>
            <a:endParaRPr lang="en-US" sz="650" dirty="0"/>
          </a:p>
        </p:txBody>
      </p:sp>
      <p:sp>
        <p:nvSpPr>
          <p:cNvPr id="143" name="Text 141"/>
          <p:cNvSpPr/>
          <p:nvPr/>
        </p:nvSpPr>
        <p:spPr>
          <a:xfrm>
            <a:off x="6089904" y="3666378"/>
            <a:ext cx="938784" cy="1709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</a:t>
            </a:r>
            <a:endParaRPr lang="en-US" sz="550" dirty="0"/>
          </a:p>
        </p:txBody>
      </p:sp>
      <p:sp>
        <p:nvSpPr>
          <p:cNvPr id="144" name="Shape 142"/>
          <p:cNvSpPr/>
          <p:nvPr/>
        </p:nvSpPr>
        <p:spPr>
          <a:xfrm>
            <a:off x="4602480" y="3877056"/>
            <a:ext cx="1213104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4675632" y="3945636"/>
            <a:ext cx="73152" cy="73152"/>
          </a:xfrm>
          <a:prstGeom prst="ellipse">
            <a:avLst/>
          </a:prstGeom>
          <a:solidFill>
            <a:srgbClr val="D2691E"/>
          </a:solidFill>
          <a:ln/>
        </p:spPr>
      </p:sp>
      <p:sp>
        <p:nvSpPr>
          <p:cNvPr id="146" name="Text 144"/>
          <p:cNvSpPr/>
          <p:nvPr/>
        </p:nvSpPr>
        <p:spPr>
          <a:xfrm>
            <a:off x="4803648" y="3886200"/>
            <a:ext cx="9387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Textract</a:t>
            </a:r>
            <a:endParaRPr lang="en-US" sz="650" dirty="0"/>
          </a:p>
        </p:txBody>
      </p:sp>
      <p:sp>
        <p:nvSpPr>
          <p:cNvPr id="147" name="Text 145"/>
          <p:cNvSpPr/>
          <p:nvPr/>
        </p:nvSpPr>
        <p:spPr>
          <a:xfrm>
            <a:off x="4803648" y="4022994"/>
            <a:ext cx="938784" cy="1709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OCR/documents</a:t>
            </a:r>
            <a:endParaRPr lang="en-US" sz="550" dirty="0"/>
          </a:p>
        </p:txBody>
      </p:sp>
      <p:sp>
        <p:nvSpPr>
          <p:cNvPr id="148" name="Shape 146"/>
          <p:cNvSpPr/>
          <p:nvPr/>
        </p:nvSpPr>
        <p:spPr>
          <a:xfrm>
            <a:off x="5888736" y="3877056"/>
            <a:ext cx="1213104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5961888" y="3945636"/>
            <a:ext cx="73152" cy="73152"/>
          </a:xfrm>
          <a:prstGeom prst="ellipse">
            <a:avLst/>
          </a:prstGeom>
          <a:solidFill>
            <a:srgbClr val="D2691E"/>
          </a:solidFill>
          <a:ln/>
        </p:spPr>
      </p:sp>
      <p:sp>
        <p:nvSpPr>
          <p:cNvPr id="150" name="Text 148"/>
          <p:cNvSpPr/>
          <p:nvPr/>
        </p:nvSpPr>
        <p:spPr>
          <a:xfrm>
            <a:off x="6089904" y="3886200"/>
            <a:ext cx="9387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Transcribe</a:t>
            </a:r>
            <a:endParaRPr lang="en-US" sz="650" dirty="0"/>
          </a:p>
        </p:txBody>
      </p:sp>
      <p:sp>
        <p:nvSpPr>
          <p:cNvPr id="151" name="Text 149"/>
          <p:cNvSpPr/>
          <p:nvPr/>
        </p:nvSpPr>
        <p:spPr>
          <a:xfrm>
            <a:off x="6089904" y="4022994"/>
            <a:ext cx="938784" cy="1709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Speech-to-text</a:t>
            </a:r>
            <a:endParaRPr lang="en-US" sz="550" dirty="0"/>
          </a:p>
        </p:txBody>
      </p:sp>
      <p:sp>
        <p:nvSpPr>
          <p:cNvPr id="152" name="Shape 150"/>
          <p:cNvSpPr/>
          <p:nvPr/>
        </p:nvSpPr>
        <p:spPr>
          <a:xfrm>
            <a:off x="4602480" y="4233672"/>
            <a:ext cx="1213104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4675632" y="4302252"/>
            <a:ext cx="73152" cy="73152"/>
          </a:xfrm>
          <a:prstGeom prst="ellipse">
            <a:avLst/>
          </a:prstGeom>
          <a:solidFill>
            <a:srgbClr val="D2691E"/>
          </a:solidFill>
          <a:ln/>
        </p:spPr>
      </p:sp>
      <p:sp>
        <p:nvSpPr>
          <p:cNvPr id="154" name="Text 152"/>
          <p:cNvSpPr/>
          <p:nvPr/>
        </p:nvSpPr>
        <p:spPr>
          <a:xfrm>
            <a:off x="4803648" y="4242816"/>
            <a:ext cx="9387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Polly</a:t>
            </a:r>
            <a:endParaRPr lang="en-US" sz="650" dirty="0"/>
          </a:p>
        </p:txBody>
      </p:sp>
      <p:sp>
        <p:nvSpPr>
          <p:cNvPr id="155" name="Text 153"/>
          <p:cNvSpPr/>
          <p:nvPr/>
        </p:nvSpPr>
        <p:spPr>
          <a:xfrm>
            <a:off x="4803648" y="4379610"/>
            <a:ext cx="938784" cy="1709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Text-to-speech</a:t>
            </a:r>
            <a:endParaRPr lang="en-US" sz="550" dirty="0"/>
          </a:p>
        </p:txBody>
      </p:sp>
      <p:sp>
        <p:nvSpPr>
          <p:cNvPr id="156" name="Shape 154"/>
          <p:cNvSpPr/>
          <p:nvPr/>
        </p:nvSpPr>
        <p:spPr>
          <a:xfrm>
            <a:off x="7239000" y="3520440"/>
            <a:ext cx="2499360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312152" y="3589020"/>
            <a:ext cx="73152" cy="73152"/>
          </a:xfrm>
          <a:prstGeom prst="ellipse">
            <a:avLst/>
          </a:prstGeom>
          <a:solidFill>
            <a:srgbClr val="4C7A3D"/>
          </a:solidFill>
          <a:ln/>
        </p:spPr>
      </p:sp>
      <p:sp>
        <p:nvSpPr>
          <p:cNvPr id="158" name="Text 156"/>
          <p:cNvSpPr/>
          <p:nvPr/>
        </p:nvSpPr>
        <p:spPr>
          <a:xfrm>
            <a:off x="7440168" y="3529584"/>
            <a:ext cx="22250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OpenSearch</a:t>
            </a:r>
            <a:endParaRPr lang="en-US" sz="700" dirty="0"/>
          </a:p>
        </p:txBody>
      </p:sp>
      <p:sp>
        <p:nvSpPr>
          <p:cNvPr id="159" name="Text 157"/>
          <p:cNvSpPr/>
          <p:nvPr/>
        </p:nvSpPr>
        <p:spPr>
          <a:xfrm>
            <a:off x="7440168" y="3666378"/>
            <a:ext cx="2225040" cy="1709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&amp; log analytics</a:t>
            </a:r>
            <a:endParaRPr lang="en-US" sz="600" dirty="0"/>
          </a:p>
        </p:txBody>
      </p:sp>
      <p:sp>
        <p:nvSpPr>
          <p:cNvPr id="160" name="Shape 158"/>
          <p:cNvSpPr/>
          <p:nvPr/>
        </p:nvSpPr>
        <p:spPr>
          <a:xfrm>
            <a:off x="7239000" y="3877056"/>
            <a:ext cx="2499360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7312152" y="3945636"/>
            <a:ext cx="73152" cy="73152"/>
          </a:xfrm>
          <a:prstGeom prst="ellipse">
            <a:avLst/>
          </a:prstGeom>
          <a:solidFill>
            <a:srgbClr val="6D28D9"/>
          </a:solidFill>
          <a:ln/>
        </p:spPr>
      </p:sp>
      <p:sp>
        <p:nvSpPr>
          <p:cNvPr id="162" name="Text 160"/>
          <p:cNvSpPr/>
          <p:nvPr/>
        </p:nvSpPr>
        <p:spPr>
          <a:xfrm>
            <a:off x="7440168" y="3886200"/>
            <a:ext cx="22250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Neptune</a:t>
            </a:r>
            <a:endParaRPr lang="en-US" sz="700" dirty="0"/>
          </a:p>
        </p:txBody>
      </p:sp>
      <p:sp>
        <p:nvSpPr>
          <p:cNvPr id="163" name="Text 161"/>
          <p:cNvSpPr/>
          <p:nvPr/>
        </p:nvSpPr>
        <p:spPr>
          <a:xfrm>
            <a:off x="7440168" y="4022994"/>
            <a:ext cx="2225040" cy="1709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database</a:t>
            </a:r>
            <a:endParaRPr lang="en-US" sz="600" dirty="0"/>
          </a:p>
        </p:txBody>
      </p:sp>
      <p:sp>
        <p:nvSpPr>
          <p:cNvPr id="164" name="Shape 162"/>
          <p:cNvSpPr/>
          <p:nvPr/>
        </p:nvSpPr>
        <p:spPr>
          <a:xfrm>
            <a:off x="8488680" y="3838651"/>
            <a:ext cx="0" cy="31090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65" name="Shape 163"/>
          <p:cNvSpPr/>
          <p:nvPr/>
        </p:nvSpPr>
        <p:spPr>
          <a:xfrm>
            <a:off x="5852160" y="4668012"/>
            <a:ext cx="0" cy="100584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66" name="Shape 164"/>
          <p:cNvSpPr/>
          <p:nvPr/>
        </p:nvSpPr>
        <p:spPr>
          <a:xfrm>
            <a:off x="1965960" y="4773168"/>
            <a:ext cx="7772400" cy="18288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167" name="Text 165"/>
          <p:cNvSpPr/>
          <p:nvPr/>
        </p:nvSpPr>
        <p:spPr>
          <a:xfrm>
            <a:off x="2057400" y="4773168"/>
            <a:ext cx="7589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&amp; delivery layer</a:t>
            </a:r>
            <a:endParaRPr lang="en-US" sz="1050" dirty="0"/>
          </a:p>
        </p:txBody>
      </p:sp>
      <p:sp>
        <p:nvSpPr>
          <p:cNvPr id="168" name="Shape 166"/>
          <p:cNvSpPr/>
          <p:nvPr/>
        </p:nvSpPr>
        <p:spPr>
          <a:xfrm>
            <a:off x="1965960" y="5001768"/>
            <a:ext cx="187452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2039112" y="5070348"/>
            <a:ext cx="73152" cy="73152"/>
          </a:xfrm>
          <a:prstGeom prst="ellipse">
            <a:avLst/>
          </a:prstGeom>
          <a:solidFill>
            <a:srgbClr val="D2691E"/>
          </a:solidFill>
          <a:ln/>
        </p:spPr>
      </p:sp>
      <p:sp>
        <p:nvSpPr>
          <p:cNvPr id="170" name="Text 168"/>
          <p:cNvSpPr/>
          <p:nvPr/>
        </p:nvSpPr>
        <p:spPr>
          <a:xfrm>
            <a:off x="2167128" y="5010912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 / backend services</a:t>
            </a:r>
            <a:endParaRPr lang="en-US" sz="750" dirty="0"/>
          </a:p>
        </p:txBody>
      </p:sp>
      <p:sp>
        <p:nvSpPr>
          <p:cNvPr id="171" name="Text 169"/>
          <p:cNvSpPr/>
          <p:nvPr/>
        </p:nvSpPr>
        <p:spPr>
          <a:xfrm>
            <a:off x="2167128" y="5171846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Gateway, Lambda</a:t>
            </a:r>
            <a:endParaRPr lang="en-US" sz="600" dirty="0"/>
          </a:p>
        </p:txBody>
      </p:sp>
      <p:sp>
        <p:nvSpPr>
          <p:cNvPr id="172" name="Shape 170"/>
          <p:cNvSpPr/>
          <p:nvPr/>
        </p:nvSpPr>
        <p:spPr>
          <a:xfrm>
            <a:off x="3858768" y="5184648"/>
            <a:ext cx="54864" cy="0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73" name="Shape 171"/>
          <p:cNvSpPr/>
          <p:nvPr/>
        </p:nvSpPr>
        <p:spPr>
          <a:xfrm>
            <a:off x="3931920" y="5001768"/>
            <a:ext cx="187452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4005072" y="5070348"/>
            <a:ext cx="73152" cy="73152"/>
          </a:xfrm>
          <a:prstGeom prst="ellipse">
            <a:avLst/>
          </a:prstGeom>
          <a:solidFill>
            <a:srgbClr val="4C7A3D"/>
          </a:solidFill>
          <a:ln/>
        </p:spPr>
      </p:sp>
      <p:sp>
        <p:nvSpPr>
          <p:cNvPr id="175" name="Text 173"/>
          <p:cNvSpPr/>
          <p:nvPr/>
        </p:nvSpPr>
        <p:spPr>
          <a:xfrm>
            <a:off x="4133088" y="5010912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/ mobile applications</a:t>
            </a:r>
            <a:endParaRPr lang="en-US" sz="750" dirty="0"/>
          </a:p>
        </p:txBody>
      </p:sp>
      <p:sp>
        <p:nvSpPr>
          <p:cNvPr id="176" name="Text 174"/>
          <p:cNvSpPr/>
          <p:nvPr/>
        </p:nvSpPr>
        <p:spPr>
          <a:xfrm>
            <a:off x="4133088" y="5171846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interfaces</a:t>
            </a:r>
            <a:endParaRPr lang="en-US" sz="600" dirty="0"/>
          </a:p>
        </p:txBody>
      </p:sp>
      <p:sp>
        <p:nvSpPr>
          <p:cNvPr id="177" name="Shape 175"/>
          <p:cNvSpPr/>
          <p:nvPr/>
        </p:nvSpPr>
        <p:spPr>
          <a:xfrm>
            <a:off x="5824728" y="5184648"/>
            <a:ext cx="54864" cy="0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78" name="Shape 176"/>
          <p:cNvSpPr/>
          <p:nvPr/>
        </p:nvSpPr>
        <p:spPr>
          <a:xfrm>
            <a:off x="5897880" y="5001768"/>
            <a:ext cx="187452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5971032" y="5070348"/>
            <a:ext cx="73152" cy="73152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80" name="Text 178"/>
          <p:cNvSpPr/>
          <p:nvPr/>
        </p:nvSpPr>
        <p:spPr>
          <a:xfrm>
            <a:off x="6099048" y="5010912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Chatbots &amp; agents</a:t>
            </a:r>
            <a:endParaRPr lang="en-US" sz="750" dirty="0"/>
          </a:p>
        </p:txBody>
      </p:sp>
      <p:sp>
        <p:nvSpPr>
          <p:cNvPr id="181" name="Text 179"/>
          <p:cNvSpPr/>
          <p:nvPr/>
        </p:nvSpPr>
        <p:spPr>
          <a:xfrm>
            <a:off x="6099048" y="5171846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Conversational UI</a:t>
            </a:r>
            <a:endParaRPr lang="en-US" sz="600" dirty="0"/>
          </a:p>
        </p:txBody>
      </p:sp>
      <p:sp>
        <p:nvSpPr>
          <p:cNvPr id="182" name="Shape 180"/>
          <p:cNvSpPr/>
          <p:nvPr/>
        </p:nvSpPr>
        <p:spPr>
          <a:xfrm>
            <a:off x="7790688" y="5184648"/>
            <a:ext cx="54864" cy="0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83" name="Shape 181"/>
          <p:cNvSpPr/>
          <p:nvPr/>
        </p:nvSpPr>
        <p:spPr>
          <a:xfrm>
            <a:off x="7863840" y="5001768"/>
            <a:ext cx="187452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7936992" y="5070348"/>
            <a:ext cx="73152" cy="73152"/>
          </a:xfrm>
          <a:prstGeom prst="ellipse">
            <a:avLst/>
          </a:prstGeom>
          <a:solidFill>
            <a:srgbClr val="B3336B"/>
          </a:solidFill>
          <a:ln/>
        </p:spPr>
      </p:sp>
      <p:sp>
        <p:nvSpPr>
          <p:cNvPr id="185" name="Text 183"/>
          <p:cNvSpPr/>
          <p:nvPr/>
        </p:nvSpPr>
        <p:spPr>
          <a:xfrm>
            <a:off x="8065008" y="5010912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</a:t>
            </a:r>
            <a:endParaRPr lang="en-US" sz="750" dirty="0"/>
          </a:p>
        </p:txBody>
      </p:sp>
      <p:sp>
        <p:nvSpPr>
          <p:cNvPr id="186" name="Text 184"/>
          <p:cNvSpPr/>
          <p:nvPr/>
        </p:nvSpPr>
        <p:spPr>
          <a:xfrm>
            <a:off x="8065008" y="5171846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 / SQS</a:t>
            </a:r>
            <a:endParaRPr lang="en-US" sz="600" dirty="0"/>
          </a:p>
        </p:txBody>
      </p:sp>
      <p:sp>
        <p:nvSpPr>
          <p:cNvPr id="187" name="Shape 185"/>
          <p:cNvSpPr/>
          <p:nvPr/>
        </p:nvSpPr>
        <p:spPr>
          <a:xfrm>
            <a:off x="5852160" y="5378501"/>
            <a:ext cx="0" cy="23774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88" name="Shape 186"/>
          <p:cNvSpPr/>
          <p:nvPr/>
        </p:nvSpPr>
        <p:spPr>
          <a:xfrm>
            <a:off x="1965960" y="5413248"/>
            <a:ext cx="7772400" cy="18288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189" name="Text 187"/>
          <p:cNvSpPr/>
          <p:nvPr/>
        </p:nvSpPr>
        <p:spPr>
          <a:xfrm>
            <a:off x="2057400" y="5413248"/>
            <a:ext cx="7589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Networking &amp; connectivity layer</a:t>
            </a:r>
            <a:endParaRPr lang="en-US" sz="1050" dirty="0"/>
          </a:p>
        </p:txBody>
      </p:sp>
      <p:sp>
        <p:nvSpPr>
          <p:cNvPr id="190" name="Shape 188"/>
          <p:cNvSpPr/>
          <p:nvPr/>
        </p:nvSpPr>
        <p:spPr>
          <a:xfrm>
            <a:off x="1965960" y="5641848"/>
            <a:ext cx="249936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2039112" y="5710428"/>
            <a:ext cx="73152" cy="73152"/>
          </a:xfrm>
          <a:prstGeom prst="ellipse">
            <a:avLst/>
          </a:prstGeom>
          <a:solidFill>
            <a:srgbClr val="6D28D9"/>
          </a:solidFill>
          <a:ln/>
        </p:spPr>
      </p:sp>
      <p:sp>
        <p:nvSpPr>
          <p:cNvPr id="192" name="Text 190"/>
          <p:cNvSpPr/>
          <p:nvPr/>
        </p:nvSpPr>
        <p:spPr>
          <a:xfrm>
            <a:off x="2167128" y="5650992"/>
            <a:ext cx="2225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PrivateLink</a:t>
            </a:r>
            <a:endParaRPr lang="en-US" sz="800" dirty="0"/>
          </a:p>
        </p:txBody>
      </p:sp>
      <p:sp>
        <p:nvSpPr>
          <p:cNvPr id="193" name="Text 191"/>
          <p:cNvSpPr/>
          <p:nvPr/>
        </p:nvSpPr>
        <p:spPr>
          <a:xfrm>
            <a:off x="2167128" y="5811926"/>
            <a:ext cx="222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access</a:t>
            </a:r>
            <a:endParaRPr lang="en-US" sz="650" dirty="0"/>
          </a:p>
        </p:txBody>
      </p:sp>
      <p:sp>
        <p:nvSpPr>
          <p:cNvPr id="194" name="Shape 192"/>
          <p:cNvSpPr/>
          <p:nvPr/>
        </p:nvSpPr>
        <p:spPr>
          <a:xfrm>
            <a:off x="4602480" y="5641848"/>
            <a:ext cx="249936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4675632" y="5710428"/>
            <a:ext cx="73152" cy="73152"/>
          </a:xfrm>
          <a:prstGeom prst="ellipse">
            <a:avLst/>
          </a:prstGeom>
          <a:solidFill>
            <a:srgbClr val="6D28D9"/>
          </a:solidFill>
          <a:ln/>
        </p:spPr>
      </p:sp>
      <p:sp>
        <p:nvSpPr>
          <p:cNvPr id="196" name="Text 194"/>
          <p:cNvSpPr/>
          <p:nvPr/>
        </p:nvSpPr>
        <p:spPr>
          <a:xfrm>
            <a:off x="4803648" y="5650992"/>
            <a:ext cx="2225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Transit Gateway</a:t>
            </a:r>
            <a:endParaRPr lang="en-US" sz="800" dirty="0"/>
          </a:p>
        </p:txBody>
      </p:sp>
      <p:sp>
        <p:nvSpPr>
          <p:cNvPr id="197" name="Text 195"/>
          <p:cNvSpPr/>
          <p:nvPr/>
        </p:nvSpPr>
        <p:spPr>
          <a:xfrm>
            <a:off x="4803648" y="5811926"/>
            <a:ext cx="222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 connectivity</a:t>
            </a:r>
            <a:endParaRPr lang="en-US" sz="650" dirty="0"/>
          </a:p>
        </p:txBody>
      </p:sp>
      <p:sp>
        <p:nvSpPr>
          <p:cNvPr id="198" name="Shape 196"/>
          <p:cNvSpPr/>
          <p:nvPr/>
        </p:nvSpPr>
        <p:spPr>
          <a:xfrm>
            <a:off x="7239000" y="5641848"/>
            <a:ext cx="249936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7312152" y="5710428"/>
            <a:ext cx="73152" cy="73152"/>
          </a:xfrm>
          <a:prstGeom prst="ellipse">
            <a:avLst/>
          </a:prstGeom>
          <a:solidFill>
            <a:srgbClr val="6D28D9"/>
          </a:solidFill>
          <a:ln/>
        </p:spPr>
      </p:sp>
      <p:sp>
        <p:nvSpPr>
          <p:cNvPr id="200" name="Text 198"/>
          <p:cNvSpPr/>
          <p:nvPr/>
        </p:nvSpPr>
        <p:spPr>
          <a:xfrm>
            <a:off x="7440168" y="5650992"/>
            <a:ext cx="2225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Endpoints</a:t>
            </a:r>
            <a:endParaRPr lang="en-US" sz="800" dirty="0"/>
          </a:p>
        </p:txBody>
      </p:sp>
      <p:sp>
        <p:nvSpPr>
          <p:cNvPr id="201" name="Text 199"/>
          <p:cNvSpPr/>
          <p:nvPr/>
        </p:nvSpPr>
        <p:spPr>
          <a:xfrm>
            <a:off x="7440168" y="5811926"/>
            <a:ext cx="222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S3, Kinesis, DynamoDB</a:t>
            </a:r>
            <a:endParaRPr lang="en-US" sz="650" dirty="0"/>
          </a:p>
        </p:txBody>
      </p:sp>
      <p:sp>
        <p:nvSpPr>
          <p:cNvPr id="202" name="Shape 200"/>
          <p:cNvSpPr/>
          <p:nvPr/>
        </p:nvSpPr>
        <p:spPr>
          <a:xfrm>
            <a:off x="9875520" y="2148840"/>
            <a:ext cx="-9144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dash"/>
            <a:tailEnd type="triangle"/>
          </a:ln>
        </p:spPr>
      </p:sp>
      <p:sp>
        <p:nvSpPr>
          <p:cNvPr id="203" name="Shape 201"/>
          <p:cNvSpPr/>
          <p:nvPr/>
        </p:nvSpPr>
        <p:spPr>
          <a:xfrm>
            <a:off x="9875520" y="3703320"/>
            <a:ext cx="-9144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dash"/>
            <a:tailEnd type="triangle"/>
          </a:ln>
        </p:spPr>
      </p:sp>
      <p:sp>
        <p:nvSpPr>
          <p:cNvPr id="204" name="Shape 202"/>
          <p:cNvSpPr/>
          <p:nvPr/>
        </p:nvSpPr>
        <p:spPr>
          <a:xfrm>
            <a:off x="320040" y="6208776"/>
            <a:ext cx="292608" cy="0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05" name="Text 203"/>
          <p:cNvSpPr/>
          <p:nvPr/>
        </p:nvSpPr>
        <p:spPr>
          <a:xfrm>
            <a:off x="685800" y="6135624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flow</a:t>
            </a:r>
            <a:endParaRPr lang="en-US" sz="750" dirty="0"/>
          </a:p>
        </p:txBody>
      </p:sp>
      <p:sp>
        <p:nvSpPr>
          <p:cNvPr id="206" name="Shape 204"/>
          <p:cNvSpPr/>
          <p:nvPr/>
        </p:nvSpPr>
        <p:spPr>
          <a:xfrm>
            <a:off x="1737360" y="6208776"/>
            <a:ext cx="292608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dash"/>
            <a:tailEnd type="triangle"/>
          </a:ln>
        </p:spPr>
      </p:sp>
      <p:sp>
        <p:nvSpPr>
          <p:cNvPr id="207" name="Text 205"/>
          <p:cNvSpPr/>
          <p:nvPr/>
        </p:nvSpPr>
        <p:spPr>
          <a:xfrm>
            <a:off x="2103120" y="613562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/ orchestration flow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2026-07-16T05:47:20Z</dcterms:created>
  <dcterms:modified xsi:type="dcterms:W3CDTF">2026-07-16T05:47:20Z</dcterms:modified>
</cp:coreProperties>
</file>