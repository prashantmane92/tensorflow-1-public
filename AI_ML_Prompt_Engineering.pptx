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and set the tone: this is a practical, judgement-free session. Goal is NOT to make them data scientists but confident, responsible AI users as they start their internship. Reassure: no maths, no coding, everyday language throughout. Mention how the session runs online — polls, chat and emoji reactions, so they should keep the chat handy. Introduce yourself and your AI/consulting background briefly.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quickly through the 7 modules so people know the shape of the session. Flag Module 4 (Prompt Engineering) as the core — that's where the practical skill is. Read the 5 outcomes as promises. Emphasise the interaction line: this is a working session, not a lecture — respond in chat, use reactions. Keep this slide under a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Launch the poll immediately to wake the room up. Purpose: show the spread live so everyone sees they're already users — this validates them and sets up the reframe: 'you already use these tools; today we make you good at it and safe with it.' Don't over-analyse the results — just note that almost everyone uses AI already. Follow with the thumbs-up reaction for instant energy. Keep to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Anchor the definition in plain terms. Then two ideas: (1) Narrow vs General — bust the sci-fi myth here: everything in use today is narrow AI (good at ONE task); the human-like 'general AI' from movies does not exist. (2) Why now — the field is ~70 years old, but data + compute + better algorithms recently made it usable. Close with the everyday-examples line so it feels familiar, not intimidating. Misconception to name aloud: AI is not sentient robots; it's mostly invisible software making predictions.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concept slide — the nesting model. Each is a subset of the one before: AI contains ML, ML contains Deep Learning, and Generative AI is a type of deep learning. Emphasise the punchline: when people say 'AI' today they usually mean the green box — Generative AI, where ChatGPT/Copilot/Gemini/Claude live. Give one example per ring if helpful (fraud detection = ML, face unlock = deep learning, ChatGPT = GenAI). Tell them: if you remember one diagram from today, make it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mental model for ML: the shift from 'humans write rules' to 'the machine learns rules from examples.' Use the spam example on both sides so the contrast is clear. The child/dog analogy is the sticky bit — lead with it if the room looks lost. Key follow-on point (say it aloud): quality and quantity of the examples drive quality of results — 'garbage in, garbage out.' Misconception to correct: ML is not 'programmed' with rules; nobody writes them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light — they don't need depth, just awareness that 'machine learning' isn't one thing. Supervised = labelled data (most common in business). Unsupervised = finding structure without labels. Reinforcement = trial-and-error with rewards. Use the business examples rather than technical detail. Don't dwell; this is a 'know these words exist' slide. If short on time, this is a compress candidate.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quick ideas. First, training vs inference: training happens once and is costly (the model 'studies'); using it afterwards is fast and cheap. This explains why powerful models can be offered so widely. Second, deep learning = neural networks, great at unstructured data (images, audio, text). The bridge line to the next module: deep learning trained on enormous text is exactly what gave us LLMs and Generative AI. Don't explain neural network internals — 'brain-inspired layers' is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distinction cleanly: predictive AI answers 'which category / how much' (spam-or-not, forecast); generative AI produces new content (text, images, code). Most business AI until recently was predictive; the excitement now is generative. This sets up 'what is an LLM' next. Keep it to the table and one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useful mental model of the day: an LLM is a next-word predictor at massive scale — 'super-autocomplete.' The 'brilliant well-read intern' analogy previews its limits: articulate and fast, but confidently wrong sometimes and blind to anything it wasn't trained on. This directly sets up hallucinations and Responsible AI. Say clearly: it is NOT a database or a search engine — it generates language, it doesn't look up verified facts by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them just enough vocabulary: token, context window, hallucination, multimodal. Spend the most time on hallucination — it's the concept that anchors Responsible AI later. The reason it hallucinates follows directly from the previous slide: it predicts plausible-sounding language, it doesn't retrieve verified facts. So confident ≠ correct. Plant the seed now: 'we'll come back to this — everything you send must be verified.' Other misconceptions to name: it doesn't have live internet knowledge by default, and the same prompt can give different answers (it's probabilistic).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hinge into the core module. Key reframe: prompt engineering is not a technical or coding skill — it's structured communication, a writing skill everyone in this room can do. The 'brief it like a capable new teammate' mindset is the through-line for the whole module: the AI has no context unless you give it. End with the ROI line — a little effort up front saves lots of editing later. Get them bought in before showing frameworks.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blocks are the raw ingredients — every framework that follows is just a memorable way to combine them. Walk through each with the example phrase. Emphasise Role, Context and Format as the three that most people skip and that most improve output. Tell them: you don't need all six every time, but the more of these you include, the better and more usable the result. This slide primes them for TAG / RACE / RTCROS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TAG is the simplest framework — three parts: Task, Action, Goal. Best for quick, everyday requests where a full role/context isn't needed. It skips an explicit Role and folds context into the Task. Read the example aloud and point out how specific it is versus 'explain neural networks.' Frame TAG as the one to reach for when speed matters. We're going simple → detailed across the next three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RACE = Role, Action, Context, Expectations. Adding an explicit Role is the big upgrade over TAG — a defined persona ('senior tax consultant', 'financial analyst') consistently raises the depth and relevance of output for specialist work. Use RACE when domain expertise matters: analysis, technical writing, client-facing drafts. Note: some sources write the E as 'Execute' — same idea (how to deliver). Read the example and highlight how Role + Context together mimic briefing a real colleague.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RTCROS = Role, Task, Context, Reasoning, Output format, Stop conditions — the most thorough of the three, for high-stakes or complex work. The two parts people haven't seen before are Reasoning (tell it to explain its steps and validate its own work — this measurably cuts errors) and Stop conditions (define when the task is complete). Note the honest caveat: a variant expands R/S as Rules and Style/Scope — either is fine; the point is structure. Guidance for interns: start with TAG, graduate to RACE for expert tasks, use RTCROS when accuracy really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technique interns will use most alongside the frameworks. Zero-shot = just ask (fine for common tasks). One-shot = give a single example so it copies the pattern. Few-shot = give 2–5 examples for tricky formats or a specific style. The core insight: showing beats telling — a couple of good examples often fix a wonky output faster than more instructions. Tie back: examples were one of the six building blocks; this is how to use them deliberately.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high-leverage habits. Chain-of-thought: simply asking it to 'think step by step' improves reasoning tasks a lot. Role prompting: 'act as a…' focuses the answer (reinforces RACE/RTCROS). Iterative refinement is the one to stress most for interns: don't accept the first draft — say 'make it shorter / more formal / add data.' Prompting is a conversation, not a one-shot lottery. These plus zero/one/few-shot are the full technique toolkit.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'wow' slide — let it land. Read the weak prompt, then the strong one, and note everything that changed: role, specific task, audience, format, length. Punchline: identical tool, wildly different output, purely from the prompt. This is the proof point that justifies the whole module and motivates the activity two slides on. Optionally show one live if your AI tool is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through these quickly — they're the failure modes interns will actually hit. The last row is the critical one and bridges to Responsible AI: never paste confidential, client or personal data into public/unapproved tools. Emphasise 'verify every fact' too. Frame positively: each mistake has an easy fix, and the fixes are just the frameworks and techniques we've covered.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hands-on moment. Post the weak prompt, ask everyone to rewrite it using one of the three frameworks and drop it in the chat (3 min). Your moderator flags 2–3 strong ones; paste them into the live AI tool on your shared screen and show the upgraded output next to a weak version. Debrief line: 'a 20-second investment in the prompt just saved a 20-minute rewrite.' Optional Prompt Battle: put two prompts head-to-head and poll the room A/B. Keep energy high; celebrate good submissions by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 section — you'll drop in Deloitte's own use-case slides here. When you present, the key framing to say aloud (even without slides): AI is a productivity MULTIPLIER, best at first drafts, summarising, structuring and ideation — with a human reviewing and owning the output. The reliable pattern is: AI drafts → you refine → you approve. For interns specifically, that means research, summarising, drafting, formatting and learning faster — but your mentor still expects your judgement, not raw AI output. Consider a quick chat prompt: 'one task in your internship you'd use AI for, and one thing you'd still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message of the day for this audience. Make it land emotionally, not as a policy lecture. The point: using ChatGPT for a college assignment and using it at Deloitte are NOT the same — as a student, a mistake only affected you; as an intern, a careless paste or an unchecked figure can cause a real confidentiality or reputational issue. Walk the two columns side by side. Then pause on the bottom line. Everything in the next two slides hangs off this 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six Trustworthy AI dimensions as practical user behaviours, not abstract principles — each cell already translates the principle into 'what you actually do.' IMPORTANT for the facilitator: confirm these against the current internal Deloitte Trustworthy AI / GenAI policy before you deliver, since internal wording and rules may have been updated. Don't read all six mechanically — group them: privacy &amp; security (protect data), reliability &amp; fairness (verify, watch bias), transparency &amp; accountability (explain, own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rules are the practical distilment of the whole Responsible AI module — tell people to literally screenshot this slide. Verify (confident ≠ correct), Protect (data confidentiality — the biggest real risk for interns), Own (accountability stays human), Disclose (per firm guidance). If they remember nothing else from Module 6, these four verbs are it. Reinforce with the demo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Two-part close for Responsible AI. First, do the live hallucination demo — ask for an obscure stat or citation; when it fabricates one, that's your proof for 'always verify.' Keep it non-confidential and quick. Then run Red/Green flag: show each scenario and have the room react 🟢 (okay) or 🔴 (not okay), then reveal. Discuss the tricky ones — especially that 'anonymising' data or the tool merely allowing something does NOT make it compliant. The live split on screen makes the debate stick.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whole session in four lines. Read each takeaway as a memory hook. This mirrors the participant cheat sheet in the curriculum, so tell them a one-page version is available to keep. Keep it tight — the quiz next will reinforce these. The one-liner to leave ringing: 'AI drafts, you decide, you're accountable.'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4–6 questions as a live quiz with a leaderboard for a high-energy finish. Full 6-question set with answer key is in the curriculum (Section 9.1). These four cover the load-bearing concepts: the nesting model, how LLMs work, hallucination, and accountability. Read the answers aloud after each. Celebrate the leaderboard top few. This doubles as your knowledge check that the outcomes were met.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them to the practical resources — replace the placeholders with your actual internal links before delivery: approved-tools list, the GenAI/Trustworthy AI policy, any curated prompt library, and the named escalation contact for AI/data questions. Reinforce: when unsure, ask before you act. Keep it brief — this is signposting, not new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and take questions from the chat. Leave the 'confident, responsible user' line up as the closing thought — it ties back to the session goal. Remind them the one-page cheat sheet and resource links will be shared. Thank them and, if relevant, tell them where to give feedback. Don't oversell continued engagement — just a warm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6282A"/>
        </a:solidFill>
      </p:bgPr>
    </p:bg>
    <p:spTree>
      <p:nvGrpSpPr>
        <p:cNvPr id="1" name=""/>
        <p:cNvGrpSpPr/>
        <p:nvPr/>
      </p:nvGrpSpPr>
      <p:grpSpPr>
        <a:xfrm>
          <a:off x="0" y="0"/>
          <a:ext cx="0" cy="0"/>
          <a:chOff x="0" y="0"/>
          <a:chExt cx="0" cy="0"/>
        </a:xfrm>
      </p:grpSpPr>
      <p:sp>
        <p:nvSpPr>
          <p:cNvPr id="2" name="Shape 0"/>
          <p:cNvSpPr/>
          <p:nvPr/>
        </p:nvSpPr>
        <p:spPr>
          <a:xfrm>
            <a:off x="822960" y="1417320"/>
            <a:ext cx="146304" cy="146304"/>
          </a:xfrm>
          <a:prstGeom prst="ellipse">
            <a:avLst/>
          </a:prstGeom>
          <a:solidFill>
            <a:srgbClr val="86BC25"/>
          </a:solidFill>
          <a:ln/>
        </p:spPr>
      </p:sp>
      <p:sp>
        <p:nvSpPr>
          <p:cNvPr id="3" name="Text 1"/>
          <p:cNvSpPr/>
          <p:nvPr/>
        </p:nvSpPr>
        <p:spPr>
          <a:xfrm>
            <a:off x="1051560" y="1371600"/>
            <a:ext cx="7315200" cy="274320"/>
          </a:xfrm>
          <a:prstGeom prst="rect">
            <a:avLst/>
          </a:prstGeom>
          <a:noFill/>
          <a:ln/>
        </p:spPr>
        <p:txBody>
          <a:bodyPr wrap="square" lIns="0" tIns="0" rIns="0" bIns="0" rtlCol="0" anchor="ctr"/>
          <a:lstStyle/>
          <a:p>
            <a:pPr indent="0" marL="0">
              <a:buNone/>
            </a:pPr>
            <a:r>
              <a:rPr lang="en-US" sz="1200" b="1" spc="200" kern="0" dirty="0">
                <a:solidFill>
                  <a:srgbClr val="B9BCC0"/>
                </a:solidFill>
                <a:latin typeface="Calibri" pitchFamily="34" charset="0"/>
                <a:ea typeface="Calibri" pitchFamily="34" charset="-122"/>
                <a:cs typeface="Calibri" pitchFamily="34" charset="-120"/>
              </a:rPr>
              <a:t>DELOITTE INDIA  ·  INTERN LEARNING SERIES</a:t>
            </a:r>
            <a:endParaRPr lang="en-US" sz="1200" dirty="0"/>
          </a:p>
        </p:txBody>
      </p:sp>
      <p:sp>
        <p:nvSpPr>
          <p:cNvPr id="4" name="Text 2"/>
          <p:cNvSpPr/>
          <p:nvPr/>
        </p:nvSpPr>
        <p:spPr>
          <a:xfrm>
            <a:off x="777240" y="1783080"/>
            <a:ext cx="7680960" cy="1554480"/>
          </a:xfrm>
          <a:prstGeom prst="rect">
            <a:avLst/>
          </a:prstGeom>
          <a:noFill/>
          <a:ln/>
        </p:spPr>
        <p:txBody>
          <a:bodyPr wrap="square" lIns="0" tIns="0" rIns="0" bIns="0" rtlCol="0" anchor="ctr"/>
          <a:lstStyle/>
          <a:p>
            <a:pPr indent="0" marL="0">
              <a:lnSpc>
                <a:spcPct val="100000"/>
              </a:lnSpc>
              <a:buNone/>
            </a:pPr>
            <a:r>
              <a:rPr lang="en-US" sz="4400" b="1" dirty="0">
                <a:solidFill>
                  <a:srgbClr val="FFFFFF"/>
                </a:solidFill>
                <a:latin typeface="Cambria" pitchFamily="34" charset="0"/>
                <a:ea typeface="Cambria" pitchFamily="34" charset="-122"/>
                <a:cs typeface="Cambria" pitchFamily="34" charset="-120"/>
              </a:rPr>
              <a:t>Basics of AI/ML &amp;</a:t>
            </a:r>
            <a:endParaRPr lang="en-US" sz="4400" dirty="0"/>
          </a:p>
          <a:p>
            <a:pPr indent="0" marL="0">
              <a:lnSpc>
                <a:spcPct val="100000"/>
              </a:lnSpc>
              <a:buNone/>
            </a:pPr>
            <a:r>
              <a:rPr lang="en-US" sz="4400" b="1" dirty="0">
                <a:solidFill>
                  <a:srgbClr val="FFFFFF"/>
                </a:solidFill>
                <a:latin typeface="Cambria" pitchFamily="34" charset="0"/>
                <a:ea typeface="Cambria" pitchFamily="34" charset="-122"/>
                <a:cs typeface="Cambria" pitchFamily="34" charset="-120"/>
              </a:rPr>
              <a:t>Prompt Engineering</a:t>
            </a:r>
            <a:endParaRPr lang="en-US" sz="4400" dirty="0"/>
          </a:p>
        </p:txBody>
      </p:sp>
      <p:sp>
        <p:nvSpPr>
          <p:cNvPr id="5" name="Text 3"/>
          <p:cNvSpPr/>
          <p:nvPr/>
        </p:nvSpPr>
        <p:spPr>
          <a:xfrm>
            <a:off x="822960" y="3429000"/>
            <a:ext cx="7315200" cy="457200"/>
          </a:xfrm>
          <a:prstGeom prst="rect">
            <a:avLst/>
          </a:prstGeom>
          <a:noFill/>
          <a:ln/>
        </p:spPr>
        <p:txBody>
          <a:bodyPr wrap="square" lIns="0" tIns="0" rIns="0" bIns="0" rtlCol="0" anchor="ctr"/>
          <a:lstStyle/>
          <a:p>
            <a:pPr indent="0" marL="0">
              <a:buNone/>
            </a:pPr>
            <a:r>
              <a:rPr lang="en-US" sz="1500" dirty="0">
                <a:solidFill>
                  <a:srgbClr val="C9CCD0"/>
                </a:solidFill>
                <a:latin typeface="Calibri" pitchFamily="34" charset="0"/>
                <a:ea typeface="Calibri" pitchFamily="34" charset="-122"/>
                <a:cs typeface="Calibri" pitchFamily="34" charset="-120"/>
              </a:rPr>
              <a:t>A beginner-friendly, business-oriented session — from casual AI user to confident, responsible user.</a:t>
            </a:r>
            <a:endParaRPr lang="en-US" sz="1500" dirty="0"/>
          </a:p>
        </p:txBody>
      </p:sp>
      <p:sp>
        <p:nvSpPr>
          <p:cNvPr id="6" name="Text 4"/>
          <p:cNvSpPr/>
          <p:nvPr/>
        </p:nvSpPr>
        <p:spPr>
          <a:xfrm>
            <a:off x="822960" y="4160520"/>
            <a:ext cx="7772400" cy="274320"/>
          </a:xfrm>
          <a:prstGeom prst="rect">
            <a:avLst/>
          </a:prstGeom>
          <a:noFill/>
          <a:ln/>
        </p:spPr>
        <p:txBody>
          <a:bodyPr wrap="square" lIns="0" tIns="0" rIns="0" bIns="0" rtlCol="0" anchor="ctr"/>
          <a:lstStyle/>
          <a:p>
            <a:pPr indent="0" marL="0">
              <a:buNone/>
            </a:pPr>
            <a:r>
              <a:rPr lang="en-US" sz="1200" b="1" dirty="0">
                <a:solidFill>
                  <a:srgbClr val="86BC25"/>
                </a:solidFill>
                <a:latin typeface="Calibri" pitchFamily="34" charset="0"/>
                <a:ea typeface="Calibri" pitchFamily="34" charset="-122"/>
                <a:cs typeface="Calibri" pitchFamily="34" charset="-120"/>
              </a:rPr>
              <a:t>90 minutes  ·  Live online session  ·  No prior AI knowledge needed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02336"/>
            <a:ext cx="109728" cy="109728"/>
          </a:xfrm>
          <a:prstGeom prst="ellipse">
            <a:avLst/>
          </a:prstGeom>
          <a:solidFill>
            <a:srgbClr val="86BC25"/>
          </a:solidFill>
          <a:ln/>
        </p:spPr>
      </p:sp>
      <p:sp>
        <p:nvSpPr>
          <p:cNvPr id="3" name="Text 1"/>
          <p:cNvSpPr/>
          <p:nvPr/>
        </p:nvSpPr>
        <p:spPr>
          <a:xfrm>
            <a:off x="658368" y="329184"/>
            <a:ext cx="7955280" cy="256032"/>
          </a:xfrm>
          <a:prstGeom prst="rect">
            <a:avLst/>
          </a:prstGeom>
          <a:noFill/>
          <a:ln/>
        </p:spPr>
        <p:txBody>
          <a:bodyPr wrap="square" lIns="0" tIns="0" rIns="0" bIns="0" rtlCol="0" anchor="ctr"/>
          <a:lstStyle/>
          <a:p>
            <a:pPr indent="0" marL="0">
              <a:buNone/>
            </a:pPr>
            <a:r>
              <a:rPr lang="en-US" sz="1100" b="1" spc="200" kern="0" dirty="0">
                <a:solidFill>
                  <a:srgbClr val="5C8A1B"/>
                </a:solidFill>
                <a:latin typeface="Calibri" pitchFamily="34" charset="0"/>
                <a:ea typeface="Calibri" pitchFamily="34" charset="-122"/>
                <a:cs typeface="Calibri" pitchFamily="34" charset="-120"/>
              </a:rPr>
              <a:t>SESSION OVERVIEW</a:t>
            </a:r>
            <a:endParaRPr lang="en-US" sz="1100" dirty="0"/>
          </a:p>
        </p:txBody>
      </p:sp>
      <p:sp>
        <p:nvSpPr>
          <p:cNvPr id="4" name="Text 2"/>
          <p:cNvSpPr/>
          <p:nvPr/>
        </p:nvSpPr>
        <p:spPr>
          <a:xfrm>
            <a:off x="457200" y="603504"/>
            <a:ext cx="8229600" cy="640080"/>
          </a:xfrm>
          <a:prstGeom prst="rect">
            <a:avLst/>
          </a:prstGeom>
          <a:noFill/>
          <a:ln/>
        </p:spPr>
        <p:txBody>
          <a:bodyPr wrap="square" lIns="0" tIns="0" rIns="0" bIns="0" rtlCol="0" anchor="ctr"/>
          <a:lstStyle/>
          <a:p>
            <a:pPr indent="0" marL="0">
              <a:buNone/>
            </a:pPr>
            <a:r>
              <a:rPr lang="en-US" sz="2900" b="1" dirty="0">
                <a:solidFill>
                  <a:srgbClr val="26282A"/>
                </a:solidFill>
                <a:latin typeface="Cambria" pitchFamily="34" charset="0"/>
                <a:ea typeface="Cambria" pitchFamily="34" charset="-122"/>
                <a:cs typeface="Cambria" pitchFamily="34" charset="-120"/>
              </a:rPr>
              <a:t>Agenda &amp; Outcomes</a:t>
            </a:r>
            <a:endParaRPr lang="en-US" sz="2900" dirty="0"/>
          </a:p>
        </p:txBody>
      </p:sp>
      <p:sp>
        <p:nvSpPr>
          <p:cNvPr id="5" name="Shape 3"/>
          <p:cNvSpPr/>
          <p:nvPr/>
        </p:nvSpPr>
        <p:spPr>
          <a:xfrm>
            <a:off x="457200" y="1371600"/>
            <a:ext cx="4023360" cy="2788920"/>
          </a:xfrm>
          <a:prstGeom prst="roundRect">
            <a:avLst>
              <a:gd name="adj" fmla="val 2623"/>
            </a:avLst>
          </a:prstGeom>
          <a:solidFill>
            <a:srgbClr val="F4F5F6"/>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6" name="Text 4"/>
          <p:cNvSpPr/>
          <p:nvPr/>
        </p:nvSpPr>
        <p:spPr>
          <a:xfrm>
            <a:off x="685800" y="1508760"/>
            <a:ext cx="3657600" cy="274320"/>
          </a:xfrm>
          <a:prstGeom prst="rect">
            <a:avLst/>
          </a:prstGeom>
          <a:noFill/>
          <a:ln/>
        </p:spPr>
        <p:txBody>
          <a:bodyPr wrap="square" lIns="0" tIns="0" rIns="0" bIns="0" rtlCol="0" anchor="ctr"/>
          <a:lstStyle/>
          <a:p>
            <a:pPr indent="0" marL="0">
              <a:buNone/>
            </a:pPr>
            <a:r>
              <a:rPr lang="en-US" sz="1200" b="1" spc="100" kern="0" dirty="0">
                <a:solidFill>
                  <a:srgbClr val="5C8A1B"/>
                </a:solidFill>
                <a:latin typeface="Calibri" pitchFamily="34" charset="0"/>
                <a:ea typeface="Calibri" pitchFamily="34" charset="-122"/>
                <a:cs typeface="Calibri" pitchFamily="34" charset="-120"/>
              </a:rPr>
              <a:t>90-MINUTE ROADMAP</a:t>
            </a:r>
            <a:endParaRPr lang="en-US" sz="1200" dirty="0"/>
          </a:p>
        </p:txBody>
      </p:sp>
      <p:sp>
        <p:nvSpPr>
          <p:cNvPr id="7" name="Text 5"/>
          <p:cNvSpPr/>
          <p:nvPr/>
        </p:nvSpPr>
        <p:spPr>
          <a:xfrm>
            <a:off x="685800" y="1874520"/>
            <a:ext cx="3657600" cy="2194560"/>
          </a:xfrm>
          <a:prstGeom prst="rect">
            <a:avLst/>
          </a:prstGeom>
          <a:noFill/>
          <a:ln/>
        </p:spPr>
        <p:txBody>
          <a:bodyPr wrap="square" lIns="0" tIns="0" rIns="0" bIns="0" rtlCol="0" anchor="ctr"/>
          <a:lstStyle/>
          <a:p>
            <a:pPr indent="0" marL="0">
              <a:spcAft>
                <a:spcPts val="600"/>
              </a:spcAft>
              <a:buNone/>
            </a:pPr>
            <a:r>
              <a:rPr lang="en-US" sz="1300" dirty="0">
                <a:solidFill>
                  <a:srgbClr val="44474A"/>
                </a:solidFill>
                <a:latin typeface="Calibri" pitchFamily="34" charset="0"/>
                <a:ea typeface="Calibri" pitchFamily="34" charset="-122"/>
                <a:cs typeface="Calibri" pitchFamily="34" charset="-120"/>
              </a:rPr>
              <a:t>1  Introduction to AI</a:t>
            </a:r>
            <a:endParaRPr lang="en-US" sz="1300" dirty="0"/>
          </a:p>
          <a:p>
            <a:pPr indent="0" marL="0">
              <a:spcAft>
                <a:spcPts val="600"/>
              </a:spcAft>
              <a:buNone/>
            </a:pPr>
            <a:r>
              <a:rPr lang="en-US" sz="1300" dirty="0">
                <a:solidFill>
                  <a:srgbClr val="44474A"/>
                </a:solidFill>
                <a:latin typeface="Calibri" pitchFamily="34" charset="0"/>
                <a:ea typeface="Calibri" pitchFamily="34" charset="-122"/>
                <a:cs typeface="Calibri" pitchFamily="34" charset="-120"/>
              </a:rPr>
              <a:t>2  Machine Learning &amp; Deep Learning</a:t>
            </a:r>
            <a:endParaRPr lang="en-US" sz="1300" dirty="0"/>
          </a:p>
          <a:p>
            <a:pPr indent="0" marL="0">
              <a:spcAft>
                <a:spcPts val="600"/>
              </a:spcAft>
              <a:buNone/>
            </a:pPr>
            <a:r>
              <a:rPr lang="en-US" sz="1300" dirty="0">
                <a:solidFill>
                  <a:srgbClr val="44474A"/>
                </a:solidFill>
                <a:latin typeface="Calibri" pitchFamily="34" charset="0"/>
                <a:ea typeface="Calibri" pitchFamily="34" charset="-122"/>
                <a:cs typeface="Calibri" pitchFamily="34" charset="-120"/>
              </a:rPr>
              <a:t>3  Generative AI &amp; LLMs</a:t>
            </a:r>
            <a:endParaRPr lang="en-US" sz="1300" dirty="0"/>
          </a:p>
          <a:p>
            <a:pPr indent="0" marL="0">
              <a:spcAft>
                <a:spcPts val="600"/>
              </a:spcAft>
              <a:buNone/>
            </a:pPr>
            <a:r>
              <a:rPr lang="en-US" sz="1300" b="1" dirty="0">
                <a:solidFill>
                  <a:srgbClr val="26282A"/>
                </a:solidFill>
                <a:latin typeface="Calibri" pitchFamily="34" charset="0"/>
                <a:ea typeface="Calibri" pitchFamily="34" charset="-122"/>
                <a:cs typeface="Calibri" pitchFamily="34" charset="-120"/>
              </a:rPr>
              <a:t>4  Prompt Engineering  (core)</a:t>
            </a:r>
            <a:endParaRPr lang="en-US" sz="1300" dirty="0"/>
          </a:p>
          <a:p>
            <a:pPr indent="0" marL="0">
              <a:spcAft>
                <a:spcPts val="600"/>
              </a:spcAft>
              <a:buNone/>
            </a:pPr>
            <a:r>
              <a:rPr lang="en-US" sz="1300" dirty="0">
                <a:solidFill>
                  <a:srgbClr val="44474A"/>
                </a:solidFill>
                <a:latin typeface="Calibri" pitchFamily="34" charset="0"/>
                <a:ea typeface="Calibri" pitchFamily="34" charset="-122"/>
                <a:cs typeface="Calibri" pitchFamily="34" charset="-120"/>
              </a:rPr>
              <a:t>5  AI for Productivity — Use Cases</a:t>
            </a:r>
            <a:endParaRPr lang="en-US" sz="1300" dirty="0"/>
          </a:p>
          <a:p>
            <a:pPr indent="0" marL="0">
              <a:spcAft>
                <a:spcPts val="600"/>
              </a:spcAft>
              <a:buNone/>
            </a:pPr>
            <a:r>
              <a:rPr lang="en-US" sz="1300" dirty="0">
                <a:solidFill>
                  <a:srgbClr val="44474A"/>
                </a:solidFill>
                <a:latin typeface="Calibri" pitchFamily="34" charset="0"/>
                <a:ea typeface="Calibri" pitchFamily="34" charset="-122"/>
                <a:cs typeface="Calibri" pitchFamily="34" charset="-120"/>
              </a:rPr>
              <a:t>6  Responsible AI</a:t>
            </a:r>
            <a:endParaRPr lang="en-US" sz="1300" dirty="0"/>
          </a:p>
          <a:p>
            <a:pPr indent="0" marL="0">
              <a:spcAft>
                <a:spcPts val="600"/>
              </a:spcAft>
              <a:buNone/>
            </a:pPr>
            <a:r>
              <a:rPr lang="en-US" sz="1300" dirty="0">
                <a:solidFill>
                  <a:srgbClr val="44474A"/>
                </a:solidFill>
                <a:latin typeface="Calibri" pitchFamily="34" charset="0"/>
                <a:ea typeface="Calibri" pitchFamily="34" charset="-122"/>
                <a:cs typeface="Calibri" pitchFamily="34" charset="-120"/>
              </a:rPr>
              <a:t>7  Recap &amp; Quiz</a:t>
            </a:r>
            <a:endParaRPr lang="en-US" sz="1300" dirty="0"/>
          </a:p>
        </p:txBody>
      </p:sp>
      <p:sp>
        <p:nvSpPr>
          <p:cNvPr id="8" name="Shape 6"/>
          <p:cNvSpPr/>
          <p:nvPr/>
        </p:nvSpPr>
        <p:spPr>
          <a:xfrm>
            <a:off x="4663440" y="1371600"/>
            <a:ext cx="4023360" cy="2788920"/>
          </a:xfrm>
          <a:prstGeom prst="roundRect">
            <a:avLst>
              <a:gd name="adj" fmla="val 2623"/>
            </a:avLst>
          </a:prstGeom>
          <a:solidFill>
            <a:srgbClr val="EDF4DF"/>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9" name="Text 7"/>
          <p:cNvSpPr/>
          <p:nvPr/>
        </p:nvSpPr>
        <p:spPr>
          <a:xfrm>
            <a:off x="4892040" y="1508760"/>
            <a:ext cx="3657600" cy="274320"/>
          </a:xfrm>
          <a:prstGeom prst="rect">
            <a:avLst/>
          </a:prstGeom>
          <a:noFill/>
          <a:ln/>
        </p:spPr>
        <p:txBody>
          <a:bodyPr wrap="square" lIns="0" tIns="0" rIns="0" bIns="0" rtlCol="0" anchor="ctr"/>
          <a:lstStyle/>
          <a:p>
            <a:pPr indent="0" marL="0">
              <a:buNone/>
            </a:pPr>
            <a:r>
              <a:rPr lang="en-US" sz="1200" b="1" spc="100" kern="0" dirty="0">
                <a:solidFill>
                  <a:srgbClr val="5C8A1B"/>
                </a:solidFill>
                <a:latin typeface="Calibri" pitchFamily="34" charset="0"/>
                <a:ea typeface="Calibri" pitchFamily="34" charset="-122"/>
                <a:cs typeface="Calibri" pitchFamily="34" charset="-120"/>
              </a:rPr>
              <a:t>WHAT YOU'LL WALK AWAY WITH</a:t>
            </a:r>
            <a:endParaRPr lang="en-US" sz="1200" dirty="0"/>
          </a:p>
        </p:txBody>
      </p:sp>
      <p:sp>
        <p:nvSpPr>
          <p:cNvPr id="10" name="Text 8"/>
          <p:cNvSpPr/>
          <p:nvPr/>
        </p:nvSpPr>
        <p:spPr>
          <a:xfrm>
            <a:off x="4937760" y="1874520"/>
            <a:ext cx="3566160" cy="219456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26282A"/>
                </a:solidFill>
                <a:latin typeface="Calibri" pitchFamily="34" charset="0"/>
                <a:ea typeface="Calibri" pitchFamily="34" charset="-122"/>
                <a:cs typeface="Calibri" pitchFamily="34" charset="-120"/>
              </a:rPr>
              <a:t>Explain AI, ML, Deep Learning, GenAI &amp; LLMs</a:t>
            </a:r>
            <a:endParaRPr lang="en-US" sz="1250" dirty="0"/>
          </a:p>
          <a:p>
            <a:pPr marL="342900" indent="-342900">
              <a:spcAft>
                <a:spcPts val="800"/>
              </a:spcAft>
              <a:buSzPct val="100000"/>
              <a:buChar char="•"/>
            </a:pPr>
            <a:r>
              <a:rPr lang="en-US" sz="1250" dirty="0">
                <a:solidFill>
                  <a:srgbClr val="26282A"/>
                </a:solidFill>
                <a:latin typeface="Calibri" pitchFamily="34" charset="0"/>
                <a:ea typeface="Calibri" pitchFamily="34" charset="-122"/>
                <a:cs typeface="Calibri" pitchFamily="34" charset="-120"/>
              </a:rPr>
              <a:t>Understand how modern AI works — conceptually</a:t>
            </a:r>
            <a:endParaRPr lang="en-US" sz="1250" dirty="0"/>
          </a:p>
          <a:p>
            <a:pPr marL="342900" indent="-342900">
              <a:spcAft>
                <a:spcPts val="800"/>
              </a:spcAft>
              <a:buSzPct val="100000"/>
              <a:buChar char="•"/>
            </a:pPr>
            <a:r>
              <a:rPr lang="en-US" sz="1250" dirty="0">
                <a:solidFill>
                  <a:srgbClr val="26282A"/>
                </a:solidFill>
                <a:latin typeface="Calibri" pitchFamily="34" charset="0"/>
                <a:ea typeface="Calibri" pitchFamily="34" charset="-122"/>
                <a:cs typeface="Calibri" pitchFamily="34" charset="-120"/>
              </a:rPr>
              <a:t>Write effective prompts using proven frameworks</a:t>
            </a:r>
            <a:endParaRPr lang="en-US" sz="1250" dirty="0"/>
          </a:p>
          <a:p>
            <a:pPr marL="342900" indent="-342900">
              <a:spcAft>
                <a:spcPts val="800"/>
              </a:spcAft>
              <a:buSzPct val="100000"/>
              <a:buChar char="•"/>
            </a:pPr>
            <a:r>
              <a:rPr lang="en-US" sz="1250" dirty="0">
                <a:solidFill>
                  <a:srgbClr val="26282A"/>
                </a:solidFill>
                <a:latin typeface="Calibri" pitchFamily="34" charset="0"/>
                <a:ea typeface="Calibri" pitchFamily="34" charset="-122"/>
                <a:cs typeface="Calibri" pitchFamily="34" charset="-120"/>
              </a:rPr>
              <a:t>Spot high-value AI use cases in your work</a:t>
            </a:r>
            <a:endParaRPr lang="en-US" sz="1250" dirty="0"/>
          </a:p>
          <a:p>
            <a:pPr marL="342900" indent="-342900">
              <a:spcAft>
                <a:spcPts val="800"/>
              </a:spcAft>
              <a:buSzPct val="100000"/>
              <a:buChar char="•"/>
            </a:pPr>
            <a:r>
              <a:rPr lang="en-US" sz="1250" dirty="0">
                <a:solidFill>
                  <a:srgbClr val="26282A"/>
                </a:solidFill>
                <a:latin typeface="Calibri" pitchFamily="34" charset="0"/>
                <a:ea typeface="Calibri" pitchFamily="34" charset="-122"/>
                <a:cs typeface="Calibri" pitchFamily="34" charset="-120"/>
              </a:rPr>
              <a:t>Use AI responsibly and safely at Deloitte</a:t>
            </a:r>
            <a:endParaRPr lang="en-US" sz="1250" dirty="0"/>
          </a:p>
        </p:txBody>
      </p:sp>
      <p:sp>
        <p:nvSpPr>
          <p:cNvPr id="11" name="Text 9"/>
          <p:cNvSpPr/>
          <p:nvPr/>
        </p:nvSpPr>
        <p:spPr>
          <a:xfrm>
            <a:off x="457200" y="4343400"/>
            <a:ext cx="8229600" cy="320040"/>
          </a:xfrm>
          <a:prstGeom prst="rect">
            <a:avLst/>
          </a:prstGeom>
          <a:noFill/>
          <a:ln/>
        </p:spPr>
        <p:txBody>
          <a:bodyPr wrap="square" lIns="0" tIns="0" rIns="0" bIns="0" rtlCol="0" anchor="ctr"/>
          <a:lstStyle/>
          <a:p>
            <a:pPr indent="0" marL="0">
              <a:buNone/>
            </a:pPr>
            <a:r>
              <a:rPr lang="en-US" sz="1200" b="1" dirty="0">
                <a:solidFill>
                  <a:srgbClr val="26282A"/>
                </a:solidFill>
                <a:latin typeface="Calibri" pitchFamily="34" charset="0"/>
                <a:ea typeface="Calibri" pitchFamily="34" charset="-122"/>
                <a:cs typeface="Calibri" pitchFamily="34" charset="-120"/>
              </a:rPr>
              <a:t>How we'll interact:  </a:t>
            </a:r>
            <a:pPr indent="0" marL="0">
              <a:buNone/>
            </a:pPr>
            <a:r>
              <a:rPr lang="en-US" sz="1200" dirty="0">
                <a:solidFill>
                  <a:srgbClr val="44474A"/>
                </a:solidFill>
                <a:latin typeface="Calibri" pitchFamily="34" charset="0"/>
                <a:ea typeface="Calibri" pitchFamily="34" charset="-122"/>
                <a:cs typeface="Calibri" pitchFamily="34" charset="-120"/>
              </a:rPr>
              <a:t>live polls  ·  chat  ·  quizzes  ·  emoji reactions — jump in throughout.</a:t>
            </a:r>
            <a:endParaRPr lang="en-US" sz="1200" dirty="0"/>
          </a:p>
        </p:txBody>
      </p:sp>
      <p:sp>
        <p:nvSpPr>
          <p:cNvPr id="12" name="Text 10"/>
          <p:cNvSpPr/>
          <p:nvPr/>
        </p:nvSpPr>
        <p:spPr>
          <a:xfrm>
            <a:off x="457200" y="4873752"/>
            <a:ext cx="5486400" cy="228600"/>
          </a:xfrm>
          <a:prstGeom prst="rect">
            <a:avLst/>
          </a:prstGeom>
          <a:noFill/>
          <a:ln/>
        </p:spPr>
        <p:txBody>
          <a:bodyPr wrap="square" lIns="0" tIns="0" rIns="0" bIns="0" rtlCol="0" anchor="ctr"/>
          <a:lstStyle/>
          <a:p>
            <a:pPr indent="0" marL="0">
              <a:buNone/>
            </a:pPr>
            <a:r>
              <a:rPr lang="en-US" sz="800" dirty="0">
                <a:solidFill>
                  <a:srgbClr val="7A7D81"/>
                </a:solidFill>
                <a:latin typeface="Calibri" pitchFamily="34" charset="0"/>
                <a:ea typeface="Calibri" pitchFamily="34" charset="-122"/>
                <a:cs typeface="Calibri" pitchFamily="34" charset="-120"/>
              </a:rPr>
              <a:t>Basics of AI/ML &amp; Prompt Engineering</a:t>
            </a:r>
            <a:endParaRPr lang="en-US" sz="800" dirty="0"/>
          </a:p>
        </p:txBody>
      </p:sp>
      <p:sp>
        <p:nvSpPr>
          <p:cNvPr id="13" name="Text 11"/>
          <p:cNvSpPr/>
          <p:nvPr/>
        </p:nvSpPr>
        <p:spPr>
          <a:xfrm>
            <a:off x="8321040" y="4873752"/>
            <a:ext cx="365760" cy="228600"/>
          </a:xfrm>
          <a:prstGeom prst="rect">
            <a:avLst/>
          </a:prstGeom>
          <a:noFill/>
          <a:ln/>
        </p:spPr>
        <p:txBody>
          <a:bodyPr wrap="square" lIns="0" tIns="0" rIns="0" bIns="0" rtlCol="0" anchor="ctr"/>
          <a:lstStyle/>
          <a:p>
            <a:pPr algn="r" indent="0" marL="0">
              <a:buNone/>
            </a:pPr>
            <a:r>
              <a:rPr lang="en-US" sz="800" dirty="0">
                <a:solidFill>
                  <a:srgbClr val="7A7D81"/>
                </a:solidFill>
                <a:latin typeface="Calibri" pitchFamily="34" charset="0"/>
                <a:ea typeface="Calibri" pitchFamily="34" charset="-122"/>
                <a:cs typeface="Calibri"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02336"/>
            <a:ext cx="109728" cy="109728"/>
          </a:xfrm>
          <a:prstGeom prst="ellipse">
            <a:avLst/>
          </a:prstGeom>
          <a:solidFill>
            <a:srgbClr val="86BC25"/>
          </a:solidFill>
          <a:ln/>
        </p:spPr>
      </p:sp>
      <p:sp>
        <p:nvSpPr>
          <p:cNvPr id="3" name="Text 1"/>
          <p:cNvSpPr/>
          <p:nvPr/>
        </p:nvSpPr>
        <p:spPr>
          <a:xfrm>
            <a:off x="658368" y="329184"/>
            <a:ext cx="7955280" cy="256032"/>
          </a:xfrm>
          <a:prstGeom prst="rect">
            <a:avLst/>
          </a:prstGeom>
          <a:noFill/>
          <a:ln/>
        </p:spPr>
        <p:txBody>
          <a:bodyPr wrap="square" lIns="0" tIns="0" rIns="0" bIns="0" rtlCol="0" anchor="ctr"/>
          <a:lstStyle/>
          <a:p>
            <a:pPr indent="0" marL="0">
              <a:buNone/>
            </a:pPr>
            <a:r>
              <a:rPr lang="en-US" sz="1100" b="1" spc="200" kern="0" dirty="0">
                <a:solidFill>
                  <a:srgbClr val="5C8A1B"/>
                </a:solidFill>
                <a:latin typeface="Calibri" pitchFamily="34" charset="0"/>
                <a:ea typeface="Calibri" pitchFamily="34" charset="-122"/>
                <a:cs typeface="Calibri" pitchFamily="34" charset="-120"/>
              </a:rPr>
              <a:t>MODULE 0 · WARM-UP</a:t>
            </a:r>
            <a:endParaRPr lang="en-US" sz="1100" dirty="0"/>
          </a:p>
        </p:txBody>
      </p:sp>
      <p:sp>
        <p:nvSpPr>
          <p:cNvPr id="4" name="Text 2"/>
          <p:cNvSpPr/>
          <p:nvPr/>
        </p:nvSpPr>
        <p:spPr>
          <a:xfrm>
            <a:off x="457200" y="603504"/>
            <a:ext cx="8229600" cy="640080"/>
          </a:xfrm>
          <a:prstGeom prst="rect">
            <a:avLst/>
          </a:prstGeom>
          <a:noFill/>
          <a:ln/>
        </p:spPr>
        <p:txBody>
          <a:bodyPr wrap="square" lIns="0" tIns="0" rIns="0" bIns="0" rtlCol="0" anchor="ctr"/>
          <a:lstStyle/>
          <a:p>
            <a:pPr indent="0" marL="0">
              <a:buNone/>
            </a:pPr>
            <a:r>
              <a:rPr lang="en-US" sz="2900" b="1" dirty="0">
                <a:solidFill>
                  <a:srgbClr val="26282A"/>
                </a:solidFill>
                <a:latin typeface="Cambria" pitchFamily="34" charset="0"/>
                <a:ea typeface="Cambria" pitchFamily="34" charset="-122"/>
                <a:cs typeface="Cambria" pitchFamily="34" charset="-120"/>
              </a:rPr>
              <a:t>Quick poll: how do you use AI today?</a:t>
            </a:r>
            <a:endParaRPr lang="en-US" sz="2900" dirty="0"/>
          </a:p>
        </p:txBody>
      </p:sp>
      <p:sp>
        <p:nvSpPr>
          <p:cNvPr id="5" name="Shape 3"/>
          <p:cNvSpPr/>
          <p:nvPr/>
        </p:nvSpPr>
        <p:spPr>
          <a:xfrm>
            <a:off x="457200" y="1417320"/>
            <a:ext cx="939089" cy="292608"/>
          </a:xfrm>
          <a:prstGeom prst="roundRect">
            <a:avLst>
              <a:gd name="adj" fmla="val 50000"/>
            </a:avLst>
          </a:prstGeom>
          <a:solidFill>
            <a:srgbClr val="86BC25"/>
          </a:solidFill>
          <a:ln/>
        </p:spPr>
      </p:sp>
      <p:sp>
        <p:nvSpPr>
          <p:cNvPr id="6" name="Text 4"/>
          <p:cNvSpPr/>
          <p:nvPr/>
        </p:nvSpPr>
        <p:spPr>
          <a:xfrm>
            <a:off x="457200" y="1417320"/>
            <a:ext cx="939089" cy="292608"/>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LIVE POLL</a:t>
            </a:r>
            <a:endParaRPr lang="en-US" sz="1000" dirty="0"/>
          </a:p>
        </p:txBody>
      </p:sp>
      <p:sp>
        <p:nvSpPr>
          <p:cNvPr id="7" name="Shape 5"/>
          <p:cNvSpPr/>
          <p:nvPr/>
        </p:nvSpPr>
        <p:spPr>
          <a:xfrm>
            <a:off x="457200" y="1920240"/>
            <a:ext cx="8229600" cy="1600200"/>
          </a:xfrm>
          <a:prstGeom prst="roundRect">
            <a:avLst>
              <a:gd name="adj" fmla="val 4571"/>
            </a:avLst>
          </a:prstGeom>
          <a:solidFill>
            <a:srgbClr val="F4F5F6"/>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8" name="Text 6"/>
          <p:cNvSpPr/>
          <p:nvPr/>
        </p:nvSpPr>
        <p:spPr>
          <a:xfrm>
            <a:off x="731520" y="2084832"/>
            <a:ext cx="7680960" cy="365760"/>
          </a:xfrm>
          <a:prstGeom prst="rect">
            <a:avLst/>
          </a:prstGeom>
          <a:noFill/>
          <a:ln/>
        </p:spPr>
        <p:txBody>
          <a:bodyPr wrap="square" lIns="0" tIns="0" rIns="0" bIns="0" rtlCol="0" anchor="ctr"/>
          <a:lstStyle/>
          <a:p>
            <a:pPr indent="0" marL="0">
              <a:buNone/>
            </a:pPr>
            <a:r>
              <a:rPr lang="en-US" sz="1600" b="1" dirty="0">
                <a:solidFill>
                  <a:srgbClr val="26282A"/>
                </a:solidFill>
                <a:latin typeface="Calibri" pitchFamily="34" charset="0"/>
                <a:ea typeface="Calibri" pitchFamily="34" charset="-122"/>
                <a:cs typeface="Calibri" pitchFamily="34" charset="-120"/>
              </a:rPr>
              <a:t>“What do you MAINLY use ChatGPT / AI for right now?”</a:t>
            </a:r>
            <a:endParaRPr lang="en-US" sz="1600" dirty="0"/>
          </a:p>
        </p:txBody>
      </p:sp>
      <p:sp>
        <p:nvSpPr>
          <p:cNvPr id="9" name="Text 7"/>
          <p:cNvSpPr/>
          <p:nvPr/>
        </p:nvSpPr>
        <p:spPr>
          <a:xfrm>
            <a:off x="822960" y="2560320"/>
            <a:ext cx="7315200" cy="868680"/>
          </a:xfrm>
          <a:prstGeom prst="rect">
            <a:avLst/>
          </a:prstGeom>
          <a:noFill/>
          <a:ln/>
        </p:spPr>
        <p:txBody>
          <a:bodyPr wrap="square" lIns="0" tIns="0" rIns="0" bIns="0" rtlCol="0" anchor="ctr"/>
          <a:lstStyle/>
          <a:p>
            <a:pPr indent="0" marL="0">
              <a:spcAft>
                <a:spcPts val="600"/>
              </a:spcAft>
              <a:buNone/>
            </a:pPr>
            <a:r>
              <a:rPr lang="en-US" sz="1350" dirty="0">
                <a:solidFill>
                  <a:srgbClr val="44474A"/>
                </a:solidFill>
                <a:latin typeface="Calibri" pitchFamily="34" charset="0"/>
                <a:ea typeface="Calibri" pitchFamily="34" charset="-122"/>
                <a:cs typeface="Calibri" pitchFamily="34" charset="-120"/>
              </a:rPr>
              <a:t>A · Study / assignments</a:t>
            </a:r>
            <a:endParaRPr lang="en-US" sz="1350" dirty="0"/>
          </a:p>
          <a:p>
            <a:pPr indent="0" marL="0">
              <a:spcAft>
                <a:spcPts val="600"/>
              </a:spcAft>
              <a:buNone/>
            </a:pPr>
            <a:r>
              <a:rPr lang="en-US" sz="1350" dirty="0">
                <a:solidFill>
                  <a:srgbClr val="44474A"/>
                </a:solidFill>
                <a:latin typeface="Calibri" pitchFamily="34" charset="0"/>
                <a:ea typeface="Calibri" pitchFamily="34" charset="-122"/>
                <a:cs typeface="Calibri" pitchFamily="34" charset="-120"/>
              </a:rPr>
              <a:t>B · Quick answers &amp; search</a:t>
            </a:r>
            <a:endParaRPr lang="en-US" sz="1350" dirty="0"/>
          </a:p>
          <a:p>
            <a:pPr indent="0" marL="0">
              <a:spcAft>
                <a:spcPts val="600"/>
              </a:spcAft>
              <a:buNone/>
            </a:pPr>
            <a:r>
              <a:rPr lang="en-US" sz="1350" dirty="0">
                <a:solidFill>
                  <a:srgbClr val="44474A"/>
                </a:solidFill>
                <a:latin typeface="Calibri" pitchFamily="34" charset="0"/>
                <a:ea typeface="Calibri" pitchFamily="34" charset="-122"/>
                <a:cs typeface="Calibri" pitchFamily="34" charset="-120"/>
              </a:rPr>
              <a:t>C · Writing help</a:t>
            </a:r>
            <a:endParaRPr lang="en-US" sz="1350" dirty="0"/>
          </a:p>
          <a:p>
            <a:pPr indent="0" marL="0">
              <a:spcAft>
                <a:spcPts val="600"/>
              </a:spcAft>
              <a:buNone/>
            </a:pPr>
            <a:r>
              <a:rPr lang="en-US" sz="1350" dirty="0">
                <a:solidFill>
                  <a:srgbClr val="44474A"/>
                </a:solidFill>
                <a:latin typeface="Calibri" pitchFamily="34" charset="0"/>
                <a:ea typeface="Calibri" pitchFamily="34" charset="-122"/>
                <a:cs typeface="Calibri" pitchFamily="34" charset="-120"/>
              </a:rPr>
              <a:t>D · I rarely use it</a:t>
            </a:r>
            <a:endParaRPr lang="en-US" sz="1350" dirty="0"/>
          </a:p>
        </p:txBody>
      </p:sp>
      <p:sp>
        <p:nvSpPr>
          <p:cNvPr id="10" name="Text 8"/>
          <p:cNvSpPr/>
          <p:nvPr/>
        </p:nvSpPr>
        <p:spPr>
          <a:xfrm>
            <a:off x="457200" y="3794760"/>
            <a:ext cx="8229600" cy="365760"/>
          </a:xfrm>
          <a:prstGeom prst="rect">
            <a:avLst/>
          </a:prstGeom>
          <a:noFill/>
          <a:ln/>
        </p:spPr>
        <p:txBody>
          <a:bodyPr wrap="square" lIns="0" tIns="0" rIns="0" bIns="0" rtlCol="0" anchor="ctr"/>
          <a:lstStyle/>
          <a:p>
            <a:pPr indent="0" marL="0">
              <a:buNone/>
            </a:pPr>
            <a:r>
              <a:rPr lang="en-US" sz="1300" i="1" dirty="0">
                <a:solidFill>
                  <a:srgbClr val="44474A"/>
                </a:solidFill>
                <a:latin typeface="Calibri" pitchFamily="34" charset="0"/>
                <a:ea typeface="Calibri" pitchFamily="34" charset="-122"/>
                <a:cs typeface="Calibri" pitchFamily="34" charset="-120"/>
              </a:rPr>
              <a:t>Then react </a:t>
            </a:r>
            <a:pPr indent="0" marL="0">
              <a:buNone/>
            </a:pPr>
            <a:r>
              <a:rPr lang="en-US" sz="1300" i="1" dirty="0">
                <a:solidFill>
                  <a:srgbClr val="000000"/>
                </a:solidFill>
                <a:latin typeface="Calibri" pitchFamily="34" charset="0"/>
                <a:ea typeface="Calibri" pitchFamily="34" charset="-122"/>
                <a:cs typeface="Calibri" pitchFamily="34" charset="-120"/>
              </a:rPr>
              <a:t>👍</a:t>
            </a:r>
            <a:pPr indent="0" marL="0">
              <a:buNone/>
            </a:pPr>
            <a:r>
              <a:rPr lang="en-US" sz="1300" i="1" dirty="0">
                <a:solidFill>
                  <a:srgbClr val="44474A"/>
                </a:solidFill>
                <a:latin typeface="Calibri" pitchFamily="34" charset="0"/>
                <a:ea typeface="Calibri" pitchFamily="34" charset="-122"/>
                <a:cs typeface="Calibri" pitchFamily="34" charset="-120"/>
              </a:rPr>
              <a:t>  if you've used AI in the last week.</a:t>
            </a:r>
            <a:endParaRPr lang="en-US" sz="1300" dirty="0"/>
          </a:p>
        </p:txBody>
      </p:sp>
      <p:sp>
        <p:nvSpPr>
          <p:cNvPr id="11" name="Text 9"/>
          <p:cNvSpPr/>
          <p:nvPr/>
        </p:nvSpPr>
        <p:spPr>
          <a:xfrm>
            <a:off x="457200" y="4873752"/>
            <a:ext cx="5486400" cy="228600"/>
          </a:xfrm>
          <a:prstGeom prst="rect">
            <a:avLst/>
          </a:prstGeom>
          <a:noFill/>
          <a:ln/>
        </p:spPr>
        <p:txBody>
          <a:bodyPr wrap="square" lIns="0" tIns="0" rIns="0" bIns="0" rtlCol="0" anchor="ctr"/>
          <a:lstStyle/>
          <a:p>
            <a:pPr indent="0" marL="0">
              <a:buNone/>
            </a:pPr>
            <a:r>
              <a:rPr lang="en-US" sz="800" dirty="0">
                <a:solidFill>
                  <a:srgbClr val="7A7D81"/>
                </a:solidFill>
                <a:latin typeface="Calibri" pitchFamily="34" charset="0"/>
                <a:ea typeface="Calibri" pitchFamily="34" charset="-122"/>
                <a:cs typeface="Calibri" pitchFamily="34" charset="-120"/>
              </a:rPr>
              <a:t>Basics of AI/ML &amp; Prompt Engineering</a:t>
            </a:r>
            <a:endParaRPr lang="en-US" sz="800" dirty="0"/>
          </a:p>
        </p:txBody>
      </p:sp>
      <p:sp>
        <p:nvSpPr>
          <p:cNvPr id="12" name="Text 10"/>
          <p:cNvSpPr/>
          <p:nvPr/>
        </p:nvSpPr>
        <p:spPr>
          <a:xfrm>
            <a:off x="8321040" y="4873752"/>
            <a:ext cx="365760" cy="228600"/>
          </a:xfrm>
          <a:prstGeom prst="rect">
            <a:avLst/>
          </a:prstGeom>
          <a:noFill/>
          <a:ln/>
        </p:spPr>
        <p:txBody>
          <a:bodyPr wrap="square" lIns="0" tIns="0" rIns="0" bIns="0" rtlCol="0" anchor="ctr"/>
          <a:lstStyle/>
          <a:p>
            <a:pPr algn="r" indent="0" marL="0">
              <a:buNone/>
            </a:pPr>
            <a:r>
              <a:rPr lang="en-US" sz="800" dirty="0">
                <a:solidFill>
                  <a:srgbClr val="7A7D81"/>
                </a:solidFill>
                <a:latin typeface="Calibri" pitchFamily="34" charset="0"/>
                <a:ea typeface="Calibri" pitchFamily="34" charset="-122"/>
                <a:cs typeface="Calibri"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02336"/>
            <a:ext cx="109728" cy="109728"/>
          </a:xfrm>
          <a:prstGeom prst="ellipse">
            <a:avLst/>
          </a:prstGeom>
          <a:solidFill>
            <a:srgbClr val="86BC25"/>
          </a:solidFill>
          <a:ln/>
        </p:spPr>
      </p:sp>
      <p:sp>
        <p:nvSpPr>
          <p:cNvPr id="3" name="Text 1"/>
          <p:cNvSpPr/>
          <p:nvPr/>
        </p:nvSpPr>
        <p:spPr>
          <a:xfrm>
            <a:off x="658368" y="329184"/>
            <a:ext cx="7955280" cy="256032"/>
          </a:xfrm>
          <a:prstGeom prst="rect">
            <a:avLst/>
          </a:prstGeom>
          <a:noFill/>
          <a:ln/>
        </p:spPr>
        <p:txBody>
          <a:bodyPr wrap="square" lIns="0" tIns="0" rIns="0" bIns="0" rtlCol="0" anchor="ctr"/>
          <a:lstStyle/>
          <a:p>
            <a:pPr indent="0" marL="0">
              <a:buNone/>
            </a:pPr>
            <a:r>
              <a:rPr lang="en-US" sz="1100" b="1" spc="200" kern="0" dirty="0">
                <a:solidFill>
                  <a:srgbClr val="5C8A1B"/>
                </a:solidFill>
                <a:latin typeface="Calibri" pitchFamily="34" charset="0"/>
                <a:ea typeface="Calibri" pitchFamily="34" charset="-122"/>
                <a:cs typeface="Calibri" pitchFamily="34" charset="-120"/>
              </a:rPr>
              <a:t>MODULE 1 · INTRODUCTION TO AI</a:t>
            </a:r>
            <a:endParaRPr lang="en-US" sz="1100" dirty="0"/>
          </a:p>
        </p:txBody>
      </p:sp>
      <p:sp>
        <p:nvSpPr>
          <p:cNvPr id="4" name="Text 2"/>
          <p:cNvSpPr/>
          <p:nvPr/>
        </p:nvSpPr>
        <p:spPr>
          <a:xfrm>
            <a:off x="457200" y="603504"/>
            <a:ext cx="8229600" cy="640080"/>
          </a:xfrm>
          <a:prstGeom prst="rect">
            <a:avLst/>
          </a:prstGeom>
          <a:noFill/>
          <a:ln/>
        </p:spPr>
        <p:txBody>
          <a:bodyPr wrap="square" lIns="0" tIns="0" rIns="0" bIns="0" rtlCol="0" anchor="ctr"/>
          <a:lstStyle/>
          <a:p>
            <a:pPr indent="0" marL="0">
              <a:buNone/>
            </a:pPr>
            <a:r>
              <a:rPr lang="en-US" sz="2900" b="1" dirty="0">
                <a:solidFill>
                  <a:srgbClr val="26282A"/>
                </a:solidFill>
                <a:latin typeface="Cambria" pitchFamily="34" charset="0"/>
                <a:ea typeface="Cambria" pitchFamily="34" charset="-122"/>
                <a:cs typeface="Cambria" pitchFamily="34" charset="-120"/>
              </a:rPr>
              <a:t>What is AI?</a:t>
            </a:r>
            <a:endParaRPr lang="en-US" sz="2900" dirty="0"/>
          </a:p>
        </p:txBody>
      </p:sp>
      <p:sp>
        <p:nvSpPr>
          <p:cNvPr id="5" name="Text 3"/>
          <p:cNvSpPr/>
          <p:nvPr/>
        </p:nvSpPr>
        <p:spPr>
          <a:xfrm>
            <a:off x="457200" y="1371600"/>
            <a:ext cx="8229600" cy="502920"/>
          </a:xfrm>
          <a:prstGeom prst="rect">
            <a:avLst/>
          </a:prstGeom>
          <a:noFill/>
          <a:ln/>
        </p:spPr>
        <p:txBody>
          <a:bodyPr wrap="square" lIns="0" tIns="0" rIns="0" bIns="0" rtlCol="0" anchor="ctr"/>
          <a:lstStyle/>
          <a:p>
            <a:pPr indent="0" marL="0">
              <a:buNone/>
            </a:pPr>
            <a:r>
              <a:rPr lang="en-US" sz="1500" dirty="0">
                <a:solidFill>
                  <a:srgbClr val="26282A"/>
                </a:solidFill>
                <a:latin typeface="Calibri" pitchFamily="34" charset="0"/>
                <a:ea typeface="Calibri" pitchFamily="34" charset="-122"/>
                <a:cs typeface="Calibri" pitchFamily="34" charset="-120"/>
              </a:rPr>
              <a:t>AI = computer systems that perform tasks which normally need human intelligence — recognising, understanding, predicting, deciding.</a:t>
            </a:r>
            <a:endParaRPr lang="en-US" sz="1500" dirty="0"/>
          </a:p>
        </p:txBody>
      </p:sp>
      <p:sp>
        <p:nvSpPr>
          <p:cNvPr id="6" name="Shape 4"/>
          <p:cNvSpPr/>
          <p:nvPr/>
        </p:nvSpPr>
        <p:spPr>
          <a:xfrm>
            <a:off x="457200" y="2057400"/>
            <a:ext cx="4023360" cy="1691640"/>
          </a:xfrm>
          <a:prstGeom prst="roundRect">
            <a:avLst>
              <a:gd name="adj" fmla="val 4324"/>
            </a:avLst>
          </a:prstGeom>
          <a:solidFill>
            <a:srgbClr val="F4F5F6"/>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7" name="Text 5"/>
          <p:cNvSpPr/>
          <p:nvPr/>
        </p:nvSpPr>
        <p:spPr>
          <a:xfrm>
            <a:off x="685800" y="2194560"/>
            <a:ext cx="3657600" cy="274320"/>
          </a:xfrm>
          <a:prstGeom prst="rect">
            <a:avLst/>
          </a:prstGeom>
          <a:noFill/>
          <a:ln/>
        </p:spPr>
        <p:txBody>
          <a:bodyPr wrap="square" lIns="0" tIns="0" rIns="0" bIns="0" rtlCol="0" anchor="ctr"/>
          <a:lstStyle/>
          <a:p>
            <a:pPr indent="0" marL="0">
              <a:buNone/>
            </a:pPr>
            <a:r>
              <a:rPr lang="en-US" sz="1200" b="1" dirty="0">
                <a:solidFill>
                  <a:srgbClr val="5C8A1B"/>
                </a:solidFill>
                <a:latin typeface="Calibri" pitchFamily="34" charset="0"/>
                <a:ea typeface="Calibri" pitchFamily="34" charset="-122"/>
                <a:cs typeface="Calibri" pitchFamily="34" charset="-120"/>
              </a:rPr>
              <a:t>NARROW vs GENERAL</a:t>
            </a:r>
            <a:endParaRPr lang="en-US" sz="1200" dirty="0"/>
          </a:p>
        </p:txBody>
      </p:sp>
      <p:sp>
        <p:nvSpPr>
          <p:cNvPr id="8" name="Text 6"/>
          <p:cNvSpPr/>
          <p:nvPr/>
        </p:nvSpPr>
        <p:spPr>
          <a:xfrm>
            <a:off x="685800" y="2514600"/>
            <a:ext cx="3611880" cy="1143000"/>
          </a:xfrm>
          <a:prstGeom prst="rect">
            <a:avLst/>
          </a:prstGeom>
          <a:noFill/>
          <a:ln/>
        </p:spPr>
        <p:txBody>
          <a:bodyPr wrap="square" lIns="0" tIns="0" rIns="0" bIns="0" rtlCol="0" anchor="ctr"/>
          <a:lstStyle/>
          <a:p>
            <a:pPr indent="0" marL="0">
              <a:spcAft>
                <a:spcPts val="400"/>
              </a:spcAft>
              <a:buNone/>
            </a:pPr>
            <a:r>
              <a:rPr lang="en-US" sz="1250" b="1" dirty="0">
                <a:solidFill>
                  <a:srgbClr val="26282A"/>
                </a:solidFill>
                <a:latin typeface="Calibri" pitchFamily="34" charset="0"/>
                <a:ea typeface="Calibri" pitchFamily="34" charset="-122"/>
                <a:cs typeface="Calibri" pitchFamily="34" charset="-120"/>
              </a:rPr>
              <a:t>Narrow AI — good at one thing. </a:t>
            </a:r>
            <a:endParaRPr lang="en-US" sz="1250" dirty="0"/>
          </a:p>
          <a:p>
            <a:pPr indent="0" marL="0">
              <a:spcAft>
                <a:spcPts val="800"/>
              </a:spcAft>
              <a:buNone/>
            </a:pPr>
            <a:r>
              <a:rPr lang="en-US" sz="1250" dirty="0">
                <a:solidFill>
                  <a:srgbClr val="44474A"/>
                </a:solidFill>
                <a:latin typeface="Calibri" pitchFamily="34" charset="0"/>
                <a:ea typeface="Calibri" pitchFamily="34" charset="-122"/>
                <a:cs typeface="Calibri" pitchFamily="34" charset="-120"/>
              </a:rPr>
              <a:t>Every AI in use today is narrow.</a:t>
            </a:r>
            <a:endParaRPr lang="en-US" sz="1250" dirty="0"/>
          </a:p>
          <a:p>
            <a:pPr indent="0" marL="0">
              <a:spcAft>
                <a:spcPts val="400"/>
              </a:spcAft>
              <a:buNone/>
            </a:pPr>
            <a:r>
              <a:rPr lang="en-US" sz="1250" b="1" dirty="0">
                <a:solidFill>
                  <a:srgbClr val="26282A"/>
                </a:solidFill>
                <a:latin typeface="Calibri" pitchFamily="34" charset="0"/>
                <a:ea typeface="Calibri" pitchFamily="34" charset="-122"/>
                <a:cs typeface="Calibri" pitchFamily="34" charset="-120"/>
              </a:rPr>
              <a:t>General AI — human-like across everything. </a:t>
            </a:r>
            <a:endParaRPr lang="en-US" sz="1250" dirty="0"/>
          </a:p>
          <a:p>
            <a:pPr indent="0" marL="0">
              <a:buNone/>
            </a:pPr>
            <a:r>
              <a:rPr lang="en-US" sz="1250" dirty="0">
                <a:solidFill>
                  <a:srgbClr val="44474A"/>
                </a:solidFill>
                <a:latin typeface="Calibri" pitchFamily="34" charset="0"/>
                <a:ea typeface="Calibri" pitchFamily="34" charset="-122"/>
                <a:cs typeface="Calibri" pitchFamily="34" charset="-120"/>
              </a:rPr>
              <a:t>Does not exist yet.</a:t>
            </a:r>
            <a:endParaRPr lang="en-US" sz="1250" dirty="0"/>
          </a:p>
        </p:txBody>
      </p:sp>
      <p:sp>
        <p:nvSpPr>
          <p:cNvPr id="9" name="Shape 7"/>
          <p:cNvSpPr/>
          <p:nvPr/>
        </p:nvSpPr>
        <p:spPr>
          <a:xfrm>
            <a:off x="4663440" y="2057400"/>
            <a:ext cx="4023360" cy="1691640"/>
          </a:xfrm>
          <a:prstGeom prst="roundRect">
            <a:avLst>
              <a:gd name="adj" fmla="val 4324"/>
            </a:avLst>
          </a:prstGeom>
          <a:solidFill>
            <a:srgbClr val="F4F5F6"/>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10" name="Text 8"/>
          <p:cNvSpPr/>
          <p:nvPr/>
        </p:nvSpPr>
        <p:spPr>
          <a:xfrm>
            <a:off x="4892040" y="2194560"/>
            <a:ext cx="3657600" cy="274320"/>
          </a:xfrm>
          <a:prstGeom prst="rect">
            <a:avLst/>
          </a:prstGeom>
          <a:noFill/>
          <a:ln/>
        </p:spPr>
        <p:txBody>
          <a:bodyPr wrap="square" lIns="0" tIns="0" rIns="0" bIns="0" rtlCol="0" anchor="ctr"/>
          <a:lstStyle/>
          <a:p>
            <a:pPr indent="0" marL="0">
              <a:buNone/>
            </a:pPr>
            <a:r>
              <a:rPr lang="en-US" sz="1200" b="1" dirty="0">
                <a:solidFill>
                  <a:srgbClr val="5C8A1B"/>
                </a:solidFill>
                <a:latin typeface="Calibri" pitchFamily="34" charset="0"/>
                <a:ea typeface="Calibri" pitchFamily="34" charset="-122"/>
                <a:cs typeface="Calibri" pitchFamily="34" charset="-120"/>
              </a:rPr>
              <a:t>WHY NOW?</a:t>
            </a:r>
            <a:endParaRPr lang="en-US" sz="1200" dirty="0"/>
          </a:p>
        </p:txBody>
      </p:sp>
      <p:sp>
        <p:nvSpPr>
          <p:cNvPr id="11" name="Text 9"/>
          <p:cNvSpPr/>
          <p:nvPr/>
        </p:nvSpPr>
        <p:spPr>
          <a:xfrm>
            <a:off x="4892040" y="2514600"/>
            <a:ext cx="3566160" cy="1143000"/>
          </a:xfrm>
          <a:prstGeom prst="rect">
            <a:avLst/>
          </a:prstGeom>
          <a:noFill/>
          <a:ln/>
        </p:spPr>
        <p:txBody>
          <a:bodyPr wrap="square" lIns="0" tIns="0" rIns="0" bIns="0" rtlCol="0" anchor="ctr"/>
          <a:lstStyle/>
          <a:p>
            <a:pPr indent="0" marL="0">
              <a:spcAft>
                <a:spcPts val="600"/>
              </a:spcAft>
              <a:buNone/>
            </a:pPr>
            <a:r>
              <a:rPr lang="en-US" sz="1250" dirty="0">
                <a:solidFill>
                  <a:srgbClr val="44474A"/>
                </a:solidFill>
                <a:latin typeface="Calibri" pitchFamily="34" charset="0"/>
                <a:ea typeface="Calibri" pitchFamily="34" charset="-122"/>
                <a:cs typeface="Calibri" pitchFamily="34" charset="-120"/>
              </a:rPr>
              <a:t>Three forces finally came together:</a:t>
            </a:r>
            <a:endParaRPr lang="en-US" sz="1250" dirty="0"/>
          </a:p>
          <a:p>
            <a:pPr marL="342900" indent="-342900">
              <a:spcAft>
                <a:spcPts val="400"/>
              </a:spcAft>
              <a:buSzPct val="100000"/>
              <a:buChar char="•"/>
            </a:pPr>
            <a:r>
              <a:rPr lang="en-US" sz="1250" dirty="0">
                <a:solidFill>
                  <a:srgbClr val="26282A"/>
                </a:solidFill>
                <a:latin typeface="Calibri" pitchFamily="34" charset="0"/>
                <a:ea typeface="Calibri" pitchFamily="34" charset="-122"/>
                <a:cs typeface="Calibri" pitchFamily="34" charset="-120"/>
              </a:rPr>
              <a:t>Massive data</a:t>
            </a:r>
            <a:endParaRPr lang="en-US" sz="1250" dirty="0"/>
          </a:p>
          <a:p>
            <a:pPr marL="342900" indent="-342900">
              <a:spcAft>
                <a:spcPts val="400"/>
              </a:spcAft>
              <a:buSzPct val="100000"/>
              <a:buChar char="•"/>
            </a:pPr>
            <a:r>
              <a:rPr lang="en-US" sz="1250" dirty="0">
                <a:solidFill>
                  <a:srgbClr val="26282A"/>
                </a:solidFill>
                <a:latin typeface="Calibri" pitchFamily="34" charset="0"/>
                <a:ea typeface="Calibri" pitchFamily="34" charset="-122"/>
                <a:cs typeface="Calibri" pitchFamily="34" charset="-120"/>
              </a:rPr>
              <a:t>Cheap computing power</a:t>
            </a:r>
            <a:endParaRPr lang="en-US" sz="1250" dirty="0"/>
          </a:p>
          <a:p>
            <a:pPr marL="342900" indent="-342900">
              <a:buSzPct val="100000"/>
              <a:buChar char="•"/>
            </a:pPr>
            <a:r>
              <a:rPr lang="en-US" sz="1250" dirty="0">
                <a:solidFill>
                  <a:srgbClr val="26282A"/>
                </a:solidFill>
                <a:latin typeface="Calibri" pitchFamily="34" charset="0"/>
                <a:ea typeface="Calibri" pitchFamily="34" charset="-122"/>
                <a:cs typeface="Calibri" pitchFamily="34" charset="-120"/>
              </a:rPr>
              <a:t>Better algorithms</a:t>
            </a:r>
            <a:endParaRPr lang="en-US" sz="1250" dirty="0"/>
          </a:p>
        </p:txBody>
      </p:sp>
      <p:sp>
        <p:nvSpPr>
          <p:cNvPr id="12" name="Text 10"/>
          <p:cNvSpPr/>
          <p:nvPr/>
        </p:nvSpPr>
        <p:spPr>
          <a:xfrm>
            <a:off x="457200" y="3977640"/>
            <a:ext cx="8229600" cy="320040"/>
          </a:xfrm>
          <a:prstGeom prst="rect">
            <a:avLst/>
          </a:prstGeom>
          <a:noFill/>
          <a:ln/>
        </p:spPr>
        <p:txBody>
          <a:bodyPr wrap="square" lIns="0" tIns="0" rIns="0" bIns="0" rtlCol="0" anchor="ctr"/>
          <a:lstStyle/>
          <a:p>
            <a:pPr indent="0" marL="0">
              <a:buNone/>
            </a:pPr>
            <a:r>
              <a:rPr lang="en-US" sz="1250" b="1" dirty="0">
                <a:solidFill>
                  <a:srgbClr val="26282A"/>
                </a:solidFill>
                <a:latin typeface="Calibri" pitchFamily="34" charset="0"/>
                <a:ea typeface="Calibri" pitchFamily="34" charset="-122"/>
                <a:cs typeface="Calibri" pitchFamily="34" charset="-120"/>
              </a:rPr>
              <a:t>You already use it:  </a:t>
            </a:r>
            <a:pPr indent="0" marL="0">
              <a:buNone/>
            </a:pPr>
            <a:r>
              <a:rPr lang="en-US" sz="1250" dirty="0">
                <a:solidFill>
                  <a:srgbClr val="44474A"/>
                </a:solidFill>
                <a:latin typeface="Calibri" pitchFamily="34" charset="0"/>
                <a:ea typeface="Calibri" pitchFamily="34" charset="-122"/>
                <a:cs typeface="Calibri" pitchFamily="34" charset="-120"/>
              </a:rPr>
              <a:t>Maps ETA  ·  recommendations  ·  autocomplete  ·  face unlock  ·  ChatGPT</a:t>
            </a:r>
            <a:endParaRPr lang="en-US" sz="1250" dirty="0"/>
          </a:p>
        </p:txBody>
      </p:sp>
      <p:sp>
        <p:nvSpPr>
          <p:cNvPr id="13" name="Text 11"/>
          <p:cNvSpPr/>
          <p:nvPr/>
        </p:nvSpPr>
        <p:spPr>
          <a:xfrm>
            <a:off x="457200" y="4873752"/>
            <a:ext cx="5486400" cy="228600"/>
          </a:xfrm>
          <a:prstGeom prst="rect">
            <a:avLst/>
          </a:prstGeom>
          <a:noFill/>
          <a:ln/>
        </p:spPr>
        <p:txBody>
          <a:bodyPr wrap="square" lIns="0" tIns="0" rIns="0" bIns="0" rtlCol="0" anchor="ctr"/>
          <a:lstStyle/>
          <a:p>
            <a:pPr indent="0" marL="0">
              <a:buNone/>
            </a:pPr>
            <a:r>
              <a:rPr lang="en-US" sz="800" dirty="0">
                <a:solidFill>
                  <a:srgbClr val="7A7D81"/>
                </a:solidFill>
                <a:latin typeface="Calibri" pitchFamily="34" charset="0"/>
                <a:ea typeface="Calibri" pitchFamily="34" charset="-122"/>
                <a:cs typeface="Calibri" pitchFamily="34" charset="-120"/>
              </a:rPr>
              <a:t>Basics of AI/ML &amp; Prompt Engineering</a:t>
            </a:r>
            <a:endParaRPr lang="en-US" sz="800" dirty="0"/>
          </a:p>
        </p:txBody>
      </p:sp>
      <p:sp>
        <p:nvSpPr>
          <p:cNvPr id="14" name="Text 12"/>
          <p:cNvSpPr/>
          <p:nvPr/>
        </p:nvSpPr>
        <p:spPr>
          <a:xfrm>
            <a:off x="8321040" y="4873752"/>
            <a:ext cx="365760" cy="228600"/>
          </a:xfrm>
          <a:prstGeom prst="rect">
            <a:avLst/>
          </a:prstGeom>
          <a:noFill/>
          <a:ln/>
        </p:spPr>
        <p:txBody>
          <a:bodyPr wrap="square" lIns="0" tIns="0" rIns="0" bIns="0" rtlCol="0" anchor="ctr"/>
          <a:lstStyle/>
          <a:p>
            <a:pPr algn="r" indent="0" marL="0">
              <a:buNone/>
            </a:pPr>
            <a:r>
              <a:rPr lang="en-US" sz="800" dirty="0">
                <a:solidFill>
                  <a:srgbClr val="7A7D81"/>
                </a:solidFill>
                <a:latin typeface="Calibri" pitchFamily="34" charset="0"/>
                <a:ea typeface="Calibri" pitchFamily="34" charset="-122"/>
                <a:cs typeface="Calibri"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02336"/>
            <a:ext cx="109728" cy="109728"/>
          </a:xfrm>
          <a:prstGeom prst="ellipse">
            <a:avLst/>
          </a:prstGeom>
          <a:solidFill>
            <a:srgbClr val="86BC25"/>
          </a:solidFill>
          <a:ln/>
        </p:spPr>
      </p:sp>
      <p:sp>
        <p:nvSpPr>
          <p:cNvPr id="3" name="Text 1"/>
          <p:cNvSpPr/>
          <p:nvPr/>
        </p:nvSpPr>
        <p:spPr>
          <a:xfrm>
            <a:off x="658368" y="329184"/>
            <a:ext cx="7955280" cy="256032"/>
          </a:xfrm>
          <a:prstGeom prst="rect">
            <a:avLst/>
          </a:prstGeom>
          <a:noFill/>
          <a:ln/>
        </p:spPr>
        <p:txBody>
          <a:bodyPr wrap="square" lIns="0" tIns="0" rIns="0" bIns="0" rtlCol="0" anchor="ctr"/>
          <a:lstStyle/>
          <a:p>
            <a:pPr indent="0" marL="0">
              <a:buNone/>
            </a:pPr>
            <a:r>
              <a:rPr lang="en-US" sz="1100" b="1" spc="200" kern="0" dirty="0">
                <a:solidFill>
                  <a:srgbClr val="5C8A1B"/>
                </a:solidFill>
                <a:latin typeface="Calibri" pitchFamily="34" charset="0"/>
                <a:ea typeface="Calibri" pitchFamily="34" charset="-122"/>
                <a:cs typeface="Calibri" pitchFamily="34" charset="-120"/>
              </a:rPr>
              <a:t>MODULE 1 · INTRODUCTION TO AI</a:t>
            </a:r>
            <a:endParaRPr lang="en-US" sz="1100" dirty="0"/>
          </a:p>
        </p:txBody>
      </p:sp>
      <p:sp>
        <p:nvSpPr>
          <p:cNvPr id="4" name="Text 2"/>
          <p:cNvSpPr/>
          <p:nvPr/>
        </p:nvSpPr>
        <p:spPr>
          <a:xfrm>
            <a:off x="457200" y="603504"/>
            <a:ext cx="8229600" cy="640080"/>
          </a:xfrm>
          <a:prstGeom prst="rect">
            <a:avLst/>
          </a:prstGeom>
          <a:noFill/>
          <a:ln/>
        </p:spPr>
        <p:txBody>
          <a:bodyPr wrap="square" lIns="0" tIns="0" rIns="0" bIns="0" rtlCol="0" anchor="ctr"/>
          <a:lstStyle/>
          <a:p>
            <a:pPr indent="0" marL="0">
              <a:buNone/>
            </a:pPr>
            <a:r>
              <a:rPr lang="en-US" sz="2900" b="1" dirty="0">
                <a:solidFill>
                  <a:srgbClr val="26282A"/>
                </a:solidFill>
                <a:latin typeface="Cambria" pitchFamily="34" charset="0"/>
                <a:ea typeface="Cambria" pitchFamily="34" charset="-122"/>
                <a:cs typeface="Cambria" pitchFamily="34" charset="-120"/>
              </a:rPr>
              <a:t>How it all fits together</a:t>
            </a:r>
            <a:endParaRPr lang="en-US" sz="2900" dirty="0"/>
          </a:p>
        </p:txBody>
      </p:sp>
      <p:sp>
        <p:nvSpPr>
          <p:cNvPr id="5" name="Shape 3"/>
          <p:cNvSpPr/>
          <p:nvPr/>
        </p:nvSpPr>
        <p:spPr>
          <a:xfrm>
            <a:off x="594360" y="1508760"/>
            <a:ext cx="4572000" cy="3063240"/>
          </a:xfrm>
          <a:prstGeom prst="roundRect">
            <a:avLst>
              <a:gd name="adj" fmla="val 2985"/>
            </a:avLst>
          </a:prstGeom>
          <a:solidFill>
            <a:srgbClr val="F4F5F6"/>
          </a:solidFill>
          <a:ln w="12700">
            <a:solidFill>
              <a:srgbClr val="DADDE0"/>
            </a:solidFill>
            <a:prstDash val="solid"/>
          </a:ln>
        </p:spPr>
      </p:sp>
      <p:sp>
        <p:nvSpPr>
          <p:cNvPr id="6" name="Text 4"/>
          <p:cNvSpPr/>
          <p:nvPr/>
        </p:nvSpPr>
        <p:spPr>
          <a:xfrm>
            <a:off x="731520" y="1600200"/>
            <a:ext cx="4297680" cy="228600"/>
          </a:xfrm>
          <a:prstGeom prst="rect">
            <a:avLst/>
          </a:prstGeom>
          <a:noFill/>
          <a:ln/>
        </p:spPr>
        <p:txBody>
          <a:bodyPr wrap="square" lIns="0" tIns="0" rIns="0" bIns="0" rtlCol="0" anchor="ctr"/>
          <a:lstStyle/>
          <a:p>
            <a:pPr indent="0" marL="0">
              <a:buNone/>
            </a:pPr>
            <a:r>
              <a:rPr lang="en-US" sz="1100" b="1" dirty="0">
                <a:solidFill>
                  <a:srgbClr val="7A7D81"/>
                </a:solidFill>
                <a:latin typeface="Calibri" pitchFamily="34" charset="0"/>
                <a:ea typeface="Calibri" pitchFamily="34" charset="-122"/>
                <a:cs typeface="Calibri" pitchFamily="34" charset="-120"/>
              </a:rPr>
              <a:t>ARTIFICIAL INTELLIGENCE</a:t>
            </a:r>
            <a:endParaRPr lang="en-US" sz="1100" dirty="0"/>
          </a:p>
        </p:txBody>
      </p:sp>
      <p:sp>
        <p:nvSpPr>
          <p:cNvPr id="7" name="Shape 5"/>
          <p:cNvSpPr/>
          <p:nvPr/>
        </p:nvSpPr>
        <p:spPr>
          <a:xfrm>
            <a:off x="960120" y="1965960"/>
            <a:ext cx="3840480" cy="2468880"/>
          </a:xfrm>
          <a:prstGeom prst="roundRect">
            <a:avLst>
              <a:gd name="adj" fmla="val 3704"/>
            </a:avLst>
          </a:prstGeom>
          <a:solidFill>
            <a:srgbClr val="E7E9EB"/>
          </a:solidFill>
          <a:ln w="12700">
            <a:solidFill>
              <a:srgbClr val="DADDE0"/>
            </a:solidFill>
            <a:prstDash val="solid"/>
          </a:ln>
        </p:spPr>
      </p:sp>
      <p:sp>
        <p:nvSpPr>
          <p:cNvPr id="8" name="Text 6"/>
          <p:cNvSpPr/>
          <p:nvPr/>
        </p:nvSpPr>
        <p:spPr>
          <a:xfrm>
            <a:off x="1097280" y="2057400"/>
            <a:ext cx="3566160" cy="228600"/>
          </a:xfrm>
          <a:prstGeom prst="rect">
            <a:avLst/>
          </a:prstGeom>
          <a:noFill/>
          <a:ln/>
        </p:spPr>
        <p:txBody>
          <a:bodyPr wrap="square" lIns="0" tIns="0" rIns="0" bIns="0" rtlCol="0" anchor="ctr"/>
          <a:lstStyle/>
          <a:p>
            <a:pPr indent="0" marL="0">
              <a:buNone/>
            </a:pPr>
            <a:r>
              <a:rPr lang="en-US" sz="1100" b="1" dirty="0">
                <a:solidFill>
                  <a:srgbClr val="5A5D61"/>
                </a:solidFill>
                <a:latin typeface="Calibri" pitchFamily="34" charset="0"/>
                <a:ea typeface="Calibri" pitchFamily="34" charset="-122"/>
                <a:cs typeface="Calibri" pitchFamily="34" charset="-120"/>
              </a:rPr>
              <a:t>MACHINE LEARNING</a:t>
            </a:r>
            <a:endParaRPr lang="en-US" sz="1100" dirty="0"/>
          </a:p>
        </p:txBody>
      </p:sp>
      <p:sp>
        <p:nvSpPr>
          <p:cNvPr id="9" name="Shape 7"/>
          <p:cNvSpPr/>
          <p:nvPr/>
        </p:nvSpPr>
        <p:spPr>
          <a:xfrm>
            <a:off x="1325880" y="2377440"/>
            <a:ext cx="3108960" cy="1874520"/>
          </a:xfrm>
          <a:prstGeom prst="roundRect">
            <a:avLst>
              <a:gd name="adj" fmla="val 4878"/>
            </a:avLst>
          </a:prstGeom>
          <a:solidFill>
            <a:srgbClr val="D7DBDE"/>
          </a:solidFill>
          <a:ln w="12700">
            <a:solidFill>
              <a:srgbClr val="DADDE0"/>
            </a:solidFill>
            <a:prstDash val="solid"/>
          </a:ln>
        </p:spPr>
      </p:sp>
      <p:sp>
        <p:nvSpPr>
          <p:cNvPr id="10" name="Text 8"/>
          <p:cNvSpPr/>
          <p:nvPr/>
        </p:nvSpPr>
        <p:spPr>
          <a:xfrm>
            <a:off x="1463040" y="2468880"/>
            <a:ext cx="2834640" cy="228600"/>
          </a:xfrm>
          <a:prstGeom prst="rect">
            <a:avLst/>
          </a:prstGeom>
          <a:noFill/>
          <a:ln/>
        </p:spPr>
        <p:txBody>
          <a:bodyPr wrap="square" lIns="0" tIns="0" rIns="0" bIns="0" rtlCol="0" anchor="ctr"/>
          <a:lstStyle/>
          <a:p>
            <a:pPr indent="0" marL="0">
              <a:buNone/>
            </a:pPr>
            <a:r>
              <a:rPr lang="en-US" sz="1100" b="1" dirty="0">
                <a:solidFill>
                  <a:srgbClr val="44474A"/>
                </a:solidFill>
                <a:latin typeface="Calibri" pitchFamily="34" charset="0"/>
                <a:ea typeface="Calibri" pitchFamily="34" charset="-122"/>
                <a:cs typeface="Calibri" pitchFamily="34" charset="-120"/>
              </a:rPr>
              <a:t>DEEP LEARNING</a:t>
            </a:r>
            <a:endParaRPr lang="en-US" sz="1100" dirty="0"/>
          </a:p>
        </p:txBody>
      </p:sp>
      <p:sp>
        <p:nvSpPr>
          <p:cNvPr id="11" name="Shape 9"/>
          <p:cNvSpPr/>
          <p:nvPr/>
        </p:nvSpPr>
        <p:spPr>
          <a:xfrm>
            <a:off x="1691640" y="2788920"/>
            <a:ext cx="2377440" cy="1280160"/>
          </a:xfrm>
          <a:prstGeom prst="roundRect">
            <a:avLst>
              <a:gd name="adj" fmla="val 7143"/>
            </a:avLst>
          </a:prstGeom>
          <a:solidFill>
            <a:srgbClr val="86BC25"/>
          </a:solidFill>
          <a:ln w="12700">
            <a:solidFill>
              <a:srgbClr val="86BC25"/>
            </a:solidFill>
            <a:prstDash val="solid"/>
          </a:ln>
        </p:spPr>
      </p:sp>
      <p:sp>
        <p:nvSpPr>
          <p:cNvPr id="12" name="Text 10"/>
          <p:cNvSpPr/>
          <p:nvPr/>
        </p:nvSpPr>
        <p:spPr>
          <a:xfrm>
            <a:off x="1737360" y="3154680"/>
            <a:ext cx="228600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GENERATIVE AI</a:t>
            </a:r>
            <a:endParaRPr lang="en-US" sz="1200" dirty="0"/>
          </a:p>
        </p:txBody>
      </p:sp>
      <p:sp>
        <p:nvSpPr>
          <p:cNvPr id="13" name="Text 11"/>
          <p:cNvSpPr/>
          <p:nvPr/>
        </p:nvSpPr>
        <p:spPr>
          <a:xfrm>
            <a:off x="1737360" y="3429000"/>
            <a:ext cx="2286000" cy="228600"/>
          </a:xfrm>
          <a:prstGeom prst="rect">
            <a:avLst/>
          </a:prstGeom>
          <a:noFill/>
          <a:ln/>
        </p:spPr>
        <p:txBody>
          <a:bodyPr wrap="square" lIns="0" tIns="0" rIns="0" bIns="0" rtlCol="0" anchor="ctr"/>
          <a:lstStyle/>
          <a:p>
            <a:pPr algn="ctr" indent="0" marL="0">
              <a:buNone/>
            </a:pPr>
            <a:r>
              <a:rPr lang="en-US" sz="950" dirty="0">
                <a:solidFill>
                  <a:srgbClr val="EAF3DC"/>
                </a:solidFill>
                <a:latin typeface="Calibri" pitchFamily="34" charset="0"/>
                <a:ea typeface="Calibri" pitchFamily="34" charset="-122"/>
                <a:cs typeface="Calibri" pitchFamily="34" charset="-120"/>
              </a:rPr>
              <a:t>(ChatGPT lives here)</a:t>
            </a:r>
            <a:endParaRPr lang="en-US" sz="950" dirty="0"/>
          </a:p>
        </p:txBody>
      </p:sp>
      <p:sp>
        <p:nvSpPr>
          <p:cNvPr id="14" name="Text 12"/>
          <p:cNvSpPr/>
          <p:nvPr/>
        </p:nvSpPr>
        <p:spPr>
          <a:xfrm>
            <a:off x="5486400" y="1600200"/>
            <a:ext cx="3200400" cy="256032"/>
          </a:xfrm>
          <a:prstGeom prst="rect">
            <a:avLst/>
          </a:prstGeom>
          <a:noFill/>
          <a:ln/>
        </p:spPr>
        <p:txBody>
          <a:bodyPr wrap="square" lIns="0" tIns="0" rIns="0" bIns="0" rtlCol="0" anchor="ctr"/>
          <a:lstStyle/>
          <a:p>
            <a:pPr indent="0" marL="0">
              <a:buNone/>
            </a:pPr>
            <a:r>
              <a:rPr lang="en-US" sz="1300" b="1" dirty="0">
                <a:solidFill>
                  <a:srgbClr val="26282A"/>
                </a:solidFill>
                <a:latin typeface="Calibri" pitchFamily="34" charset="0"/>
                <a:ea typeface="Calibri" pitchFamily="34" charset="-122"/>
                <a:cs typeface="Calibri" pitchFamily="34" charset="-120"/>
              </a:rPr>
              <a:t>Artificial Intelligence</a:t>
            </a:r>
            <a:endParaRPr lang="en-US" sz="1300" dirty="0"/>
          </a:p>
        </p:txBody>
      </p:sp>
      <p:sp>
        <p:nvSpPr>
          <p:cNvPr id="15" name="Text 13"/>
          <p:cNvSpPr/>
          <p:nvPr/>
        </p:nvSpPr>
        <p:spPr>
          <a:xfrm>
            <a:off x="5486400" y="1856232"/>
            <a:ext cx="3200400" cy="502920"/>
          </a:xfrm>
          <a:prstGeom prst="rect">
            <a:avLst/>
          </a:prstGeom>
          <a:noFill/>
          <a:ln/>
        </p:spPr>
        <p:txBody>
          <a:bodyPr wrap="square" lIns="0" tIns="0" rIns="0" bIns="0" rtlCol="0" anchor="ctr"/>
          <a:lstStyle/>
          <a:p>
            <a:pPr indent="0" marL="0">
              <a:buNone/>
            </a:pPr>
            <a:r>
              <a:rPr lang="en-US" sz="1150" dirty="0">
                <a:solidFill>
                  <a:srgbClr val="44474A"/>
                </a:solidFill>
                <a:latin typeface="Calibri" pitchFamily="34" charset="0"/>
                <a:ea typeface="Calibri" pitchFamily="34" charset="-122"/>
                <a:cs typeface="Calibri" pitchFamily="34" charset="-120"/>
              </a:rPr>
              <a:t>The broad goal: machines that mimic intelligence.</a:t>
            </a:r>
            <a:endParaRPr lang="en-US" sz="1150" dirty="0"/>
          </a:p>
        </p:txBody>
      </p:sp>
      <p:sp>
        <p:nvSpPr>
          <p:cNvPr id="16" name="Text 14"/>
          <p:cNvSpPr/>
          <p:nvPr/>
        </p:nvSpPr>
        <p:spPr>
          <a:xfrm>
            <a:off x="5486400" y="2350008"/>
            <a:ext cx="3200400" cy="256032"/>
          </a:xfrm>
          <a:prstGeom prst="rect">
            <a:avLst/>
          </a:prstGeom>
          <a:noFill/>
          <a:ln/>
        </p:spPr>
        <p:txBody>
          <a:bodyPr wrap="square" lIns="0" tIns="0" rIns="0" bIns="0" rtlCol="0" anchor="ctr"/>
          <a:lstStyle/>
          <a:p>
            <a:pPr indent="0" marL="0">
              <a:buNone/>
            </a:pPr>
            <a:r>
              <a:rPr lang="en-US" sz="1300" b="1" dirty="0">
                <a:solidFill>
                  <a:srgbClr val="26282A"/>
                </a:solidFill>
                <a:latin typeface="Calibri" pitchFamily="34" charset="0"/>
                <a:ea typeface="Calibri" pitchFamily="34" charset="-122"/>
                <a:cs typeface="Calibri" pitchFamily="34" charset="-120"/>
              </a:rPr>
              <a:t>Machine Learning</a:t>
            </a:r>
            <a:endParaRPr lang="en-US" sz="1300" dirty="0"/>
          </a:p>
        </p:txBody>
      </p:sp>
      <p:sp>
        <p:nvSpPr>
          <p:cNvPr id="17" name="Text 15"/>
          <p:cNvSpPr/>
          <p:nvPr/>
        </p:nvSpPr>
        <p:spPr>
          <a:xfrm>
            <a:off x="5486400" y="2606040"/>
            <a:ext cx="3200400" cy="502920"/>
          </a:xfrm>
          <a:prstGeom prst="rect">
            <a:avLst/>
          </a:prstGeom>
          <a:noFill/>
          <a:ln/>
        </p:spPr>
        <p:txBody>
          <a:bodyPr wrap="square" lIns="0" tIns="0" rIns="0" bIns="0" rtlCol="0" anchor="ctr"/>
          <a:lstStyle/>
          <a:p>
            <a:pPr indent="0" marL="0">
              <a:buNone/>
            </a:pPr>
            <a:r>
              <a:rPr lang="en-US" sz="1150" dirty="0">
                <a:solidFill>
                  <a:srgbClr val="44474A"/>
                </a:solidFill>
                <a:latin typeface="Calibri" pitchFamily="34" charset="0"/>
                <a:ea typeface="Calibri" pitchFamily="34" charset="-122"/>
                <a:cs typeface="Calibri" pitchFamily="34" charset="-120"/>
              </a:rPr>
              <a:t>AI that learns patterns from data, not hand-written rules.</a:t>
            </a:r>
            <a:endParaRPr lang="en-US" sz="1150" dirty="0"/>
          </a:p>
        </p:txBody>
      </p:sp>
      <p:sp>
        <p:nvSpPr>
          <p:cNvPr id="18" name="Text 16"/>
          <p:cNvSpPr/>
          <p:nvPr/>
        </p:nvSpPr>
        <p:spPr>
          <a:xfrm>
            <a:off x="5486400" y="3099816"/>
            <a:ext cx="3200400" cy="256032"/>
          </a:xfrm>
          <a:prstGeom prst="rect">
            <a:avLst/>
          </a:prstGeom>
          <a:noFill/>
          <a:ln/>
        </p:spPr>
        <p:txBody>
          <a:bodyPr wrap="square" lIns="0" tIns="0" rIns="0" bIns="0" rtlCol="0" anchor="ctr"/>
          <a:lstStyle/>
          <a:p>
            <a:pPr indent="0" marL="0">
              <a:buNone/>
            </a:pPr>
            <a:r>
              <a:rPr lang="en-US" sz="1300" b="1" dirty="0">
                <a:solidFill>
                  <a:srgbClr val="26282A"/>
                </a:solidFill>
                <a:latin typeface="Calibri" pitchFamily="34" charset="0"/>
                <a:ea typeface="Calibri" pitchFamily="34" charset="-122"/>
                <a:cs typeface="Calibri" pitchFamily="34" charset="-120"/>
              </a:rPr>
              <a:t>Deep Learning</a:t>
            </a:r>
            <a:endParaRPr lang="en-US" sz="1300" dirty="0"/>
          </a:p>
        </p:txBody>
      </p:sp>
      <p:sp>
        <p:nvSpPr>
          <p:cNvPr id="19" name="Text 17"/>
          <p:cNvSpPr/>
          <p:nvPr/>
        </p:nvSpPr>
        <p:spPr>
          <a:xfrm>
            <a:off x="5486400" y="3355848"/>
            <a:ext cx="3200400" cy="502920"/>
          </a:xfrm>
          <a:prstGeom prst="rect">
            <a:avLst/>
          </a:prstGeom>
          <a:noFill/>
          <a:ln/>
        </p:spPr>
        <p:txBody>
          <a:bodyPr wrap="square" lIns="0" tIns="0" rIns="0" bIns="0" rtlCol="0" anchor="ctr"/>
          <a:lstStyle/>
          <a:p>
            <a:pPr indent="0" marL="0">
              <a:buNone/>
            </a:pPr>
            <a:r>
              <a:rPr lang="en-US" sz="1150" dirty="0">
                <a:solidFill>
                  <a:srgbClr val="44474A"/>
                </a:solidFill>
                <a:latin typeface="Calibri" pitchFamily="34" charset="0"/>
                <a:ea typeface="Calibri" pitchFamily="34" charset="-122"/>
                <a:cs typeface="Calibri" pitchFamily="34" charset="-120"/>
              </a:rPr>
              <a:t>ML using brain-inspired neural networks — great for images, audio, text.</a:t>
            </a:r>
            <a:endParaRPr lang="en-US" sz="1150" dirty="0"/>
          </a:p>
        </p:txBody>
      </p:sp>
      <p:sp>
        <p:nvSpPr>
          <p:cNvPr id="20" name="Text 18"/>
          <p:cNvSpPr/>
          <p:nvPr/>
        </p:nvSpPr>
        <p:spPr>
          <a:xfrm>
            <a:off x="5486400" y="3849624"/>
            <a:ext cx="3200400" cy="256032"/>
          </a:xfrm>
          <a:prstGeom prst="rect">
            <a:avLst/>
          </a:prstGeom>
          <a:noFill/>
          <a:ln/>
        </p:spPr>
        <p:txBody>
          <a:bodyPr wrap="square" lIns="0" tIns="0" rIns="0" bIns="0" rtlCol="0" anchor="ctr"/>
          <a:lstStyle/>
          <a:p>
            <a:pPr indent="0" marL="0">
              <a:buNone/>
            </a:pPr>
            <a:r>
              <a:rPr lang="en-US" sz="1300" b="1" dirty="0">
                <a:solidFill>
                  <a:srgbClr val="26282A"/>
                </a:solidFill>
                <a:latin typeface="Calibri" pitchFamily="34" charset="0"/>
                <a:ea typeface="Calibri" pitchFamily="34" charset="-122"/>
                <a:cs typeface="Calibri" pitchFamily="34" charset="-120"/>
              </a:rPr>
              <a:t>Generative AI</a:t>
            </a:r>
            <a:endParaRPr lang="en-US" sz="1300" dirty="0"/>
          </a:p>
        </p:txBody>
      </p:sp>
      <p:sp>
        <p:nvSpPr>
          <p:cNvPr id="21" name="Text 19"/>
          <p:cNvSpPr/>
          <p:nvPr/>
        </p:nvSpPr>
        <p:spPr>
          <a:xfrm>
            <a:off x="5486400" y="4105656"/>
            <a:ext cx="3200400" cy="502920"/>
          </a:xfrm>
          <a:prstGeom prst="rect">
            <a:avLst/>
          </a:prstGeom>
          <a:noFill/>
          <a:ln/>
        </p:spPr>
        <p:txBody>
          <a:bodyPr wrap="square" lIns="0" tIns="0" rIns="0" bIns="0" rtlCol="0" anchor="ctr"/>
          <a:lstStyle/>
          <a:p>
            <a:pPr indent="0" marL="0">
              <a:buNone/>
            </a:pPr>
            <a:r>
              <a:rPr lang="en-US" sz="1150" dirty="0">
                <a:solidFill>
                  <a:srgbClr val="44474A"/>
                </a:solidFill>
                <a:latin typeface="Calibri" pitchFamily="34" charset="0"/>
                <a:ea typeface="Calibri" pitchFamily="34" charset="-122"/>
                <a:cs typeface="Calibri" pitchFamily="34" charset="-120"/>
              </a:rPr>
              <a:t>Deep learning that creates new content.</a:t>
            </a:r>
            <a:endParaRPr lang="en-US" sz="1150" dirty="0"/>
          </a:p>
        </p:txBody>
      </p:sp>
      <p:sp>
        <p:nvSpPr>
          <p:cNvPr id="22" name="Text 20"/>
          <p:cNvSpPr/>
          <p:nvPr/>
        </p:nvSpPr>
        <p:spPr>
          <a:xfrm>
            <a:off x="457200" y="4873752"/>
            <a:ext cx="5486400" cy="228600"/>
          </a:xfrm>
          <a:prstGeom prst="rect">
            <a:avLst/>
          </a:prstGeom>
          <a:noFill/>
          <a:ln/>
        </p:spPr>
        <p:txBody>
          <a:bodyPr wrap="square" lIns="0" tIns="0" rIns="0" bIns="0" rtlCol="0" anchor="ctr"/>
          <a:lstStyle/>
          <a:p>
            <a:pPr indent="0" marL="0">
              <a:buNone/>
            </a:pPr>
            <a:r>
              <a:rPr lang="en-US" sz="800" dirty="0">
                <a:solidFill>
                  <a:srgbClr val="7A7D81"/>
                </a:solidFill>
                <a:latin typeface="Calibri" pitchFamily="34" charset="0"/>
                <a:ea typeface="Calibri" pitchFamily="34" charset="-122"/>
                <a:cs typeface="Calibri" pitchFamily="34" charset="-120"/>
              </a:rPr>
              <a:t>Basics of AI/ML &amp; Prompt Engineering</a:t>
            </a:r>
            <a:endParaRPr lang="en-US" sz="800" dirty="0"/>
          </a:p>
        </p:txBody>
      </p:sp>
      <p:sp>
        <p:nvSpPr>
          <p:cNvPr id="23" name="Text 21"/>
          <p:cNvSpPr/>
          <p:nvPr/>
        </p:nvSpPr>
        <p:spPr>
          <a:xfrm>
            <a:off x="8321040" y="4873752"/>
            <a:ext cx="365760" cy="228600"/>
          </a:xfrm>
          <a:prstGeom prst="rect">
            <a:avLst/>
          </a:prstGeom>
          <a:noFill/>
          <a:ln/>
        </p:spPr>
        <p:txBody>
          <a:bodyPr wrap="square" lIns="0" tIns="0" rIns="0" bIns="0" rtlCol="0" anchor="ctr"/>
          <a:lstStyle/>
          <a:p>
            <a:pPr algn="r" indent="0" marL="0">
              <a:buNone/>
            </a:pPr>
            <a:r>
              <a:rPr lang="en-US" sz="800" dirty="0">
                <a:solidFill>
                  <a:srgbClr val="7A7D81"/>
                </a:solidFill>
                <a:latin typeface="Calibri" pitchFamily="34" charset="0"/>
                <a:ea typeface="Calibri" pitchFamily="34" charset="-122"/>
                <a:cs typeface="Calibri"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02336"/>
            <a:ext cx="109728" cy="109728"/>
          </a:xfrm>
          <a:prstGeom prst="ellipse">
            <a:avLst/>
          </a:prstGeom>
          <a:solidFill>
            <a:srgbClr val="86BC25"/>
          </a:solidFill>
          <a:ln/>
        </p:spPr>
      </p:sp>
      <p:sp>
        <p:nvSpPr>
          <p:cNvPr id="3" name="Text 1"/>
          <p:cNvSpPr/>
          <p:nvPr/>
        </p:nvSpPr>
        <p:spPr>
          <a:xfrm>
            <a:off x="658368" y="329184"/>
            <a:ext cx="7955280" cy="256032"/>
          </a:xfrm>
          <a:prstGeom prst="rect">
            <a:avLst/>
          </a:prstGeom>
          <a:noFill/>
          <a:ln/>
        </p:spPr>
        <p:txBody>
          <a:bodyPr wrap="square" lIns="0" tIns="0" rIns="0" bIns="0" rtlCol="0" anchor="ctr"/>
          <a:lstStyle/>
          <a:p>
            <a:pPr indent="0" marL="0">
              <a:buNone/>
            </a:pPr>
            <a:r>
              <a:rPr lang="en-US" sz="1100" b="1" spc="200" kern="0" dirty="0">
                <a:solidFill>
                  <a:srgbClr val="5C8A1B"/>
                </a:solidFill>
                <a:latin typeface="Calibri" pitchFamily="34" charset="0"/>
                <a:ea typeface="Calibri" pitchFamily="34" charset="-122"/>
                <a:cs typeface="Calibri" pitchFamily="34" charset="-120"/>
              </a:rPr>
              <a:t>MODULE 2 · MACHINE LEARNING</a:t>
            </a:r>
            <a:endParaRPr lang="en-US" sz="1100" dirty="0"/>
          </a:p>
        </p:txBody>
      </p:sp>
      <p:sp>
        <p:nvSpPr>
          <p:cNvPr id="4" name="Text 2"/>
          <p:cNvSpPr/>
          <p:nvPr/>
        </p:nvSpPr>
        <p:spPr>
          <a:xfrm>
            <a:off x="457200" y="603504"/>
            <a:ext cx="8229600" cy="640080"/>
          </a:xfrm>
          <a:prstGeom prst="rect">
            <a:avLst/>
          </a:prstGeom>
          <a:noFill/>
          <a:ln/>
        </p:spPr>
        <p:txBody>
          <a:bodyPr wrap="square" lIns="0" tIns="0" rIns="0" bIns="0" rtlCol="0" anchor="ctr"/>
          <a:lstStyle/>
          <a:p>
            <a:pPr indent="0" marL="0">
              <a:buNone/>
            </a:pPr>
            <a:r>
              <a:rPr lang="en-US" sz="2900" b="1" dirty="0">
                <a:solidFill>
                  <a:srgbClr val="26282A"/>
                </a:solidFill>
                <a:latin typeface="Cambria" pitchFamily="34" charset="0"/>
                <a:ea typeface="Cambria" pitchFamily="34" charset="-122"/>
                <a:cs typeface="Cambria" pitchFamily="34" charset="-120"/>
              </a:rPr>
              <a:t>The big shift: learning from data</a:t>
            </a:r>
            <a:endParaRPr lang="en-US" sz="2900" dirty="0"/>
          </a:p>
        </p:txBody>
      </p:sp>
      <p:sp>
        <p:nvSpPr>
          <p:cNvPr id="5" name="Shape 3"/>
          <p:cNvSpPr/>
          <p:nvPr/>
        </p:nvSpPr>
        <p:spPr>
          <a:xfrm>
            <a:off x="457200" y="1463040"/>
            <a:ext cx="4023360" cy="1828800"/>
          </a:xfrm>
          <a:prstGeom prst="roundRect">
            <a:avLst>
              <a:gd name="adj" fmla="val 4000"/>
            </a:avLst>
          </a:prstGeom>
          <a:solidFill>
            <a:srgbClr val="F4F5F6"/>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6" name="Text 4"/>
          <p:cNvSpPr/>
          <p:nvPr/>
        </p:nvSpPr>
        <p:spPr>
          <a:xfrm>
            <a:off x="685800" y="1600200"/>
            <a:ext cx="3657600" cy="274320"/>
          </a:xfrm>
          <a:prstGeom prst="rect">
            <a:avLst/>
          </a:prstGeom>
          <a:noFill/>
          <a:ln/>
        </p:spPr>
        <p:txBody>
          <a:bodyPr wrap="square" lIns="0" tIns="0" rIns="0" bIns="0" rtlCol="0" anchor="ctr"/>
          <a:lstStyle/>
          <a:p>
            <a:pPr indent="0" marL="0">
              <a:buNone/>
            </a:pPr>
            <a:r>
              <a:rPr lang="en-US" sz="1200" b="1" dirty="0">
                <a:solidFill>
                  <a:srgbClr val="7A7D81"/>
                </a:solidFill>
                <a:latin typeface="Calibri" pitchFamily="34" charset="0"/>
                <a:ea typeface="Calibri" pitchFamily="34" charset="-122"/>
                <a:cs typeface="Calibri" pitchFamily="34" charset="-120"/>
              </a:rPr>
              <a:t>TRADITIONAL SOFTWARE</a:t>
            </a:r>
            <a:endParaRPr lang="en-US" sz="1200" dirty="0"/>
          </a:p>
        </p:txBody>
      </p:sp>
      <p:sp>
        <p:nvSpPr>
          <p:cNvPr id="7" name="Text 5"/>
          <p:cNvSpPr/>
          <p:nvPr/>
        </p:nvSpPr>
        <p:spPr>
          <a:xfrm>
            <a:off x="685800" y="1920240"/>
            <a:ext cx="3611880" cy="365760"/>
          </a:xfrm>
          <a:prstGeom prst="rect">
            <a:avLst/>
          </a:prstGeom>
          <a:noFill/>
          <a:ln/>
        </p:spPr>
        <p:txBody>
          <a:bodyPr wrap="square" lIns="0" tIns="0" rIns="0" bIns="0" rtlCol="0" anchor="ctr"/>
          <a:lstStyle/>
          <a:p>
            <a:pPr indent="0" marL="0">
              <a:buNone/>
            </a:pPr>
            <a:r>
              <a:rPr lang="en-US" sz="1500" b="1" dirty="0">
                <a:solidFill>
                  <a:srgbClr val="26282A"/>
                </a:solidFill>
                <a:latin typeface="Calibri" pitchFamily="34" charset="0"/>
                <a:ea typeface="Calibri" pitchFamily="34" charset="-122"/>
                <a:cs typeface="Calibri" pitchFamily="34" charset="-120"/>
              </a:rPr>
              <a:t>Humans write the rules.</a:t>
            </a:r>
            <a:endParaRPr lang="en-US" sz="1500" dirty="0"/>
          </a:p>
        </p:txBody>
      </p:sp>
      <p:sp>
        <p:nvSpPr>
          <p:cNvPr id="8" name="Text 6"/>
          <p:cNvSpPr/>
          <p:nvPr/>
        </p:nvSpPr>
        <p:spPr>
          <a:xfrm>
            <a:off x="685800" y="2423160"/>
            <a:ext cx="3611880" cy="731520"/>
          </a:xfrm>
          <a:prstGeom prst="rect">
            <a:avLst/>
          </a:prstGeom>
          <a:noFill/>
          <a:ln/>
        </p:spPr>
        <p:txBody>
          <a:bodyPr wrap="square" lIns="0" tIns="0" rIns="0" bIns="0" rtlCol="0" anchor="ctr"/>
          <a:lstStyle/>
          <a:p>
            <a:pPr indent="0" marL="0">
              <a:buNone/>
            </a:pPr>
            <a:r>
              <a:rPr lang="en-US" sz="1250" dirty="0">
                <a:solidFill>
                  <a:srgbClr val="44474A"/>
                </a:solidFill>
                <a:latin typeface="Calibri" pitchFamily="34" charset="0"/>
                <a:ea typeface="Calibri" pitchFamily="34" charset="-122"/>
                <a:cs typeface="Calibri" pitchFamily="34" charset="-120"/>
              </a:rPr>
              <a:t>“If the email contains X and Y, mark it as spam.”  Every rule is coded by a person.</a:t>
            </a:r>
            <a:endParaRPr lang="en-US" sz="1250" dirty="0"/>
          </a:p>
        </p:txBody>
      </p:sp>
      <p:sp>
        <p:nvSpPr>
          <p:cNvPr id="9" name="Shape 7"/>
          <p:cNvSpPr/>
          <p:nvPr/>
        </p:nvSpPr>
        <p:spPr>
          <a:xfrm>
            <a:off x="4663440" y="1463040"/>
            <a:ext cx="4023360" cy="1828800"/>
          </a:xfrm>
          <a:prstGeom prst="roundRect">
            <a:avLst>
              <a:gd name="adj" fmla="val 4000"/>
            </a:avLst>
          </a:prstGeom>
          <a:solidFill>
            <a:srgbClr val="EDF4DF"/>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10" name="Text 8"/>
          <p:cNvSpPr/>
          <p:nvPr/>
        </p:nvSpPr>
        <p:spPr>
          <a:xfrm>
            <a:off x="4892040" y="1600200"/>
            <a:ext cx="3657600" cy="274320"/>
          </a:xfrm>
          <a:prstGeom prst="rect">
            <a:avLst/>
          </a:prstGeom>
          <a:noFill/>
          <a:ln/>
        </p:spPr>
        <p:txBody>
          <a:bodyPr wrap="square" lIns="0" tIns="0" rIns="0" bIns="0" rtlCol="0" anchor="ctr"/>
          <a:lstStyle/>
          <a:p>
            <a:pPr indent="0" marL="0">
              <a:buNone/>
            </a:pPr>
            <a:r>
              <a:rPr lang="en-US" sz="1200" b="1" dirty="0">
                <a:solidFill>
                  <a:srgbClr val="5C8A1B"/>
                </a:solidFill>
                <a:latin typeface="Calibri" pitchFamily="34" charset="0"/>
                <a:ea typeface="Calibri" pitchFamily="34" charset="-122"/>
                <a:cs typeface="Calibri" pitchFamily="34" charset="-120"/>
              </a:rPr>
              <a:t>MACHINE LEARNING</a:t>
            </a:r>
            <a:endParaRPr lang="en-US" sz="1200" dirty="0"/>
          </a:p>
        </p:txBody>
      </p:sp>
      <p:sp>
        <p:nvSpPr>
          <p:cNvPr id="11" name="Text 9"/>
          <p:cNvSpPr/>
          <p:nvPr/>
        </p:nvSpPr>
        <p:spPr>
          <a:xfrm>
            <a:off x="4892040" y="1920240"/>
            <a:ext cx="3611880" cy="365760"/>
          </a:xfrm>
          <a:prstGeom prst="rect">
            <a:avLst/>
          </a:prstGeom>
          <a:noFill/>
          <a:ln/>
        </p:spPr>
        <p:txBody>
          <a:bodyPr wrap="square" lIns="0" tIns="0" rIns="0" bIns="0" rtlCol="0" anchor="ctr"/>
          <a:lstStyle/>
          <a:p>
            <a:pPr indent="0" marL="0">
              <a:buNone/>
            </a:pPr>
            <a:r>
              <a:rPr lang="en-US" sz="1500" b="1" dirty="0">
                <a:solidFill>
                  <a:srgbClr val="26282A"/>
                </a:solidFill>
                <a:latin typeface="Calibri" pitchFamily="34" charset="0"/>
                <a:ea typeface="Calibri" pitchFamily="34" charset="-122"/>
                <a:cs typeface="Calibri" pitchFamily="34" charset="-120"/>
              </a:rPr>
              <a:t>The machine learns the rules.</a:t>
            </a:r>
            <a:endParaRPr lang="en-US" sz="1500" dirty="0"/>
          </a:p>
        </p:txBody>
      </p:sp>
      <p:sp>
        <p:nvSpPr>
          <p:cNvPr id="12" name="Text 10"/>
          <p:cNvSpPr/>
          <p:nvPr/>
        </p:nvSpPr>
        <p:spPr>
          <a:xfrm>
            <a:off x="4892040" y="2423160"/>
            <a:ext cx="3611880" cy="731520"/>
          </a:xfrm>
          <a:prstGeom prst="rect">
            <a:avLst/>
          </a:prstGeom>
          <a:noFill/>
          <a:ln/>
        </p:spPr>
        <p:txBody>
          <a:bodyPr wrap="square" lIns="0" tIns="0" rIns="0" bIns="0" rtlCol="0" anchor="ctr"/>
          <a:lstStyle/>
          <a:p>
            <a:pPr indent="0" marL="0">
              <a:buNone/>
            </a:pPr>
            <a:r>
              <a:rPr lang="en-US" sz="1250" dirty="0">
                <a:solidFill>
                  <a:srgbClr val="44474A"/>
                </a:solidFill>
                <a:latin typeface="Calibri" pitchFamily="34" charset="0"/>
                <a:ea typeface="Calibri" pitchFamily="34" charset="-122"/>
                <a:cs typeface="Calibri" pitchFamily="34" charset="-120"/>
              </a:rPr>
              <a:t>Show it thousands of examples of spam vs not-spam, and it figures out the patterns itself.</a:t>
            </a:r>
            <a:endParaRPr lang="en-US" sz="1250" dirty="0"/>
          </a:p>
        </p:txBody>
      </p:sp>
      <p:sp>
        <p:nvSpPr>
          <p:cNvPr id="13" name="Shape 11"/>
          <p:cNvSpPr/>
          <p:nvPr/>
        </p:nvSpPr>
        <p:spPr>
          <a:xfrm>
            <a:off x="457200" y="3474720"/>
            <a:ext cx="8229600" cy="960120"/>
          </a:xfrm>
          <a:prstGeom prst="roundRect">
            <a:avLst>
              <a:gd name="adj" fmla="val 7619"/>
            </a:avLst>
          </a:prstGeom>
          <a:solidFill>
            <a:srgbClr val="FBFBFB"/>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14" name="Text 12"/>
          <p:cNvSpPr/>
          <p:nvPr/>
        </p:nvSpPr>
        <p:spPr>
          <a:xfrm>
            <a:off x="685800" y="3611880"/>
            <a:ext cx="7772400" cy="685800"/>
          </a:xfrm>
          <a:prstGeom prst="rect">
            <a:avLst/>
          </a:prstGeom>
          <a:noFill/>
          <a:ln/>
        </p:spPr>
        <p:txBody>
          <a:bodyPr wrap="square" lIns="0" tIns="0" rIns="0" bIns="0" rtlCol="0" anchor="ctr"/>
          <a:lstStyle/>
          <a:p>
            <a:pPr indent="0" marL="0">
              <a:buNone/>
            </a:pPr>
            <a:r>
              <a:rPr lang="en-US" sz="1300" b="1" dirty="0">
                <a:solidFill>
                  <a:srgbClr val="5C8A1B"/>
                </a:solidFill>
                <a:latin typeface="Calibri" pitchFamily="34" charset="0"/>
                <a:ea typeface="Calibri" pitchFamily="34" charset="-122"/>
                <a:cs typeface="Calibri" pitchFamily="34" charset="-120"/>
              </a:rPr>
              <a:t>The child analogy:  </a:t>
            </a:r>
            <a:pPr indent="0" marL="0">
              <a:buNone/>
            </a:pPr>
            <a:r>
              <a:rPr lang="en-US" sz="1300" dirty="0">
                <a:solidFill>
                  <a:srgbClr val="26282A"/>
                </a:solidFill>
                <a:latin typeface="Calibri" pitchFamily="34" charset="0"/>
                <a:ea typeface="Calibri" pitchFamily="34" charset="-122"/>
                <a:cs typeface="Calibri" pitchFamily="34" charset="-120"/>
              </a:rPr>
              <a:t>You don't teach a child what a dog is with rules. You show them many dogs until they recognise a new one. ML learns the same way.</a:t>
            </a:r>
            <a:endParaRPr lang="en-US" sz="1300" dirty="0"/>
          </a:p>
        </p:txBody>
      </p:sp>
      <p:sp>
        <p:nvSpPr>
          <p:cNvPr id="15" name="Text 13"/>
          <p:cNvSpPr/>
          <p:nvPr/>
        </p:nvSpPr>
        <p:spPr>
          <a:xfrm>
            <a:off x="457200" y="4873752"/>
            <a:ext cx="5486400" cy="228600"/>
          </a:xfrm>
          <a:prstGeom prst="rect">
            <a:avLst/>
          </a:prstGeom>
          <a:noFill/>
          <a:ln/>
        </p:spPr>
        <p:txBody>
          <a:bodyPr wrap="square" lIns="0" tIns="0" rIns="0" bIns="0" rtlCol="0" anchor="ctr"/>
          <a:lstStyle/>
          <a:p>
            <a:pPr indent="0" marL="0">
              <a:buNone/>
            </a:pPr>
            <a:r>
              <a:rPr lang="en-US" sz="800" dirty="0">
                <a:solidFill>
                  <a:srgbClr val="7A7D81"/>
                </a:solidFill>
                <a:latin typeface="Calibri" pitchFamily="34" charset="0"/>
                <a:ea typeface="Calibri" pitchFamily="34" charset="-122"/>
                <a:cs typeface="Calibri" pitchFamily="34" charset="-120"/>
              </a:rPr>
              <a:t>Basics of AI/ML &amp; Prompt Engineering</a:t>
            </a:r>
            <a:endParaRPr lang="en-US" sz="800" dirty="0"/>
          </a:p>
        </p:txBody>
      </p:sp>
      <p:sp>
        <p:nvSpPr>
          <p:cNvPr id="16" name="Text 14"/>
          <p:cNvSpPr/>
          <p:nvPr/>
        </p:nvSpPr>
        <p:spPr>
          <a:xfrm>
            <a:off x="8321040" y="4873752"/>
            <a:ext cx="365760" cy="228600"/>
          </a:xfrm>
          <a:prstGeom prst="rect">
            <a:avLst/>
          </a:prstGeom>
          <a:noFill/>
          <a:ln/>
        </p:spPr>
        <p:txBody>
          <a:bodyPr wrap="square" lIns="0" tIns="0" rIns="0" bIns="0" rtlCol="0" anchor="ctr"/>
          <a:lstStyle/>
          <a:p>
            <a:pPr algn="r" indent="0" marL="0">
              <a:buNone/>
            </a:pPr>
            <a:r>
              <a:rPr lang="en-US" sz="800" dirty="0">
                <a:solidFill>
                  <a:srgbClr val="7A7D81"/>
                </a:solidFill>
                <a:latin typeface="Calibri" pitchFamily="34" charset="0"/>
                <a:ea typeface="Calibri" pitchFamily="34" charset="-122"/>
                <a:cs typeface="Calibri"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02336"/>
            <a:ext cx="109728" cy="109728"/>
          </a:xfrm>
          <a:prstGeom prst="ellipse">
            <a:avLst/>
          </a:prstGeom>
          <a:solidFill>
            <a:srgbClr val="86BC25"/>
          </a:solidFill>
          <a:ln/>
        </p:spPr>
      </p:sp>
      <p:sp>
        <p:nvSpPr>
          <p:cNvPr id="3" name="Text 1"/>
          <p:cNvSpPr/>
          <p:nvPr/>
        </p:nvSpPr>
        <p:spPr>
          <a:xfrm>
            <a:off x="658368" y="329184"/>
            <a:ext cx="7955280" cy="256032"/>
          </a:xfrm>
          <a:prstGeom prst="rect">
            <a:avLst/>
          </a:prstGeom>
          <a:noFill/>
          <a:ln/>
        </p:spPr>
        <p:txBody>
          <a:bodyPr wrap="square" lIns="0" tIns="0" rIns="0" bIns="0" rtlCol="0" anchor="ctr"/>
          <a:lstStyle/>
          <a:p>
            <a:pPr indent="0" marL="0">
              <a:buNone/>
            </a:pPr>
            <a:r>
              <a:rPr lang="en-US" sz="1100" b="1" spc="200" kern="0" dirty="0">
                <a:solidFill>
                  <a:srgbClr val="5C8A1B"/>
                </a:solidFill>
                <a:latin typeface="Calibri" pitchFamily="34" charset="0"/>
                <a:ea typeface="Calibri" pitchFamily="34" charset="-122"/>
                <a:cs typeface="Calibri" pitchFamily="34" charset="-120"/>
              </a:rPr>
              <a:t>MODULE 2 · MACHINE LEARNING</a:t>
            </a:r>
            <a:endParaRPr lang="en-US" sz="1100" dirty="0"/>
          </a:p>
        </p:txBody>
      </p:sp>
      <p:sp>
        <p:nvSpPr>
          <p:cNvPr id="4" name="Text 2"/>
          <p:cNvSpPr/>
          <p:nvPr/>
        </p:nvSpPr>
        <p:spPr>
          <a:xfrm>
            <a:off x="457200" y="603504"/>
            <a:ext cx="8229600" cy="640080"/>
          </a:xfrm>
          <a:prstGeom prst="rect">
            <a:avLst/>
          </a:prstGeom>
          <a:noFill/>
          <a:ln/>
        </p:spPr>
        <p:txBody>
          <a:bodyPr wrap="square" lIns="0" tIns="0" rIns="0" bIns="0" rtlCol="0" anchor="ctr"/>
          <a:lstStyle/>
          <a:p>
            <a:pPr indent="0" marL="0">
              <a:buNone/>
            </a:pPr>
            <a:r>
              <a:rPr lang="en-US" sz="2900" b="1" dirty="0">
                <a:solidFill>
                  <a:srgbClr val="26282A"/>
                </a:solidFill>
                <a:latin typeface="Cambria" pitchFamily="34" charset="0"/>
                <a:ea typeface="Cambria" pitchFamily="34" charset="-122"/>
                <a:cs typeface="Cambria" pitchFamily="34" charset="-120"/>
              </a:rPr>
              <a:t>Three ways machines learn</a:t>
            </a:r>
            <a:endParaRPr lang="en-US" sz="2900" dirty="0"/>
          </a:p>
        </p:txBody>
      </p:sp>
      <p:sp>
        <p:nvSpPr>
          <p:cNvPr id="5" name="Shape 3"/>
          <p:cNvSpPr/>
          <p:nvPr/>
        </p:nvSpPr>
        <p:spPr>
          <a:xfrm>
            <a:off x="457200" y="1554480"/>
            <a:ext cx="2679192" cy="2651760"/>
          </a:xfrm>
          <a:prstGeom prst="roundRect">
            <a:avLst>
              <a:gd name="adj" fmla="val 2759"/>
            </a:avLst>
          </a:prstGeom>
          <a:solidFill>
            <a:srgbClr val="F4F5F6"/>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6" name="Text 4"/>
          <p:cNvSpPr/>
          <p:nvPr/>
        </p:nvSpPr>
        <p:spPr>
          <a:xfrm>
            <a:off x="658368" y="1783080"/>
            <a:ext cx="2286000" cy="320040"/>
          </a:xfrm>
          <a:prstGeom prst="rect">
            <a:avLst/>
          </a:prstGeom>
          <a:noFill/>
          <a:ln/>
        </p:spPr>
        <p:txBody>
          <a:bodyPr wrap="square" lIns="0" tIns="0" rIns="0" bIns="0" rtlCol="0" anchor="ctr"/>
          <a:lstStyle/>
          <a:p>
            <a:pPr indent="0" marL="0">
              <a:buNone/>
            </a:pPr>
            <a:r>
              <a:rPr lang="en-US" sz="1700" b="1" dirty="0">
                <a:solidFill>
                  <a:srgbClr val="26282A"/>
                </a:solidFill>
                <a:latin typeface="Cambria" pitchFamily="34" charset="0"/>
                <a:ea typeface="Cambria" pitchFamily="34" charset="-122"/>
                <a:cs typeface="Cambria" pitchFamily="34" charset="-120"/>
              </a:rPr>
              <a:t>Supervised</a:t>
            </a:r>
            <a:endParaRPr lang="en-US" sz="1700" dirty="0"/>
          </a:p>
        </p:txBody>
      </p:sp>
      <p:sp>
        <p:nvSpPr>
          <p:cNvPr id="7" name="Text 5"/>
          <p:cNvSpPr/>
          <p:nvPr/>
        </p:nvSpPr>
        <p:spPr>
          <a:xfrm>
            <a:off x="658368" y="2212848"/>
            <a:ext cx="2331720" cy="777240"/>
          </a:xfrm>
          <a:prstGeom prst="rect">
            <a:avLst/>
          </a:prstGeom>
          <a:noFill/>
          <a:ln/>
        </p:spPr>
        <p:txBody>
          <a:bodyPr wrap="square" lIns="0" tIns="0" rIns="0" bIns="0" rtlCol="0" anchor="ctr"/>
          <a:lstStyle/>
          <a:p>
            <a:pPr indent="0" marL="0">
              <a:buNone/>
            </a:pPr>
            <a:r>
              <a:rPr lang="en-US" sz="1250" dirty="0">
                <a:solidFill>
                  <a:srgbClr val="44474A"/>
                </a:solidFill>
                <a:latin typeface="Calibri" pitchFamily="34" charset="0"/>
                <a:ea typeface="Calibri" pitchFamily="34" charset="-122"/>
                <a:cs typeface="Calibri" pitchFamily="34" charset="-120"/>
              </a:rPr>
              <a:t>Learn from labelled examples</a:t>
            </a:r>
            <a:endParaRPr lang="en-US" sz="1250" dirty="0"/>
          </a:p>
        </p:txBody>
      </p:sp>
      <p:sp>
        <p:nvSpPr>
          <p:cNvPr id="8" name="Text 6"/>
          <p:cNvSpPr/>
          <p:nvPr/>
        </p:nvSpPr>
        <p:spPr>
          <a:xfrm>
            <a:off x="658368" y="3063240"/>
            <a:ext cx="2286000" cy="228600"/>
          </a:xfrm>
          <a:prstGeom prst="rect">
            <a:avLst/>
          </a:prstGeom>
          <a:noFill/>
          <a:ln/>
        </p:spPr>
        <p:txBody>
          <a:bodyPr wrap="square" lIns="0" tIns="0" rIns="0" bIns="0" rtlCol="0" anchor="ctr"/>
          <a:lstStyle/>
          <a:p>
            <a:pPr indent="0" marL="0">
              <a:buNone/>
            </a:pPr>
            <a:r>
              <a:rPr lang="en-US" sz="950" b="1" spc="100" kern="0" dirty="0">
                <a:solidFill>
                  <a:srgbClr val="5C8A1B"/>
                </a:solidFill>
                <a:latin typeface="Calibri" pitchFamily="34" charset="0"/>
                <a:ea typeface="Calibri" pitchFamily="34" charset="-122"/>
                <a:cs typeface="Calibri" pitchFamily="34" charset="-120"/>
              </a:rPr>
              <a:t>EXAMPLE</a:t>
            </a:r>
            <a:endParaRPr lang="en-US" sz="950" dirty="0"/>
          </a:p>
        </p:txBody>
      </p:sp>
      <p:sp>
        <p:nvSpPr>
          <p:cNvPr id="9" name="Text 7"/>
          <p:cNvSpPr/>
          <p:nvPr/>
        </p:nvSpPr>
        <p:spPr>
          <a:xfrm>
            <a:off x="658368" y="3310128"/>
            <a:ext cx="2331720" cy="777240"/>
          </a:xfrm>
          <a:prstGeom prst="rect">
            <a:avLst/>
          </a:prstGeom>
          <a:noFill/>
          <a:ln/>
        </p:spPr>
        <p:txBody>
          <a:bodyPr wrap="square" lIns="0" tIns="0" rIns="0" bIns="0" rtlCol="0" anchor="ctr"/>
          <a:lstStyle/>
          <a:p>
            <a:pPr indent="0" marL="0">
              <a:buNone/>
            </a:pPr>
            <a:r>
              <a:rPr lang="en-US" sz="1200" i="1" dirty="0">
                <a:solidFill>
                  <a:srgbClr val="26282A"/>
                </a:solidFill>
                <a:latin typeface="Calibri" pitchFamily="34" charset="0"/>
                <a:ea typeface="Calibri" pitchFamily="34" charset="-122"/>
                <a:cs typeface="Calibri" pitchFamily="34" charset="-120"/>
              </a:rPr>
              <a:t>Predict which invoices are likely fraudulent</a:t>
            </a:r>
            <a:endParaRPr lang="en-US" sz="1200" dirty="0"/>
          </a:p>
        </p:txBody>
      </p:sp>
      <p:sp>
        <p:nvSpPr>
          <p:cNvPr id="10" name="Shape 8"/>
          <p:cNvSpPr/>
          <p:nvPr/>
        </p:nvSpPr>
        <p:spPr>
          <a:xfrm>
            <a:off x="3264408" y="1554480"/>
            <a:ext cx="2679192" cy="2651760"/>
          </a:xfrm>
          <a:prstGeom prst="roundRect">
            <a:avLst>
              <a:gd name="adj" fmla="val 2759"/>
            </a:avLst>
          </a:prstGeom>
          <a:solidFill>
            <a:srgbClr val="F4F5F6"/>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11" name="Text 9"/>
          <p:cNvSpPr/>
          <p:nvPr/>
        </p:nvSpPr>
        <p:spPr>
          <a:xfrm>
            <a:off x="3465576" y="1783080"/>
            <a:ext cx="2286000" cy="320040"/>
          </a:xfrm>
          <a:prstGeom prst="rect">
            <a:avLst/>
          </a:prstGeom>
          <a:noFill/>
          <a:ln/>
        </p:spPr>
        <p:txBody>
          <a:bodyPr wrap="square" lIns="0" tIns="0" rIns="0" bIns="0" rtlCol="0" anchor="ctr"/>
          <a:lstStyle/>
          <a:p>
            <a:pPr indent="0" marL="0">
              <a:buNone/>
            </a:pPr>
            <a:r>
              <a:rPr lang="en-US" sz="1700" b="1" dirty="0">
                <a:solidFill>
                  <a:srgbClr val="26282A"/>
                </a:solidFill>
                <a:latin typeface="Cambria" pitchFamily="34" charset="0"/>
                <a:ea typeface="Cambria" pitchFamily="34" charset="-122"/>
                <a:cs typeface="Cambria" pitchFamily="34" charset="-120"/>
              </a:rPr>
              <a:t>Unsupervised</a:t>
            </a:r>
            <a:endParaRPr lang="en-US" sz="1700" dirty="0"/>
          </a:p>
        </p:txBody>
      </p:sp>
      <p:sp>
        <p:nvSpPr>
          <p:cNvPr id="12" name="Text 10"/>
          <p:cNvSpPr/>
          <p:nvPr/>
        </p:nvSpPr>
        <p:spPr>
          <a:xfrm>
            <a:off x="3465576" y="2212848"/>
            <a:ext cx="2331720" cy="777240"/>
          </a:xfrm>
          <a:prstGeom prst="rect">
            <a:avLst/>
          </a:prstGeom>
          <a:noFill/>
          <a:ln/>
        </p:spPr>
        <p:txBody>
          <a:bodyPr wrap="square" lIns="0" tIns="0" rIns="0" bIns="0" rtlCol="0" anchor="ctr"/>
          <a:lstStyle/>
          <a:p>
            <a:pPr indent="0" marL="0">
              <a:buNone/>
            </a:pPr>
            <a:r>
              <a:rPr lang="en-US" sz="1250" dirty="0">
                <a:solidFill>
                  <a:srgbClr val="44474A"/>
                </a:solidFill>
                <a:latin typeface="Calibri" pitchFamily="34" charset="0"/>
                <a:ea typeface="Calibri" pitchFamily="34" charset="-122"/>
                <a:cs typeface="Calibri" pitchFamily="34" charset="-120"/>
              </a:rPr>
              <a:t>Find hidden groupings, no labels</a:t>
            </a:r>
            <a:endParaRPr lang="en-US" sz="1250" dirty="0"/>
          </a:p>
        </p:txBody>
      </p:sp>
      <p:sp>
        <p:nvSpPr>
          <p:cNvPr id="13" name="Text 11"/>
          <p:cNvSpPr/>
          <p:nvPr/>
        </p:nvSpPr>
        <p:spPr>
          <a:xfrm>
            <a:off x="3465576" y="3063240"/>
            <a:ext cx="2286000" cy="228600"/>
          </a:xfrm>
          <a:prstGeom prst="rect">
            <a:avLst/>
          </a:prstGeom>
          <a:noFill/>
          <a:ln/>
        </p:spPr>
        <p:txBody>
          <a:bodyPr wrap="square" lIns="0" tIns="0" rIns="0" bIns="0" rtlCol="0" anchor="ctr"/>
          <a:lstStyle/>
          <a:p>
            <a:pPr indent="0" marL="0">
              <a:buNone/>
            </a:pPr>
            <a:r>
              <a:rPr lang="en-US" sz="950" b="1" spc="100" kern="0" dirty="0">
                <a:solidFill>
                  <a:srgbClr val="5C8A1B"/>
                </a:solidFill>
                <a:latin typeface="Calibri" pitchFamily="34" charset="0"/>
                <a:ea typeface="Calibri" pitchFamily="34" charset="-122"/>
                <a:cs typeface="Calibri" pitchFamily="34" charset="-120"/>
              </a:rPr>
              <a:t>EXAMPLE</a:t>
            </a:r>
            <a:endParaRPr lang="en-US" sz="950" dirty="0"/>
          </a:p>
        </p:txBody>
      </p:sp>
      <p:sp>
        <p:nvSpPr>
          <p:cNvPr id="14" name="Text 12"/>
          <p:cNvSpPr/>
          <p:nvPr/>
        </p:nvSpPr>
        <p:spPr>
          <a:xfrm>
            <a:off x="3465576" y="3310128"/>
            <a:ext cx="2331720" cy="777240"/>
          </a:xfrm>
          <a:prstGeom prst="rect">
            <a:avLst/>
          </a:prstGeom>
          <a:noFill/>
          <a:ln/>
        </p:spPr>
        <p:txBody>
          <a:bodyPr wrap="square" lIns="0" tIns="0" rIns="0" bIns="0" rtlCol="0" anchor="ctr"/>
          <a:lstStyle/>
          <a:p>
            <a:pPr indent="0" marL="0">
              <a:buNone/>
            </a:pPr>
            <a:r>
              <a:rPr lang="en-US" sz="1200" i="1" dirty="0">
                <a:solidFill>
                  <a:srgbClr val="26282A"/>
                </a:solidFill>
                <a:latin typeface="Calibri" pitchFamily="34" charset="0"/>
                <a:ea typeface="Calibri" pitchFamily="34" charset="-122"/>
                <a:cs typeface="Calibri" pitchFamily="34" charset="-120"/>
              </a:rPr>
              <a:t>Segment customers by behaviour</a:t>
            </a:r>
            <a:endParaRPr lang="en-US" sz="1200" dirty="0"/>
          </a:p>
        </p:txBody>
      </p:sp>
      <p:sp>
        <p:nvSpPr>
          <p:cNvPr id="15" name="Shape 13"/>
          <p:cNvSpPr/>
          <p:nvPr/>
        </p:nvSpPr>
        <p:spPr>
          <a:xfrm>
            <a:off x="6071616" y="1554480"/>
            <a:ext cx="2679192" cy="2651760"/>
          </a:xfrm>
          <a:prstGeom prst="roundRect">
            <a:avLst>
              <a:gd name="adj" fmla="val 2759"/>
            </a:avLst>
          </a:prstGeom>
          <a:solidFill>
            <a:srgbClr val="F4F5F6"/>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16" name="Text 14"/>
          <p:cNvSpPr/>
          <p:nvPr/>
        </p:nvSpPr>
        <p:spPr>
          <a:xfrm>
            <a:off x="6272784" y="1783080"/>
            <a:ext cx="2286000" cy="320040"/>
          </a:xfrm>
          <a:prstGeom prst="rect">
            <a:avLst/>
          </a:prstGeom>
          <a:noFill/>
          <a:ln/>
        </p:spPr>
        <p:txBody>
          <a:bodyPr wrap="square" lIns="0" tIns="0" rIns="0" bIns="0" rtlCol="0" anchor="ctr"/>
          <a:lstStyle/>
          <a:p>
            <a:pPr indent="0" marL="0">
              <a:buNone/>
            </a:pPr>
            <a:r>
              <a:rPr lang="en-US" sz="1700" b="1" dirty="0">
                <a:solidFill>
                  <a:srgbClr val="26282A"/>
                </a:solidFill>
                <a:latin typeface="Cambria" pitchFamily="34" charset="0"/>
                <a:ea typeface="Cambria" pitchFamily="34" charset="-122"/>
                <a:cs typeface="Cambria" pitchFamily="34" charset="-120"/>
              </a:rPr>
              <a:t>Reinforcement</a:t>
            </a:r>
            <a:endParaRPr lang="en-US" sz="1700" dirty="0"/>
          </a:p>
        </p:txBody>
      </p:sp>
      <p:sp>
        <p:nvSpPr>
          <p:cNvPr id="17" name="Text 15"/>
          <p:cNvSpPr/>
          <p:nvPr/>
        </p:nvSpPr>
        <p:spPr>
          <a:xfrm>
            <a:off x="6272784" y="2212848"/>
            <a:ext cx="2331720" cy="777240"/>
          </a:xfrm>
          <a:prstGeom prst="rect">
            <a:avLst/>
          </a:prstGeom>
          <a:noFill/>
          <a:ln/>
        </p:spPr>
        <p:txBody>
          <a:bodyPr wrap="square" lIns="0" tIns="0" rIns="0" bIns="0" rtlCol="0" anchor="ctr"/>
          <a:lstStyle/>
          <a:p>
            <a:pPr indent="0" marL="0">
              <a:buNone/>
            </a:pPr>
            <a:r>
              <a:rPr lang="en-US" sz="1250" dirty="0">
                <a:solidFill>
                  <a:srgbClr val="44474A"/>
                </a:solidFill>
                <a:latin typeface="Calibri" pitchFamily="34" charset="0"/>
                <a:ea typeface="Calibri" pitchFamily="34" charset="-122"/>
                <a:cs typeface="Calibri" pitchFamily="34" charset="-120"/>
              </a:rPr>
              <a:t>Learn by trial, reward &amp; error</a:t>
            </a:r>
            <a:endParaRPr lang="en-US" sz="1250" dirty="0"/>
          </a:p>
        </p:txBody>
      </p:sp>
      <p:sp>
        <p:nvSpPr>
          <p:cNvPr id="18" name="Text 16"/>
          <p:cNvSpPr/>
          <p:nvPr/>
        </p:nvSpPr>
        <p:spPr>
          <a:xfrm>
            <a:off x="6272784" y="3063240"/>
            <a:ext cx="2286000" cy="228600"/>
          </a:xfrm>
          <a:prstGeom prst="rect">
            <a:avLst/>
          </a:prstGeom>
          <a:noFill/>
          <a:ln/>
        </p:spPr>
        <p:txBody>
          <a:bodyPr wrap="square" lIns="0" tIns="0" rIns="0" bIns="0" rtlCol="0" anchor="ctr"/>
          <a:lstStyle/>
          <a:p>
            <a:pPr indent="0" marL="0">
              <a:buNone/>
            </a:pPr>
            <a:r>
              <a:rPr lang="en-US" sz="950" b="1" spc="100" kern="0" dirty="0">
                <a:solidFill>
                  <a:srgbClr val="5C8A1B"/>
                </a:solidFill>
                <a:latin typeface="Calibri" pitchFamily="34" charset="0"/>
                <a:ea typeface="Calibri" pitchFamily="34" charset="-122"/>
                <a:cs typeface="Calibri" pitchFamily="34" charset="-120"/>
              </a:rPr>
              <a:t>EXAMPLE</a:t>
            </a:r>
            <a:endParaRPr lang="en-US" sz="950" dirty="0"/>
          </a:p>
        </p:txBody>
      </p:sp>
      <p:sp>
        <p:nvSpPr>
          <p:cNvPr id="19" name="Text 17"/>
          <p:cNvSpPr/>
          <p:nvPr/>
        </p:nvSpPr>
        <p:spPr>
          <a:xfrm>
            <a:off x="6272784" y="3310128"/>
            <a:ext cx="2331720" cy="777240"/>
          </a:xfrm>
          <a:prstGeom prst="rect">
            <a:avLst/>
          </a:prstGeom>
          <a:noFill/>
          <a:ln/>
        </p:spPr>
        <p:txBody>
          <a:bodyPr wrap="square" lIns="0" tIns="0" rIns="0" bIns="0" rtlCol="0" anchor="ctr"/>
          <a:lstStyle/>
          <a:p>
            <a:pPr indent="0" marL="0">
              <a:buNone/>
            </a:pPr>
            <a:r>
              <a:rPr lang="en-US" sz="1200" i="1" dirty="0">
                <a:solidFill>
                  <a:srgbClr val="26282A"/>
                </a:solidFill>
                <a:latin typeface="Calibri" pitchFamily="34" charset="0"/>
                <a:ea typeface="Calibri" pitchFamily="34" charset="-122"/>
                <a:cs typeface="Calibri" pitchFamily="34" charset="-120"/>
              </a:rPr>
              <a:t>Optimise a delivery route</a:t>
            </a:r>
            <a:endParaRPr lang="en-US" sz="1200" dirty="0"/>
          </a:p>
        </p:txBody>
      </p:sp>
      <p:sp>
        <p:nvSpPr>
          <p:cNvPr id="20" name="Text 18"/>
          <p:cNvSpPr/>
          <p:nvPr/>
        </p:nvSpPr>
        <p:spPr>
          <a:xfrm>
            <a:off x="457200" y="4873752"/>
            <a:ext cx="5486400" cy="228600"/>
          </a:xfrm>
          <a:prstGeom prst="rect">
            <a:avLst/>
          </a:prstGeom>
          <a:noFill/>
          <a:ln/>
        </p:spPr>
        <p:txBody>
          <a:bodyPr wrap="square" lIns="0" tIns="0" rIns="0" bIns="0" rtlCol="0" anchor="ctr"/>
          <a:lstStyle/>
          <a:p>
            <a:pPr indent="0" marL="0">
              <a:buNone/>
            </a:pPr>
            <a:r>
              <a:rPr lang="en-US" sz="800" dirty="0">
                <a:solidFill>
                  <a:srgbClr val="7A7D81"/>
                </a:solidFill>
                <a:latin typeface="Calibri" pitchFamily="34" charset="0"/>
                <a:ea typeface="Calibri" pitchFamily="34" charset="-122"/>
                <a:cs typeface="Calibri" pitchFamily="34" charset="-120"/>
              </a:rPr>
              <a:t>Basics of AI/ML &amp; Prompt Engineering</a:t>
            </a:r>
            <a:endParaRPr lang="en-US" sz="800" dirty="0"/>
          </a:p>
        </p:txBody>
      </p:sp>
      <p:sp>
        <p:nvSpPr>
          <p:cNvPr id="21" name="Text 19"/>
          <p:cNvSpPr/>
          <p:nvPr/>
        </p:nvSpPr>
        <p:spPr>
          <a:xfrm>
            <a:off x="8321040" y="4873752"/>
            <a:ext cx="365760" cy="228600"/>
          </a:xfrm>
          <a:prstGeom prst="rect">
            <a:avLst/>
          </a:prstGeom>
          <a:noFill/>
          <a:ln/>
        </p:spPr>
        <p:txBody>
          <a:bodyPr wrap="square" lIns="0" tIns="0" rIns="0" bIns="0" rtlCol="0" anchor="ctr"/>
          <a:lstStyle/>
          <a:p>
            <a:pPr algn="r" indent="0" marL="0">
              <a:buNone/>
            </a:pPr>
            <a:r>
              <a:rPr lang="en-US" sz="800" dirty="0">
                <a:solidFill>
                  <a:srgbClr val="7A7D81"/>
                </a:solidFill>
                <a:latin typeface="Calibri" pitchFamily="34" charset="0"/>
                <a:ea typeface="Calibri" pitchFamily="34" charset="-122"/>
                <a:cs typeface="Calibri"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02336"/>
            <a:ext cx="109728" cy="109728"/>
          </a:xfrm>
          <a:prstGeom prst="ellipse">
            <a:avLst/>
          </a:prstGeom>
          <a:solidFill>
            <a:srgbClr val="86BC25"/>
          </a:solidFill>
          <a:ln/>
        </p:spPr>
      </p:sp>
      <p:sp>
        <p:nvSpPr>
          <p:cNvPr id="3" name="Text 1"/>
          <p:cNvSpPr/>
          <p:nvPr/>
        </p:nvSpPr>
        <p:spPr>
          <a:xfrm>
            <a:off x="658368" y="329184"/>
            <a:ext cx="7955280" cy="256032"/>
          </a:xfrm>
          <a:prstGeom prst="rect">
            <a:avLst/>
          </a:prstGeom>
          <a:noFill/>
          <a:ln/>
        </p:spPr>
        <p:txBody>
          <a:bodyPr wrap="square" lIns="0" tIns="0" rIns="0" bIns="0" rtlCol="0" anchor="ctr"/>
          <a:lstStyle/>
          <a:p>
            <a:pPr indent="0" marL="0">
              <a:buNone/>
            </a:pPr>
            <a:r>
              <a:rPr lang="en-US" sz="1100" b="1" spc="200" kern="0" dirty="0">
                <a:solidFill>
                  <a:srgbClr val="5C8A1B"/>
                </a:solidFill>
                <a:latin typeface="Calibri" pitchFamily="34" charset="0"/>
                <a:ea typeface="Calibri" pitchFamily="34" charset="-122"/>
                <a:cs typeface="Calibri" pitchFamily="34" charset="-120"/>
              </a:rPr>
              <a:t>MODULE 2 · DEEP LEARNING</a:t>
            </a:r>
            <a:endParaRPr lang="en-US" sz="1100" dirty="0"/>
          </a:p>
        </p:txBody>
      </p:sp>
      <p:sp>
        <p:nvSpPr>
          <p:cNvPr id="4" name="Text 2"/>
          <p:cNvSpPr/>
          <p:nvPr/>
        </p:nvSpPr>
        <p:spPr>
          <a:xfrm>
            <a:off x="457200" y="603504"/>
            <a:ext cx="8229600" cy="640080"/>
          </a:xfrm>
          <a:prstGeom prst="rect">
            <a:avLst/>
          </a:prstGeom>
          <a:noFill/>
          <a:ln/>
        </p:spPr>
        <p:txBody>
          <a:bodyPr wrap="square" lIns="0" tIns="0" rIns="0" bIns="0" rtlCol="0" anchor="ctr"/>
          <a:lstStyle/>
          <a:p>
            <a:pPr indent="0" marL="0">
              <a:buNone/>
            </a:pPr>
            <a:r>
              <a:rPr lang="en-US" sz="2900" b="1" dirty="0">
                <a:solidFill>
                  <a:srgbClr val="26282A"/>
                </a:solidFill>
                <a:latin typeface="Cambria" pitchFamily="34" charset="0"/>
                <a:ea typeface="Cambria" pitchFamily="34" charset="-122"/>
                <a:cs typeface="Cambria" pitchFamily="34" charset="-120"/>
              </a:rPr>
              <a:t>Training vs using — and what deep learning adds</a:t>
            </a:r>
            <a:endParaRPr lang="en-US" sz="2900" dirty="0"/>
          </a:p>
        </p:txBody>
      </p:sp>
      <p:sp>
        <p:nvSpPr>
          <p:cNvPr id="5" name="Shape 3"/>
          <p:cNvSpPr/>
          <p:nvPr/>
        </p:nvSpPr>
        <p:spPr>
          <a:xfrm>
            <a:off x="457200" y="1508760"/>
            <a:ext cx="4023360" cy="1234440"/>
          </a:xfrm>
          <a:prstGeom prst="roundRect">
            <a:avLst>
              <a:gd name="adj" fmla="val 5926"/>
            </a:avLst>
          </a:prstGeom>
          <a:solidFill>
            <a:srgbClr val="F4F5F6"/>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6" name="Text 4"/>
          <p:cNvSpPr/>
          <p:nvPr/>
        </p:nvSpPr>
        <p:spPr>
          <a:xfrm>
            <a:off x="685800" y="1627632"/>
            <a:ext cx="3566160" cy="256032"/>
          </a:xfrm>
          <a:prstGeom prst="rect">
            <a:avLst/>
          </a:prstGeom>
          <a:noFill/>
          <a:ln/>
        </p:spPr>
        <p:txBody>
          <a:bodyPr wrap="square" lIns="0" tIns="0" rIns="0" bIns="0" rtlCol="0" anchor="ctr"/>
          <a:lstStyle/>
          <a:p>
            <a:pPr indent="0" marL="0">
              <a:buNone/>
            </a:pPr>
            <a:r>
              <a:rPr lang="en-US" sz="1100" b="1" dirty="0">
                <a:solidFill>
                  <a:srgbClr val="5C8A1B"/>
                </a:solidFill>
                <a:latin typeface="Calibri" pitchFamily="34" charset="0"/>
                <a:ea typeface="Calibri" pitchFamily="34" charset="-122"/>
                <a:cs typeface="Calibri" pitchFamily="34" charset="-120"/>
              </a:rPr>
              <a:t>TRAINING</a:t>
            </a:r>
            <a:endParaRPr lang="en-US" sz="1100" dirty="0"/>
          </a:p>
        </p:txBody>
      </p:sp>
      <p:sp>
        <p:nvSpPr>
          <p:cNvPr id="7" name="Text 5"/>
          <p:cNvSpPr/>
          <p:nvPr/>
        </p:nvSpPr>
        <p:spPr>
          <a:xfrm>
            <a:off x="685800" y="1901952"/>
            <a:ext cx="3611880" cy="731520"/>
          </a:xfrm>
          <a:prstGeom prst="rect">
            <a:avLst/>
          </a:prstGeom>
          <a:noFill/>
          <a:ln/>
        </p:spPr>
        <p:txBody>
          <a:bodyPr wrap="square" lIns="0" tIns="0" rIns="0" bIns="0" rtlCol="0" anchor="ctr"/>
          <a:lstStyle/>
          <a:p>
            <a:pPr indent="0" marL="0">
              <a:buNone/>
            </a:pPr>
            <a:r>
              <a:rPr lang="en-US" sz="1250" dirty="0">
                <a:solidFill>
                  <a:srgbClr val="26282A"/>
                </a:solidFill>
                <a:latin typeface="Calibri" pitchFamily="34" charset="0"/>
                <a:ea typeface="Calibri" pitchFamily="34" charset="-122"/>
                <a:cs typeface="Calibri" pitchFamily="34" charset="-120"/>
              </a:rPr>
              <a:t>The model studies historical data once. Slow and expensive.</a:t>
            </a:r>
            <a:endParaRPr lang="en-US" sz="1250" dirty="0"/>
          </a:p>
        </p:txBody>
      </p:sp>
      <p:sp>
        <p:nvSpPr>
          <p:cNvPr id="8" name="Shape 6"/>
          <p:cNvSpPr/>
          <p:nvPr/>
        </p:nvSpPr>
        <p:spPr>
          <a:xfrm>
            <a:off x="4663440" y="1508760"/>
            <a:ext cx="4023360" cy="1234440"/>
          </a:xfrm>
          <a:prstGeom prst="roundRect">
            <a:avLst>
              <a:gd name="adj" fmla="val 5926"/>
            </a:avLst>
          </a:prstGeom>
          <a:solidFill>
            <a:srgbClr val="F4F5F6"/>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9" name="Text 7"/>
          <p:cNvSpPr/>
          <p:nvPr/>
        </p:nvSpPr>
        <p:spPr>
          <a:xfrm>
            <a:off x="4892040" y="1627632"/>
            <a:ext cx="3566160" cy="256032"/>
          </a:xfrm>
          <a:prstGeom prst="rect">
            <a:avLst/>
          </a:prstGeom>
          <a:noFill/>
          <a:ln/>
        </p:spPr>
        <p:txBody>
          <a:bodyPr wrap="square" lIns="0" tIns="0" rIns="0" bIns="0" rtlCol="0" anchor="ctr"/>
          <a:lstStyle/>
          <a:p>
            <a:pPr indent="0" marL="0">
              <a:buNone/>
            </a:pPr>
            <a:r>
              <a:rPr lang="en-US" sz="1100" b="1" dirty="0">
                <a:solidFill>
                  <a:srgbClr val="5C8A1B"/>
                </a:solidFill>
                <a:latin typeface="Calibri" pitchFamily="34" charset="0"/>
                <a:ea typeface="Calibri" pitchFamily="34" charset="-122"/>
                <a:cs typeface="Calibri" pitchFamily="34" charset="-120"/>
              </a:rPr>
              <a:t>USING  (INFERENCE)</a:t>
            </a:r>
            <a:endParaRPr lang="en-US" sz="1100" dirty="0"/>
          </a:p>
        </p:txBody>
      </p:sp>
      <p:sp>
        <p:nvSpPr>
          <p:cNvPr id="10" name="Text 8"/>
          <p:cNvSpPr/>
          <p:nvPr/>
        </p:nvSpPr>
        <p:spPr>
          <a:xfrm>
            <a:off x="4892040" y="1901952"/>
            <a:ext cx="3611880" cy="731520"/>
          </a:xfrm>
          <a:prstGeom prst="rect">
            <a:avLst/>
          </a:prstGeom>
          <a:noFill/>
          <a:ln/>
        </p:spPr>
        <p:txBody>
          <a:bodyPr wrap="square" lIns="0" tIns="0" rIns="0" bIns="0" rtlCol="0" anchor="ctr"/>
          <a:lstStyle/>
          <a:p>
            <a:pPr indent="0" marL="0">
              <a:buNone/>
            </a:pPr>
            <a:r>
              <a:rPr lang="en-US" sz="1250" dirty="0">
                <a:solidFill>
                  <a:srgbClr val="26282A"/>
                </a:solidFill>
                <a:latin typeface="Calibri" pitchFamily="34" charset="0"/>
                <a:ea typeface="Calibri" pitchFamily="34" charset="-122"/>
                <a:cs typeface="Calibri" pitchFamily="34" charset="-120"/>
              </a:rPr>
              <a:t>The trained model answers new questions instantly. Cheap.</a:t>
            </a:r>
            <a:endParaRPr lang="en-US" sz="1250" dirty="0"/>
          </a:p>
        </p:txBody>
      </p:sp>
      <p:sp>
        <p:nvSpPr>
          <p:cNvPr id="11" name="Shape 9"/>
          <p:cNvSpPr/>
          <p:nvPr/>
        </p:nvSpPr>
        <p:spPr>
          <a:xfrm>
            <a:off x="457200" y="2880360"/>
            <a:ext cx="8229600" cy="1417320"/>
          </a:xfrm>
          <a:prstGeom prst="roundRect">
            <a:avLst>
              <a:gd name="adj" fmla="val 5161"/>
            </a:avLst>
          </a:prstGeom>
          <a:solidFill>
            <a:srgbClr val="EDF4DF"/>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12" name="Text 10"/>
          <p:cNvSpPr/>
          <p:nvPr/>
        </p:nvSpPr>
        <p:spPr>
          <a:xfrm>
            <a:off x="685800" y="3017520"/>
            <a:ext cx="3657600" cy="274320"/>
          </a:xfrm>
          <a:prstGeom prst="rect">
            <a:avLst/>
          </a:prstGeom>
          <a:noFill/>
          <a:ln/>
        </p:spPr>
        <p:txBody>
          <a:bodyPr wrap="square" lIns="0" tIns="0" rIns="0" bIns="0" rtlCol="0" anchor="ctr"/>
          <a:lstStyle/>
          <a:p>
            <a:pPr indent="0" marL="0">
              <a:buNone/>
            </a:pPr>
            <a:r>
              <a:rPr lang="en-US" sz="1200" b="1" dirty="0">
                <a:solidFill>
                  <a:srgbClr val="5C8A1B"/>
                </a:solidFill>
                <a:latin typeface="Calibri" pitchFamily="34" charset="0"/>
                <a:ea typeface="Calibri" pitchFamily="34" charset="-122"/>
                <a:cs typeface="Calibri" pitchFamily="34" charset="-120"/>
              </a:rPr>
              <a:t>DEEP LEARNING</a:t>
            </a:r>
            <a:endParaRPr lang="en-US" sz="1200" dirty="0"/>
          </a:p>
        </p:txBody>
      </p:sp>
      <p:sp>
        <p:nvSpPr>
          <p:cNvPr id="13" name="Text 11"/>
          <p:cNvSpPr/>
          <p:nvPr/>
        </p:nvSpPr>
        <p:spPr>
          <a:xfrm>
            <a:off x="685800" y="3310128"/>
            <a:ext cx="7772400" cy="868680"/>
          </a:xfrm>
          <a:prstGeom prst="rect">
            <a:avLst/>
          </a:prstGeom>
          <a:noFill/>
          <a:ln/>
        </p:spPr>
        <p:txBody>
          <a:bodyPr wrap="square" lIns="0" tIns="0" rIns="0" bIns="0" rtlCol="0" anchor="ctr"/>
          <a:lstStyle/>
          <a:p>
            <a:pPr indent="0" marL="0">
              <a:buNone/>
            </a:pPr>
            <a:r>
              <a:rPr lang="en-US" sz="1300" dirty="0">
                <a:solidFill>
                  <a:srgbClr val="26282A"/>
                </a:solidFill>
                <a:latin typeface="Calibri" pitchFamily="34" charset="0"/>
                <a:ea typeface="Calibri" pitchFamily="34" charset="-122"/>
                <a:cs typeface="Calibri" pitchFamily="34" charset="-120"/>
              </a:rPr>
              <a:t>ML using </a:t>
            </a:r>
            <a:pPr indent="0" marL="0">
              <a:buNone/>
            </a:pPr>
            <a:r>
              <a:rPr lang="en-US" sz="1300" b="1" dirty="0">
                <a:solidFill>
                  <a:srgbClr val="26282A"/>
                </a:solidFill>
                <a:latin typeface="Calibri" pitchFamily="34" charset="0"/>
                <a:ea typeface="Calibri" pitchFamily="34" charset="-122"/>
                <a:cs typeface="Calibri" pitchFamily="34" charset="-120"/>
              </a:rPr>
              <a:t>neural networks</a:t>
            </a:r>
            <a:pPr indent="0" marL="0">
              <a:buNone/>
            </a:pPr>
            <a:r>
              <a:rPr lang="en-US" sz="1300" dirty="0">
                <a:solidFill>
                  <a:srgbClr val="26282A"/>
                </a:solidFill>
                <a:latin typeface="Calibri" pitchFamily="34" charset="0"/>
                <a:ea typeface="Calibri" pitchFamily="34" charset="-122"/>
                <a:cs typeface="Calibri" pitchFamily="34" charset="-120"/>
              </a:rPr>
              <a:t> — layered systems loosely inspired by the brain. Best for messy, unstructured data: images, audio and language. </a:t>
            </a:r>
            <a:pPr indent="0" marL="0">
              <a:buNone/>
            </a:pPr>
            <a:r>
              <a:rPr lang="en-US" sz="1300" b="1" dirty="0">
                <a:solidFill>
                  <a:srgbClr val="5C8A1B"/>
                </a:solidFill>
                <a:latin typeface="Calibri" pitchFamily="34" charset="0"/>
                <a:ea typeface="Calibri" pitchFamily="34" charset="-122"/>
                <a:cs typeface="Calibri" pitchFamily="34" charset="-120"/>
              </a:rPr>
              <a:t>Deep learning is what powers today's Generative AI.</a:t>
            </a:r>
            <a:endParaRPr lang="en-US" sz="1300" dirty="0"/>
          </a:p>
        </p:txBody>
      </p:sp>
      <p:sp>
        <p:nvSpPr>
          <p:cNvPr id="14" name="Text 12"/>
          <p:cNvSpPr/>
          <p:nvPr/>
        </p:nvSpPr>
        <p:spPr>
          <a:xfrm>
            <a:off x="457200" y="4873752"/>
            <a:ext cx="5486400" cy="228600"/>
          </a:xfrm>
          <a:prstGeom prst="rect">
            <a:avLst/>
          </a:prstGeom>
          <a:noFill/>
          <a:ln/>
        </p:spPr>
        <p:txBody>
          <a:bodyPr wrap="square" lIns="0" tIns="0" rIns="0" bIns="0" rtlCol="0" anchor="ctr"/>
          <a:lstStyle/>
          <a:p>
            <a:pPr indent="0" marL="0">
              <a:buNone/>
            </a:pPr>
            <a:r>
              <a:rPr lang="en-US" sz="800" dirty="0">
                <a:solidFill>
                  <a:srgbClr val="7A7D81"/>
                </a:solidFill>
                <a:latin typeface="Calibri" pitchFamily="34" charset="0"/>
                <a:ea typeface="Calibri" pitchFamily="34" charset="-122"/>
                <a:cs typeface="Calibri" pitchFamily="34" charset="-120"/>
              </a:rPr>
              <a:t>Basics of AI/ML &amp; Prompt Engineering</a:t>
            </a:r>
            <a:endParaRPr lang="en-US" sz="800" dirty="0"/>
          </a:p>
        </p:txBody>
      </p:sp>
      <p:sp>
        <p:nvSpPr>
          <p:cNvPr id="15" name="Text 13"/>
          <p:cNvSpPr/>
          <p:nvPr/>
        </p:nvSpPr>
        <p:spPr>
          <a:xfrm>
            <a:off x="8321040" y="4873752"/>
            <a:ext cx="365760" cy="228600"/>
          </a:xfrm>
          <a:prstGeom prst="rect">
            <a:avLst/>
          </a:prstGeom>
          <a:noFill/>
          <a:ln/>
        </p:spPr>
        <p:txBody>
          <a:bodyPr wrap="square" lIns="0" tIns="0" rIns="0" bIns="0" rtlCol="0" anchor="ctr"/>
          <a:lstStyle/>
          <a:p>
            <a:pPr algn="r" indent="0" marL="0">
              <a:buNone/>
            </a:pPr>
            <a:r>
              <a:rPr lang="en-US" sz="800" dirty="0">
                <a:solidFill>
                  <a:srgbClr val="7A7D81"/>
                </a:solidFill>
                <a:latin typeface="Calibri" pitchFamily="34" charset="0"/>
                <a:ea typeface="Calibri" pitchFamily="34" charset="-122"/>
                <a:cs typeface="Calibri"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02336"/>
            <a:ext cx="109728" cy="109728"/>
          </a:xfrm>
          <a:prstGeom prst="ellipse">
            <a:avLst/>
          </a:prstGeom>
          <a:solidFill>
            <a:srgbClr val="86BC25"/>
          </a:solidFill>
          <a:ln/>
        </p:spPr>
      </p:sp>
      <p:sp>
        <p:nvSpPr>
          <p:cNvPr id="3" name="Text 1"/>
          <p:cNvSpPr/>
          <p:nvPr/>
        </p:nvSpPr>
        <p:spPr>
          <a:xfrm>
            <a:off x="658368" y="329184"/>
            <a:ext cx="7955280" cy="256032"/>
          </a:xfrm>
          <a:prstGeom prst="rect">
            <a:avLst/>
          </a:prstGeom>
          <a:noFill/>
          <a:ln/>
        </p:spPr>
        <p:txBody>
          <a:bodyPr wrap="square" lIns="0" tIns="0" rIns="0" bIns="0" rtlCol="0" anchor="ctr"/>
          <a:lstStyle/>
          <a:p>
            <a:pPr indent="0" marL="0">
              <a:buNone/>
            </a:pPr>
            <a:r>
              <a:rPr lang="en-US" sz="1100" b="1" spc="200" kern="0" dirty="0">
                <a:solidFill>
                  <a:srgbClr val="5C8A1B"/>
                </a:solidFill>
                <a:latin typeface="Calibri" pitchFamily="34" charset="0"/>
                <a:ea typeface="Calibri" pitchFamily="34" charset="-122"/>
                <a:cs typeface="Calibri" pitchFamily="34" charset="-120"/>
              </a:rPr>
              <a:t>MODULE 3 · GENERATIVE AI &amp; LLMS</a:t>
            </a:r>
            <a:endParaRPr lang="en-US" sz="1100" dirty="0"/>
          </a:p>
        </p:txBody>
      </p:sp>
      <p:sp>
        <p:nvSpPr>
          <p:cNvPr id="4" name="Text 2"/>
          <p:cNvSpPr/>
          <p:nvPr/>
        </p:nvSpPr>
        <p:spPr>
          <a:xfrm>
            <a:off x="457200" y="603504"/>
            <a:ext cx="8229600" cy="640080"/>
          </a:xfrm>
          <a:prstGeom prst="rect">
            <a:avLst/>
          </a:prstGeom>
          <a:noFill/>
          <a:ln/>
        </p:spPr>
        <p:txBody>
          <a:bodyPr wrap="square" lIns="0" tIns="0" rIns="0" bIns="0" rtlCol="0" anchor="ctr"/>
          <a:lstStyle/>
          <a:p>
            <a:pPr indent="0" marL="0">
              <a:buNone/>
            </a:pPr>
            <a:r>
              <a:rPr lang="en-US" sz="2900" b="1" dirty="0">
                <a:solidFill>
                  <a:srgbClr val="26282A"/>
                </a:solidFill>
                <a:latin typeface="Cambria" pitchFamily="34" charset="0"/>
                <a:ea typeface="Cambria" pitchFamily="34" charset="-122"/>
                <a:cs typeface="Cambria" pitchFamily="34" charset="-120"/>
              </a:rPr>
              <a:t>Generative vs predictive AI</a:t>
            </a:r>
            <a:endParaRPr lang="en-US" sz="2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8229600" cy="2377440"/>
        </p:xfrm>
        <a:graphic>
          <a:graphicData uri="http://schemas.openxmlformats.org/drawingml/2006/table">
            <a:tbl>
              <a:tblPr/>
              <a:tblGrid>
                <a:gridCol w="1828800"/>
                <a:gridCol w="3200400"/>
                <a:gridCol w="3200400"/>
              </a:tblGrid>
              <a:tr h="457200">
                <a:tc>
                  <a:txBody>
                    <a:bodyPr/>
                    <a:lstStyle/>
                    <a:p>
                      <a:pPr algn="l" indent="0" marL="0">
                        <a:buNone/>
                      </a:pPr>
                      <a:endParaRPr lang="en-US" sz="1300" dirty="0">
                        <a:latin typeface="Calibri" charset="0"/>
                        <a:ea typeface="Calibri" charset="0"/>
                        <a:cs typeface="Calibri" charset="0"/>
                      </a:endParaRPr>
                    </a:p>
                  </a:txBody>
                  <a:tcPr marL="101600" marR="101600" marT="50800" marB="50800" anchor="ctr">
                    <a:lnL w="9525" cap="flat" cmpd="sng" algn="ctr">
                      <a:solidFill>
                        <a:srgbClr val="DADDE0"/>
                      </a:solidFill>
                      <a:prstDash val="solid"/>
                      <a:round/>
                      <a:headEnd type="none" w="med" len="med"/>
                      <a:tailEnd type="none" w="med" len="med"/>
                    </a:lnL>
                    <a:lnR w="9525" cap="flat" cmpd="sng" algn="ctr">
                      <a:solidFill>
                        <a:srgbClr val="DADDE0"/>
                      </a:solidFill>
                      <a:prstDash val="solid"/>
                      <a:round/>
                      <a:headEnd type="none" w="med" len="med"/>
                      <a:tailEnd type="none" w="med" len="med"/>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26282A"/>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Predictive AI</a:t>
                      </a:r>
                      <a:endParaRPr lang="en-US" sz="1300" dirty="0">
                        <a:latin typeface="Calibri" charset="0"/>
                        <a:ea typeface="Calibri" charset="0"/>
                        <a:cs typeface="Calibri" charset="0"/>
                      </a:endParaRPr>
                    </a:p>
                  </a:txBody>
                  <a:tcPr marL="101600" marR="101600" marT="50800" marB="50800" anchor="ctr">
                    <a:lnL w="9525" cap="flat" cmpd="sng" algn="ctr">
                      <a:solidFill>
                        <a:srgbClr val="DADDE0"/>
                      </a:solidFill>
                      <a:prstDash val="solid"/>
                      <a:round/>
                      <a:headEnd type="none" w="med" len="med"/>
                      <a:tailEnd type="none" w="med" len="med"/>
                    </a:lnL>
                    <a:lnR w="9525" cap="flat" cmpd="sng" algn="ctr">
                      <a:solidFill>
                        <a:srgbClr val="DADDE0"/>
                      </a:solidFill>
                      <a:prstDash val="solid"/>
                      <a:round/>
                      <a:headEnd type="none" w="med" len="med"/>
                      <a:tailEnd type="none" w="med" len="med"/>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26282A"/>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Generative AI</a:t>
                      </a:r>
                      <a:endParaRPr lang="en-US" sz="1300" dirty="0">
                        <a:latin typeface="Calibri" charset="0"/>
                        <a:ea typeface="Calibri" charset="0"/>
                        <a:cs typeface="Calibri" charset="0"/>
                      </a:endParaRPr>
                    </a:p>
                  </a:txBody>
                  <a:tcPr marL="101600" marR="101600" marT="50800" marB="50800" anchor="ctr">
                    <a:lnL w="9525" cap="flat" cmpd="sng" algn="ctr">
                      <a:solidFill>
                        <a:srgbClr val="DADDE0"/>
                      </a:solidFill>
                      <a:prstDash val="solid"/>
                      <a:round/>
                      <a:headEnd type="none" w="med" len="med"/>
                      <a:tailEnd type="none" w="med" len="med"/>
                    </a:lnL>
                    <a:lnR w="9525" cap="flat" cmpd="sng" algn="ctr">
                      <a:solidFill>
                        <a:srgbClr val="DADDE0"/>
                      </a:solidFill>
                      <a:prstDash val="solid"/>
                      <a:round/>
                      <a:headEnd type="none" w="med" len="med"/>
                      <a:tailEnd type="none" w="med" len="med"/>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26282A"/>
                    </a:solidFill>
                  </a:tcPr>
                </a:tc>
              </a:tr>
              <a:tr h="594360">
                <a:tc>
                  <a:txBody>
                    <a:bodyPr/>
                    <a:lstStyle/>
                    <a:p>
                      <a:pPr algn="l" indent="0" marL="0">
                        <a:buNone/>
                      </a:pPr>
                      <a:r>
                        <a:rPr lang="en-US" sz="1250" b="1" dirty="0">
                          <a:solidFill>
                            <a:srgbClr val="26282A"/>
                          </a:solidFill>
                          <a:latin typeface="Calibri" pitchFamily="34" charset="0"/>
                          <a:ea typeface="Calibri" pitchFamily="34" charset="-122"/>
                          <a:cs typeface="Calibri" pitchFamily="34" charset="-120"/>
                        </a:rPr>
                        <a:t>Does what?</a:t>
                      </a:r>
                      <a:endParaRPr lang="en-US" sz="1250" dirty="0">
                        <a:latin typeface="Calibri" charset="0"/>
                        <a:ea typeface="Calibri" charset="0"/>
                        <a:cs typeface="Calibri" charset="0"/>
                      </a:endParaRPr>
                    </a:p>
                  </a:txBody>
                  <a:tcPr marL="101600" marR="101600" marT="50800" marB="50800" anchor="ctr">
                    <a:lnL w="9525" cap="flat" cmpd="sng" algn="ctr">
                      <a:solidFill>
                        <a:srgbClr val="DADDE0"/>
                      </a:solidFill>
                      <a:prstDash val="solid"/>
                      <a:round/>
                      <a:headEnd type="none" w="med" len="med"/>
                      <a:tailEnd type="none" w="med" len="med"/>
                    </a:lnL>
                    <a:lnR w="9525" cap="flat" cmpd="sng" algn="ctr">
                      <a:solidFill>
                        <a:srgbClr val="DADDE0"/>
                      </a:solidFill>
                      <a:prstDash val="solid"/>
                      <a:round/>
                      <a:headEnd type="none" w="med" len="med"/>
                      <a:tailEnd type="none" w="med" len="med"/>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ECEEF0"/>
                    </a:solidFill>
                  </a:tcPr>
                </a:tc>
                <a:tc>
                  <a:txBody>
                    <a:bodyPr/>
                    <a:lstStyle/>
                    <a:p>
                      <a:pPr algn="l" indent="0" marL="0">
                        <a:buNone/>
                      </a:pPr>
                      <a:r>
                        <a:rPr lang="en-US" sz="1250" dirty="0">
                          <a:solidFill>
                            <a:srgbClr val="26282A"/>
                          </a:solidFill>
                          <a:latin typeface="Calibri" pitchFamily="34" charset="0"/>
                          <a:ea typeface="Calibri" pitchFamily="34" charset="-122"/>
                          <a:cs typeface="Calibri" pitchFamily="34" charset="-120"/>
                        </a:rPr>
                        <a:t>Classifies / forecasts</a:t>
                      </a:r>
                      <a:endParaRPr lang="en-US" sz="1250" dirty="0">
                        <a:latin typeface="Calibri" charset="0"/>
                        <a:ea typeface="Calibri" charset="0"/>
                        <a:cs typeface="Calibri" charset="0"/>
                      </a:endParaRPr>
                    </a:p>
                  </a:txBody>
                  <a:tcPr marL="101600" marR="101600" marT="50800" marB="50800" anchor="ctr">
                    <a:lnL w="9525" cap="flat" cmpd="sng" algn="ctr">
                      <a:solidFill>
                        <a:srgbClr val="DADDE0"/>
                      </a:solidFill>
                      <a:prstDash val="solid"/>
                      <a:round/>
                      <a:headEnd type="none" w="med" len="med"/>
                      <a:tailEnd type="none" w="med" len="med"/>
                    </a:lnL>
                    <a:lnR w="9525" cap="flat" cmpd="sng" algn="ctr">
                      <a:solidFill>
                        <a:srgbClr val="DADDE0"/>
                      </a:solidFill>
                      <a:prstDash val="solid"/>
                      <a:round/>
                      <a:headEnd type="none" w="med" len="med"/>
                      <a:tailEnd type="none" w="med" len="med"/>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BFBFB"/>
                    </a:solidFill>
                  </a:tcPr>
                </a:tc>
                <a:tc>
                  <a:txBody>
                    <a:bodyPr/>
                    <a:lstStyle/>
                    <a:p>
                      <a:pPr algn="l" indent="0" marL="0">
                        <a:buNone/>
                      </a:pPr>
                      <a:r>
                        <a:rPr lang="en-US" sz="1250" dirty="0">
                          <a:solidFill>
                            <a:srgbClr val="26282A"/>
                          </a:solidFill>
                          <a:latin typeface="Calibri" pitchFamily="34" charset="0"/>
                          <a:ea typeface="Calibri" pitchFamily="34" charset="-122"/>
                          <a:cs typeface="Calibri" pitchFamily="34" charset="-120"/>
                        </a:rPr>
                        <a:t>Creates new content</a:t>
                      </a:r>
                      <a:endParaRPr lang="en-US" sz="1250" dirty="0">
                        <a:latin typeface="Calibri" charset="0"/>
                        <a:ea typeface="Calibri" charset="0"/>
                        <a:cs typeface="Calibri" charset="0"/>
                      </a:endParaRPr>
                    </a:p>
                  </a:txBody>
                  <a:tcPr marL="101600" marR="101600" marT="50800" marB="50800" anchor="ctr">
                    <a:lnL w="9525" cap="flat" cmpd="sng" algn="ctr">
                      <a:solidFill>
                        <a:srgbClr val="DADDE0"/>
                      </a:solidFill>
                      <a:prstDash val="solid"/>
                      <a:round/>
                      <a:headEnd type="none" w="med" len="med"/>
                      <a:tailEnd type="none" w="med" len="med"/>
                    </a:lnL>
                    <a:lnR w="9525" cap="flat" cmpd="sng" algn="ctr">
                      <a:solidFill>
                        <a:srgbClr val="DADDE0"/>
                      </a:solidFill>
                      <a:prstDash val="solid"/>
                      <a:round/>
                      <a:headEnd type="none" w="med" len="med"/>
                      <a:tailEnd type="none" w="med" len="med"/>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EDF4DF"/>
                    </a:solidFill>
                  </a:tcPr>
                </a:tc>
              </a:tr>
              <a:tr h="594360">
                <a:tc>
                  <a:txBody>
                    <a:bodyPr/>
                    <a:lstStyle/>
                    <a:p>
                      <a:pPr algn="l" indent="0" marL="0">
                        <a:buNone/>
                      </a:pPr>
                      <a:r>
                        <a:rPr lang="en-US" sz="1250" b="1" dirty="0">
                          <a:solidFill>
                            <a:srgbClr val="26282A"/>
                          </a:solidFill>
                          <a:latin typeface="Calibri" pitchFamily="34" charset="0"/>
                          <a:ea typeface="Calibri" pitchFamily="34" charset="-122"/>
                          <a:cs typeface="Calibri" pitchFamily="34" charset="-120"/>
                        </a:rPr>
                        <a:t>Output</a:t>
                      </a:r>
                      <a:endParaRPr lang="en-US" sz="1250" dirty="0">
                        <a:latin typeface="Calibri" charset="0"/>
                        <a:ea typeface="Calibri" charset="0"/>
                        <a:cs typeface="Calibri" charset="0"/>
                      </a:endParaRPr>
                    </a:p>
                  </a:txBody>
                  <a:tcPr marL="101600" marR="101600" marT="50800" marB="50800" anchor="ctr">
                    <a:lnL w="9525" cap="flat" cmpd="sng" algn="ctr">
                      <a:solidFill>
                        <a:srgbClr val="DADDE0"/>
                      </a:solidFill>
                      <a:prstDash val="solid"/>
                      <a:round/>
                      <a:headEnd type="none" w="med" len="med"/>
                      <a:tailEnd type="none" w="med" len="med"/>
                    </a:lnL>
                    <a:lnR w="9525" cap="flat" cmpd="sng" algn="ctr">
                      <a:solidFill>
                        <a:srgbClr val="DADDE0"/>
                      </a:solidFill>
                      <a:prstDash val="solid"/>
                      <a:round/>
                      <a:headEnd type="none" w="med" len="med"/>
                      <a:tailEnd type="none" w="med" len="med"/>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ECEEF0"/>
                    </a:solidFill>
                  </a:tcPr>
                </a:tc>
                <a:tc>
                  <a:txBody>
                    <a:bodyPr/>
                    <a:lstStyle/>
                    <a:p>
                      <a:pPr algn="l" indent="0" marL="0">
                        <a:buNone/>
                      </a:pPr>
                      <a:r>
                        <a:rPr lang="en-US" sz="1250" dirty="0">
                          <a:solidFill>
                            <a:srgbClr val="26282A"/>
                          </a:solidFill>
                          <a:latin typeface="Calibri" pitchFamily="34" charset="0"/>
                          <a:ea typeface="Calibri" pitchFamily="34" charset="-122"/>
                          <a:cs typeface="Calibri" pitchFamily="34" charset="-120"/>
                        </a:rPr>
                        <a:t>A label or number</a:t>
                      </a:r>
                      <a:endParaRPr lang="en-US" sz="1250" dirty="0">
                        <a:latin typeface="Calibri" charset="0"/>
                        <a:ea typeface="Calibri" charset="0"/>
                        <a:cs typeface="Calibri" charset="0"/>
                      </a:endParaRPr>
                    </a:p>
                  </a:txBody>
                  <a:tcPr marL="101600" marR="101600" marT="50800" marB="50800" anchor="ctr">
                    <a:lnL w="9525" cap="flat" cmpd="sng" algn="ctr">
                      <a:solidFill>
                        <a:srgbClr val="DADDE0"/>
                      </a:solidFill>
                      <a:prstDash val="solid"/>
                      <a:round/>
                      <a:headEnd type="none" w="med" len="med"/>
                      <a:tailEnd type="none" w="med" len="med"/>
                    </a:lnL>
                    <a:lnR w="9525" cap="flat" cmpd="sng" algn="ctr">
                      <a:solidFill>
                        <a:srgbClr val="DADDE0"/>
                      </a:solidFill>
                      <a:prstDash val="solid"/>
                      <a:round/>
                      <a:headEnd type="none" w="med" len="med"/>
                      <a:tailEnd type="none" w="med" len="med"/>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BFBFB"/>
                    </a:solidFill>
                  </a:tcPr>
                </a:tc>
                <a:tc>
                  <a:txBody>
                    <a:bodyPr/>
                    <a:lstStyle/>
                    <a:p>
                      <a:pPr algn="l" indent="0" marL="0">
                        <a:buNone/>
                      </a:pPr>
                      <a:r>
                        <a:rPr lang="en-US" sz="1250" dirty="0">
                          <a:solidFill>
                            <a:srgbClr val="26282A"/>
                          </a:solidFill>
                          <a:latin typeface="Calibri" pitchFamily="34" charset="0"/>
                          <a:ea typeface="Calibri" pitchFamily="34" charset="-122"/>
                          <a:cs typeface="Calibri" pitchFamily="34" charset="-120"/>
                        </a:rPr>
                        <a:t>Text, images, code, audio</a:t>
                      </a:r>
                      <a:endParaRPr lang="en-US" sz="1250" dirty="0">
                        <a:latin typeface="Calibri" charset="0"/>
                        <a:ea typeface="Calibri" charset="0"/>
                        <a:cs typeface="Calibri" charset="0"/>
                      </a:endParaRPr>
                    </a:p>
                  </a:txBody>
                  <a:tcPr marL="101600" marR="101600" marT="50800" marB="50800" anchor="ctr">
                    <a:lnL w="9525" cap="flat" cmpd="sng" algn="ctr">
                      <a:solidFill>
                        <a:srgbClr val="DADDE0"/>
                      </a:solidFill>
                      <a:prstDash val="solid"/>
                      <a:round/>
                      <a:headEnd type="none" w="med" len="med"/>
                      <a:tailEnd type="none" w="med" len="med"/>
                    </a:lnL>
                    <a:lnR w="9525" cap="flat" cmpd="sng" algn="ctr">
                      <a:solidFill>
                        <a:srgbClr val="DADDE0"/>
                      </a:solidFill>
                      <a:prstDash val="solid"/>
                      <a:round/>
                      <a:headEnd type="none" w="med" len="med"/>
                      <a:tailEnd type="none" w="med" len="med"/>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EDF4DF"/>
                    </a:solidFill>
                  </a:tcPr>
                </a:tc>
              </a:tr>
              <a:tr h="594360">
                <a:tc>
                  <a:txBody>
                    <a:bodyPr/>
                    <a:lstStyle/>
                    <a:p>
                      <a:pPr algn="l" indent="0" marL="0">
                        <a:buNone/>
                      </a:pPr>
                      <a:r>
                        <a:rPr lang="en-US" sz="1250" b="1" dirty="0">
                          <a:solidFill>
                            <a:srgbClr val="26282A"/>
                          </a:solidFill>
                          <a:latin typeface="Calibri" pitchFamily="34" charset="0"/>
                          <a:ea typeface="Calibri" pitchFamily="34" charset="-122"/>
                          <a:cs typeface="Calibri" pitchFamily="34" charset="-120"/>
                        </a:rPr>
                        <a:t>Example</a:t>
                      </a:r>
                      <a:endParaRPr lang="en-US" sz="1250" dirty="0">
                        <a:latin typeface="Calibri" charset="0"/>
                        <a:ea typeface="Calibri" charset="0"/>
                        <a:cs typeface="Calibri" charset="0"/>
                      </a:endParaRPr>
                    </a:p>
                  </a:txBody>
                  <a:tcPr marL="101600" marR="101600" marT="50800" marB="50800" anchor="ctr">
                    <a:lnL w="9525" cap="flat" cmpd="sng" algn="ctr">
                      <a:solidFill>
                        <a:srgbClr val="DADDE0"/>
                      </a:solidFill>
                      <a:prstDash val="solid"/>
                      <a:round/>
                      <a:headEnd type="none" w="med" len="med"/>
                      <a:tailEnd type="none" w="med" len="med"/>
                    </a:lnL>
                    <a:lnR w="9525" cap="flat" cmpd="sng" algn="ctr">
                      <a:solidFill>
                        <a:srgbClr val="DADDE0"/>
                      </a:solidFill>
                      <a:prstDash val="solid"/>
                      <a:round/>
                      <a:headEnd type="none" w="med" len="med"/>
                      <a:tailEnd type="none" w="med" len="med"/>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ECEEF0"/>
                    </a:solidFill>
                  </a:tcPr>
                </a:tc>
                <a:tc>
                  <a:txBody>
                    <a:bodyPr/>
                    <a:lstStyle/>
                    <a:p>
                      <a:pPr algn="l" indent="0" marL="0">
                        <a:buNone/>
                      </a:pPr>
                      <a:r>
                        <a:rPr lang="en-US" sz="1250" dirty="0">
                          <a:solidFill>
                            <a:srgbClr val="26282A"/>
                          </a:solidFill>
                          <a:latin typeface="Calibri" pitchFamily="34" charset="0"/>
                          <a:ea typeface="Calibri" pitchFamily="34" charset="-122"/>
                          <a:cs typeface="Calibri" pitchFamily="34" charset="-120"/>
                        </a:rPr>
                        <a:t>“This email is spam”</a:t>
                      </a:r>
                      <a:endParaRPr lang="en-US" sz="1250" dirty="0">
                        <a:latin typeface="Calibri" charset="0"/>
                        <a:ea typeface="Calibri" charset="0"/>
                        <a:cs typeface="Calibri" charset="0"/>
                      </a:endParaRPr>
                    </a:p>
                  </a:txBody>
                  <a:tcPr marL="101600" marR="101600" marT="50800" marB="50800" anchor="ctr">
                    <a:lnL w="9525" cap="flat" cmpd="sng" algn="ctr">
                      <a:solidFill>
                        <a:srgbClr val="DADDE0"/>
                      </a:solidFill>
                      <a:prstDash val="solid"/>
                      <a:round/>
                      <a:headEnd type="none" w="med" len="med"/>
                      <a:tailEnd type="none" w="med" len="med"/>
                    </a:lnL>
                    <a:lnR w="9525" cap="flat" cmpd="sng" algn="ctr">
                      <a:solidFill>
                        <a:srgbClr val="DADDE0"/>
                      </a:solidFill>
                      <a:prstDash val="solid"/>
                      <a:round/>
                      <a:headEnd type="none" w="med" len="med"/>
                      <a:tailEnd type="none" w="med" len="med"/>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BFBFB"/>
                    </a:solidFill>
                  </a:tcPr>
                </a:tc>
                <a:tc>
                  <a:txBody>
                    <a:bodyPr/>
                    <a:lstStyle/>
                    <a:p>
                      <a:pPr algn="l" indent="0" marL="0">
                        <a:buNone/>
                      </a:pPr>
                      <a:r>
                        <a:rPr lang="en-US" sz="1250" dirty="0">
                          <a:solidFill>
                            <a:srgbClr val="26282A"/>
                          </a:solidFill>
                          <a:latin typeface="Calibri" pitchFamily="34" charset="0"/>
                          <a:ea typeface="Calibri" pitchFamily="34" charset="-122"/>
                          <a:cs typeface="Calibri" pitchFamily="34" charset="-120"/>
                        </a:rPr>
                        <a:t>“Write a reply to this email”</a:t>
                      </a:r>
                      <a:endParaRPr lang="en-US" sz="1250" dirty="0">
                        <a:latin typeface="Calibri" charset="0"/>
                        <a:ea typeface="Calibri" charset="0"/>
                        <a:cs typeface="Calibri" charset="0"/>
                      </a:endParaRPr>
                    </a:p>
                  </a:txBody>
                  <a:tcPr marL="101600" marR="101600" marT="50800" marB="50800" anchor="ctr">
                    <a:lnL w="9525" cap="flat" cmpd="sng" algn="ctr">
                      <a:solidFill>
                        <a:srgbClr val="DADDE0"/>
                      </a:solidFill>
                      <a:prstDash val="solid"/>
                      <a:round/>
                      <a:headEnd type="none" w="med" len="med"/>
                      <a:tailEnd type="none" w="med" len="med"/>
                    </a:lnL>
                    <a:lnR w="9525" cap="flat" cmpd="sng" algn="ctr">
                      <a:solidFill>
                        <a:srgbClr val="DADDE0"/>
                      </a:solidFill>
                      <a:prstDash val="solid"/>
                      <a:round/>
                      <a:headEnd type="none" w="med" len="med"/>
                      <a:tailEnd type="none" w="med" len="med"/>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EDF4DF"/>
                    </a:solidFill>
                  </a:tcPr>
                </a:tc>
              </a:tr>
            </a:tbl>
          </a:graphicData>
        </a:graphic>
      </p:graphicFrame>
      <p:sp>
        <p:nvSpPr>
          <p:cNvPr id="6" name="Text 3"/>
          <p:cNvSpPr/>
          <p:nvPr/>
        </p:nvSpPr>
        <p:spPr>
          <a:xfrm>
            <a:off x="457200" y="4206240"/>
            <a:ext cx="8229600" cy="320040"/>
          </a:xfrm>
          <a:prstGeom prst="rect">
            <a:avLst/>
          </a:prstGeom>
          <a:noFill/>
          <a:ln/>
        </p:spPr>
        <p:txBody>
          <a:bodyPr wrap="square" lIns="0" tIns="0" rIns="0" bIns="0" rtlCol="0" anchor="ctr"/>
          <a:lstStyle/>
          <a:p>
            <a:pPr indent="0" marL="0">
              <a:buNone/>
            </a:pPr>
            <a:r>
              <a:rPr lang="en-US" sz="1250" i="1" dirty="0">
                <a:solidFill>
                  <a:srgbClr val="44474A"/>
                </a:solidFill>
                <a:latin typeface="Calibri" pitchFamily="34" charset="0"/>
                <a:ea typeface="Calibri" pitchFamily="34" charset="-122"/>
                <a:cs typeface="Calibri" pitchFamily="34" charset="-120"/>
              </a:rPr>
              <a:t>Both are AI — but generative AI makes something new. That's the part everyone's talking about.</a:t>
            </a:r>
            <a:endParaRPr lang="en-US" sz="1250" dirty="0"/>
          </a:p>
        </p:txBody>
      </p:sp>
      <p:sp>
        <p:nvSpPr>
          <p:cNvPr id="7" name="Text 4"/>
          <p:cNvSpPr/>
          <p:nvPr/>
        </p:nvSpPr>
        <p:spPr>
          <a:xfrm>
            <a:off x="457200" y="4873752"/>
            <a:ext cx="5486400" cy="228600"/>
          </a:xfrm>
          <a:prstGeom prst="rect">
            <a:avLst/>
          </a:prstGeom>
          <a:noFill/>
          <a:ln/>
        </p:spPr>
        <p:txBody>
          <a:bodyPr wrap="square" lIns="0" tIns="0" rIns="0" bIns="0" rtlCol="0" anchor="ctr"/>
          <a:lstStyle/>
          <a:p>
            <a:pPr indent="0" marL="0">
              <a:buNone/>
            </a:pPr>
            <a:r>
              <a:rPr lang="en-US" sz="800" dirty="0">
                <a:solidFill>
                  <a:srgbClr val="7A7D81"/>
                </a:solidFill>
                <a:latin typeface="Calibri" pitchFamily="34" charset="0"/>
                <a:ea typeface="Calibri" pitchFamily="34" charset="-122"/>
                <a:cs typeface="Calibri" pitchFamily="34" charset="-120"/>
              </a:rPr>
              <a:t>Basics of AI/ML &amp; Prompt Engineering</a:t>
            </a:r>
            <a:endParaRPr lang="en-US" sz="800" dirty="0"/>
          </a:p>
        </p:txBody>
      </p:sp>
      <p:sp>
        <p:nvSpPr>
          <p:cNvPr id="8" name="Text 5"/>
          <p:cNvSpPr/>
          <p:nvPr/>
        </p:nvSpPr>
        <p:spPr>
          <a:xfrm>
            <a:off x="8321040" y="4873752"/>
            <a:ext cx="365760" cy="228600"/>
          </a:xfrm>
          <a:prstGeom prst="rect">
            <a:avLst/>
          </a:prstGeom>
          <a:noFill/>
          <a:ln/>
        </p:spPr>
        <p:txBody>
          <a:bodyPr wrap="square" lIns="0" tIns="0" rIns="0" bIns="0" rtlCol="0" anchor="ctr"/>
          <a:lstStyle/>
          <a:p>
            <a:pPr algn="r" indent="0" marL="0">
              <a:buNone/>
            </a:pPr>
            <a:r>
              <a:rPr lang="en-US" sz="800" dirty="0">
                <a:solidFill>
                  <a:srgbClr val="7A7D81"/>
                </a:solidFill>
                <a:latin typeface="Calibri" pitchFamily="34" charset="0"/>
                <a:ea typeface="Calibri" pitchFamily="34" charset="-122"/>
                <a:cs typeface="Calibri"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02336"/>
            <a:ext cx="109728" cy="109728"/>
          </a:xfrm>
          <a:prstGeom prst="ellipse">
            <a:avLst/>
          </a:prstGeom>
          <a:solidFill>
            <a:srgbClr val="86BC25"/>
          </a:solidFill>
          <a:ln/>
        </p:spPr>
      </p:sp>
      <p:sp>
        <p:nvSpPr>
          <p:cNvPr id="3" name="Text 1"/>
          <p:cNvSpPr/>
          <p:nvPr/>
        </p:nvSpPr>
        <p:spPr>
          <a:xfrm>
            <a:off x="658368" y="329184"/>
            <a:ext cx="7955280" cy="256032"/>
          </a:xfrm>
          <a:prstGeom prst="rect">
            <a:avLst/>
          </a:prstGeom>
          <a:noFill/>
          <a:ln/>
        </p:spPr>
        <p:txBody>
          <a:bodyPr wrap="square" lIns="0" tIns="0" rIns="0" bIns="0" rtlCol="0" anchor="ctr"/>
          <a:lstStyle/>
          <a:p>
            <a:pPr indent="0" marL="0">
              <a:buNone/>
            </a:pPr>
            <a:r>
              <a:rPr lang="en-US" sz="1100" b="1" spc="200" kern="0" dirty="0">
                <a:solidFill>
                  <a:srgbClr val="5C8A1B"/>
                </a:solidFill>
                <a:latin typeface="Calibri" pitchFamily="34" charset="0"/>
                <a:ea typeface="Calibri" pitchFamily="34" charset="-122"/>
                <a:cs typeface="Calibri" pitchFamily="34" charset="-120"/>
              </a:rPr>
              <a:t>MODULE 3 · GENERATIVE AI &amp; LLMS</a:t>
            </a:r>
            <a:endParaRPr lang="en-US" sz="1100" dirty="0"/>
          </a:p>
        </p:txBody>
      </p:sp>
      <p:sp>
        <p:nvSpPr>
          <p:cNvPr id="4" name="Text 2"/>
          <p:cNvSpPr/>
          <p:nvPr/>
        </p:nvSpPr>
        <p:spPr>
          <a:xfrm>
            <a:off x="457200" y="603504"/>
            <a:ext cx="8229600" cy="640080"/>
          </a:xfrm>
          <a:prstGeom prst="rect">
            <a:avLst/>
          </a:prstGeom>
          <a:noFill/>
          <a:ln/>
        </p:spPr>
        <p:txBody>
          <a:bodyPr wrap="square" lIns="0" tIns="0" rIns="0" bIns="0" rtlCol="0" anchor="ctr"/>
          <a:lstStyle/>
          <a:p>
            <a:pPr indent="0" marL="0">
              <a:buNone/>
            </a:pPr>
            <a:r>
              <a:rPr lang="en-US" sz="2900" b="1" dirty="0">
                <a:solidFill>
                  <a:srgbClr val="26282A"/>
                </a:solidFill>
                <a:latin typeface="Cambria" pitchFamily="34" charset="0"/>
                <a:ea typeface="Cambria" pitchFamily="34" charset="-122"/>
                <a:cs typeface="Cambria" pitchFamily="34" charset="-120"/>
              </a:rPr>
              <a:t>What is a Large Language Model?</a:t>
            </a:r>
            <a:endParaRPr lang="en-US" sz="2900" dirty="0"/>
          </a:p>
        </p:txBody>
      </p:sp>
      <p:sp>
        <p:nvSpPr>
          <p:cNvPr id="5" name="Shape 3"/>
          <p:cNvSpPr/>
          <p:nvPr/>
        </p:nvSpPr>
        <p:spPr>
          <a:xfrm>
            <a:off x="457200" y="1463040"/>
            <a:ext cx="8229600" cy="1051560"/>
          </a:xfrm>
          <a:prstGeom prst="roundRect">
            <a:avLst>
              <a:gd name="adj" fmla="val 6957"/>
            </a:avLst>
          </a:prstGeom>
          <a:solidFill>
            <a:srgbClr val="EDF4DF"/>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6" name="Text 4"/>
          <p:cNvSpPr/>
          <p:nvPr/>
        </p:nvSpPr>
        <p:spPr>
          <a:xfrm>
            <a:off x="731520" y="1627632"/>
            <a:ext cx="7680960" cy="731520"/>
          </a:xfrm>
          <a:prstGeom prst="rect">
            <a:avLst/>
          </a:prstGeom>
          <a:noFill/>
          <a:ln/>
        </p:spPr>
        <p:txBody>
          <a:bodyPr wrap="square" lIns="0" tIns="0" rIns="0" bIns="0" rtlCol="0" anchor="ctr"/>
          <a:lstStyle/>
          <a:p>
            <a:pPr indent="0" marL="0">
              <a:buNone/>
            </a:pPr>
            <a:r>
              <a:rPr lang="en-US" sz="1500" dirty="0">
                <a:solidFill>
                  <a:srgbClr val="26282A"/>
                </a:solidFill>
                <a:latin typeface="Calibri" pitchFamily="34" charset="0"/>
                <a:ea typeface="Calibri" pitchFamily="34" charset="-122"/>
                <a:cs typeface="Calibri" pitchFamily="34" charset="-120"/>
              </a:rPr>
              <a:t>An LLM does one thing extremely well:  </a:t>
            </a:r>
            <a:pPr indent="0" marL="0">
              <a:buNone/>
            </a:pPr>
            <a:r>
              <a:rPr lang="en-US" sz="1500" b="1" dirty="0">
                <a:solidFill>
                  <a:srgbClr val="5C8A1B"/>
                </a:solidFill>
                <a:latin typeface="Calibri" pitchFamily="34" charset="0"/>
                <a:ea typeface="Calibri" pitchFamily="34" charset="-122"/>
                <a:cs typeface="Calibri" pitchFamily="34" charset="-120"/>
              </a:rPr>
              <a:t>it predicts the most likely next word</a:t>
            </a:r>
            <a:pPr indent="0" marL="0">
              <a:buNone/>
            </a:pPr>
            <a:r>
              <a:rPr lang="en-US" sz="1500" dirty="0">
                <a:solidFill>
                  <a:srgbClr val="26282A"/>
                </a:solidFill>
                <a:latin typeface="Calibri" pitchFamily="34" charset="0"/>
                <a:ea typeface="Calibri" pitchFamily="34" charset="-122"/>
                <a:cs typeface="Calibri" pitchFamily="34" charset="-120"/>
              </a:rPr>
              <a:t>, over and over, to build a coherent answer.</a:t>
            </a:r>
            <a:endParaRPr lang="en-US" sz="1500" dirty="0"/>
          </a:p>
        </p:txBody>
      </p:sp>
      <p:sp>
        <p:nvSpPr>
          <p:cNvPr id="7" name="Shape 5"/>
          <p:cNvSpPr/>
          <p:nvPr/>
        </p:nvSpPr>
        <p:spPr>
          <a:xfrm>
            <a:off x="457200" y="2697480"/>
            <a:ext cx="4023360" cy="1600200"/>
          </a:xfrm>
          <a:prstGeom prst="roundRect">
            <a:avLst>
              <a:gd name="adj" fmla="val 4571"/>
            </a:avLst>
          </a:prstGeom>
          <a:solidFill>
            <a:srgbClr val="F4F5F6"/>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8" name="Text 6"/>
          <p:cNvSpPr/>
          <p:nvPr/>
        </p:nvSpPr>
        <p:spPr>
          <a:xfrm>
            <a:off x="685800" y="2852928"/>
            <a:ext cx="3611880" cy="320040"/>
          </a:xfrm>
          <a:prstGeom prst="rect">
            <a:avLst/>
          </a:prstGeom>
          <a:noFill/>
          <a:ln/>
        </p:spPr>
        <p:txBody>
          <a:bodyPr wrap="square" lIns="0" tIns="0" rIns="0" bIns="0" rtlCol="0" anchor="ctr"/>
          <a:lstStyle/>
          <a:p>
            <a:pPr indent="0" marL="0">
              <a:buNone/>
            </a:pPr>
            <a:r>
              <a:rPr lang="en-US" sz="1500" b="1" dirty="0">
                <a:solidFill>
                  <a:srgbClr val="26282A"/>
                </a:solidFill>
                <a:latin typeface="Cambria" pitchFamily="34" charset="0"/>
                <a:ea typeface="Cambria" pitchFamily="34" charset="-122"/>
                <a:cs typeface="Cambria" pitchFamily="34" charset="-120"/>
              </a:rPr>
              <a:t>Think: super-autocomplete</a:t>
            </a:r>
            <a:endParaRPr lang="en-US" sz="1500" dirty="0"/>
          </a:p>
        </p:txBody>
      </p:sp>
      <p:sp>
        <p:nvSpPr>
          <p:cNvPr id="9" name="Text 7"/>
          <p:cNvSpPr/>
          <p:nvPr/>
        </p:nvSpPr>
        <p:spPr>
          <a:xfrm>
            <a:off x="685800" y="3246120"/>
            <a:ext cx="3611880" cy="914400"/>
          </a:xfrm>
          <a:prstGeom prst="rect">
            <a:avLst/>
          </a:prstGeom>
          <a:noFill/>
          <a:ln/>
        </p:spPr>
        <p:txBody>
          <a:bodyPr wrap="square" lIns="0" tIns="0" rIns="0" bIns="0" rtlCol="0" anchor="ctr"/>
          <a:lstStyle/>
          <a:p>
            <a:pPr indent="0" marL="0">
              <a:buNone/>
            </a:pPr>
            <a:r>
              <a:rPr lang="en-US" sz="1250" dirty="0">
                <a:solidFill>
                  <a:srgbClr val="44474A"/>
                </a:solidFill>
                <a:latin typeface="Calibri" pitchFamily="34" charset="0"/>
                <a:ea typeface="Calibri" pitchFamily="34" charset="-122"/>
                <a:cs typeface="Calibri" pitchFamily="34" charset="-120"/>
              </a:rPr>
              <a:t>Like your phone's autocomplete — but trained on a vast library, so it can draft, summarise and explain.</a:t>
            </a:r>
            <a:endParaRPr lang="en-US" sz="1250" dirty="0"/>
          </a:p>
        </p:txBody>
      </p:sp>
      <p:sp>
        <p:nvSpPr>
          <p:cNvPr id="10" name="Shape 8"/>
          <p:cNvSpPr/>
          <p:nvPr/>
        </p:nvSpPr>
        <p:spPr>
          <a:xfrm>
            <a:off x="4663440" y="2697480"/>
            <a:ext cx="4023360" cy="1600200"/>
          </a:xfrm>
          <a:prstGeom prst="roundRect">
            <a:avLst>
              <a:gd name="adj" fmla="val 4571"/>
            </a:avLst>
          </a:prstGeom>
          <a:solidFill>
            <a:srgbClr val="F4F5F6"/>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11" name="Text 9"/>
          <p:cNvSpPr/>
          <p:nvPr/>
        </p:nvSpPr>
        <p:spPr>
          <a:xfrm>
            <a:off x="4892040" y="2852928"/>
            <a:ext cx="3611880" cy="320040"/>
          </a:xfrm>
          <a:prstGeom prst="rect">
            <a:avLst/>
          </a:prstGeom>
          <a:noFill/>
          <a:ln/>
        </p:spPr>
        <p:txBody>
          <a:bodyPr wrap="square" lIns="0" tIns="0" rIns="0" bIns="0" rtlCol="0" anchor="ctr"/>
          <a:lstStyle/>
          <a:p>
            <a:pPr indent="0" marL="0">
              <a:buNone/>
            </a:pPr>
            <a:r>
              <a:rPr lang="en-US" sz="1500" b="1" dirty="0">
                <a:solidFill>
                  <a:srgbClr val="26282A"/>
                </a:solidFill>
                <a:latin typeface="Cambria" pitchFamily="34" charset="0"/>
                <a:ea typeface="Cambria" pitchFamily="34" charset="-122"/>
                <a:cs typeface="Cambria" pitchFamily="34" charset="-120"/>
              </a:rPr>
              <a:t>Think: a brilliant, well-read intern</a:t>
            </a:r>
            <a:endParaRPr lang="en-US" sz="1500" dirty="0"/>
          </a:p>
        </p:txBody>
      </p:sp>
      <p:sp>
        <p:nvSpPr>
          <p:cNvPr id="12" name="Text 10"/>
          <p:cNvSpPr/>
          <p:nvPr/>
        </p:nvSpPr>
        <p:spPr>
          <a:xfrm>
            <a:off x="4892040" y="3246120"/>
            <a:ext cx="3611880" cy="914400"/>
          </a:xfrm>
          <a:prstGeom prst="rect">
            <a:avLst/>
          </a:prstGeom>
          <a:noFill/>
          <a:ln/>
        </p:spPr>
        <p:txBody>
          <a:bodyPr wrap="square" lIns="0" tIns="0" rIns="0" bIns="0" rtlCol="0" anchor="ctr"/>
          <a:lstStyle/>
          <a:p>
            <a:pPr indent="0" marL="0">
              <a:buNone/>
            </a:pPr>
            <a:r>
              <a:rPr lang="en-US" sz="1250" dirty="0">
                <a:solidFill>
                  <a:srgbClr val="44474A"/>
                </a:solidFill>
                <a:latin typeface="Calibri" pitchFamily="34" charset="0"/>
                <a:ea typeface="Calibri" pitchFamily="34" charset="-122"/>
                <a:cs typeface="Calibri" pitchFamily="34" charset="-120"/>
              </a:rPr>
              <a:t>Fast, versatile, articulate — but confident even when wrong, and unaware of anything outside its training.</a:t>
            </a:r>
            <a:endParaRPr lang="en-US" sz="1250" dirty="0"/>
          </a:p>
        </p:txBody>
      </p:sp>
      <p:sp>
        <p:nvSpPr>
          <p:cNvPr id="13" name="Text 11"/>
          <p:cNvSpPr/>
          <p:nvPr/>
        </p:nvSpPr>
        <p:spPr>
          <a:xfrm>
            <a:off x="457200" y="4873752"/>
            <a:ext cx="5486400" cy="228600"/>
          </a:xfrm>
          <a:prstGeom prst="rect">
            <a:avLst/>
          </a:prstGeom>
          <a:noFill/>
          <a:ln/>
        </p:spPr>
        <p:txBody>
          <a:bodyPr wrap="square" lIns="0" tIns="0" rIns="0" bIns="0" rtlCol="0" anchor="ctr"/>
          <a:lstStyle/>
          <a:p>
            <a:pPr indent="0" marL="0">
              <a:buNone/>
            </a:pPr>
            <a:r>
              <a:rPr lang="en-US" sz="800" dirty="0">
                <a:solidFill>
                  <a:srgbClr val="7A7D81"/>
                </a:solidFill>
                <a:latin typeface="Calibri" pitchFamily="34" charset="0"/>
                <a:ea typeface="Calibri" pitchFamily="34" charset="-122"/>
                <a:cs typeface="Calibri" pitchFamily="34" charset="-120"/>
              </a:rPr>
              <a:t>Basics of AI/ML &amp; Prompt Engineering</a:t>
            </a:r>
            <a:endParaRPr lang="en-US" sz="800" dirty="0"/>
          </a:p>
        </p:txBody>
      </p:sp>
      <p:sp>
        <p:nvSpPr>
          <p:cNvPr id="14" name="Text 12"/>
          <p:cNvSpPr/>
          <p:nvPr/>
        </p:nvSpPr>
        <p:spPr>
          <a:xfrm>
            <a:off x="8321040" y="4873752"/>
            <a:ext cx="365760" cy="228600"/>
          </a:xfrm>
          <a:prstGeom prst="rect">
            <a:avLst/>
          </a:prstGeom>
          <a:noFill/>
          <a:ln/>
        </p:spPr>
        <p:txBody>
          <a:bodyPr wrap="square" lIns="0" tIns="0" rIns="0" bIns="0" rtlCol="0" anchor="ctr"/>
          <a:lstStyle/>
          <a:p>
            <a:pPr algn="r" indent="0" marL="0">
              <a:buNone/>
            </a:pPr>
            <a:r>
              <a:rPr lang="en-US" sz="800" dirty="0">
                <a:solidFill>
                  <a:srgbClr val="7A7D81"/>
                </a:solidFill>
                <a:latin typeface="Calibri" pitchFamily="34" charset="0"/>
                <a:ea typeface="Calibri" pitchFamily="34" charset="-122"/>
                <a:cs typeface="Calibri"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02336"/>
            <a:ext cx="109728" cy="109728"/>
          </a:xfrm>
          <a:prstGeom prst="ellipse">
            <a:avLst/>
          </a:prstGeom>
          <a:solidFill>
            <a:srgbClr val="86BC25"/>
          </a:solidFill>
          <a:ln/>
        </p:spPr>
      </p:sp>
      <p:sp>
        <p:nvSpPr>
          <p:cNvPr id="3" name="Text 1"/>
          <p:cNvSpPr/>
          <p:nvPr/>
        </p:nvSpPr>
        <p:spPr>
          <a:xfrm>
            <a:off x="658368" y="329184"/>
            <a:ext cx="7955280" cy="256032"/>
          </a:xfrm>
          <a:prstGeom prst="rect">
            <a:avLst/>
          </a:prstGeom>
          <a:noFill/>
          <a:ln/>
        </p:spPr>
        <p:txBody>
          <a:bodyPr wrap="square" lIns="0" tIns="0" rIns="0" bIns="0" rtlCol="0" anchor="ctr"/>
          <a:lstStyle/>
          <a:p>
            <a:pPr indent="0" marL="0">
              <a:buNone/>
            </a:pPr>
            <a:r>
              <a:rPr lang="en-US" sz="1100" b="1" spc="200" kern="0" dirty="0">
                <a:solidFill>
                  <a:srgbClr val="5C8A1B"/>
                </a:solidFill>
                <a:latin typeface="Calibri" pitchFamily="34" charset="0"/>
                <a:ea typeface="Calibri" pitchFamily="34" charset="-122"/>
                <a:cs typeface="Calibri" pitchFamily="34" charset="-120"/>
              </a:rPr>
              <a:t>MODULE 3 · GENERATIVE AI &amp; LLMS</a:t>
            </a:r>
            <a:endParaRPr lang="en-US" sz="1100" dirty="0"/>
          </a:p>
        </p:txBody>
      </p:sp>
      <p:sp>
        <p:nvSpPr>
          <p:cNvPr id="4" name="Text 2"/>
          <p:cNvSpPr/>
          <p:nvPr/>
        </p:nvSpPr>
        <p:spPr>
          <a:xfrm>
            <a:off x="457200" y="603504"/>
            <a:ext cx="8229600" cy="640080"/>
          </a:xfrm>
          <a:prstGeom prst="rect">
            <a:avLst/>
          </a:prstGeom>
          <a:noFill/>
          <a:ln/>
        </p:spPr>
        <p:txBody>
          <a:bodyPr wrap="square" lIns="0" tIns="0" rIns="0" bIns="0" rtlCol="0" anchor="ctr"/>
          <a:lstStyle/>
          <a:p>
            <a:pPr indent="0" marL="0">
              <a:buNone/>
            </a:pPr>
            <a:r>
              <a:rPr lang="en-US" sz="2900" b="1" dirty="0">
                <a:solidFill>
                  <a:srgbClr val="26282A"/>
                </a:solidFill>
                <a:latin typeface="Cambria" pitchFamily="34" charset="0"/>
                <a:ea typeface="Cambria" pitchFamily="34" charset="-122"/>
                <a:cs typeface="Cambria" pitchFamily="34" charset="-120"/>
              </a:rPr>
              <a:t>Key terms — and why it gets things wrong</a:t>
            </a:r>
            <a:endParaRPr lang="en-US" sz="2900" dirty="0"/>
          </a:p>
        </p:txBody>
      </p:sp>
      <p:sp>
        <p:nvSpPr>
          <p:cNvPr id="5" name="Shape 3"/>
          <p:cNvSpPr/>
          <p:nvPr/>
        </p:nvSpPr>
        <p:spPr>
          <a:xfrm>
            <a:off x="457200" y="1508760"/>
            <a:ext cx="4023360" cy="914400"/>
          </a:xfrm>
          <a:prstGeom prst="roundRect">
            <a:avLst>
              <a:gd name="adj" fmla="val 8000"/>
            </a:avLst>
          </a:prstGeom>
          <a:solidFill>
            <a:srgbClr val="F4F5F6"/>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6" name="Text 4"/>
          <p:cNvSpPr/>
          <p:nvPr/>
        </p:nvSpPr>
        <p:spPr>
          <a:xfrm>
            <a:off x="658368" y="1627632"/>
            <a:ext cx="3657600" cy="274320"/>
          </a:xfrm>
          <a:prstGeom prst="rect">
            <a:avLst/>
          </a:prstGeom>
          <a:noFill/>
          <a:ln/>
        </p:spPr>
        <p:txBody>
          <a:bodyPr wrap="square" lIns="0" tIns="0" rIns="0" bIns="0" rtlCol="0" anchor="ctr"/>
          <a:lstStyle/>
          <a:p>
            <a:pPr indent="0" marL="0">
              <a:buNone/>
            </a:pPr>
            <a:r>
              <a:rPr lang="en-US" sz="1300" b="1" dirty="0">
                <a:solidFill>
                  <a:srgbClr val="5C8A1B"/>
                </a:solidFill>
                <a:latin typeface="Calibri" pitchFamily="34" charset="0"/>
                <a:ea typeface="Calibri" pitchFamily="34" charset="-122"/>
                <a:cs typeface="Calibri" pitchFamily="34" charset="-120"/>
              </a:rPr>
              <a:t>Token</a:t>
            </a:r>
            <a:endParaRPr lang="en-US" sz="1300" dirty="0"/>
          </a:p>
        </p:txBody>
      </p:sp>
      <p:sp>
        <p:nvSpPr>
          <p:cNvPr id="7" name="Text 5"/>
          <p:cNvSpPr/>
          <p:nvPr/>
        </p:nvSpPr>
        <p:spPr>
          <a:xfrm>
            <a:off x="658368" y="1911096"/>
            <a:ext cx="3657600" cy="457200"/>
          </a:xfrm>
          <a:prstGeom prst="rect">
            <a:avLst/>
          </a:prstGeom>
          <a:noFill/>
          <a:ln/>
        </p:spPr>
        <p:txBody>
          <a:bodyPr wrap="square" lIns="0" tIns="0" rIns="0" bIns="0" rtlCol="0" anchor="ctr"/>
          <a:lstStyle/>
          <a:p>
            <a:pPr indent="0" marL="0">
              <a:buNone/>
            </a:pPr>
            <a:r>
              <a:rPr lang="en-US" sz="1150" dirty="0">
                <a:solidFill>
                  <a:srgbClr val="44474A"/>
                </a:solidFill>
                <a:latin typeface="Calibri" pitchFamily="34" charset="0"/>
                <a:ea typeface="Calibri" pitchFamily="34" charset="-122"/>
                <a:cs typeface="Calibri" pitchFamily="34" charset="-120"/>
              </a:rPr>
              <a:t>A chunk of text (~¾ of a word) the model reads and writes.</a:t>
            </a:r>
            <a:endParaRPr lang="en-US" sz="1150" dirty="0"/>
          </a:p>
        </p:txBody>
      </p:sp>
      <p:sp>
        <p:nvSpPr>
          <p:cNvPr id="8" name="Shape 6"/>
          <p:cNvSpPr/>
          <p:nvPr/>
        </p:nvSpPr>
        <p:spPr>
          <a:xfrm>
            <a:off x="4663440" y="1508760"/>
            <a:ext cx="4023360" cy="914400"/>
          </a:xfrm>
          <a:prstGeom prst="roundRect">
            <a:avLst>
              <a:gd name="adj" fmla="val 8000"/>
            </a:avLst>
          </a:prstGeom>
          <a:solidFill>
            <a:srgbClr val="F4F5F6"/>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9" name="Text 7"/>
          <p:cNvSpPr/>
          <p:nvPr/>
        </p:nvSpPr>
        <p:spPr>
          <a:xfrm>
            <a:off x="4864608" y="1627632"/>
            <a:ext cx="3657600" cy="274320"/>
          </a:xfrm>
          <a:prstGeom prst="rect">
            <a:avLst/>
          </a:prstGeom>
          <a:noFill/>
          <a:ln/>
        </p:spPr>
        <p:txBody>
          <a:bodyPr wrap="square" lIns="0" tIns="0" rIns="0" bIns="0" rtlCol="0" anchor="ctr"/>
          <a:lstStyle/>
          <a:p>
            <a:pPr indent="0" marL="0">
              <a:buNone/>
            </a:pPr>
            <a:r>
              <a:rPr lang="en-US" sz="1300" b="1" dirty="0">
                <a:solidFill>
                  <a:srgbClr val="5C8A1B"/>
                </a:solidFill>
                <a:latin typeface="Calibri" pitchFamily="34" charset="0"/>
                <a:ea typeface="Calibri" pitchFamily="34" charset="-122"/>
                <a:cs typeface="Calibri" pitchFamily="34" charset="-120"/>
              </a:rPr>
              <a:t>Context window</a:t>
            </a:r>
            <a:endParaRPr lang="en-US" sz="1300" dirty="0"/>
          </a:p>
        </p:txBody>
      </p:sp>
      <p:sp>
        <p:nvSpPr>
          <p:cNvPr id="10" name="Text 8"/>
          <p:cNvSpPr/>
          <p:nvPr/>
        </p:nvSpPr>
        <p:spPr>
          <a:xfrm>
            <a:off x="4864608" y="1911096"/>
            <a:ext cx="3657600" cy="457200"/>
          </a:xfrm>
          <a:prstGeom prst="rect">
            <a:avLst/>
          </a:prstGeom>
          <a:noFill/>
          <a:ln/>
        </p:spPr>
        <p:txBody>
          <a:bodyPr wrap="square" lIns="0" tIns="0" rIns="0" bIns="0" rtlCol="0" anchor="ctr"/>
          <a:lstStyle/>
          <a:p>
            <a:pPr indent="0" marL="0">
              <a:buNone/>
            </a:pPr>
            <a:r>
              <a:rPr lang="en-US" sz="1150" dirty="0">
                <a:solidFill>
                  <a:srgbClr val="44474A"/>
                </a:solidFill>
                <a:latin typeface="Calibri" pitchFamily="34" charset="0"/>
                <a:ea typeface="Calibri" pitchFamily="34" charset="-122"/>
                <a:cs typeface="Calibri" pitchFamily="34" charset="-120"/>
              </a:rPr>
              <a:t>How much text it can “hold in mind” at once.</a:t>
            </a:r>
            <a:endParaRPr lang="en-US" sz="1150" dirty="0"/>
          </a:p>
        </p:txBody>
      </p:sp>
      <p:sp>
        <p:nvSpPr>
          <p:cNvPr id="11" name="Shape 9"/>
          <p:cNvSpPr/>
          <p:nvPr/>
        </p:nvSpPr>
        <p:spPr>
          <a:xfrm>
            <a:off x="457200" y="2560320"/>
            <a:ext cx="4023360" cy="914400"/>
          </a:xfrm>
          <a:prstGeom prst="roundRect">
            <a:avLst>
              <a:gd name="adj" fmla="val 8000"/>
            </a:avLst>
          </a:prstGeom>
          <a:solidFill>
            <a:srgbClr val="F4F5F6"/>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12" name="Text 10"/>
          <p:cNvSpPr/>
          <p:nvPr/>
        </p:nvSpPr>
        <p:spPr>
          <a:xfrm>
            <a:off x="658368" y="2679192"/>
            <a:ext cx="3657600" cy="274320"/>
          </a:xfrm>
          <a:prstGeom prst="rect">
            <a:avLst/>
          </a:prstGeom>
          <a:noFill/>
          <a:ln/>
        </p:spPr>
        <p:txBody>
          <a:bodyPr wrap="square" lIns="0" tIns="0" rIns="0" bIns="0" rtlCol="0" anchor="ctr"/>
          <a:lstStyle/>
          <a:p>
            <a:pPr indent="0" marL="0">
              <a:buNone/>
            </a:pPr>
            <a:r>
              <a:rPr lang="en-US" sz="1300" b="1" dirty="0">
                <a:solidFill>
                  <a:srgbClr val="5C8A1B"/>
                </a:solidFill>
                <a:latin typeface="Calibri" pitchFamily="34" charset="0"/>
                <a:ea typeface="Calibri" pitchFamily="34" charset="-122"/>
                <a:cs typeface="Calibri" pitchFamily="34" charset="-120"/>
              </a:rPr>
              <a:t>Hallucination</a:t>
            </a:r>
            <a:endParaRPr lang="en-US" sz="1300" dirty="0"/>
          </a:p>
        </p:txBody>
      </p:sp>
      <p:sp>
        <p:nvSpPr>
          <p:cNvPr id="13" name="Text 11"/>
          <p:cNvSpPr/>
          <p:nvPr/>
        </p:nvSpPr>
        <p:spPr>
          <a:xfrm>
            <a:off x="658368" y="2962656"/>
            <a:ext cx="3657600" cy="457200"/>
          </a:xfrm>
          <a:prstGeom prst="rect">
            <a:avLst/>
          </a:prstGeom>
          <a:noFill/>
          <a:ln/>
        </p:spPr>
        <p:txBody>
          <a:bodyPr wrap="square" lIns="0" tIns="0" rIns="0" bIns="0" rtlCol="0" anchor="ctr"/>
          <a:lstStyle/>
          <a:p>
            <a:pPr indent="0" marL="0">
              <a:buNone/>
            </a:pPr>
            <a:r>
              <a:rPr lang="en-US" sz="1150" dirty="0">
                <a:solidFill>
                  <a:srgbClr val="44474A"/>
                </a:solidFill>
                <a:latin typeface="Calibri" pitchFamily="34" charset="0"/>
                <a:ea typeface="Calibri" pitchFamily="34" charset="-122"/>
                <a:cs typeface="Calibri" pitchFamily="34" charset="-120"/>
              </a:rPr>
              <a:t>A confident answer that is factually wrong or invented.</a:t>
            </a:r>
            <a:endParaRPr lang="en-US" sz="1150" dirty="0"/>
          </a:p>
        </p:txBody>
      </p:sp>
      <p:sp>
        <p:nvSpPr>
          <p:cNvPr id="14" name="Shape 12"/>
          <p:cNvSpPr/>
          <p:nvPr/>
        </p:nvSpPr>
        <p:spPr>
          <a:xfrm>
            <a:off x="4663440" y="2560320"/>
            <a:ext cx="4023360" cy="914400"/>
          </a:xfrm>
          <a:prstGeom prst="roundRect">
            <a:avLst>
              <a:gd name="adj" fmla="val 8000"/>
            </a:avLst>
          </a:prstGeom>
          <a:solidFill>
            <a:srgbClr val="F4F5F6"/>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15" name="Text 13"/>
          <p:cNvSpPr/>
          <p:nvPr/>
        </p:nvSpPr>
        <p:spPr>
          <a:xfrm>
            <a:off x="4864608" y="2679192"/>
            <a:ext cx="3657600" cy="274320"/>
          </a:xfrm>
          <a:prstGeom prst="rect">
            <a:avLst/>
          </a:prstGeom>
          <a:noFill/>
          <a:ln/>
        </p:spPr>
        <p:txBody>
          <a:bodyPr wrap="square" lIns="0" tIns="0" rIns="0" bIns="0" rtlCol="0" anchor="ctr"/>
          <a:lstStyle/>
          <a:p>
            <a:pPr indent="0" marL="0">
              <a:buNone/>
            </a:pPr>
            <a:r>
              <a:rPr lang="en-US" sz="1300" b="1" dirty="0">
                <a:solidFill>
                  <a:srgbClr val="5C8A1B"/>
                </a:solidFill>
                <a:latin typeface="Calibri" pitchFamily="34" charset="0"/>
                <a:ea typeface="Calibri" pitchFamily="34" charset="-122"/>
                <a:cs typeface="Calibri" pitchFamily="34" charset="-120"/>
              </a:rPr>
              <a:t>Multimodal</a:t>
            </a:r>
            <a:endParaRPr lang="en-US" sz="1300" dirty="0"/>
          </a:p>
        </p:txBody>
      </p:sp>
      <p:sp>
        <p:nvSpPr>
          <p:cNvPr id="16" name="Text 14"/>
          <p:cNvSpPr/>
          <p:nvPr/>
        </p:nvSpPr>
        <p:spPr>
          <a:xfrm>
            <a:off x="4864608" y="2962656"/>
            <a:ext cx="3657600" cy="457200"/>
          </a:xfrm>
          <a:prstGeom prst="rect">
            <a:avLst/>
          </a:prstGeom>
          <a:noFill/>
          <a:ln/>
        </p:spPr>
        <p:txBody>
          <a:bodyPr wrap="square" lIns="0" tIns="0" rIns="0" bIns="0" rtlCol="0" anchor="ctr"/>
          <a:lstStyle/>
          <a:p>
            <a:pPr indent="0" marL="0">
              <a:buNone/>
            </a:pPr>
            <a:r>
              <a:rPr lang="en-US" sz="1150" dirty="0">
                <a:solidFill>
                  <a:srgbClr val="44474A"/>
                </a:solidFill>
                <a:latin typeface="Calibri" pitchFamily="34" charset="0"/>
                <a:ea typeface="Calibri" pitchFamily="34" charset="-122"/>
                <a:cs typeface="Calibri" pitchFamily="34" charset="-120"/>
              </a:rPr>
              <a:t>Can handle more than text — images, audio, files.</a:t>
            </a:r>
            <a:endParaRPr lang="en-US" sz="1150" dirty="0"/>
          </a:p>
        </p:txBody>
      </p:sp>
      <p:sp>
        <p:nvSpPr>
          <p:cNvPr id="17" name="Shape 15"/>
          <p:cNvSpPr/>
          <p:nvPr/>
        </p:nvSpPr>
        <p:spPr>
          <a:xfrm>
            <a:off x="457200" y="3657600"/>
            <a:ext cx="8229600" cy="658368"/>
          </a:xfrm>
          <a:prstGeom prst="roundRect">
            <a:avLst>
              <a:gd name="adj" fmla="val 11111"/>
            </a:avLst>
          </a:prstGeom>
          <a:solidFill>
            <a:srgbClr val="F6E7E4"/>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18" name="Text 16"/>
          <p:cNvSpPr/>
          <p:nvPr/>
        </p:nvSpPr>
        <p:spPr>
          <a:xfrm>
            <a:off x="685800" y="3767328"/>
            <a:ext cx="7772400" cy="457200"/>
          </a:xfrm>
          <a:prstGeom prst="rect">
            <a:avLst/>
          </a:prstGeom>
          <a:noFill/>
          <a:ln/>
        </p:spPr>
        <p:txBody>
          <a:bodyPr wrap="square" lIns="0" tIns="0" rIns="0" bIns="0" rtlCol="0" anchor="ctr"/>
          <a:lstStyle/>
          <a:p>
            <a:pPr indent="0" marL="0">
              <a:buNone/>
            </a:pPr>
            <a:r>
              <a:rPr lang="en-US" sz="1250" b="1" dirty="0">
                <a:solidFill>
                  <a:srgbClr val="B23A2E"/>
                </a:solidFill>
                <a:latin typeface="Calibri" pitchFamily="34" charset="0"/>
                <a:ea typeface="Calibri" pitchFamily="34" charset="-122"/>
                <a:cs typeface="Calibri" pitchFamily="34" charset="-120"/>
              </a:rPr>
              <a:t>Why it hallucinates:  </a:t>
            </a:r>
            <a:pPr indent="0" marL="0">
              <a:buNone/>
            </a:pPr>
            <a:r>
              <a:rPr lang="en-US" sz="1250" dirty="0">
                <a:solidFill>
                  <a:srgbClr val="26282A"/>
                </a:solidFill>
                <a:latin typeface="Calibri" pitchFamily="34" charset="0"/>
                <a:ea typeface="Calibri" pitchFamily="34" charset="-122"/>
                <a:cs typeface="Calibri" pitchFamily="34" charset="-120"/>
              </a:rPr>
              <a:t>it predicts plausible words, not verified facts. Always check important outputs.</a:t>
            </a:r>
            <a:endParaRPr lang="en-US" sz="1250" dirty="0"/>
          </a:p>
        </p:txBody>
      </p:sp>
      <p:sp>
        <p:nvSpPr>
          <p:cNvPr id="19" name="Text 17"/>
          <p:cNvSpPr/>
          <p:nvPr/>
        </p:nvSpPr>
        <p:spPr>
          <a:xfrm>
            <a:off x="457200" y="4873752"/>
            <a:ext cx="5486400" cy="228600"/>
          </a:xfrm>
          <a:prstGeom prst="rect">
            <a:avLst/>
          </a:prstGeom>
          <a:noFill/>
          <a:ln/>
        </p:spPr>
        <p:txBody>
          <a:bodyPr wrap="square" lIns="0" tIns="0" rIns="0" bIns="0" rtlCol="0" anchor="ctr"/>
          <a:lstStyle/>
          <a:p>
            <a:pPr indent="0" marL="0">
              <a:buNone/>
            </a:pPr>
            <a:r>
              <a:rPr lang="en-US" sz="800" dirty="0">
                <a:solidFill>
                  <a:srgbClr val="7A7D81"/>
                </a:solidFill>
                <a:latin typeface="Calibri" pitchFamily="34" charset="0"/>
                <a:ea typeface="Calibri" pitchFamily="34" charset="-122"/>
                <a:cs typeface="Calibri" pitchFamily="34" charset="-120"/>
              </a:rPr>
              <a:t>Basics of AI/ML &amp; Prompt Engineering</a:t>
            </a:r>
            <a:endParaRPr lang="en-US" sz="800" dirty="0"/>
          </a:p>
        </p:txBody>
      </p:sp>
      <p:sp>
        <p:nvSpPr>
          <p:cNvPr id="20" name="Text 18"/>
          <p:cNvSpPr/>
          <p:nvPr/>
        </p:nvSpPr>
        <p:spPr>
          <a:xfrm>
            <a:off x="8321040" y="4873752"/>
            <a:ext cx="365760" cy="228600"/>
          </a:xfrm>
          <a:prstGeom prst="rect">
            <a:avLst/>
          </a:prstGeom>
          <a:noFill/>
          <a:ln/>
        </p:spPr>
        <p:txBody>
          <a:bodyPr wrap="square" lIns="0" tIns="0" rIns="0" bIns="0" rtlCol="0" anchor="ctr"/>
          <a:lstStyle/>
          <a:p>
            <a:pPr algn="r" indent="0" marL="0">
              <a:buNone/>
            </a:pPr>
            <a:r>
              <a:rPr lang="en-US" sz="800" dirty="0">
                <a:solidFill>
                  <a:srgbClr val="7A7D81"/>
                </a:solidFill>
                <a:latin typeface="Calibri" pitchFamily="34" charset="0"/>
                <a:ea typeface="Calibri" pitchFamily="34" charset="-122"/>
                <a:cs typeface="Calibri"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02336"/>
            <a:ext cx="109728" cy="109728"/>
          </a:xfrm>
          <a:prstGeom prst="ellipse">
            <a:avLst/>
          </a:prstGeom>
          <a:solidFill>
            <a:srgbClr val="86BC25"/>
          </a:solidFill>
          <a:ln/>
        </p:spPr>
      </p:sp>
      <p:sp>
        <p:nvSpPr>
          <p:cNvPr id="3" name="Text 1"/>
          <p:cNvSpPr/>
          <p:nvPr/>
        </p:nvSpPr>
        <p:spPr>
          <a:xfrm>
            <a:off x="658368" y="329184"/>
            <a:ext cx="7955280" cy="256032"/>
          </a:xfrm>
          <a:prstGeom prst="rect">
            <a:avLst/>
          </a:prstGeom>
          <a:noFill/>
          <a:ln/>
        </p:spPr>
        <p:txBody>
          <a:bodyPr wrap="square" lIns="0" tIns="0" rIns="0" bIns="0" rtlCol="0" anchor="ctr"/>
          <a:lstStyle/>
          <a:p>
            <a:pPr indent="0" marL="0">
              <a:buNone/>
            </a:pPr>
            <a:r>
              <a:rPr lang="en-US" sz="1100" b="1" spc="200" kern="0" dirty="0">
                <a:solidFill>
                  <a:srgbClr val="5C8A1B"/>
                </a:solidFill>
                <a:latin typeface="Calibri" pitchFamily="34" charset="0"/>
                <a:ea typeface="Calibri" pitchFamily="34" charset="-122"/>
                <a:cs typeface="Calibri" pitchFamily="34" charset="-120"/>
              </a:rPr>
              <a:t>MODULE 4 · PROMPT ENGINEERING</a:t>
            </a:r>
            <a:endParaRPr lang="en-US" sz="1100" dirty="0"/>
          </a:p>
        </p:txBody>
      </p:sp>
      <p:sp>
        <p:nvSpPr>
          <p:cNvPr id="4" name="Text 2"/>
          <p:cNvSpPr/>
          <p:nvPr/>
        </p:nvSpPr>
        <p:spPr>
          <a:xfrm>
            <a:off x="457200" y="603504"/>
            <a:ext cx="8229600" cy="640080"/>
          </a:xfrm>
          <a:prstGeom prst="rect">
            <a:avLst/>
          </a:prstGeom>
          <a:noFill/>
          <a:ln/>
        </p:spPr>
        <p:txBody>
          <a:bodyPr wrap="square" lIns="0" tIns="0" rIns="0" bIns="0" rtlCol="0" anchor="ctr"/>
          <a:lstStyle/>
          <a:p>
            <a:pPr indent="0" marL="0">
              <a:buNone/>
            </a:pPr>
            <a:r>
              <a:rPr lang="en-US" sz="2900" b="1" dirty="0">
                <a:solidFill>
                  <a:srgbClr val="26282A"/>
                </a:solidFill>
                <a:latin typeface="Cambria" pitchFamily="34" charset="0"/>
                <a:ea typeface="Cambria" pitchFamily="34" charset="-122"/>
                <a:cs typeface="Cambria" pitchFamily="34" charset="-120"/>
              </a:rPr>
              <a:t>It all comes down to the prompt</a:t>
            </a:r>
            <a:endParaRPr lang="en-US" sz="2900" dirty="0"/>
          </a:p>
        </p:txBody>
      </p:sp>
      <p:sp>
        <p:nvSpPr>
          <p:cNvPr id="5" name="Text 3"/>
          <p:cNvSpPr/>
          <p:nvPr/>
        </p:nvSpPr>
        <p:spPr>
          <a:xfrm>
            <a:off x="457200" y="1417320"/>
            <a:ext cx="8229600" cy="457200"/>
          </a:xfrm>
          <a:prstGeom prst="rect">
            <a:avLst/>
          </a:prstGeom>
          <a:noFill/>
          <a:ln/>
        </p:spPr>
        <p:txBody>
          <a:bodyPr wrap="square" lIns="0" tIns="0" rIns="0" bIns="0" rtlCol="0" anchor="ctr"/>
          <a:lstStyle/>
          <a:p>
            <a:pPr indent="0" marL="0">
              <a:buNone/>
            </a:pPr>
            <a:r>
              <a:rPr lang="en-US" sz="1500" dirty="0">
                <a:solidFill>
                  <a:srgbClr val="26282A"/>
                </a:solidFill>
                <a:latin typeface="Calibri" pitchFamily="34" charset="0"/>
                <a:ea typeface="Calibri" pitchFamily="34" charset="-122"/>
                <a:cs typeface="Calibri" pitchFamily="34" charset="-120"/>
              </a:rPr>
              <a:t>A prompt is the instruction you give an AI. The tool is the same for everyone — your prompt is your edge.</a:t>
            </a:r>
            <a:endParaRPr lang="en-US" sz="1500" dirty="0"/>
          </a:p>
        </p:txBody>
      </p:sp>
      <p:sp>
        <p:nvSpPr>
          <p:cNvPr id="6" name="Shape 4"/>
          <p:cNvSpPr/>
          <p:nvPr/>
        </p:nvSpPr>
        <p:spPr>
          <a:xfrm>
            <a:off x="457200" y="2057400"/>
            <a:ext cx="8229600" cy="1371600"/>
          </a:xfrm>
          <a:prstGeom prst="roundRect">
            <a:avLst>
              <a:gd name="adj" fmla="val 5333"/>
            </a:avLst>
          </a:prstGeom>
          <a:solidFill>
            <a:srgbClr val="EDF4DF"/>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7" name="Text 5"/>
          <p:cNvSpPr/>
          <p:nvPr/>
        </p:nvSpPr>
        <p:spPr>
          <a:xfrm>
            <a:off x="685800" y="2194560"/>
            <a:ext cx="3657600" cy="274320"/>
          </a:xfrm>
          <a:prstGeom prst="rect">
            <a:avLst/>
          </a:prstGeom>
          <a:noFill/>
          <a:ln/>
        </p:spPr>
        <p:txBody>
          <a:bodyPr wrap="square" lIns="0" tIns="0" rIns="0" bIns="0" rtlCol="0" anchor="ctr"/>
          <a:lstStyle/>
          <a:p>
            <a:pPr indent="0" marL="0">
              <a:buNone/>
            </a:pPr>
            <a:r>
              <a:rPr lang="en-US" sz="1200" b="1" dirty="0">
                <a:solidFill>
                  <a:srgbClr val="5C8A1B"/>
                </a:solidFill>
                <a:latin typeface="Calibri" pitchFamily="34" charset="0"/>
                <a:ea typeface="Calibri" pitchFamily="34" charset="-122"/>
                <a:cs typeface="Calibri" pitchFamily="34" charset="-120"/>
              </a:rPr>
              <a:t>THE MINDSET</a:t>
            </a:r>
            <a:endParaRPr lang="en-US" sz="1200" dirty="0"/>
          </a:p>
        </p:txBody>
      </p:sp>
      <p:sp>
        <p:nvSpPr>
          <p:cNvPr id="8" name="Text 6"/>
          <p:cNvSpPr/>
          <p:nvPr/>
        </p:nvSpPr>
        <p:spPr>
          <a:xfrm>
            <a:off x="685800" y="2487168"/>
            <a:ext cx="7772400" cy="822960"/>
          </a:xfrm>
          <a:prstGeom prst="rect">
            <a:avLst/>
          </a:prstGeom>
          <a:noFill/>
          <a:ln/>
        </p:spPr>
        <p:txBody>
          <a:bodyPr wrap="square" lIns="0" tIns="0" rIns="0" bIns="0" rtlCol="0" anchor="ctr"/>
          <a:lstStyle/>
          <a:p>
            <a:pPr indent="0" marL="0">
              <a:spcAft>
                <a:spcPts val="400"/>
              </a:spcAft>
              <a:buNone/>
            </a:pPr>
            <a:r>
              <a:rPr lang="en-US" sz="1400" b="1" dirty="0">
                <a:solidFill>
                  <a:srgbClr val="26282A"/>
                </a:solidFill>
                <a:latin typeface="Calibri" pitchFamily="34" charset="0"/>
                <a:ea typeface="Calibri" pitchFamily="34" charset="-122"/>
                <a:cs typeface="Calibri" pitchFamily="34" charset="-120"/>
              </a:rPr>
              <a:t>Treat the AI like a capable new team member</a:t>
            </a:r>
            <a:endParaRPr lang="en-US" sz="1400" dirty="0"/>
          </a:p>
          <a:p>
            <a:pPr indent="0" marL="0">
              <a:buNone/>
            </a:pPr>
            <a:r>
              <a:rPr lang="en-US" sz="1400" dirty="0">
                <a:solidFill>
                  <a:srgbClr val="26282A"/>
                </a:solidFill>
                <a:latin typeface="Calibri" pitchFamily="34" charset="0"/>
                <a:ea typeface="Calibri" pitchFamily="34" charset="-122"/>
                <a:cs typeface="Calibri" pitchFamily="34" charset="-120"/>
              </a:rPr>
              <a:t>— brilliant, but with zero context about you, your client or your goal. So brief it properly.</a:t>
            </a:r>
            <a:endParaRPr lang="en-US" sz="1400" dirty="0"/>
          </a:p>
        </p:txBody>
      </p:sp>
      <p:sp>
        <p:nvSpPr>
          <p:cNvPr id="9" name="Text 7"/>
          <p:cNvSpPr/>
          <p:nvPr/>
        </p:nvSpPr>
        <p:spPr>
          <a:xfrm>
            <a:off x="457200" y="3611880"/>
            <a:ext cx="8229600" cy="365760"/>
          </a:xfrm>
          <a:prstGeom prst="rect">
            <a:avLst/>
          </a:prstGeom>
          <a:noFill/>
          <a:ln/>
        </p:spPr>
        <p:txBody>
          <a:bodyPr wrap="square" lIns="0" tIns="0" rIns="0" bIns="0" rtlCol="0" anchor="ctr"/>
          <a:lstStyle/>
          <a:p>
            <a:pPr indent="0" marL="0">
              <a:buNone/>
            </a:pPr>
            <a:r>
              <a:rPr lang="en-US" sz="1250" i="1" dirty="0">
                <a:solidFill>
                  <a:srgbClr val="44474A"/>
                </a:solidFill>
                <a:latin typeface="Calibri" pitchFamily="34" charset="0"/>
                <a:ea typeface="Calibri" pitchFamily="34" charset="-122"/>
                <a:cs typeface="Calibri" pitchFamily="34" charset="-120"/>
              </a:rPr>
              <a:t>Better instruction in  →  better output out. A 20-second better prompt saves a 20-minute rewrite.</a:t>
            </a:r>
            <a:endParaRPr lang="en-US" sz="1250" dirty="0"/>
          </a:p>
        </p:txBody>
      </p:sp>
      <p:sp>
        <p:nvSpPr>
          <p:cNvPr id="10" name="Text 8"/>
          <p:cNvSpPr/>
          <p:nvPr/>
        </p:nvSpPr>
        <p:spPr>
          <a:xfrm>
            <a:off x="457200" y="4873752"/>
            <a:ext cx="5486400" cy="228600"/>
          </a:xfrm>
          <a:prstGeom prst="rect">
            <a:avLst/>
          </a:prstGeom>
          <a:noFill/>
          <a:ln/>
        </p:spPr>
        <p:txBody>
          <a:bodyPr wrap="square" lIns="0" tIns="0" rIns="0" bIns="0" rtlCol="0" anchor="ctr"/>
          <a:lstStyle/>
          <a:p>
            <a:pPr indent="0" marL="0">
              <a:buNone/>
            </a:pPr>
            <a:r>
              <a:rPr lang="en-US" sz="800" dirty="0">
                <a:solidFill>
                  <a:srgbClr val="7A7D81"/>
                </a:solidFill>
                <a:latin typeface="Calibri" pitchFamily="34" charset="0"/>
                <a:ea typeface="Calibri" pitchFamily="34" charset="-122"/>
                <a:cs typeface="Calibri" pitchFamily="34" charset="-120"/>
              </a:rPr>
              <a:t>Basics of AI/ML &amp; Prompt Engineering</a:t>
            </a:r>
            <a:endParaRPr lang="en-US" sz="800" dirty="0"/>
          </a:p>
        </p:txBody>
      </p:sp>
      <p:sp>
        <p:nvSpPr>
          <p:cNvPr id="11" name="Text 9"/>
          <p:cNvSpPr/>
          <p:nvPr/>
        </p:nvSpPr>
        <p:spPr>
          <a:xfrm>
            <a:off x="8321040" y="4873752"/>
            <a:ext cx="365760" cy="228600"/>
          </a:xfrm>
          <a:prstGeom prst="rect">
            <a:avLst/>
          </a:prstGeom>
          <a:noFill/>
          <a:ln/>
        </p:spPr>
        <p:txBody>
          <a:bodyPr wrap="square" lIns="0" tIns="0" rIns="0" bIns="0" rtlCol="0" anchor="ctr"/>
          <a:lstStyle/>
          <a:p>
            <a:pPr algn="r" indent="0" marL="0">
              <a:buNone/>
            </a:pPr>
            <a:r>
              <a:rPr lang="en-US" sz="800" dirty="0">
                <a:solidFill>
                  <a:srgbClr val="7A7D81"/>
                </a:solidFill>
                <a:latin typeface="Calibri" pitchFamily="34" charset="0"/>
                <a:ea typeface="Calibri" pitchFamily="34" charset="-122"/>
                <a:cs typeface="Calibri" pitchFamily="34" charset="-120"/>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02336"/>
            <a:ext cx="109728" cy="109728"/>
          </a:xfrm>
          <a:prstGeom prst="ellipse">
            <a:avLst/>
          </a:prstGeom>
          <a:solidFill>
            <a:srgbClr val="86BC25"/>
          </a:solidFill>
          <a:ln/>
        </p:spPr>
      </p:sp>
      <p:sp>
        <p:nvSpPr>
          <p:cNvPr id="3" name="Text 1"/>
          <p:cNvSpPr/>
          <p:nvPr/>
        </p:nvSpPr>
        <p:spPr>
          <a:xfrm>
            <a:off x="658368" y="329184"/>
            <a:ext cx="7955280" cy="256032"/>
          </a:xfrm>
          <a:prstGeom prst="rect">
            <a:avLst/>
          </a:prstGeom>
          <a:noFill/>
          <a:ln/>
        </p:spPr>
        <p:txBody>
          <a:bodyPr wrap="square" lIns="0" tIns="0" rIns="0" bIns="0" rtlCol="0" anchor="ctr"/>
          <a:lstStyle/>
          <a:p>
            <a:pPr indent="0" marL="0">
              <a:buNone/>
            </a:pPr>
            <a:r>
              <a:rPr lang="en-US" sz="1100" b="1" spc="200" kern="0" dirty="0">
                <a:solidFill>
                  <a:srgbClr val="5C8A1B"/>
                </a:solidFill>
                <a:latin typeface="Calibri" pitchFamily="34" charset="0"/>
                <a:ea typeface="Calibri" pitchFamily="34" charset="-122"/>
                <a:cs typeface="Calibri" pitchFamily="34" charset="-120"/>
              </a:rPr>
              <a:t>MODULE 4 · PROMPT ENGINEERING</a:t>
            </a:r>
            <a:endParaRPr lang="en-US" sz="1100" dirty="0"/>
          </a:p>
        </p:txBody>
      </p:sp>
      <p:sp>
        <p:nvSpPr>
          <p:cNvPr id="4" name="Text 2"/>
          <p:cNvSpPr/>
          <p:nvPr/>
        </p:nvSpPr>
        <p:spPr>
          <a:xfrm>
            <a:off x="457200" y="603504"/>
            <a:ext cx="8229600" cy="640080"/>
          </a:xfrm>
          <a:prstGeom prst="rect">
            <a:avLst/>
          </a:prstGeom>
          <a:noFill/>
          <a:ln/>
        </p:spPr>
        <p:txBody>
          <a:bodyPr wrap="square" lIns="0" tIns="0" rIns="0" bIns="0" rtlCol="0" anchor="ctr"/>
          <a:lstStyle/>
          <a:p>
            <a:pPr indent="0" marL="0">
              <a:buNone/>
            </a:pPr>
            <a:r>
              <a:rPr lang="en-US" sz="2900" b="1" dirty="0">
                <a:solidFill>
                  <a:srgbClr val="26282A"/>
                </a:solidFill>
                <a:latin typeface="Cambria" pitchFamily="34" charset="0"/>
                <a:ea typeface="Cambria" pitchFamily="34" charset="-122"/>
                <a:cs typeface="Cambria" pitchFamily="34" charset="-120"/>
              </a:rPr>
              <a:t>The 6 building blocks of a strong prompt</a:t>
            </a:r>
            <a:endParaRPr lang="en-US" sz="2900" dirty="0"/>
          </a:p>
        </p:txBody>
      </p:sp>
      <p:sp>
        <p:nvSpPr>
          <p:cNvPr id="5" name="Shape 3"/>
          <p:cNvSpPr/>
          <p:nvPr/>
        </p:nvSpPr>
        <p:spPr>
          <a:xfrm>
            <a:off x="457200" y="1481328"/>
            <a:ext cx="2679192" cy="1234440"/>
          </a:xfrm>
          <a:prstGeom prst="roundRect">
            <a:avLst>
              <a:gd name="adj" fmla="val 5926"/>
            </a:avLst>
          </a:prstGeom>
          <a:solidFill>
            <a:srgbClr val="F4F5F6"/>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6" name="Text 4"/>
          <p:cNvSpPr/>
          <p:nvPr/>
        </p:nvSpPr>
        <p:spPr>
          <a:xfrm>
            <a:off x="640080" y="1600200"/>
            <a:ext cx="2377440" cy="274320"/>
          </a:xfrm>
          <a:prstGeom prst="rect">
            <a:avLst/>
          </a:prstGeom>
          <a:noFill/>
          <a:ln/>
        </p:spPr>
        <p:txBody>
          <a:bodyPr wrap="square" lIns="0" tIns="0" rIns="0" bIns="0" rtlCol="0" anchor="ctr"/>
          <a:lstStyle/>
          <a:p>
            <a:pPr indent="0" marL="0">
              <a:buNone/>
            </a:pPr>
            <a:r>
              <a:rPr lang="en-US" sz="1400" b="1" dirty="0">
                <a:solidFill>
                  <a:srgbClr val="5C8A1B"/>
                </a:solidFill>
                <a:latin typeface="Calibri" pitchFamily="34" charset="0"/>
                <a:ea typeface="Calibri" pitchFamily="34" charset="-122"/>
                <a:cs typeface="Calibri" pitchFamily="34" charset="-120"/>
              </a:rPr>
              <a:t>Role</a:t>
            </a:r>
            <a:endParaRPr lang="en-US" sz="1400" dirty="0"/>
          </a:p>
        </p:txBody>
      </p:sp>
      <p:sp>
        <p:nvSpPr>
          <p:cNvPr id="7" name="Text 5"/>
          <p:cNvSpPr/>
          <p:nvPr/>
        </p:nvSpPr>
        <p:spPr>
          <a:xfrm>
            <a:off x="640080" y="1892808"/>
            <a:ext cx="2377440" cy="320040"/>
          </a:xfrm>
          <a:prstGeom prst="rect">
            <a:avLst/>
          </a:prstGeom>
          <a:noFill/>
          <a:ln/>
        </p:spPr>
        <p:txBody>
          <a:bodyPr wrap="square" lIns="0" tIns="0" rIns="0" bIns="0" rtlCol="0" anchor="ctr"/>
          <a:lstStyle/>
          <a:p>
            <a:pPr indent="0" marL="0">
              <a:buNone/>
            </a:pPr>
            <a:r>
              <a:rPr lang="en-US" sz="1100" dirty="0">
                <a:solidFill>
                  <a:srgbClr val="44474A"/>
                </a:solidFill>
                <a:latin typeface="Calibri" pitchFamily="34" charset="0"/>
                <a:ea typeface="Calibri" pitchFamily="34" charset="-122"/>
                <a:cs typeface="Calibri" pitchFamily="34" charset="-120"/>
              </a:rPr>
              <a:t>Who should the AI be?</a:t>
            </a:r>
            <a:endParaRPr lang="en-US" sz="1100" dirty="0"/>
          </a:p>
        </p:txBody>
      </p:sp>
      <p:sp>
        <p:nvSpPr>
          <p:cNvPr id="8" name="Text 6"/>
          <p:cNvSpPr/>
          <p:nvPr/>
        </p:nvSpPr>
        <p:spPr>
          <a:xfrm>
            <a:off x="640080" y="2240280"/>
            <a:ext cx="2377440" cy="384048"/>
          </a:xfrm>
          <a:prstGeom prst="rect">
            <a:avLst/>
          </a:prstGeom>
          <a:noFill/>
          <a:ln/>
        </p:spPr>
        <p:txBody>
          <a:bodyPr wrap="square" lIns="0" tIns="0" rIns="0" bIns="0" rtlCol="0" anchor="ctr"/>
          <a:lstStyle/>
          <a:p>
            <a:pPr indent="0" marL="0">
              <a:buNone/>
            </a:pPr>
            <a:r>
              <a:rPr lang="en-US" sz="1050" i="1" dirty="0">
                <a:solidFill>
                  <a:srgbClr val="26282A"/>
                </a:solidFill>
                <a:latin typeface="Calibri" pitchFamily="34" charset="0"/>
                <a:ea typeface="Calibri" pitchFamily="34" charset="-122"/>
                <a:cs typeface="Calibri" pitchFamily="34" charset="-120"/>
              </a:rPr>
              <a:t>“Act as a senior tax consultant…”</a:t>
            </a:r>
            <a:endParaRPr lang="en-US" sz="1050" dirty="0"/>
          </a:p>
        </p:txBody>
      </p:sp>
      <p:sp>
        <p:nvSpPr>
          <p:cNvPr id="9" name="Shape 7"/>
          <p:cNvSpPr/>
          <p:nvPr/>
        </p:nvSpPr>
        <p:spPr>
          <a:xfrm>
            <a:off x="3264408" y="1481328"/>
            <a:ext cx="2679192" cy="1234440"/>
          </a:xfrm>
          <a:prstGeom prst="roundRect">
            <a:avLst>
              <a:gd name="adj" fmla="val 5926"/>
            </a:avLst>
          </a:prstGeom>
          <a:solidFill>
            <a:srgbClr val="F4F5F6"/>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10" name="Text 8"/>
          <p:cNvSpPr/>
          <p:nvPr/>
        </p:nvSpPr>
        <p:spPr>
          <a:xfrm>
            <a:off x="3447288" y="1600200"/>
            <a:ext cx="2377440" cy="274320"/>
          </a:xfrm>
          <a:prstGeom prst="rect">
            <a:avLst/>
          </a:prstGeom>
          <a:noFill/>
          <a:ln/>
        </p:spPr>
        <p:txBody>
          <a:bodyPr wrap="square" lIns="0" tIns="0" rIns="0" bIns="0" rtlCol="0" anchor="ctr"/>
          <a:lstStyle/>
          <a:p>
            <a:pPr indent="0" marL="0">
              <a:buNone/>
            </a:pPr>
            <a:r>
              <a:rPr lang="en-US" sz="1400" b="1" dirty="0">
                <a:solidFill>
                  <a:srgbClr val="5C8A1B"/>
                </a:solidFill>
                <a:latin typeface="Calibri" pitchFamily="34" charset="0"/>
                <a:ea typeface="Calibri" pitchFamily="34" charset="-122"/>
                <a:cs typeface="Calibri" pitchFamily="34" charset="-120"/>
              </a:rPr>
              <a:t>Task</a:t>
            </a:r>
            <a:endParaRPr lang="en-US" sz="1400" dirty="0"/>
          </a:p>
        </p:txBody>
      </p:sp>
      <p:sp>
        <p:nvSpPr>
          <p:cNvPr id="11" name="Text 9"/>
          <p:cNvSpPr/>
          <p:nvPr/>
        </p:nvSpPr>
        <p:spPr>
          <a:xfrm>
            <a:off x="3447288" y="1892808"/>
            <a:ext cx="2377440" cy="320040"/>
          </a:xfrm>
          <a:prstGeom prst="rect">
            <a:avLst/>
          </a:prstGeom>
          <a:noFill/>
          <a:ln/>
        </p:spPr>
        <p:txBody>
          <a:bodyPr wrap="square" lIns="0" tIns="0" rIns="0" bIns="0" rtlCol="0" anchor="ctr"/>
          <a:lstStyle/>
          <a:p>
            <a:pPr indent="0" marL="0">
              <a:buNone/>
            </a:pPr>
            <a:r>
              <a:rPr lang="en-US" sz="1100" dirty="0">
                <a:solidFill>
                  <a:srgbClr val="44474A"/>
                </a:solidFill>
                <a:latin typeface="Calibri" pitchFamily="34" charset="0"/>
                <a:ea typeface="Calibri" pitchFamily="34" charset="-122"/>
                <a:cs typeface="Calibri" pitchFamily="34" charset="-120"/>
              </a:rPr>
              <a:t>What exactly do you want?</a:t>
            </a:r>
            <a:endParaRPr lang="en-US" sz="1100" dirty="0"/>
          </a:p>
        </p:txBody>
      </p:sp>
      <p:sp>
        <p:nvSpPr>
          <p:cNvPr id="12" name="Text 10"/>
          <p:cNvSpPr/>
          <p:nvPr/>
        </p:nvSpPr>
        <p:spPr>
          <a:xfrm>
            <a:off x="3447288" y="2240280"/>
            <a:ext cx="2377440" cy="384048"/>
          </a:xfrm>
          <a:prstGeom prst="rect">
            <a:avLst/>
          </a:prstGeom>
          <a:noFill/>
          <a:ln/>
        </p:spPr>
        <p:txBody>
          <a:bodyPr wrap="square" lIns="0" tIns="0" rIns="0" bIns="0" rtlCol="0" anchor="ctr"/>
          <a:lstStyle/>
          <a:p>
            <a:pPr indent="0" marL="0">
              <a:buNone/>
            </a:pPr>
            <a:r>
              <a:rPr lang="en-US" sz="1050" i="1" dirty="0">
                <a:solidFill>
                  <a:srgbClr val="26282A"/>
                </a:solidFill>
                <a:latin typeface="Calibri" pitchFamily="34" charset="0"/>
                <a:ea typeface="Calibri" pitchFamily="34" charset="-122"/>
                <a:cs typeface="Calibri" pitchFamily="34" charset="-120"/>
              </a:rPr>
              <a:t>“Summarise this policy update…”</a:t>
            </a:r>
            <a:endParaRPr lang="en-US" sz="1050" dirty="0"/>
          </a:p>
        </p:txBody>
      </p:sp>
      <p:sp>
        <p:nvSpPr>
          <p:cNvPr id="13" name="Shape 11"/>
          <p:cNvSpPr/>
          <p:nvPr/>
        </p:nvSpPr>
        <p:spPr>
          <a:xfrm>
            <a:off x="6071616" y="1481328"/>
            <a:ext cx="2679192" cy="1234440"/>
          </a:xfrm>
          <a:prstGeom prst="roundRect">
            <a:avLst>
              <a:gd name="adj" fmla="val 5926"/>
            </a:avLst>
          </a:prstGeom>
          <a:solidFill>
            <a:srgbClr val="F4F5F6"/>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14" name="Text 12"/>
          <p:cNvSpPr/>
          <p:nvPr/>
        </p:nvSpPr>
        <p:spPr>
          <a:xfrm>
            <a:off x="6254496" y="1600200"/>
            <a:ext cx="2377440" cy="274320"/>
          </a:xfrm>
          <a:prstGeom prst="rect">
            <a:avLst/>
          </a:prstGeom>
          <a:noFill/>
          <a:ln/>
        </p:spPr>
        <p:txBody>
          <a:bodyPr wrap="square" lIns="0" tIns="0" rIns="0" bIns="0" rtlCol="0" anchor="ctr"/>
          <a:lstStyle/>
          <a:p>
            <a:pPr indent="0" marL="0">
              <a:buNone/>
            </a:pPr>
            <a:r>
              <a:rPr lang="en-US" sz="1400" b="1" dirty="0">
                <a:solidFill>
                  <a:srgbClr val="5C8A1B"/>
                </a:solidFill>
                <a:latin typeface="Calibri" pitchFamily="34" charset="0"/>
                <a:ea typeface="Calibri" pitchFamily="34" charset="-122"/>
                <a:cs typeface="Calibri" pitchFamily="34" charset="-120"/>
              </a:rPr>
              <a:t>Context</a:t>
            </a:r>
            <a:endParaRPr lang="en-US" sz="1400" dirty="0"/>
          </a:p>
        </p:txBody>
      </p:sp>
      <p:sp>
        <p:nvSpPr>
          <p:cNvPr id="15" name="Text 13"/>
          <p:cNvSpPr/>
          <p:nvPr/>
        </p:nvSpPr>
        <p:spPr>
          <a:xfrm>
            <a:off x="6254496" y="1892808"/>
            <a:ext cx="2377440" cy="320040"/>
          </a:xfrm>
          <a:prstGeom prst="rect">
            <a:avLst/>
          </a:prstGeom>
          <a:noFill/>
          <a:ln/>
        </p:spPr>
        <p:txBody>
          <a:bodyPr wrap="square" lIns="0" tIns="0" rIns="0" bIns="0" rtlCol="0" anchor="ctr"/>
          <a:lstStyle/>
          <a:p>
            <a:pPr indent="0" marL="0">
              <a:buNone/>
            </a:pPr>
            <a:r>
              <a:rPr lang="en-US" sz="1100" dirty="0">
                <a:solidFill>
                  <a:srgbClr val="44474A"/>
                </a:solidFill>
                <a:latin typeface="Calibri" pitchFamily="34" charset="0"/>
                <a:ea typeface="Calibri" pitchFamily="34" charset="-122"/>
                <a:cs typeface="Calibri" pitchFamily="34" charset="-120"/>
              </a:rPr>
              <a:t>What background matters?</a:t>
            </a:r>
            <a:endParaRPr lang="en-US" sz="1100" dirty="0"/>
          </a:p>
        </p:txBody>
      </p:sp>
      <p:sp>
        <p:nvSpPr>
          <p:cNvPr id="16" name="Text 14"/>
          <p:cNvSpPr/>
          <p:nvPr/>
        </p:nvSpPr>
        <p:spPr>
          <a:xfrm>
            <a:off x="6254496" y="2240280"/>
            <a:ext cx="2377440" cy="384048"/>
          </a:xfrm>
          <a:prstGeom prst="rect">
            <a:avLst/>
          </a:prstGeom>
          <a:noFill/>
          <a:ln/>
        </p:spPr>
        <p:txBody>
          <a:bodyPr wrap="square" lIns="0" tIns="0" rIns="0" bIns="0" rtlCol="0" anchor="ctr"/>
          <a:lstStyle/>
          <a:p>
            <a:pPr indent="0" marL="0">
              <a:buNone/>
            </a:pPr>
            <a:r>
              <a:rPr lang="en-US" sz="1050" i="1" dirty="0">
                <a:solidFill>
                  <a:srgbClr val="26282A"/>
                </a:solidFill>
                <a:latin typeface="Calibri" pitchFamily="34" charset="0"/>
                <a:ea typeface="Calibri" pitchFamily="34" charset="-122"/>
                <a:cs typeface="Calibri" pitchFamily="34" charset="-120"/>
              </a:rPr>
              <a:t>“…for a manufacturing client…”</a:t>
            </a:r>
            <a:endParaRPr lang="en-US" sz="1050" dirty="0"/>
          </a:p>
        </p:txBody>
      </p:sp>
      <p:sp>
        <p:nvSpPr>
          <p:cNvPr id="17" name="Shape 15"/>
          <p:cNvSpPr/>
          <p:nvPr/>
        </p:nvSpPr>
        <p:spPr>
          <a:xfrm>
            <a:off x="457200" y="2852928"/>
            <a:ext cx="2679192" cy="1234440"/>
          </a:xfrm>
          <a:prstGeom prst="roundRect">
            <a:avLst>
              <a:gd name="adj" fmla="val 5926"/>
            </a:avLst>
          </a:prstGeom>
          <a:solidFill>
            <a:srgbClr val="F4F5F6"/>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18" name="Text 16"/>
          <p:cNvSpPr/>
          <p:nvPr/>
        </p:nvSpPr>
        <p:spPr>
          <a:xfrm>
            <a:off x="640080" y="2971800"/>
            <a:ext cx="2377440" cy="274320"/>
          </a:xfrm>
          <a:prstGeom prst="rect">
            <a:avLst/>
          </a:prstGeom>
          <a:noFill/>
          <a:ln/>
        </p:spPr>
        <p:txBody>
          <a:bodyPr wrap="square" lIns="0" tIns="0" rIns="0" bIns="0" rtlCol="0" anchor="ctr"/>
          <a:lstStyle/>
          <a:p>
            <a:pPr indent="0" marL="0">
              <a:buNone/>
            </a:pPr>
            <a:r>
              <a:rPr lang="en-US" sz="1400" b="1" dirty="0">
                <a:solidFill>
                  <a:srgbClr val="5C8A1B"/>
                </a:solidFill>
                <a:latin typeface="Calibri" pitchFamily="34" charset="0"/>
                <a:ea typeface="Calibri" pitchFamily="34" charset="-122"/>
                <a:cs typeface="Calibri" pitchFamily="34" charset="-120"/>
              </a:rPr>
              <a:t>Format</a:t>
            </a:r>
            <a:endParaRPr lang="en-US" sz="1400" dirty="0"/>
          </a:p>
        </p:txBody>
      </p:sp>
      <p:sp>
        <p:nvSpPr>
          <p:cNvPr id="19" name="Text 17"/>
          <p:cNvSpPr/>
          <p:nvPr/>
        </p:nvSpPr>
        <p:spPr>
          <a:xfrm>
            <a:off x="640080" y="3264408"/>
            <a:ext cx="2377440" cy="320040"/>
          </a:xfrm>
          <a:prstGeom prst="rect">
            <a:avLst/>
          </a:prstGeom>
          <a:noFill/>
          <a:ln/>
        </p:spPr>
        <p:txBody>
          <a:bodyPr wrap="square" lIns="0" tIns="0" rIns="0" bIns="0" rtlCol="0" anchor="ctr"/>
          <a:lstStyle/>
          <a:p>
            <a:pPr indent="0" marL="0">
              <a:buNone/>
            </a:pPr>
            <a:r>
              <a:rPr lang="en-US" sz="1100" dirty="0">
                <a:solidFill>
                  <a:srgbClr val="44474A"/>
                </a:solidFill>
                <a:latin typeface="Calibri" pitchFamily="34" charset="0"/>
                <a:ea typeface="Calibri" pitchFamily="34" charset="-122"/>
                <a:cs typeface="Calibri" pitchFamily="34" charset="-120"/>
              </a:rPr>
              <a:t>How should it look?</a:t>
            </a:r>
            <a:endParaRPr lang="en-US" sz="1100" dirty="0"/>
          </a:p>
        </p:txBody>
      </p:sp>
      <p:sp>
        <p:nvSpPr>
          <p:cNvPr id="20" name="Text 18"/>
          <p:cNvSpPr/>
          <p:nvPr/>
        </p:nvSpPr>
        <p:spPr>
          <a:xfrm>
            <a:off x="640080" y="3611880"/>
            <a:ext cx="2377440" cy="384048"/>
          </a:xfrm>
          <a:prstGeom prst="rect">
            <a:avLst/>
          </a:prstGeom>
          <a:noFill/>
          <a:ln/>
        </p:spPr>
        <p:txBody>
          <a:bodyPr wrap="square" lIns="0" tIns="0" rIns="0" bIns="0" rtlCol="0" anchor="ctr"/>
          <a:lstStyle/>
          <a:p>
            <a:pPr indent="0" marL="0">
              <a:buNone/>
            </a:pPr>
            <a:r>
              <a:rPr lang="en-US" sz="1050" i="1" dirty="0">
                <a:solidFill>
                  <a:srgbClr val="26282A"/>
                </a:solidFill>
                <a:latin typeface="Calibri" pitchFamily="34" charset="0"/>
                <a:ea typeface="Calibri" pitchFamily="34" charset="-122"/>
                <a:cs typeface="Calibri" pitchFamily="34" charset="-120"/>
              </a:rPr>
              <a:t>“…as 5 bullet points…”</a:t>
            </a:r>
            <a:endParaRPr lang="en-US" sz="1050" dirty="0"/>
          </a:p>
        </p:txBody>
      </p:sp>
      <p:sp>
        <p:nvSpPr>
          <p:cNvPr id="21" name="Shape 19"/>
          <p:cNvSpPr/>
          <p:nvPr/>
        </p:nvSpPr>
        <p:spPr>
          <a:xfrm>
            <a:off x="3264408" y="2852928"/>
            <a:ext cx="2679192" cy="1234440"/>
          </a:xfrm>
          <a:prstGeom prst="roundRect">
            <a:avLst>
              <a:gd name="adj" fmla="val 5926"/>
            </a:avLst>
          </a:prstGeom>
          <a:solidFill>
            <a:srgbClr val="F4F5F6"/>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22" name="Text 20"/>
          <p:cNvSpPr/>
          <p:nvPr/>
        </p:nvSpPr>
        <p:spPr>
          <a:xfrm>
            <a:off x="3447288" y="2971800"/>
            <a:ext cx="2377440" cy="274320"/>
          </a:xfrm>
          <a:prstGeom prst="rect">
            <a:avLst/>
          </a:prstGeom>
          <a:noFill/>
          <a:ln/>
        </p:spPr>
        <p:txBody>
          <a:bodyPr wrap="square" lIns="0" tIns="0" rIns="0" bIns="0" rtlCol="0" anchor="ctr"/>
          <a:lstStyle/>
          <a:p>
            <a:pPr indent="0" marL="0">
              <a:buNone/>
            </a:pPr>
            <a:r>
              <a:rPr lang="en-US" sz="1400" b="1" dirty="0">
                <a:solidFill>
                  <a:srgbClr val="5C8A1B"/>
                </a:solidFill>
                <a:latin typeface="Calibri" pitchFamily="34" charset="0"/>
                <a:ea typeface="Calibri" pitchFamily="34" charset="-122"/>
                <a:cs typeface="Calibri" pitchFamily="34" charset="-120"/>
              </a:rPr>
              <a:t>Constraints</a:t>
            </a:r>
            <a:endParaRPr lang="en-US" sz="1400" dirty="0"/>
          </a:p>
        </p:txBody>
      </p:sp>
      <p:sp>
        <p:nvSpPr>
          <p:cNvPr id="23" name="Text 21"/>
          <p:cNvSpPr/>
          <p:nvPr/>
        </p:nvSpPr>
        <p:spPr>
          <a:xfrm>
            <a:off x="3447288" y="3264408"/>
            <a:ext cx="2377440" cy="320040"/>
          </a:xfrm>
          <a:prstGeom prst="rect">
            <a:avLst/>
          </a:prstGeom>
          <a:noFill/>
          <a:ln/>
        </p:spPr>
        <p:txBody>
          <a:bodyPr wrap="square" lIns="0" tIns="0" rIns="0" bIns="0" rtlCol="0" anchor="ctr"/>
          <a:lstStyle/>
          <a:p>
            <a:pPr indent="0" marL="0">
              <a:buNone/>
            </a:pPr>
            <a:r>
              <a:rPr lang="en-US" sz="1100" dirty="0">
                <a:solidFill>
                  <a:srgbClr val="44474A"/>
                </a:solidFill>
                <a:latin typeface="Calibri" pitchFamily="34" charset="0"/>
                <a:ea typeface="Calibri" pitchFamily="34" charset="-122"/>
                <a:cs typeface="Calibri" pitchFamily="34" charset="-120"/>
              </a:rPr>
              <a:t>Any rules or limits?</a:t>
            </a:r>
            <a:endParaRPr lang="en-US" sz="1100" dirty="0"/>
          </a:p>
        </p:txBody>
      </p:sp>
      <p:sp>
        <p:nvSpPr>
          <p:cNvPr id="24" name="Text 22"/>
          <p:cNvSpPr/>
          <p:nvPr/>
        </p:nvSpPr>
        <p:spPr>
          <a:xfrm>
            <a:off x="3447288" y="3611880"/>
            <a:ext cx="2377440" cy="384048"/>
          </a:xfrm>
          <a:prstGeom prst="rect">
            <a:avLst/>
          </a:prstGeom>
          <a:noFill/>
          <a:ln/>
        </p:spPr>
        <p:txBody>
          <a:bodyPr wrap="square" lIns="0" tIns="0" rIns="0" bIns="0" rtlCol="0" anchor="ctr"/>
          <a:lstStyle/>
          <a:p>
            <a:pPr indent="0" marL="0">
              <a:buNone/>
            </a:pPr>
            <a:r>
              <a:rPr lang="en-US" sz="1050" i="1" dirty="0">
                <a:solidFill>
                  <a:srgbClr val="26282A"/>
                </a:solidFill>
                <a:latin typeface="Calibri" pitchFamily="34" charset="0"/>
                <a:ea typeface="Calibri" pitchFamily="34" charset="-122"/>
                <a:cs typeface="Calibri" pitchFamily="34" charset="-120"/>
              </a:rPr>
              <a:t>“…under 150 words, plain English…”</a:t>
            </a:r>
            <a:endParaRPr lang="en-US" sz="1050" dirty="0"/>
          </a:p>
        </p:txBody>
      </p:sp>
      <p:sp>
        <p:nvSpPr>
          <p:cNvPr id="25" name="Shape 23"/>
          <p:cNvSpPr/>
          <p:nvPr/>
        </p:nvSpPr>
        <p:spPr>
          <a:xfrm>
            <a:off x="6071616" y="2852928"/>
            <a:ext cx="2679192" cy="1234440"/>
          </a:xfrm>
          <a:prstGeom prst="roundRect">
            <a:avLst>
              <a:gd name="adj" fmla="val 5926"/>
            </a:avLst>
          </a:prstGeom>
          <a:solidFill>
            <a:srgbClr val="F4F5F6"/>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26" name="Text 24"/>
          <p:cNvSpPr/>
          <p:nvPr/>
        </p:nvSpPr>
        <p:spPr>
          <a:xfrm>
            <a:off x="6254496" y="2971800"/>
            <a:ext cx="2377440" cy="274320"/>
          </a:xfrm>
          <a:prstGeom prst="rect">
            <a:avLst/>
          </a:prstGeom>
          <a:noFill/>
          <a:ln/>
        </p:spPr>
        <p:txBody>
          <a:bodyPr wrap="square" lIns="0" tIns="0" rIns="0" bIns="0" rtlCol="0" anchor="ctr"/>
          <a:lstStyle/>
          <a:p>
            <a:pPr indent="0" marL="0">
              <a:buNone/>
            </a:pPr>
            <a:r>
              <a:rPr lang="en-US" sz="1400" b="1" dirty="0">
                <a:solidFill>
                  <a:srgbClr val="5C8A1B"/>
                </a:solidFill>
                <a:latin typeface="Calibri" pitchFamily="34" charset="0"/>
                <a:ea typeface="Calibri" pitchFamily="34" charset="-122"/>
                <a:cs typeface="Calibri" pitchFamily="34" charset="-120"/>
              </a:rPr>
              <a:t>Examples</a:t>
            </a:r>
            <a:endParaRPr lang="en-US" sz="1400" dirty="0"/>
          </a:p>
        </p:txBody>
      </p:sp>
      <p:sp>
        <p:nvSpPr>
          <p:cNvPr id="27" name="Text 25"/>
          <p:cNvSpPr/>
          <p:nvPr/>
        </p:nvSpPr>
        <p:spPr>
          <a:xfrm>
            <a:off x="6254496" y="3264408"/>
            <a:ext cx="2377440" cy="320040"/>
          </a:xfrm>
          <a:prstGeom prst="rect">
            <a:avLst/>
          </a:prstGeom>
          <a:noFill/>
          <a:ln/>
        </p:spPr>
        <p:txBody>
          <a:bodyPr wrap="square" lIns="0" tIns="0" rIns="0" bIns="0" rtlCol="0" anchor="ctr"/>
          <a:lstStyle/>
          <a:p>
            <a:pPr indent="0" marL="0">
              <a:buNone/>
            </a:pPr>
            <a:r>
              <a:rPr lang="en-US" sz="1100" dirty="0">
                <a:solidFill>
                  <a:srgbClr val="44474A"/>
                </a:solidFill>
                <a:latin typeface="Calibri" pitchFamily="34" charset="0"/>
                <a:ea typeface="Calibri" pitchFamily="34" charset="-122"/>
                <a:cs typeface="Calibri" pitchFamily="34" charset="-120"/>
              </a:rPr>
              <a:t>What does good look like?</a:t>
            </a:r>
            <a:endParaRPr lang="en-US" sz="1100" dirty="0"/>
          </a:p>
        </p:txBody>
      </p:sp>
      <p:sp>
        <p:nvSpPr>
          <p:cNvPr id="28" name="Text 26"/>
          <p:cNvSpPr/>
          <p:nvPr/>
        </p:nvSpPr>
        <p:spPr>
          <a:xfrm>
            <a:off x="6254496" y="3611880"/>
            <a:ext cx="2377440" cy="384048"/>
          </a:xfrm>
          <a:prstGeom prst="rect">
            <a:avLst/>
          </a:prstGeom>
          <a:noFill/>
          <a:ln/>
        </p:spPr>
        <p:txBody>
          <a:bodyPr wrap="square" lIns="0" tIns="0" rIns="0" bIns="0" rtlCol="0" anchor="ctr"/>
          <a:lstStyle/>
          <a:p>
            <a:pPr indent="0" marL="0">
              <a:buNone/>
            </a:pPr>
            <a:r>
              <a:rPr lang="en-US" sz="1050" i="1" dirty="0">
                <a:solidFill>
                  <a:srgbClr val="26282A"/>
                </a:solidFill>
                <a:latin typeface="Calibri" pitchFamily="34" charset="0"/>
                <a:ea typeface="Calibri" pitchFamily="34" charset="-122"/>
                <a:cs typeface="Calibri" pitchFamily="34" charset="-120"/>
              </a:rPr>
              <a:t>“…in the style of this sample…”</a:t>
            </a:r>
            <a:endParaRPr lang="en-US" sz="1050" dirty="0"/>
          </a:p>
        </p:txBody>
      </p:sp>
      <p:sp>
        <p:nvSpPr>
          <p:cNvPr id="29" name="Text 27"/>
          <p:cNvSpPr/>
          <p:nvPr/>
        </p:nvSpPr>
        <p:spPr>
          <a:xfrm>
            <a:off x="457200" y="4873752"/>
            <a:ext cx="5486400" cy="228600"/>
          </a:xfrm>
          <a:prstGeom prst="rect">
            <a:avLst/>
          </a:prstGeom>
          <a:noFill/>
          <a:ln/>
        </p:spPr>
        <p:txBody>
          <a:bodyPr wrap="square" lIns="0" tIns="0" rIns="0" bIns="0" rtlCol="0" anchor="ctr"/>
          <a:lstStyle/>
          <a:p>
            <a:pPr indent="0" marL="0">
              <a:buNone/>
            </a:pPr>
            <a:r>
              <a:rPr lang="en-US" sz="800" dirty="0">
                <a:solidFill>
                  <a:srgbClr val="7A7D81"/>
                </a:solidFill>
                <a:latin typeface="Calibri" pitchFamily="34" charset="0"/>
                <a:ea typeface="Calibri" pitchFamily="34" charset="-122"/>
                <a:cs typeface="Calibri" pitchFamily="34" charset="-120"/>
              </a:rPr>
              <a:t>Basics of AI/ML &amp; Prompt Engineering</a:t>
            </a:r>
            <a:endParaRPr lang="en-US" sz="800" dirty="0"/>
          </a:p>
        </p:txBody>
      </p:sp>
      <p:sp>
        <p:nvSpPr>
          <p:cNvPr id="30" name="Text 28"/>
          <p:cNvSpPr/>
          <p:nvPr/>
        </p:nvSpPr>
        <p:spPr>
          <a:xfrm>
            <a:off x="8321040" y="4873752"/>
            <a:ext cx="365760" cy="228600"/>
          </a:xfrm>
          <a:prstGeom prst="rect">
            <a:avLst/>
          </a:prstGeom>
          <a:noFill/>
          <a:ln/>
        </p:spPr>
        <p:txBody>
          <a:bodyPr wrap="square" lIns="0" tIns="0" rIns="0" bIns="0" rtlCol="0" anchor="ctr"/>
          <a:lstStyle/>
          <a:p>
            <a:pPr algn="r" indent="0" marL="0">
              <a:buNone/>
            </a:pPr>
            <a:r>
              <a:rPr lang="en-US" sz="800" dirty="0">
                <a:solidFill>
                  <a:srgbClr val="7A7D81"/>
                </a:solidFill>
                <a:latin typeface="Calibri" pitchFamily="34" charset="0"/>
                <a:ea typeface="Calibri" pitchFamily="34" charset="-122"/>
                <a:cs typeface="Calibri" pitchFamily="34" charset="-120"/>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02336"/>
            <a:ext cx="109728" cy="109728"/>
          </a:xfrm>
          <a:prstGeom prst="ellipse">
            <a:avLst/>
          </a:prstGeom>
          <a:solidFill>
            <a:srgbClr val="86BC25"/>
          </a:solidFill>
          <a:ln/>
        </p:spPr>
      </p:sp>
      <p:sp>
        <p:nvSpPr>
          <p:cNvPr id="3" name="Text 1"/>
          <p:cNvSpPr/>
          <p:nvPr/>
        </p:nvSpPr>
        <p:spPr>
          <a:xfrm>
            <a:off x="658368" y="329184"/>
            <a:ext cx="7955280" cy="256032"/>
          </a:xfrm>
          <a:prstGeom prst="rect">
            <a:avLst/>
          </a:prstGeom>
          <a:noFill/>
          <a:ln/>
        </p:spPr>
        <p:txBody>
          <a:bodyPr wrap="square" lIns="0" tIns="0" rIns="0" bIns="0" rtlCol="0" anchor="ctr"/>
          <a:lstStyle/>
          <a:p>
            <a:pPr indent="0" marL="0">
              <a:buNone/>
            </a:pPr>
            <a:r>
              <a:rPr lang="en-US" sz="1100" b="1" spc="200" kern="0" dirty="0">
                <a:solidFill>
                  <a:srgbClr val="5C8A1B"/>
                </a:solidFill>
                <a:latin typeface="Calibri" pitchFamily="34" charset="0"/>
                <a:ea typeface="Calibri" pitchFamily="34" charset="-122"/>
                <a:cs typeface="Calibri" pitchFamily="34" charset="-120"/>
              </a:rPr>
              <a:t>MODULE 4 · FRAMEWORK 1 OF 3</a:t>
            </a:r>
            <a:endParaRPr lang="en-US" sz="1100" dirty="0"/>
          </a:p>
        </p:txBody>
      </p:sp>
      <p:sp>
        <p:nvSpPr>
          <p:cNvPr id="4" name="Text 2"/>
          <p:cNvSpPr/>
          <p:nvPr/>
        </p:nvSpPr>
        <p:spPr>
          <a:xfrm>
            <a:off x="457200" y="603504"/>
            <a:ext cx="8229600" cy="640080"/>
          </a:xfrm>
          <a:prstGeom prst="rect">
            <a:avLst/>
          </a:prstGeom>
          <a:noFill/>
          <a:ln/>
        </p:spPr>
        <p:txBody>
          <a:bodyPr wrap="square" lIns="0" tIns="0" rIns="0" bIns="0" rtlCol="0" anchor="ctr"/>
          <a:lstStyle/>
          <a:p>
            <a:pPr indent="0" marL="0">
              <a:buNone/>
            </a:pPr>
            <a:r>
              <a:rPr lang="en-US" sz="2900" b="1" dirty="0">
                <a:solidFill>
                  <a:srgbClr val="26282A"/>
                </a:solidFill>
                <a:latin typeface="Cambria" pitchFamily="34" charset="0"/>
                <a:ea typeface="Cambria" pitchFamily="34" charset="-122"/>
                <a:cs typeface="Cambria" pitchFamily="34" charset="-120"/>
              </a:rPr>
              <a:t>TAG — the quick starter</a:t>
            </a:r>
            <a:endParaRPr lang="en-US" sz="2900" dirty="0"/>
          </a:p>
        </p:txBody>
      </p:sp>
      <p:sp>
        <p:nvSpPr>
          <p:cNvPr id="5" name="Shape 3"/>
          <p:cNvSpPr/>
          <p:nvPr/>
        </p:nvSpPr>
        <p:spPr>
          <a:xfrm>
            <a:off x="457200" y="1554480"/>
            <a:ext cx="2679192" cy="1463040"/>
          </a:xfrm>
          <a:prstGeom prst="roundRect">
            <a:avLst>
              <a:gd name="adj" fmla="val 5000"/>
            </a:avLst>
          </a:prstGeom>
          <a:solidFill>
            <a:srgbClr val="F4F5F6"/>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6" name="Shape 4"/>
          <p:cNvSpPr/>
          <p:nvPr/>
        </p:nvSpPr>
        <p:spPr>
          <a:xfrm>
            <a:off x="685800" y="1737360"/>
            <a:ext cx="548640" cy="548640"/>
          </a:xfrm>
          <a:prstGeom prst="ellipse">
            <a:avLst/>
          </a:prstGeom>
          <a:solidFill>
            <a:srgbClr val="86BC25"/>
          </a:solidFill>
          <a:ln/>
        </p:spPr>
      </p:sp>
      <p:sp>
        <p:nvSpPr>
          <p:cNvPr id="7" name="Text 5"/>
          <p:cNvSpPr/>
          <p:nvPr/>
        </p:nvSpPr>
        <p:spPr>
          <a:xfrm>
            <a:off x="685800" y="1737360"/>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T</a:t>
            </a:r>
            <a:endParaRPr lang="en-US" sz="2400" dirty="0"/>
          </a:p>
        </p:txBody>
      </p:sp>
      <p:sp>
        <p:nvSpPr>
          <p:cNvPr id="8" name="Text 6"/>
          <p:cNvSpPr/>
          <p:nvPr/>
        </p:nvSpPr>
        <p:spPr>
          <a:xfrm>
            <a:off x="1371600" y="1847088"/>
            <a:ext cx="1645920" cy="320040"/>
          </a:xfrm>
          <a:prstGeom prst="rect">
            <a:avLst/>
          </a:prstGeom>
          <a:noFill/>
          <a:ln/>
        </p:spPr>
        <p:txBody>
          <a:bodyPr wrap="square" lIns="0" tIns="0" rIns="0" bIns="0" rtlCol="0" anchor="ctr"/>
          <a:lstStyle/>
          <a:p>
            <a:pPr indent="0" marL="0">
              <a:buNone/>
            </a:pPr>
            <a:r>
              <a:rPr lang="en-US" sz="1500" b="1" dirty="0">
                <a:solidFill>
                  <a:srgbClr val="26282A"/>
                </a:solidFill>
                <a:latin typeface="Calibri" pitchFamily="34" charset="0"/>
                <a:ea typeface="Calibri" pitchFamily="34" charset="-122"/>
                <a:cs typeface="Calibri" pitchFamily="34" charset="-120"/>
              </a:rPr>
              <a:t>Task</a:t>
            </a:r>
            <a:endParaRPr lang="en-US" sz="1500" dirty="0"/>
          </a:p>
        </p:txBody>
      </p:sp>
      <p:sp>
        <p:nvSpPr>
          <p:cNvPr id="9" name="Text 7"/>
          <p:cNvSpPr/>
          <p:nvPr/>
        </p:nvSpPr>
        <p:spPr>
          <a:xfrm>
            <a:off x="685800" y="2395728"/>
            <a:ext cx="2286000" cy="548640"/>
          </a:xfrm>
          <a:prstGeom prst="rect">
            <a:avLst/>
          </a:prstGeom>
          <a:noFill/>
          <a:ln/>
        </p:spPr>
        <p:txBody>
          <a:bodyPr wrap="square" lIns="0" tIns="0" rIns="0" bIns="0" rtlCol="0" anchor="ctr"/>
          <a:lstStyle/>
          <a:p>
            <a:pPr indent="0" marL="0">
              <a:buNone/>
            </a:pPr>
            <a:r>
              <a:rPr lang="en-US" sz="1150" dirty="0">
                <a:solidFill>
                  <a:srgbClr val="44474A"/>
                </a:solidFill>
                <a:latin typeface="Calibri" pitchFamily="34" charset="0"/>
                <a:ea typeface="Calibri" pitchFamily="34" charset="-122"/>
                <a:cs typeface="Calibri" pitchFamily="34" charset="-120"/>
              </a:rPr>
              <a:t>What needs doing</a:t>
            </a:r>
            <a:endParaRPr lang="en-US" sz="1150" dirty="0"/>
          </a:p>
        </p:txBody>
      </p:sp>
      <p:sp>
        <p:nvSpPr>
          <p:cNvPr id="10" name="Shape 8"/>
          <p:cNvSpPr/>
          <p:nvPr/>
        </p:nvSpPr>
        <p:spPr>
          <a:xfrm>
            <a:off x="3264408" y="1554480"/>
            <a:ext cx="2679192" cy="1463040"/>
          </a:xfrm>
          <a:prstGeom prst="roundRect">
            <a:avLst>
              <a:gd name="adj" fmla="val 5000"/>
            </a:avLst>
          </a:prstGeom>
          <a:solidFill>
            <a:srgbClr val="F4F5F6"/>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11" name="Shape 9"/>
          <p:cNvSpPr/>
          <p:nvPr/>
        </p:nvSpPr>
        <p:spPr>
          <a:xfrm>
            <a:off x="3493008" y="1737360"/>
            <a:ext cx="548640" cy="548640"/>
          </a:xfrm>
          <a:prstGeom prst="ellipse">
            <a:avLst/>
          </a:prstGeom>
          <a:solidFill>
            <a:srgbClr val="86BC25"/>
          </a:solidFill>
          <a:ln/>
        </p:spPr>
      </p:sp>
      <p:sp>
        <p:nvSpPr>
          <p:cNvPr id="12" name="Text 10"/>
          <p:cNvSpPr/>
          <p:nvPr/>
        </p:nvSpPr>
        <p:spPr>
          <a:xfrm>
            <a:off x="3493008" y="1737360"/>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A</a:t>
            </a:r>
            <a:endParaRPr lang="en-US" sz="2400" dirty="0"/>
          </a:p>
        </p:txBody>
      </p:sp>
      <p:sp>
        <p:nvSpPr>
          <p:cNvPr id="13" name="Text 11"/>
          <p:cNvSpPr/>
          <p:nvPr/>
        </p:nvSpPr>
        <p:spPr>
          <a:xfrm>
            <a:off x="4178808" y="1847088"/>
            <a:ext cx="1645920" cy="320040"/>
          </a:xfrm>
          <a:prstGeom prst="rect">
            <a:avLst/>
          </a:prstGeom>
          <a:noFill/>
          <a:ln/>
        </p:spPr>
        <p:txBody>
          <a:bodyPr wrap="square" lIns="0" tIns="0" rIns="0" bIns="0" rtlCol="0" anchor="ctr"/>
          <a:lstStyle/>
          <a:p>
            <a:pPr indent="0" marL="0">
              <a:buNone/>
            </a:pPr>
            <a:r>
              <a:rPr lang="en-US" sz="1500" b="1" dirty="0">
                <a:solidFill>
                  <a:srgbClr val="26282A"/>
                </a:solidFill>
                <a:latin typeface="Calibri" pitchFamily="34" charset="0"/>
                <a:ea typeface="Calibri" pitchFamily="34" charset="-122"/>
                <a:cs typeface="Calibri" pitchFamily="34" charset="-120"/>
              </a:rPr>
              <a:t>Action</a:t>
            </a:r>
            <a:endParaRPr lang="en-US" sz="1500" dirty="0"/>
          </a:p>
        </p:txBody>
      </p:sp>
      <p:sp>
        <p:nvSpPr>
          <p:cNvPr id="14" name="Text 12"/>
          <p:cNvSpPr/>
          <p:nvPr/>
        </p:nvSpPr>
        <p:spPr>
          <a:xfrm>
            <a:off x="3493008" y="2395728"/>
            <a:ext cx="2286000" cy="548640"/>
          </a:xfrm>
          <a:prstGeom prst="rect">
            <a:avLst/>
          </a:prstGeom>
          <a:noFill/>
          <a:ln/>
        </p:spPr>
        <p:txBody>
          <a:bodyPr wrap="square" lIns="0" tIns="0" rIns="0" bIns="0" rtlCol="0" anchor="ctr"/>
          <a:lstStyle/>
          <a:p>
            <a:pPr indent="0" marL="0">
              <a:buNone/>
            </a:pPr>
            <a:r>
              <a:rPr lang="en-US" sz="1150" dirty="0">
                <a:solidFill>
                  <a:srgbClr val="44474A"/>
                </a:solidFill>
                <a:latin typeface="Calibri" pitchFamily="34" charset="0"/>
                <a:ea typeface="Calibri" pitchFamily="34" charset="-122"/>
                <a:cs typeface="Calibri" pitchFamily="34" charset="-120"/>
              </a:rPr>
              <a:t>Exactly what the AI should do</a:t>
            </a:r>
            <a:endParaRPr lang="en-US" sz="1150" dirty="0"/>
          </a:p>
        </p:txBody>
      </p:sp>
      <p:sp>
        <p:nvSpPr>
          <p:cNvPr id="15" name="Shape 13"/>
          <p:cNvSpPr/>
          <p:nvPr/>
        </p:nvSpPr>
        <p:spPr>
          <a:xfrm>
            <a:off x="6071616" y="1554480"/>
            <a:ext cx="2679192" cy="1463040"/>
          </a:xfrm>
          <a:prstGeom prst="roundRect">
            <a:avLst>
              <a:gd name="adj" fmla="val 5000"/>
            </a:avLst>
          </a:prstGeom>
          <a:solidFill>
            <a:srgbClr val="F4F5F6"/>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16" name="Shape 14"/>
          <p:cNvSpPr/>
          <p:nvPr/>
        </p:nvSpPr>
        <p:spPr>
          <a:xfrm>
            <a:off x="6300216" y="1737360"/>
            <a:ext cx="548640" cy="548640"/>
          </a:xfrm>
          <a:prstGeom prst="ellipse">
            <a:avLst/>
          </a:prstGeom>
          <a:solidFill>
            <a:srgbClr val="86BC25"/>
          </a:solidFill>
          <a:ln/>
        </p:spPr>
      </p:sp>
      <p:sp>
        <p:nvSpPr>
          <p:cNvPr id="17" name="Text 15"/>
          <p:cNvSpPr/>
          <p:nvPr/>
        </p:nvSpPr>
        <p:spPr>
          <a:xfrm>
            <a:off x="6300216" y="1737360"/>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G</a:t>
            </a:r>
            <a:endParaRPr lang="en-US" sz="2400" dirty="0"/>
          </a:p>
        </p:txBody>
      </p:sp>
      <p:sp>
        <p:nvSpPr>
          <p:cNvPr id="18" name="Text 16"/>
          <p:cNvSpPr/>
          <p:nvPr/>
        </p:nvSpPr>
        <p:spPr>
          <a:xfrm>
            <a:off x="6986016" y="1847088"/>
            <a:ext cx="1645920" cy="320040"/>
          </a:xfrm>
          <a:prstGeom prst="rect">
            <a:avLst/>
          </a:prstGeom>
          <a:noFill/>
          <a:ln/>
        </p:spPr>
        <p:txBody>
          <a:bodyPr wrap="square" lIns="0" tIns="0" rIns="0" bIns="0" rtlCol="0" anchor="ctr"/>
          <a:lstStyle/>
          <a:p>
            <a:pPr indent="0" marL="0">
              <a:buNone/>
            </a:pPr>
            <a:r>
              <a:rPr lang="en-US" sz="1500" b="1" dirty="0">
                <a:solidFill>
                  <a:srgbClr val="26282A"/>
                </a:solidFill>
                <a:latin typeface="Calibri" pitchFamily="34" charset="0"/>
                <a:ea typeface="Calibri" pitchFamily="34" charset="-122"/>
                <a:cs typeface="Calibri" pitchFamily="34" charset="-120"/>
              </a:rPr>
              <a:t>Goal</a:t>
            </a:r>
            <a:endParaRPr lang="en-US" sz="1500" dirty="0"/>
          </a:p>
        </p:txBody>
      </p:sp>
      <p:sp>
        <p:nvSpPr>
          <p:cNvPr id="19" name="Text 17"/>
          <p:cNvSpPr/>
          <p:nvPr/>
        </p:nvSpPr>
        <p:spPr>
          <a:xfrm>
            <a:off x="6300216" y="2395728"/>
            <a:ext cx="2286000" cy="548640"/>
          </a:xfrm>
          <a:prstGeom prst="rect">
            <a:avLst/>
          </a:prstGeom>
          <a:noFill/>
          <a:ln/>
        </p:spPr>
        <p:txBody>
          <a:bodyPr wrap="square" lIns="0" tIns="0" rIns="0" bIns="0" rtlCol="0" anchor="ctr"/>
          <a:lstStyle/>
          <a:p>
            <a:pPr indent="0" marL="0">
              <a:buNone/>
            </a:pPr>
            <a:r>
              <a:rPr lang="en-US" sz="1150" dirty="0">
                <a:solidFill>
                  <a:srgbClr val="44474A"/>
                </a:solidFill>
                <a:latin typeface="Calibri" pitchFamily="34" charset="0"/>
                <a:ea typeface="Calibri" pitchFamily="34" charset="-122"/>
                <a:cs typeface="Calibri" pitchFamily="34" charset="-120"/>
              </a:rPr>
              <a:t>The outcome / success criteria</a:t>
            </a:r>
            <a:endParaRPr lang="en-US" sz="1150" dirty="0"/>
          </a:p>
        </p:txBody>
      </p:sp>
      <p:sp>
        <p:nvSpPr>
          <p:cNvPr id="20" name="Shape 18"/>
          <p:cNvSpPr/>
          <p:nvPr/>
        </p:nvSpPr>
        <p:spPr>
          <a:xfrm>
            <a:off x="457200" y="3246120"/>
            <a:ext cx="8229600" cy="1051560"/>
          </a:xfrm>
          <a:prstGeom prst="roundRect">
            <a:avLst>
              <a:gd name="adj" fmla="val 6957"/>
            </a:avLst>
          </a:prstGeom>
          <a:solidFill>
            <a:srgbClr val="F4F5F6"/>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21" name="Text 19"/>
          <p:cNvSpPr/>
          <p:nvPr/>
        </p:nvSpPr>
        <p:spPr>
          <a:xfrm>
            <a:off x="685800" y="3346704"/>
            <a:ext cx="3657600" cy="228600"/>
          </a:xfrm>
          <a:prstGeom prst="rect">
            <a:avLst/>
          </a:prstGeom>
          <a:noFill/>
          <a:ln/>
        </p:spPr>
        <p:txBody>
          <a:bodyPr wrap="square" lIns="0" tIns="0" rIns="0" bIns="0" rtlCol="0" anchor="ctr"/>
          <a:lstStyle/>
          <a:p>
            <a:pPr indent="0" marL="0">
              <a:buNone/>
            </a:pPr>
            <a:r>
              <a:rPr lang="en-US" sz="1000" b="1" spc="100" kern="0" dirty="0">
                <a:solidFill>
                  <a:srgbClr val="5C8A1B"/>
                </a:solidFill>
                <a:latin typeface="Calibri" pitchFamily="34" charset="0"/>
                <a:ea typeface="Calibri" pitchFamily="34" charset="-122"/>
                <a:cs typeface="Calibri" pitchFamily="34" charset="-120"/>
              </a:rPr>
              <a:t>EXAMPLE</a:t>
            </a:r>
            <a:endParaRPr lang="en-US" sz="1000" dirty="0"/>
          </a:p>
        </p:txBody>
      </p:sp>
      <p:sp>
        <p:nvSpPr>
          <p:cNvPr id="22" name="Text 20"/>
          <p:cNvSpPr/>
          <p:nvPr/>
        </p:nvSpPr>
        <p:spPr>
          <a:xfrm>
            <a:off x="685800" y="3584448"/>
            <a:ext cx="7772400" cy="640080"/>
          </a:xfrm>
          <a:prstGeom prst="rect">
            <a:avLst/>
          </a:prstGeom>
          <a:noFill/>
          <a:ln/>
        </p:spPr>
        <p:txBody>
          <a:bodyPr wrap="square" lIns="0" tIns="0" rIns="0" bIns="0" rtlCol="0" anchor="ctr"/>
          <a:lstStyle/>
          <a:p>
            <a:pPr indent="0" marL="0">
              <a:buNone/>
            </a:pPr>
            <a:r>
              <a:rPr lang="en-US" sz="1250" b="1" dirty="0">
                <a:solidFill>
                  <a:srgbClr val="26282A"/>
                </a:solidFill>
                <a:latin typeface="Calibri" pitchFamily="34" charset="0"/>
                <a:ea typeface="Calibri" pitchFamily="34" charset="-122"/>
                <a:cs typeface="Calibri" pitchFamily="34" charset="-120"/>
              </a:rPr>
              <a:t>Task: </a:t>
            </a:r>
            <a:pPr indent="0" marL="0">
              <a:buNone/>
            </a:pPr>
            <a:r>
              <a:rPr lang="en-US" sz="1250" dirty="0">
                <a:solidFill>
                  <a:srgbClr val="26282A"/>
                </a:solidFill>
                <a:latin typeface="Calibri" pitchFamily="34" charset="0"/>
                <a:ea typeface="Calibri" pitchFamily="34" charset="-122"/>
                <a:cs typeface="Calibri" pitchFamily="34" charset="-120"/>
              </a:rPr>
              <a:t>You are a machine-learning instructor for beginners.  </a:t>
            </a:r>
            <a:pPr indent="0" marL="0">
              <a:buNone/>
            </a:pPr>
            <a:r>
              <a:rPr lang="en-US" sz="1250" b="1" dirty="0">
                <a:solidFill>
                  <a:srgbClr val="26282A"/>
                </a:solidFill>
                <a:latin typeface="Calibri" pitchFamily="34" charset="0"/>
                <a:ea typeface="Calibri" pitchFamily="34" charset="-122"/>
                <a:cs typeface="Calibri" pitchFamily="34" charset="-120"/>
              </a:rPr>
              <a:t>Action: </a:t>
            </a:r>
            <a:pPr indent="0" marL="0">
              <a:buNone/>
            </a:pPr>
            <a:r>
              <a:rPr lang="en-US" sz="1250" dirty="0">
                <a:solidFill>
                  <a:srgbClr val="26282A"/>
                </a:solidFill>
                <a:latin typeface="Calibri" pitchFamily="34" charset="0"/>
                <a:ea typeface="Calibri" pitchFamily="34" charset="-122"/>
                <a:cs typeface="Calibri" pitchFamily="34" charset="-120"/>
              </a:rPr>
              <a:t>Explain neural networks using a real-world analogy.  </a:t>
            </a:r>
            <a:pPr indent="0" marL="0">
              <a:buNone/>
            </a:pPr>
            <a:r>
              <a:rPr lang="en-US" sz="1250" b="1" dirty="0">
                <a:solidFill>
                  <a:srgbClr val="26282A"/>
                </a:solidFill>
                <a:latin typeface="Calibri" pitchFamily="34" charset="0"/>
                <a:ea typeface="Calibri" pitchFamily="34" charset="-122"/>
                <a:cs typeface="Calibri" pitchFamily="34" charset="-120"/>
              </a:rPr>
              <a:t>Goal: </a:t>
            </a:r>
            <a:pPr indent="0" marL="0">
              <a:buNone/>
            </a:pPr>
            <a:r>
              <a:rPr lang="en-US" sz="1250" dirty="0">
                <a:solidFill>
                  <a:srgbClr val="26282A"/>
                </a:solidFill>
                <a:latin typeface="Calibri" pitchFamily="34" charset="0"/>
                <a:ea typeface="Calibri" pitchFamily="34" charset="-122"/>
                <a:cs typeface="Calibri" pitchFamily="34" charset="-120"/>
              </a:rPr>
              <a:t>Keep it under 300 words, no maths.</a:t>
            </a:r>
            <a:endParaRPr lang="en-US" sz="1250" dirty="0"/>
          </a:p>
        </p:txBody>
      </p:sp>
      <p:sp>
        <p:nvSpPr>
          <p:cNvPr id="23" name="Text 21"/>
          <p:cNvSpPr/>
          <p:nvPr/>
        </p:nvSpPr>
        <p:spPr>
          <a:xfrm>
            <a:off x="457200" y="4873752"/>
            <a:ext cx="5486400" cy="228600"/>
          </a:xfrm>
          <a:prstGeom prst="rect">
            <a:avLst/>
          </a:prstGeom>
          <a:noFill/>
          <a:ln/>
        </p:spPr>
        <p:txBody>
          <a:bodyPr wrap="square" lIns="0" tIns="0" rIns="0" bIns="0" rtlCol="0" anchor="ctr"/>
          <a:lstStyle/>
          <a:p>
            <a:pPr indent="0" marL="0">
              <a:buNone/>
            </a:pPr>
            <a:r>
              <a:rPr lang="en-US" sz="800" dirty="0">
                <a:solidFill>
                  <a:srgbClr val="7A7D81"/>
                </a:solidFill>
                <a:latin typeface="Calibri" pitchFamily="34" charset="0"/>
                <a:ea typeface="Calibri" pitchFamily="34" charset="-122"/>
                <a:cs typeface="Calibri" pitchFamily="34" charset="-120"/>
              </a:rPr>
              <a:t>Basics of AI/ML &amp; Prompt Engineering</a:t>
            </a:r>
            <a:endParaRPr lang="en-US" sz="800" dirty="0"/>
          </a:p>
        </p:txBody>
      </p:sp>
      <p:sp>
        <p:nvSpPr>
          <p:cNvPr id="24" name="Text 22"/>
          <p:cNvSpPr/>
          <p:nvPr/>
        </p:nvSpPr>
        <p:spPr>
          <a:xfrm>
            <a:off x="8321040" y="4873752"/>
            <a:ext cx="365760" cy="228600"/>
          </a:xfrm>
          <a:prstGeom prst="rect">
            <a:avLst/>
          </a:prstGeom>
          <a:noFill/>
          <a:ln/>
        </p:spPr>
        <p:txBody>
          <a:bodyPr wrap="square" lIns="0" tIns="0" rIns="0" bIns="0" rtlCol="0" anchor="ctr"/>
          <a:lstStyle/>
          <a:p>
            <a:pPr algn="r" indent="0" marL="0">
              <a:buNone/>
            </a:pPr>
            <a:r>
              <a:rPr lang="en-US" sz="800" dirty="0">
                <a:solidFill>
                  <a:srgbClr val="7A7D81"/>
                </a:solidFill>
                <a:latin typeface="Calibri" pitchFamily="34" charset="0"/>
                <a:ea typeface="Calibri" pitchFamily="34" charset="-122"/>
                <a:cs typeface="Calibri" pitchFamily="34" charset="-120"/>
              </a:rPr>
              <a:t>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02336"/>
            <a:ext cx="109728" cy="109728"/>
          </a:xfrm>
          <a:prstGeom prst="ellipse">
            <a:avLst/>
          </a:prstGeom>
          <a:solidFill>
            <a:srgbClr val="86BC25"/>
          </a:solidFill>
          <a:ln/>
        </p:spPr>
      </p:sp>
      <p:sp>
        <p:nvSpPr>
          <p:cNvPr id="3" name="Text 1"/>
          <p:cNvSpPr/>
          <p:nvPr/>
        </p:nvSpPr>
        <p:spPr>
          <a:xfrm>
            <a:off x="658368" y="329184"/>
            <a:ext cx="7955280" cy="256032"/>
          </a:xfrm>
          <a:prstGeom prst="rect">
            <a:avLst/>
          </a:prstGeom>
          <a:noFill/>
          <a:ln/>
        </p:spPr>
        <p:txBody>
          <a:bodyPr wrap="square" lIns="0" tIns="0" rIns="0" bIns="0" rtlCol="0" anchor="ctr"/>
          <a:lstStyle/>
          <a:p>
            <a:pPr indent="0" marL="0">
              <a:buNone/>
            </a:pPr>
            <a:r>
              <a:rPr lang="en-US" sz="1100" b="1" spc="200" kern="0" dirty="0">
                <a:solidFill>
                  <a:srgbClr val="5C8A1B"/>
                </a:solidFill>
                <a:latin typeface="Calibri" pitchFamily="34" charset="0"/>
                <a:ea typeface="Calibri" pitchFamily="34" charset="-122"/>
                <a:cs typeface="Calibri" pitchFamily="34" charset="-120"/>
              </a:rPr>
              <a:t>MODULE 4 · FRAMEWORK 2 OF 3</a:t>
            </a:r>
            <a:endParaRPr lang="en-US" sz="1100" dirty="0"/>
          </a:p>
        </p:txBody>
      </p:sp>
      <p:sp>
        <p:nvSpPr>
          <p:cNvPr id="4" name="Text 2"/>
          <p:cNvSpPr/>
          <p:nvPr/>
        </p:nvSpPr>
        <p:spPr>
          <a:xfrm>
            <a:off x="457200" y="603504"/>
            <a:ext cx="8229600" cy="640080"/>
          </a:xfrm>
          <a:prstGeom prst="rect">
            <a:avLst/>
          </a:prstGeom>
          <a:noFill/>
          <a:ln/>
        </p:spPr>
        <p:txBody>
          <a:bodyPr wrap="square" lIns="0" tIns="0" rIns="0" bIns="0" rtlCol="0" anchor="ctr"/>
          <a:lstStyle/>
          <a:p>
            <a:pPr indent="0" marL="0">
              <a:buNone/>
            </a:pPr>
            <a:r>
              <a:rPr lang="en-US" sz="2900" b="1" dirty="0">
                <a:solidFill>
                  <a:srgbClr val="26282A"/>
                </a:solidFill>
                <a:latin typeface="Cambria" pitchFamily="34" charset="0"/>
                <a:ea typeface="Cambria" pitchFamily="34" charset="-122"/>
                <a:cs typeface="Cambria" pitchFamily="34" charset="-120"/>
              </a:rPr>
              <a:t>RACE — for specialist, expert output</a:t>
            </a:r>
            <a:endParaRPr lang="en-US" sz="2900" dirty="0"/>
          </a:p>
        </p:txBody>
      </p:sp>
      <p:sp>
        <p:nvSpPr>
          <p:cNvPr id="5" name="Shape 3"/>
          <p:cNvSpPr/>
          <p:nvPr/>
        </p:nvSpPr>
        <p:spPr>
          <a:xfrm>
            <a:off x="457200" y="1554480"/>
            <a:ext cx="2011680" cy="1600200"/>
          </a:xfrm>
          <a:prstGeom prst="roundRect">
            <a:avLst>
              <a:gd name="adj" fmla="val 4571"/>
            </a:avLst>
          </a:prstGeom>
          <a:solidFill>
            <a:srgbClr val="F4F5F6"/>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6" name="Shape 4"/>
          <p:cNvSpPr/>
          <p:nvPr/>
        </p:nvSpPr>
        <p:spPr>
          <a:xfrm>
            <a:off x="1188720" y="1719072"/>
            <a:ext cx="548640" cy="548640"/>
          </a:xfrm>
          <a:prstGeom prst="ellipse">
            <a:avLst/>
          </a:prstGeom>
          <a:solidFill>
            <a:srgbClr val="86BC25"/>
          </a:solidFill>
          <a:ln/>
        </p:spPr>
      </p:sp>
      <p:sp>
        <p:nvSpPr>
          <p:cNvPr id="7" name="Text 5"/>
          <p:cNvSpPr/>
          <p:nvPr/>
        </p:nvSpPr>
        <p:spPr>
          <a:xfrm>
            <a:off x="1188720" y="1719072"/>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R</a:t>
            </a:r>
            <a:endParaRPr lang="en-US" sz="2200" dirty="0"/>
          </a:p>
        </p:txBody>
      </p:sp>
      <p:sp>
        <p:nvSpPr>
          <p:cNvPr id="8" name="Text 6"/>
          <p:cNvSpPr/>
          <p:nvPr/>
        </p:nvSpPr>
        <p:spPr>
          <a:xfrm>
            <a:off x="548640" y="2331720"/>
            <a:ext cx="1828800" cy="274320"/>
          </a:xfrm>
          <a:prstGeom prst="rect">
            <a:avLst/>
          </a:prstGeom>
          <a:noFill/>
          <a:ln/>
        </p:spPr>
        <p:txBody>
          <a:bodyPr wrap="square" lIns="0" tIns="0" rIns="0" bIns="0" rtlCol="0" anchor="ctr"/>
          <a:lstStyle/>
          <a:p>
            <a:pPr algn="ctr" indent="0" marL="0">
              <a:buNone/>
            </a:pPr>
            <a:r>
              <a:rPr lang="en-US" sz="1350" b="1" dirty="0">
                <a:solidFill>
                  <a:srgbClr val="26282A"/>
                </a:solidFill>
                <a:latin typeface="Calibri" pitchFamily="34" charset="0"/>
                <a:ea typeface="Calibri" pitchFamily="34" charset="-122"/>
                <a:cs typeface="Calibri" pitchFamily="34" charset="-120"/>
              </a:rPr>
              <a:t>Role</a:t>
            </a:r>
            <a:endParaRPr lang="en-US" sz="1350" dirty="0"/>
          </a:p>
        </p:txBody>
      </p:sp>
      <p:sp>
        <p:nvSpPr>
          <p:cNvPr id="9" name="Text 7"/>
          <p:cNvSpPr/>
          <p:nvPr/>
        </p:nvSpPr>
        <p:spPr>
          <a:xfrm>
            <a:off x="548640" y="2615184"/>
            <a:ext cx="1828800" cy="502920"/>
          </a:xfrm>
          <a:prstGeom prst="rect">
            <a:avLst/>
          </a:prstGeom>
          <a:noFill/>
          <a:ln/>
        </p:spPr>
        <p:txBody>
          <a:bodyPr wrap="square" lIns="0" tIns="0" rIns="0" bIns="0" rtlCol="0" anchor="ctr"/>
          <a:lstStyle/>
          <a:p>
            <a:pPr algn="ctr" indent="0" marL="0">
              <a:buNone/>
            </a:pPr>
            <a:r>
              <a:rPr lang="en-US" sz="1050" dirty="0">
                <a:solidFill>
                  <a:srgbClr val="44474A"/>
                </a:solidFill>
                <a:latin typeface="Calibri" pitchFamily="34" charset="0"/>
                <a:ea typeface="Calibri" pitchFamily="34" charset="-122"/>
                <a:cs typeface="Calibri" pitchFamily="34" charset="-120"/>
              </a:rPr>
              <a:t>Who the AI should be</a:t>
            </a:r>
            <a:endParaRPr lang="en-US" sz="1050" dirty="0"/>
          </a:p>
        </p:txBody>
      </p:sp>
      <p:sp>
        <p:nvSpPr>
          <p:cNvPr id="10" name="Shape 8"/>
          <p:cNvSpPr/>
          <p:nvPr/>
        </p:nvSpPr>
        <p:spPr>
          <a:xfrm>
            <a:off x="2542032" y="1554480"/>
            <a:ext cx="2011680" cy="1600200"/>
          </a:xfrm>
          <a:prstGeom prst="roundRect">
            <a:avLst>
              <a:gd name="adj" fmla="val 4571"/>
            </a:avLst>
          </a:prstGeom>
          <a:solidFill>
            <a:srgbClr val="F4F5F6"/>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11" name="Shape 9"/>
          <p:cNvSpPr/>
          <p:nvPr/>
        </p:nvSpPr>
        <p:spPr>
          <a:xfrm>
            <a:off x="3273552" y="1719072"/>
            <a:ext cx="548640" cy="548640"/>
          </a:xfrm>
          <a:prstGeom prst="ellipse">
            <a:avLst/>
          </a:prstGeom>
          <a:solidFill>
            <a:srgbClr val="86BC25"/>
          </a:solidFill>
          <a:ln/>
        </p:spPr>
      </p:sp>
      <p:sp>
        <p:nvSpPr>
          <p:cNvPr id="12" name="Text 10"/>
          <p:cNvSpPr/>
          <p:nvPr/>
        </p:nvSpPr>
        <p:spPr>
          <a:xfrm>
            <a:off x="3273552" y="1719072"/>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a:t>
            </a:r>
            <a:endParaRPr lang="en-US" sz="2200" dirty="0"/>
          </a:p>
        </p:txBody>
      </p:sp>
      <p:sp>
        <p:nvSpPr>
          <p:cNvPr id="13" name="Text 11"/>
          <p:cNvSpPr/>
          <p:nvPr/>
        </p:nvSpPr>
        <p:spPr>
          <a:xfrm>
            <a:off x="2633472" y="2331720"/>
            <a:ext cx="1828800" cy="274320"/>
          </a:xfrm>
          <a:prstGeom prst="rect">
            <a:avLst/>
          </a:prstGeom>
          <a:noFill/>
          <a:ln/>
        </p:spPr>
        <p:txBody>
          <a:bodyPr wrap="square" lIns="0" tIns="0" rIns="0" bIns="0" rtlCol="0" anchor="ctr"/>
          <a:lstStyle/>
          <a:p>
            <a:pPr algn="ctr" indent="0" marL="0">
              <a:buNone/>
            </a:pPr>
            <a:r>
              <a:rPr lang="en-US" sz="1350" b="1" dirty="0">
                <a:solidFill>
                  <a:srgbClr val="26282A"/>
                </a:solidFill>
                <a:latin typeface="Calibri" pitchFamily="34" charset="0"/>
                <a:ea typeface="Calibri" pitchFamily="34" charset="-122"/>
                <a:cs typeface="Calibri" pitchFamily="34" charset="-120"/>
              </a:rPr>
              <a:t>Action</a:t>
            </a:r>
            <a:endParaRPr lang="en-US" sz="1350" dirty="0"/>
          </a:p>
        </p:txBody>
      </p:sp>
      <p:sp>
        <p:nvSpPr>
          <p:cNvPr id="14" name="Text 12"/>
          <p:cNvSpPr/>
          <p:nvPr/>
        </p:nvSpPr>
        <p:spPr>
          <a:xfrm>
            <a:off x="2633472" y="2615184"/>
            <a:ext cx="1828800" cy="502920"/>
          </a:xfrm>
          <a:prstGeom prst="rect">
            <a:avLst/>
          </a:prstGeom>
          <a:noFill/>
          <a:ln/>
        </p:spPr>
        <p:txBody>
          <a:bodyPr wrap="square" lIns="0" tIns="0" rIns="0" bIns="0" rtlCol="0" anchor="ctr"/>
          <a:lstStyle/>
          <a:p>
            <a:pPr algn="ctr" indent="0" marL="0">
              <a:buNone/>
            </a:pPr>
            <a:r>
              <a:rPr lang="en-US" sz="1050" dirty="0">
                <a:solidFill>
                  <a:srgbClr val="44474A"/>
                </a:solidFill>
                <a:latin typeface="Calibri" pitchFamily="34" charset="0"/>
                <a:ea typeface="Calibri" pitchFamily="34" charset="-122"/>
                <a:cs typeface="Calibri" pitchFamily="34" charset="-120"/>
              </a:rPr>
              <a:t>The specific task / verb</a:t>
            </a:r>
            <a:endParaRPr lang="en-US" sz="1050" dirty="0"/>
          </a:p>
        </p:txBody>
      </p:sp>
      <p:sp>
        <p:nvSpPr>
          <p:cNvPr id="15" name="Shape 13"/>
          <p:cNvSpPr/>
          <p:nvPr/>
        </p:nvSpPr>
        <p:spPr>
          <a:xfrm>
            <a:off x="4626864" y="1554480"/>
            <a:ext cx="2011680" cy="1600200"/>
          </a:xfrm>
          <a:prstGeom prst="roundRect">
            <a:avLst>
              <a:gd name="adj" fmla="val 4571"/>
            </a:avLst>
          </a:prstGeom>
          <a:solidFill>
            <a:srgbClr val="F4F5F6"/>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16" name="Shape 14"/>
          <p:cNvSpPr/>
          <p:nvPr/>
        </p:nvSpPr>
        <p:spPr>
          <a:xfrm>
            <a:off x="5358384" y="1719072"/>
            <a:ext cx="548640" cy="548640"/>
          </a:xfrm>
          <a:prstGeom prst="ellipse">
            <a:avLst/>
          </a:prstGeom>
          <a:solidFill>
            <a:srgbClr val="86BC25"/>
          </a:solidFill>
          <a:ln/>
        </p:spPr>
      </p:sp>
      <p:sp>
        <p:nvSpPr>
          <p:cNvPr id="17" name="Text 15"/>
          <p:cNvSpPr/>
          <p:nvPr/>
        </p:nvSpPr>
        <p:spPr>
          <a:xfrm>
            <a:off x="5358384" y="1719072"/>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C</a:t>
            </a:r>
            <a:endParaRPr lang="en-US" sz="2200" dirty="0"/>
          </a:p>
        </p:txBody>
      </p:sp>
      <p:sp>
        <p:nvSpPr>
          <p:cNvPr id="18" name="Text 16"/>
          <p:cNvSpPr/>
          <p:nvPr/>
        </p:nvSpPr>
        <p:spPr>
          <a:xfrm>
            <a:off x="4718304" y="2331720"/>
            <a:ext cx="1828800" cy="274320"/>
          </a:xfrm>
          <a:prstGeom prst="rect">
            <a:avLst/>
          </a:prstGeom>
          <a:noFill/>
          <a:ln/>
        </p:spPr>
        <p:txBody>
          <a:bodyPr wrap="square" lIns="0" tIns="0" rIns="0" bIns="0" rtlCol="0" anchor="ctr"/>
          <a:lstStyle/>
          <a:p>
            <a:pPr algn="ctr" indent="0" marL="0">
              <a:buNone/>
            </a:pPr>
            <a:r>
              <a:rPr lang="en-US" sz="1350" b="1" dirty="0">
                <a:solidFill>
                  <a:srgbClr val="26282A"/>
                </a:solidFill>
                <a:latin typeface="Calibri" pitchFamily="34" charset="0"/>
                <a:ea typeface="Calibri" pitchFamily="34" charset="-122"/>
                <a:cs typeface="Calibri" pitchFamily="34" charset="-120"/>
              </a:rPr>
              <a:t>Context</a:t>
            </a:r>
            <a:endParaRPr lang="en-US" sz="1350" dirty="0"/>
          </a:p>
        </p:txBody>
      </p:sp>
      <p:sp>
        <p:nvSpPr>
          <p:cNvPr id="19" name="Text 17"/>
          <p:cNvSpPr/>
          <p:nvPr/>
        </p:nvSpPr>
        <p:spPr>
          <a:xfrm>
            <a:off x="4718304" y="2615184"/>
            <a:ext cx="1828800" cy="502920"/>
          </a:xfrm>
          <a:prstGeom prst="rect">
            <a:avLst/>
          </a:prstGeom>
          <a:noFill/>
          <a:ln/>
        </p:spPr>
        <p:txBody>
          <a:bodyPr wrap="square" lIns="0" tIns="0" rIns="0" bIns="0" rtlCol="0" anchor="ctr"/>
          <a:lstStyle/>
          <a:p>
            <a:pPr algn="ctr" indent="0" marL="0">
              <a:buNone/>
            </a:pPr>
            <a:r>
              <a:rPr lang="en-US" sz="1050" dirty="0">
                <a:solidFill>
                  <a:srgbClr val="44474A"/>
                </a:solidFill>
                <a:latin typeface="Calibri" pitchFamily="34" charset="0"/>
                <a:ea typeface="Calibri" pitchFamily="34" charset="-122"/>
                <a:cs typeface="Calibri" pitchFamily="34" charset="-120"/>
              </a:rPr>
              <a:t>Background &amp; audience</a:t>
            </a:r>
            <a:endParaRPr lang="en-US" sz="1050" dirty="0"/>
          </a:p>
        </p:txBody>
      </p:sp>
      <p:sp>
        <p:nvSpPr>
          <p:cNvPr id="20" name="Shape 18"/>
          <p:cNvSpPr/>
          <p:nvPr/>
        </p:nvSpPr>
        <p:spPr>
          <a:xfrm>
            <a:off x="6711696" y="1554480"/>
            <a:ext cx="2011680" cy="1600200"/>
          </a:xfrm>
          <a:prstGeom prst="roundRect">
            <a:avLst>
              <a:gd name="adj" fmla="val 4571"/>
            </a:avLst>
          </a:prstGeom>
          <a:solidFill>
            <a:srgbClr val="F4F5F6"/>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21" name="Shape 19"/>
          <p:cNvSpPr/>
          <p:nvPr/>
        </p:nvSpPr>
        <p:spPr>
          <a:xfrm>
            <a:off x="7443216" y="1719072"/>
            <a:ext cx="548640" cy="548640"/>
          </a:xfrm>
          <a:prstGeom prst="ellipse">
            <a:avLst/>
          </a:prstGeom>
          <a:solidFill>
            <a:srgbClr val="86BC25"/>
          </a:solidFill>
          <a:ln/>
        </p:spPr>
      </p:sp>
      <p:sp>
        <p:nvSpPr>
          <p:cNvPr id="22" name="Text 20"/>
          <p:cNvSpPr/>
          <p:nvPr/>
        </p:nvSpPr>
        <p:spPr>
          <a:xfrm>
            <a:off x="7443216" y="1719072"/>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E</a:t>
            </a:r>
            <a:endParaRPr lang="en-US" sz="2200" dirty="0"/>
          </a:p>
        </p:txBody>
      </p:sp>
      <p:sp>
        <p:nvSpPr>
          <p:cNvPr id="23" name="Text 21"/>
          <p:cNvSpPr/>
          <p:nvPr/>
        </p:nvSpPr>
        <p:spPr>
          <a:xfrm>
            <a:off x="6803136" y="2331720"/>
            <a:ext cx="1828800" cy="274320"/>
          </a:xfrm>
          <a:prstGeom prst="rect">
            <a:avLst/>
          </a:prstGeom>
          <a:noFill/>
          <a:ln/>
        </p:spPr>
        <p:txBody>
          <a:bodyPr wrap="square" lIns="0" tIns="0" rIns="0" bIns="0" rtlCol="0" anchor="ctr"/>
          <a:lstStyle/>
          <a:p>
            <a:pPr algn="ctr" indent="0" marL="0">
              <a:buNone/>
            </a:pPr>
            <a:r>
              <a:rPr lang="en-US" sz="1350" b="1" dirty="0">
                <a:solidFill>
                  <a:srgbClr val="26282A"/>
                </a:solidFill>
                <a:latin typeface="Calibri" pitchFamily="34" charset="0"/>
                <a:ea typeface="Calibri" pitchFamily="34" charset="-122"/>
                <a:cs typeface="Calibri" pitchFamily="34" charset="-120"/>
              </a:rPr>
              <a:t>Expectations</a:t>
            </a:r>
            <a:endParaRPr lang="en-US" sz="1350" dirty="0"/>
          </a:p>
        </p:txBody>
      </p:sp>
      <p:sp>
        <p:nvSpPr>
          <p:cNvPr id="24" name="Text 22"/>
          <p:cNvSpPr/>
          <p:nvPr/>
        </p:nvSpPr>
        <p:spPr>
          <a:xfrm>
            <a:off x="6803136" y="2615184"/>
            <a:ext cx="1828800" cy="502920"/>
          </a:xfrm>
          <a:prstGeom prst="rect">
            <a:avLst/>
          </a:prstGeom>
          <a:noFill/>
          <a:ln/>
        </p:spPr>
        <p:txBody>
          <a:bodyPr wrap="square" lIns="0" tIns="0" rIns="0" bIns="0" rtlCol="0" anchor="ctr"/>
          <a:lstStyle/>
          <a:p>
            <a:pPr algn="ctr" indent="0" marL="0">
              <a:buNone/>
            </a:pPr>
            <a:r>
              <a:rPr lang="en-US" sz="1050" dirty="0">
                <a:solidFill>
                  <a:srgbClr val="44474A"/>
                </a:solidFill>
                <a:latin typeface="Calibri" pitchFamily="34" charset="0"/>
                <a:ea typeface="Calibri" pitchFamily="34" charset="-122"/>
                <a:cs typeface="Calibri" pitchFamily="34" charset="-120"/>
              </a:rPr>
              <a:t>Format &amp; quality bar</a:t>
            </a:r>
            <a:endParaRPr lang="en-US" sz="1050" dirty="0"/>
          </a:p>
        </p:txBody>
      </p:sp>
      <p:sp>
        <p:nvSpPr>
          <p:cNvPr id="25" name="Shape 23"/>
          <p:cNvSpPr/>
          <p:nvPr/>
        </p:nvSpPr>
        <p:spPr>
          <a:xfrm>
            <a:off x="457200" y="3291840"/>
            <a:ext cx="8229600" cy="1005840"/>
          </a:xfrm>
          <a:prstGeom prst="roundRect">
            <a:avLst>
              <a:gd name="adj" fmla="val 7273"/>
            </a:avLst>
          </a:prstGeom>
          <a:solidFill>
            <a:srgbClr val="F4F5F6"/>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26" name="Text 24"/>
          <p:cNvSpPr/>
          <p:nvPr/>
        </p:nvSpPr>
        <p:spPr>
          <a:xfrm>
            <a:off x="685800" y="3383280"/>
            <a:ext cx="3657600" cy="228600"/>
          </a:xfrm>
          <a:prstGeom prst="rect">
            <a:avLst/>
          </a:prstGeom>
          <a:noFill/>
          <a:ln/>
        </p:spPr>
        <p:txBody>
          <a:bodyPr wrap="square" lIns="0" tIns="0" rIns="0" bIns="0" rtlCol="0" anchor="ctr"/>
          <a:lstStyle/>
          <a:p>
            <a:pPr indent="0" marL="0">
              <a:buNone/>
            </a:pPr>
            <a:r>
              <a:rPr lang="en-US" sz="1000" b="1" spc="100" kern="0" dirty="0">
                <a:solidFill>
                  <a:srgbClr val="5C8A1B"/>
                </a:solidFill>
                <a:latin typeface="Calibri" pitchFamily="34" charset="0"/>
                <a:ea typeface="Calibri" pitchFamily="34" charset="-122"/>
                <a:cs typeface="Calibri" pitchFamily="34" charset="-120"/>
              </a:rPr>
              <a:t>EXAMPLE</a:t>
            </a:r>
            <a:endParaRPr lang="en-US" sz="1000" dirty="0"/>
          </a:p>
        </p:txBody>
      </p:sp>
      <p:sp>
        <p:nvSpPr>
          <p:cNvPr id="27" name="Text 25"/>
          <p:cNvSpPr/>
          <p:nvPr/>
        </p:nvSpPr>
        <p:spPr>
          <a:xfrm>
            <a:off x="685800" y="3611880"/>
            <a:ext cx="7772400" cy="594360"/>
          </a:xfrm>
          <a:prstGeom prst="rect">
            <a:avLst/>
          </a:prstGeom>
          <a:noFill/>
          <a:ln/>
        </p:spPr>
        <p:txBody>
          <a:bodyPr wrap="square" lIns="0" tIns="0" rIns="0" bIns="0" rtlCol="0" anchor="ctr"/>
          <a:lstStyle/>
          <a:p>
            <a:pPr indent="0" marL="0">
              <a:buNone/>
            </a:pPr>
            <a:r>
              <a:rPr lang="en-US" sz="1200" b="1" dirty="0">
                <a:solidFill>
                  <a:srgbClr val="26282A"/>
                </a:solidFill>
                <a:latin typeface="Calibri" pitchFamily="34" charset="0"/>
                <a:ea typeface="Calibri" pitchFamily="34" charset="-122"/>
                <a:cs typeface="Calibri" pitchFamily="34" charset="-120"/>
              </a:rPr>
              <a:t>Role: </a:t>
            </a:r>
            <a:pPr indent="0" marL="0">
              <a:buNone/>
            </a:pPr>
            <a:r>
              <a:rPr lang="en-US" sz="1200" dirty="0">
                <a:solidFill>
                  <a:srgbClr val="26282A"/>
                </a:solidFill>
                <a:latin typeface="Calibri" pitchFamily="34" charset="0"/>
                <a:ea typeface="Calibri" pitchFamily="34" charset="-122"/>
                <a:cs typeface="Calibri" pitchFamily="34" charset="-120"/>
              </a:rPr>
              <a:t>Act as a financial analyst.  </a:t>
            </a:r>
            <a:pPr indent="0" marL="0">
              <a:buNone/>
            </a:pPr>
            <a:r>
              <a:rPr lang="en-US" sz="1200" b="1" dirty="0">
                <a:solidFill>
                  <a:srgbClr val="26282A"/>
                </a:solidFill>
                <a:latin typeface="Calibri" pitchFamily="34" charset="0"/>
                <a:ea typeface="Calibri" pitchFamily="34" charset="-122"/>
                <a:cs typeface="Calibri" pitchFamily="34" charset="-120"/>
              </a:rPr>
              <a:t>Action: </a:t>
            </a:r>
            <a:pPr indent="0" marL="0">
              <a:buNone/>
            </a:pPr>
            <a:r>
              <a:rPr lang="en-US" sz="1200" dirty="0">
                <a:solidFill>
                  <a:srgbClr val="26282A"/>
                </a:solidFill>
                <a:latin typeface="Calibri" pitchFamily="34" charset="0"/>
                <a:ea typeface="Calibri" pitchFamily="34" charset="-122"/>
                <a:cs typeface="Calibri" pitchFamily="34" charset="-120"/>
              </a:rPr>
              <a:t>Summarise this quarterly report.  </a:t>
            </a:r>
            <a:pPr indent="0" marL="0">
              <a:buNone/>
            </a:pPr>
            <a:r>
              <a:rPr lang="en-US" sz="1200" b="1" dirty="0">
                <a:solidFill>
                  <a:srgbClr val="26282A"/>
                </a:solidFill>
                <a:latin typeface="Calibri" pitchFamily="34" charset="0"/>
                <a:ea typeface="Calibri" pitchFamily="34" charset="-122"/>
                <a:cs typeface="Calibri" pitchFamily="34" charset="-120"/>
              </a:rPr>
              <a:t>Context: </a:t>
            </a:r>
            <a:pPr indent="0" marL="0">
              <a:buNone/>
            </a:pPr>
            <a:r>
              <a:rPr lang="en-US" sz="1200" dirty="0">
                <a:solidFill>
                  <a:srgbClr val="26282A"/>
                </a:solidFill>
                <a:latin typeface="Calibri" pitchFamily="34" charset="0"/>
                <a:ea typeface="Calibri" pitchFamily="34" charset="-122"/>
                <a:cs typeface="Calibri" pitchFamily="34" charset="-120"/>
              </a:rPr>
              <a:t>For a busy partner, focus on risks.  </a:t>
            </a:r>
            <a:pPr indent="0" marL="0">
              <a:buNone/>
            </a:pPr>
            <a:r>
              <a:rPr lang="en-US" sz="1200" b="1" dirty="0">
                <a:solidFill>
                  <a:srgbClr val="26282A"/>
                </a:solidFill>
                <a:latin typeface="Calibri" pitchFamily="34" charset="0"/>
                <a:ea typeface="Calibri" pitchFamily="34" charset="-122"/>
                <a:cs typeface="Calibri" pitchFamily="34" charset="-120"/>
              </a:rPr>
              <a:t>Expectations: </a:t>
            </a:r>
            <a:pPr indent="0" marL="0">
              <a:buNone/>
            </a:pPr>
            <a:r>
              <a:rPr lang="en-US" sz="1200" dirty="0">
                <a:solidFill>
                  <a:srgbClr val="26282A"/>
                </a:solidFill>
                <a:latin typeface="Calibri" pitchFamily="34" charset="0"/>
                <a:ea typeface="Calibri" pitchFamily="34" charset="-122"/>
                <a:cs typeface="Calibri" pitchFamily="34" charset="-120"/>
              </a:rPr>
              <a:t>5 bullets, plain English.</a:t>
            </a:r>
            <a:endParaRPr lang="en-US" sz="1200" dirty="0"/>
          </a:p>
        </p:txBody>
      </p:sp>
      <p:sp>
        <p:nvSpPr>
          <p:cNvPr id="28" name="Text 26"/>
          <p:cNvSpPr/>
          <p:nvPr/>
        </p:nvSpPr>
        <p:spPr>
          <a:xfrm>
            <a:off x="457200" y="4873752"/>
            <a:ext cx="5486400" cy="228600"/>
          </a:xfrm>
          <a:prstGeom prst="rect">
            <a:avLst/>
          </a:prstGeom>
          <a:noFill/>
          <a:ln/>
        </p:spPr>
        <p:txBody>
          <a:bodyPr wrap="square" lIns="0" tIns="0" rIns="0" bIns="0" rtlCol="0" anchor="ctr"/>
          <a:lstStyle/>
          <a:p>
            <a:pPr indent="0" marL="0">
              <a:buNone/>
            </a:pPr>
            <a:r>
              <a:rPr lang="en-US" sz="800" dirty="0">
                <a:solidFill>
                  <a:srgbClr val="7A7D81"/>
                </a:solidFill>
                <a:latin typeface="Calibri" pitchFamily="34" charset="0"/>
                <a:ea typeface="Calibri" pitchFamily="34" charset="-122"/>
                <a:cs typeface="Calibri" pitchFamily="34" charset="-120"/>
              </a:rPr>
              <a:t>Basics of AI/ML &amp; Prompt Engineering</a:t>
            </a:r>
            <a:endParaRPr lang="en-US" sz="800" dirty="0"/>
          </a:p>
        </p:txBody>
      </p:sp>
      <p:sp>
        <p:nvSpPr>
          <p:cNvPr id="29" name="Text 27"/>
          <p:cNvSpPr/>
          <p:nvPr/>
        </p:nvSpPr>
        <p:spPr>
          <a:xfrm>
            <a:off x="8321040" y="4873752"/>
            <a:ext cx="365760" cy="228600"/>
          </a:xfrm>
          <a:prstGeom prst="rect">
            <a:avLst/>
          </a:prstGeom>
          <a:noFill/>
          <a:ln/>
        </p:spPr>
        <p:txBody>
          <a:bodyPr wrap="square" lIns="0" tIns="0" rIns="0" bIns="0" rtlCol="0" anchor="ctr"/>
          <a:lstStyle/>
          <a:p>
            <a:pPr algn="r" indent="0" marL="0">
              <a:buNone/>
            </a:pPr>
            <a:r>
              <a:rPr lang="en-US" sz="800" dirty="0">
                <a:solidFill>
                  <a:srgbClr val="7A7D81"/>
                </a:solidFill>
                <a:latin typeface="Calibri" pitchFamily="34" charset="0"/>
                <a:ea typeface="Calibri" pitchFamily="34" charset="-122"/>
                <a:cs typeface="Calibri" pitchFamily="34" charset="-120"/>
              </a:rPr>
              <a:t>15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02336"/>
            <a:ext cx="109728" cy="109728"/>
          </a:xfrm>
          <a:prstGeom prst="ellipse">
            <a:avLst/>
          </a:prstGeom>
          <a:solidFill>
            <a:srgbClr val="86BC25"/>
          </a:solidFill>
          <a:ln/>
        </p:spPr>
      </p:sp>
      <p:sp>
        <p:nvSpPr>
          <p:cNvPr id="3" name="Text 1"/>
          <p:cNvSpPr/>
          <p:nvPr/>
        </p:nvSpPr>
        <p:spPr>
          <a:xfrm>
            <a:off x="658368" y="329184"/>
            <a:ext cx="7955280" cy="256032"/>
          </a:xfrm>
          <a:prstGeom prst="rect">
            <a:avLst/>
          </a:prstGeom>
          <a:noFill/>
          <a:ln/>
        </p:spPr>
        <p:txBody>
          <a:bodyPr wrap="square" lIns="0" tIns="0" rIns="0" bIns="0" rtlCol="0" anchor="ctr"/>
          <a:lstStyle/>
          <a:p>
            <a:pPr indent="0" marL="0">
              <a:buNone/>
            </a:pPr>
            <a:r>
              <a:rPr lang="en-US" sz="1100" b="1" spc="200" kern="0" dirty="0">
                <a:solidFill>
                  <a:srgbClr val="5C8A1B"/>
                </a:solidFill>
                <a:latin typeface="Calibri" pitchFamily="34" charset="0"/>
                <a:ea typeface="Calibri" pitchFamily="34" charset="-122"/>
                <a:cs typeface="Calibri" pitchFamily="34" charset="-120"/>
              </a:rPr>
              <a:t>MODULE 4 · FRAMEWORK 3 OF 3</a:t>
            </a:r>
            <a:endParaRPr lang="en-US" sz="1100" dirty="0"/>
          </a:p>
        </p:txBody>
      </p:sp>
      <p:sp>
        <p:nvSpPr>
          <p:cNvPr id="4" name="Text 2"/>
          <p:cNvSpPr/>
          <p:nvPr/>
        </p:nvSpPr>
        <p:spPr>
          <a:xfrm>
            <a:off x="457200" y="603504"/>
            <a:ext cx="8229600" cy="640080"/>
          </a:xfrm>
          <a:prstGeom prst="rect">
            <a:avLst/>
          </a:prstGeom>
          <a:noFill/>
          <a:ln/>
        </p:spPr>
        <p:txBody>
          <a:bodyPr wrap="square" lIns="0" tIns="0" rIns="0" bIns="0" rtlCol="0" anchor="ctr"/>
          <a:lstStyle/>
          <a:p>
            <a:pPr indent="0" marL="0">
              <a:buNone/>
            </a:pPr>
            <a:r>
              <a:rPr lang="en-US" sz="2900" b="1" dirty="0">
                <a:solidFill>
                  <a:srgbClr val="26282A"/>
                </a:solidFill>
                <a:latin typeface="Cambria" pitchFamily="34" charset="0"/>
                <a:ea typeface="Cambria" pitchFamily="34" charset="-122"/>
                <a:cs typeface="Cambria" pitchFamily="34" charset="-120"/>
              </a:rPr>
              <a:t>RTCROS — the comprehensive one</a:t>
            </a:r>
            <a:endParaRPr lang="en-US" sz="2900" dirty="0"/>
          </a:p>
        </p:txBody>
      </p:sp>
      <p:sp>
        <p:nvSpPr>
          <p:cNvPr id="5" name="Shape 3"/>
          <p:cNvSpPr/>
          <p:nvPr/>
        </p:nvSpPr>
        <p:spPr>
          <a:xfrm>
            <a:off x="457200" y="1481328"/>
            <a:ext cx="2679192" cy="1033272"/>
          </a:xfrm>
          <a:prstGeom prst="roundRect">
            <a:avLst>
              <a:gd name="adj" fmla="val 7080"/>
            </a:avLst>
          </a:prstGeom>
          <a:solidFill>
            <a:srgbClr val="F4F5F6"/>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6" name="Shape 4"/>
          <p:cNvSpPr/>
          <p:nvPr/>
        </p:nvSpPr>
        <p:spPr>
          <a:xfrm>
            <a:off x="621792" y="1737360"/>
            <a:ext cx="502920" cy="502920"/>
          </a:xfrm>
          <a:prstGeom prst="ellipse">
            <a:avLst/>
          </a:prstGeom>
          <a:solidFill>
            <a:srgbClr val="86BC25"/>
          </a:solidFill>
          <a:ln/>
        </p:spPr>
      </p:sp>
      <p:sp>
        <p:nvSpPr>
          <p:cNvPr id="7" name="Text 5"/>
          <p:cNvSpPr/>
          <p:nvPr/>
        </p:nvSpPr>
        <p:spPr>
          <a:xfrm>
            <a:off x="621792" y="17373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R</a:t>
            </a:r>
            <a:endParaRPr lang="en-US" sz="2000" dirty="0"/>
          </a:p>
        </p:txBody>
      </p:sp>
      <p:sp>
        <p:nvSpPr>
          <p:cNvPr id="8" name="Text 6"/>
          <p:cNvSpPr/>
          <p:nvPr/>
        </p:nvSpPr>
        <p:spPr>
          <a:xfrm>
            <a:off x="1234440" y="1700784"/>
            <a:ext cx="1783080" cy="292608"/>
          </a:xfrm>
          <a:prstGeom prst="rect">
            <a:avLst/>
          </a:prstGeom>
          <a:noFill/>
          <a:ln/>
        </p:spPr>
        <p:txBody>
          <a:bodyPr wrap="square" lIns="0" tIns="0" rIns="0" bIns="0" rtlCol="0" anchor="ctr"/>
          <a:lstStyle/>
          <a:p>
            <a:pPr indent="0" marL="0">
              <a:buNone/>
            </a:pPr>
            <a:r>
              <a:rPr lang="en-US" sz="1300" b="1" dirty="0">
                <a:solidFill>
                  <a:srgbClr val="26282A"/>
                </a:solidFill>
                <a:latin typeface="Calibri" pitchFamily="34" charset="0"/>
                <a:ea typeface="Calibri" pitchFamily="34" charset="-122"/>
                <a:cs typeface="Calibri" pitchFamily="34" charset="-120"/>
              </a:rPr>
              <a:t>Role</a:t>
            </a:r>
            <a:endParaRPr lang="en-US" sz="1300" dirty="0"/>
          </a:p>
        </p:txBody>
      </p:sp>
      <p:sp>
        <p:nvSpPr>
          <p:cNvPr id="9" name="Text 7"/>
          <p:cNvSpPr/>
          <p:nvPr/>
        </p:nvSpPr>
        <p:spPr>
          <a:xfrm>
            <a:off x="1234440" y="1984248"/>
            <a:ext cx="1783080" cy="457200"/>
          </a:xfrm>
          <a:prstGeom prst="rect">
            <a:avLst/>
          </a:prstGeom>
          <a:noFill/>
          <a:ln/>
        </p:spPr>
        <p:txBody>
          <a:bodyPr wrap="square" lIns="0" tIns="0" rIns="0" bIns="0" rtlCol="0" anchor="ctr"/>
          <a:lstStyle/>
          <a:p>
            <a:pPr indent="0" marL="0">
              <a:buNone/>
            </a:pPr>
            <a:r>
              <a:rPr lang="en-US" sz="1000" dirty="0">
                <a:solidFill>
                  <a:srgbClr val="44474A"/>
                </a:solidFill>
                <a:latin typeface="Calibri" pitchFamily="34" charset="0"/>
                <a:ea typeface="Calibri" pitchFamily="34" charset="-122"/>
                <a:cs typeface="Calibri" pitchFamily="34" charset="-120"/>
              </a:rPr>
              <a:t>Who the AI is</a:t>
            </a:r>
            <a:endParaRPr lang="en-US" sz="1000" dirty="0"/>
          </a:p>
        </p:txBody>
      </p:sp>
      <p:sp>
        <p:nvSpPr>
          <p:cNvPr id="10" name="Shape 8"/>
          <p:cNvSpPr/>
          <p:nvPr/>
        </p:nvSpPr>
        <p:spPr>
          <a:xfrm>
            <a:off x="3264408" y="1481328"/>
            <a:ext cx="2679192" cy="1033272"/>
          </a:xfrm>
          <a:prstGeom prst="roundRect">
            <a:avLst>
              <a:gd name="adj" fmla="val 7080"/>
            </a:avLst>
          </a:prstGeom>
          <a:solidFill>
            <a:srgbClr val="F4F5F6"/>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11" name="Shape 9"/>
          <p:cNvSpPr/>
          <p:nvPr/>
        </p:nvSpPr>
        <p:spPr>
          <a:xfrm>
            <a:off x="3429000" y="1737360"/>
            <a:ext cx="502920" cy="502920"/>
          </a:xfrm>
          <a:prstGeom prst="ellipse">
            <a:avLst/>
          </a:prstGeom>
          <a:solidFill>
            <a:srgbClr val="86BC25"/>
          </a:solidFill>
          <a:ln/>
        </p:spPr>
      </p:sp>
      <p:sp>
        <p:nvSpPr>
          <p:cNvPr id="12" name="Text 10"/>
          <p:cNvSpPr/>
          <p:nvPr/>
        </p:nvSpPr>
        <p:spPr>
          <a:xfrm>
            <a:off x="3429000" y="17373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T</a:t>
            </a:r>
            <a:endParaRPr lang="en-US" sz="2000" dirty="0"/>
          </a:p>
        </p:txBody>
      </p:sp>
      <p:sp>
        <p:nvSpPr>
          <p:cNvPr id="13" name="Text 11"/>
          <p:cNvSpPr/>
          <p:nvPr/>
        </p:nvSpPr>
        <p:spPr>
          <a:xfrm>
            <a:off x="4041648" y="1700784"/>
            <a:ext cx="1783080" cy="292608"/>
          </a:xfrm>
          <a:prstGeom prst="rect">
            <a:avLst/>
          </a:prstGeom>
          <a:noFill/>
          <a:ln/>
        </p:spPr>
        <p:txBody>
          <a:bodyPr wrap="square" lIns="0" tIns="0" rIns="0" bIns="0" rtlCol="0" anchor="ctr"/>
          <a:lstStyle/>
          <a:p>
            <a:pPr indent="0" marL="0">
              <a:buNone/>
            </a:pPr>
            <a:r>
              <a:rPr lang="en-US" sz="1300" b="1" dirty="0">
                <a:solidFill>
                  <a:srgbClr val="26282A"/>
                </a:solidFill>
                <a:latin typeface="Calibri" pitchFamily="34" charset="0"/>
                <a:ea typeface="Calibri" pitchFamily="34" charset="-122"/>
                <a:cs typeface="Calibri" pitchFamily="34" charset="-120"/>
              </a:rPr>
              <a:t>Task</a:t>
            </a:r>
            <a:endParaRPr lang="en-US" sz="1300" dirty="0"/>
          </a:p>
        </p:txBody>
      </p:sp>
      <p:sp>
        <p:nvSpPr>
          <p:cNvPr id="14" name="Text 12"/>
          <p:cNvSpPr/>
          <p:nvPr/>
        </p:nvSpPr>
        <p:spPr>
          <a:xfrm>
            <a:off x="4041648" y="1984248"/>
            <a:ext cx="1783080" cy="457200"/>
          </a:xfrm>
          <a:prstGeom prst="rect">
            <a:avLst/>
          </a:prstGeom>
          <a:noFill/>
          <a:ln/>
        </p:spPr>
        <p:txBody>
          <a:bodyPr wrap="square" lIns="0" tIns="0" rIns="0" bIns="0" rtlCol="0" anchor="ctr"/>
          <a:lstStyle/>
          <a:p>
            <a:pPr indent="0" marL="0">
              <a:buNone/>
            </a:pPr>
            <a:r>
              <a:rPr lang="en-US" sz="1000" dirty="0">
                <a:solidFill>
                  <a:srgbClr val="44474A"/>
                </a:solidFill>
                <a:latin typeface="Calibri" pitchFamily="34" charset="0"/>
                <a:ea typeface="Calibri" pitchFamily="34" charset="-122"/>
                <a:cs typeface="Calibri" pitchFamily="34" charset="-120"/>
              </a:rPr>
              <a:t>What to do</a:t>
            </a:r>
            <a:endParaRPr lang="en-US" sz="1000" dirty="0"/>
          </a:p>
        </p:txBody>
      </p:sp>
      <p:sp>
        <p:nvSpPr>
          <p:cNvPr id="15" name="Shape 13"/>
          <p:cNvSpPr/>
          <p:nvPr/>
        </p:nvSpPr>
        <p:spPr>
          <a:xfrm>
            <a:off x="6071616" y="1481328"/>
            <a:ext cx="2679192" cy="1033272"/>
          </a:xfrm>
          <a:prstGeom prst="roundRect">
            <a:avLst>
              <a:gd name="adj" fmla="val 7080"/>
            </a:avLst>
          </a:prstGeom>
          <a:solidFill>
            <a:srgbClr val="F4F5F6"/>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16" name="Shape 14"/>
          <p:cNvSpPr/>
          <p:nvPr/>
        </p:nvSpPr>
        <p:spPr>
          <a:xfrm>
            <a:off x="6236208" y="1737360"/>
            <a:ext cx="502920" cy="502920"/>
          </a:xfrm>
          <a:prstGeom prst="ellipse">
            <a:avLst/>
          </a:prstGeom>
          <a:solidFill>
            <a:srgbClr val="86BC25"/>
          </a:solidFill>
          <a:ln/>
        </p:spPr>
      </p:sp>
      <p:sp>
        <p:nvSpPr>
          <p:cNvPr id="17" name="Text 15"/>
          <p:cNvSpPr/>
          <p:nvPr/>
        </p:nvSpPr>
        <p:spPr>
          <a:xfrm>
            <a:off x="6236208" y="17373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C</a:t>
            </a:r>
            <a:endParaRPr lang="en-US" sz="2000" dirty="0"/>
          </a:p>
        </p:txBody>
      </p:sp>
      <p:sp>
        <p:nvSpPr>
          <p:cNvPr id="18" name="Text 16"/>
          <p:cNvSpPr/>
          <p:nvPr/>
        </p:nvSpPr>
        <p:spPr>
          <a:xfrm>
            <a:off x="6848856" y="1700784"/>
            <a:ext cx="1783080" cy="292608"/>
          </a:xfrm>
          <a:prstGeom prst="rect">
            <a:avLst/>
          </a:prstGeom>
          <a:noFill/>
          <a:ln/>
        </p:spPr>
        <p:txBody>
          <a:bodyPr wrap="square" lIns="0" tIns="0" rIns="0" bIns="0" rtlCol="0" anchor="ctr"/>
          <a:lstStyle/>
          <a:p>
            <a:pPr indent="0" marL="0">
              <a:buNone/>
            </a:pPr>
            <a:r>
              <a:rPr lang="en-US" sz="1300" b="1" dirty="0">
                <a:solidFill>
                  <a:srgbClr val="26282A"/>
                </a:solidFill>
                <a:latin typeface="Calibri" pitchFamily="34" charset="0"/>
                <a:ea typeface="Calibri" pitchFamily="34" charset="-122"/>
                <a:cs typeface="Calibri" pitchFamily="34" charset="-120"/>
              </a:rPr>
              <a:t>Context</a:t>
            </a:r>
            <a:endParaRPr lang="en-US" sz="1300" dirty="0"/>
          </a:p>
        </p:txBody>
      </p:sp>
      <p:sp>
        <p:nvSpPr>
          <p:cNvPr id="19" name="Text 17"/>
          <p:cNvSpPr/>
          <p:nvPr/>
        </p:nvSpPr>
        <p:spPr>
          <a:xfrm>
            <a:off x="6848856" y="1984248"/>
            <a:ext cx="1783080" cy="457200"/>
          </a:xfrm>
          <a:prstGeom prst="rect">
            <a:avLst/>
          </a:prstGeom>
          <a:noFill/>
          <a:ln/>
        </p:spPr>
        <p:txBody>
          <a:bodyPr wrap="square" lIns="0" tIns="0" rIns="0" bIns="0" rtlCol="0" anchor="ctr"/>
          <a:lstStyle/>
          <a:p>
            <a:pPr indent="0" marL="0">
              <a:buNone/>
            </a:pPr>
            <a:r>
              <a:rPr lang="en-US" sz="1000" dirty="0">
                <a:solidFill>
                  <a:srgbClr val="44474A"/>
                </a:solidFill>
                <a:latin typeface="Calibri" pitchFamily="34" charset="0"/>
                <a:ea typeface="Calibri" pitchFamily="34" charset="-122"/>
                <a:cs typeface="Calibri" pitchFamily="34" charset="-120"/>
              </a:rPr>
              <a:t>Background &amp; boundaries</a:t>
            </a:r>
            <a:endParaRPr lang="en-US" sz="1000" dirty="0"/>
          </a:p>
        </p:txBody>
      </p:sp>
      <p:sp>
        <p:nvSpPr>
          <p:cNvPr id="20" name="Shape 18"/>
          <p:cNvSpPr/>
          <p:nvPr/>
        </p:nvSpPr>
        <p:spPr>
          <a:xfrm>
            <a:off x="457200" y="2651760"/>
            <a:ext cx="2679192" cy="1033272"/>
          </a:xfrm>
          <a:prstGeom prst="roundRect">
            <a:avLst>
              <a:gd name="adj" fmla="val 7080"/>
            </a:avLst>
          </a:prstGeom>
          <a:solidFill>
            <a:srgbClr val="F4F5F6"/>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21" name="Shape 19"/>
          <p:cNvSpPr/>
          <p:nvPr/>
        </p:nvSpPr>
        <p:spPr>
          <a:xfrm>
            <a:off x="621792" y="2907792"/>
            <a:ext cx="502920" cy="502920"/>
          </a:xfrm>
          <a:prstGeom prst="ellipse">
            <a:avLst/>
          </a:prstGeom>
          <a:solidFill>
            <a:srgbClr val="86BC25"/>
          </a:solidFill>
          <a:ln/>
        </p:spPr>
      </p:sp>
      <p:sp>
        <p:nvSpPr>
          <p:cNvPr id="22" name="Text 20"/>
          <p:cNvSpPr/>
          <p:nvPr/>
        </p:nvSpPr>
        <p:spPr>
          <a:xfrm>
            <a:off x="621792" y="2907792"/>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R</a:t>
            </a:r>
            <a:endParaRPr lang="en-US" sz="2000" dirty="0"/>
          </a:p>
        </p:txBody>
      </p:sp>
      <p:sp>
        <p:nvSpPr>
          <p:cNvPr id="23" name="Text 21"/>
          <p:cNvSpPr/>
          <p:nvPr/>
        </p:nvSpPr>
        <p:spPr>
          <a:xfrm>
            <a:off x="1234440" y="2871216"/>
            <a:ext cx="1783080" cy="292608"/>
          </a:xfrm>
          <a:prstGeom prst="rect">
            <a:avLst/>
          </a:prstGeom>
          <a:noFill/>
          <a:ln/>
        </p:spPr>
        <p:txBody>
          <a:bodyPr wrap="square" lIns="0" tIns="0" rIns="0" bIns="0" rtlCol="0" anchor="ctr"/>
          <a:lstStyle/>
          <a:p>
            <a:pPr indent="0" marL="0">
              <a:buNone/>
            </a:pPr>
            <a:r>
              <a:rPr lang="en-US" sz="1300" b="1" dirty="0">
                <a:solidFill>
                  <a:srgbClr val="26282A"/>
                </a:solidFill>
                <a:latin typeface="Calibri" pitchFamily="34" charset="0"/>
                <a:ea typeface="Calibri" pitchFamily="34" charset="-122"/>
                <a:cs typeface="Calibri" pitchFamily="34" charset="-120"/>
              </a:rPr>
              <a:t>Reasoning</a:t>
            </a:r>
            <a:endParaRPr lang="en-US" sz="1300" dirty="0"/>
          </a:p>
        </p:txBody>
      </p:sp>
      <p:sp>
        <p:nvSpPr>
          <p:cNvPr id="24" name="Text 22"/>
          <p:cNvSpPr/>
          <p:nvPr/>
        </p:nvSpPr>
        <p:spPr>
          <a:xfrm>
            <a:off x="1234440" y="3154680"/>
            <a:ext cx="1783080" cy="457200"/>
          </a:xfrm>
          <a:prstGeom prst="rect">
            <a:avLst/>
          </a:prstGeom>
          <a:noFill/>
          <a:ln/>
        </p:spPr>
        <p:txBody>
          <a:bodyPr wrap="square" lIns="0" tIns="0" rIns="0" bIns="0" rtlCol="0" anchor="ctr"/>
          <a:lstStyle/>
          <a:p>
            <a:pPr indent="0" marL="0">
              <a:buNone/>
            </a:pPr>
            <a:r>
              <a:rPr lang="en-US" sz="1000" dirty="0">
                <a:solidFill>
                  <a:srgbClr val="44474A"/>
                </a:solidFill>
                <a:latin typeface="Calibri" pitchFamily="34" charset="0"/>
                <a:ea typeface="Calibri" pitchFamily="34" charset="-122"/>
                <a:cs typeface="Calibri" pitchFamily="34" charset="-120"/>
              </a:rPr>
              <a:t>Ask it to think &amp; self-check</a:t>
            </a:r>
            <a:endParaRPr lang="en-US" sz="1000" dirty="0"/>
          </a:p>
        </p:txBody>
      </p:sp>
      <p:sp>
        <p:nvSpPr>
          <p:cNvPr id="25" name="Shape 23"/>
          <p:cNvSpPr/>
          <p:nvPr/>
        </p:nvSpPr>
        <p:spPr>
          <a:xfrm>
            <a:off x="3264408" y="2651760"/>
            <a:ext cx="2679192" cy="1033272"/>
          </a:xfrm>
          <a:prstGeom prst="roundRect">
            <a:avLst>
              <a:gd name="adj" fmla="val 7080"/>
            </a:avLst>
          </a:prstGeom>
          <a:solidFill>
            <a:srgbClr val="F4F5F6"/>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26" name="Shape 24"/>
          <p:cNvSpPr/>
          <p:nvPr/>
        </p:nvSpPr>
        <p:spPr>
          <a:xfrm>
            <a:off x="3429000" y="2907792"/>
            <a:ext cx="502920" cy="502920"/>
          </a:xfrm>
          <a:prstGeom prst="ellipse">
            <a:avLst/>
          </a:prstGeom>
          <a:solidFill>
            <a:srgbClr val="86BC25"/>
          </a:solidFill>
          <a:ln/>
        </p:spPr>
      </p:sp>
      <p:sp>
        <p:nvSpPr>
          <p:cNvPr id="27" name="Text 25"/>
          <p:cNvSpPr/>
          <p:nvPr/>
        </p:nvSpPr>
        <p:spPr>
          <a:xfrm>
            <a:off x="3429000" y="2907792"/>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O</a:t>
            </a:r>
            <a:endParaRPr lang="en-US" sz="2000" dirty="0"/>
          </a:p>
        </p:txBody>
      </p:sp>
      <p:sp>
        <p:nvSpPr>
          <p:cNvPr id="28" name="Text 26"/>
          <p:cNvSpPr/>
          <p:nvPr/>
        </p:nvSpPr>
        <p:spPr>
          <a:xfrm>
            <a:off x="4041648" y="2871216"/>
            <a:ext cx="1783080" cy="292608"/>
          </a:xfrm>
          <a:prstGeom prst="rect">
            <a:avLst/>
          </a:prstGeom>
          <a:noFill/>
          <a:ln/>
        </p:spPr>
        <p:txBody>
          <a:bodyPr wrap="square" lIns="0" tIns="0" rIns="0" bIns="0" rtlCol="0" anchor="ctr"/>
          <a:lstStyle/>
          <a:p>
            <a:pPr indent="0" marL="0">
              <a:buNone/>
            </a:pPr>
            <a:r>
              <a:rPr lang="en-US" sz="1300" b="1" dirty="0">
                <a:solidFill>
                  <a:srgbClr val="26282A"/>
                </a:solidFill>
                <a:latin typeface="Calibri" pitchFamily="34" charset="0"/>
                <a:ea typeface="Calibri" pitchFamily="34" charset="-122"/>
                <a:cs typeface="Calibri" pitchFamily="34" charset="-120"/>
              </a:rPr>
              <a:t>Output format</a:t>
            </a:r>
            <a:endParaRPr lang="en-US" sz="1300" dirty="0"/>
          </a:p>
        </p:txBody>
      </p:sp>
      <p:sp>
        <p:nvSpPr>
          <p:cNvPr id="29" name="Text 27"/>
          <p:cNvSpPr/>
          <p:nvPr/>
        </p:nvSpPr>
        <p:spPr>
          <a:xfrm>
            <a:off x="4041648" y="3154680"/>
            <a:ext cx="1783080" cy="457200"/>
          </a:xfrm>
          <a:prstGeom prst="rect">
            <a:avLst/>
          </a:prstGeom>
          <a:noFill/>
          <a:ln/>
        </p:spPr>
        <p:txBody>
          <a:bodyPr wrap="square" lIns="0" tIns="0" rIns="0" bIns="0" rtlCol="0" anchor="ctr"/>
          <a:lstStyle/>
          <a:p>
            <a:pPr indent="0" marL="0">
              <a:buNone/>
            </a:pPr>
            <a:r>
              <a:rPr lang="en-US" sz="1000" dirty="0">
                <a:solidFill>
                  <a:srgbClr val="44474A"/>
                </a:solidFill>
                <a:latin typeface="Calibri" pitchFamily="34" charset="0"/>
                <a:ea typeface="Calibri" pitchFamily="34" charset="-122"/>
                <a:cs typeface="Calibri" pitchFamily="34" charset="-120"/>
              </a:rPr>
              <a:t>Table, list, email…</a:t>
            </a:r>
            <a:endParaRPr lang="en-US" sz="1000" dirty="0"/>
          </a:p>
        </p:txBody>
      </p:sp>
      <p:sp>
        <p:nvSpPr>
          <p:cNvPr id="30" name="Shape 28"/>
          <p:cNvSpPr/>
          <p:nvPr/>
        </p:nvSpPr>
        <p:spPr>
          <a:xfrm>
            <a:off x="6071616" y="2651760"/>
            <a:ext cx="2679192" cy="1033272"/>
          </a:xfrm>
          <a:prstGeom prst="roundRect">
            <a:avLst>
              <a:gd name="adj" fmla="val 7080"/>
            </a:avLst>
          </a:prstGeom>
          <a:solidFill>
            <a:srgbClr val="F4F5F6"/>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31" name="Shape 29"/>
          <p:cNvSpPr/>
          <p:nvPr/>
        </p:nvSpPr>
        <p:spPr>
          <a:xfrm>
            <a:off x="6236208" y="2907792"/>
            <a:ext cx="502920" cy="502920"/>
          </a:xfrm>
          <a:prstGeom prst="ellipse">
            <a:avLst/>
          </a:prstGeom>
          <a:solidFill>
            <a:srgbClr val="86BC25"/>
          </a:solidFill>
          <a:ln/>
        </p:spPr>
      </p:sp>
      <p:sp>
        <p:nvSpPr>
          <p:cNvPr id="32" name="Text 30"/>
          <p:cNvSpPr/>
          <p:nvPr/>
        </p:nvSpPr>
        <p:spPr>
          <a:xfrm>
            <a:off x="6236208" y="2907792"/>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S</a:t>
            </a:r>
            <a:endParaRPr lang="en-US" sz="2000" dirty="0"/>
          </a:p>
        </p:txBody>
      </p:sp>
      <p:sp>
        <p:nvSpPr>
          <p:cNvPr id="33" name="Text 31"/>
          <p:cNvSpPr/>
          <p:nvPr/>
        </p:nvSpPr>
        <p:spPr>
          <a:xfrm>
            <a:off x="6848856" y="2871216"/>
            <a:ext cx="1783080" cy="292608"/>
          </a:xfrm>
          <a:prstGeom prst="rect">
            <a:avLst/>
          </a:prstGeom>
          <a:noFill/>
          <a:ln/>
        </p:spPr>
        <p:txBody>
          <a:bodyPr wrap="square" lIns="0" tIns="0" rIns="0" bIns="0" rtlCol="0" anchor="ctr"/>
          <a:lstStyle/>
          <a:p>
            <a:pPr indent="0" marL="0">
              <a:buNone/>
            </a:pPr>
            <a:r>
              <a:rPr lang="en-US" sz="1300" b="1" dirty="0">
                <a:solidFill>
                  <a:srgbClr val="26282A"/>
                </a:solidFill>
                <a:latin typeface="Calibri" pitchFamily="34" charset="0"/>
                <a:ea typeface="Calibri" pitchFamily="34" charset="-122"/>
                <a:cs typeface="Calibri" pitchFamily="34" charset="-120"/>
              </a:rPr>
              <a:t>Stop conditions</a:t>
            </a:r>
            <a:endParaRPr lang="en-US" sz="1300" dirty="0"/>
          </a:p>
        </p:txBody>
      </p:sp>
      <p:sp>
        <p:nvSpPr>
          <p:cNvPr id="34" name="Text 32"/>
          <p:cNvSpPr/>
          <p:nvPr/>
        </p:nvSpPr>
        <p:spPr>
          <a:xfrm>
            <a:off x="6848856" y="3154680"/>
            <a:ext cx="1783080" cy="457200"/>
          </a:xfrm>
          <a:prstGeom prst="rect">
            <a:avLst/>
          </a:prstGeom>
          <a:noFill/>
          <a:ln/>
        </p:spPr>
        <p:txBody>
          <a:bodyPr wrap="square" lIns="0" tIns="0" rIns="0" bIns="0" rtlCol="0" anchor="ctr"/>
          <a:lstStyle/>
          <a:p>
            <a:pPr indent="0" marL="0">
              <a:buNone/>
            </a:pPr>
            <a:r>
              <a:rPr lang="en-US" sz="1000" dirty="0">
                <a:solidFill>
                  <a:srgbClr val="44474A"/>
                </a:solidFill>
                <a:latin typeface="Calibri" pitchFamily="34" charset="0"/>
                <a:ea typeface="Calibri" pitchFamily="34" charset="-122"/>
                <a:cs typeface="Calibri" pitchFamily="34" charset="-120"/>
              </a:rPr>
              <a:t>When it's done</a:t>
            </a:r>
            <a:endParaRPr lang="en-US" sz="1000" dirty="0"/>
          </a:p>
        </p:txBody>
      </p:sp>
      <p:sp>
        <p:nvSpPr>
          <p:cNvPr id="35" name="Text 33"/>
          <p:cNvSpPr/>
          <p:nvPr/>
        </p:nvSpPr>
        <p:spPr>
          <a:xfrm>
            <a:off x="457200" y="4023360"/>
            <a:ext cx="8229600" cy="365760"/>
          </a:xfrm>
          <a:prstGeom prst="rect">
            <a:avLst/>
          </a:prstGeom>
          <a:noFill/>
          <a:ln/>
        </p:spPr>
        <p:txBody>
          <a:bodyPr wrap="square" lIns="0" tIns="0" rIns="0" bIns="0" rtlCol="0" anchor="ctr"/>
          <a:lstStyle/>
          <a:p>
            <a:pPr indent="0" marL="0">
              <a:buNone/>
            </a:pPr>
            <a:r>
              <a:rPr lang="en-US" sz="1150" b="1" i="1" dirty="0">
                <a:solidFill>
                  <a:srgbClr val="5C8A1B"/>
                </a:solidFill>
                <a:latin typeface="Calibri" pitchFamily="34" charset="0"/>
                <a:ea typeface="Calibri" pitchFamily="34" charset="-122"/>
                <a:cs typeface="Calibri" pitchFamily="34" charset="-120"/>
              </a:rPr>
              <a:t>Best for high-stakes work.  </a:t>
            </a:r>
            <a:pPr indent="0" marL="0">
              <a:buNone/>
            </a:pPr>
            <a:r>
              <a:rPr lang="en-US" sz="1150" i="1" dirty="0">
                <a:solidFill>
                  <a:srgbClr val="44474A"/>
                </a:solidFill>
                <a:latin typeface="Calibri" pitchFamily="34" charset="0"/>
                <a:ea typeface="Calibri" pitchFamily="34" charset="-122"/>
                <a:cs typeface="Calibri" pitchFamily="34" charset="-120"/>
              </a:rPr>
              <a:t>The Reasoning + Stop steps make it self-check and reduce errors.  (Some versions use Rules &amp; Style for R/S.)</a:t>
            </a:r>
            <a:endParaRPr lang="en-US" sz="1150" dirty="0"/>
          </a:p>
        </p:txBody>
      </p:sp>
      <p:sp>
        <p:nvSpPr>
          <p:cNvPr id="36" name="Text 34"/>
          <p:cNvSpPr/>
          <p:nvPr/>
        </p:nvSpPr>
        <p:spPr>
          <a:xfrm>
            <a:off x="457200" y="4873752"/>
            <a:ext cx="5486400" cy="228600"/>
          </a:xfrm>
          <a:prstGeom prst="rect">
            <a:avLst/>
          </a:prstGeom>
          <a:noFill/>
          <a:ln/>
        </p:spPr>
        <p:txBody>
          <a:bodyPr wrap="square" lIns="0" tIns="0" rIns="0" bIns="0" rtlCol="0" anchor="ctr"/>
          <a:lstStyle/>
          <a:p>
            <a:pPr indent="0" marL="0">
              <a:buNone/>
            </a:pPr>
            <a:r>
              <a:rPr lang="en-US" sz="800" dirty="0">
                <a:solidFill>
                  <a:srgbClr val="7A7D81"/>
                </a:solidFill>
                <a:latin typeface="Calibri" pitchFamily="34" charset="0"/>
                <a:ea typeface="Calibri" pitchFamily="34" charset="-122"/>
                <a:cs typeface="Calibri" pitchFamily="34" charset="-120"/>
              </a:rPr>
              <a:t>Basics of AI/ML &amp; Prompt Engineering</a:t>
            </a:r>
            <a:endParaRPr lang="en-US" sz="800" dirty="0"/>
          </a:p>
        </p:txBody>
      </p:sp>
      <p:sp>
        <p:nvSpPr>
          <p:cNvPr id="37" name="Text 35"/>
          <p:cNvSpPr/>
          <p:nvPr/>
        </p:nvSpPr>
        <p:spPr>
          <a:xfrm>
            <a:off x="8321040" y="4873752"/>
            <a:ext cx="365760" cy="228600"/>
          </a:xfrm>
          <a:prstGeom prst="rect">
            <a:avLst/>
          </a:prstGeom>
          <a:noFill/>
          <a:ln/>
        </p:spPr>
        <p:txBody>
          <a:bodyPr wrap="square" lIns="0" tIns="0" rIns="0" bIns="0" rtlCol="0" anchor="ctr"/>
          <a:lstStyle/>
          <a:p>
            <a:pPr algn="r" indent="0" marL="0">
              <a:buNone/>
            </a:pPr>
            <a:r>
              <a:rPr lang="en-US" sz="800" dirty="0">
                <a:solidFill>
                  <a:srgbClr val="7A7D81"/>
                </a:solidFill>
                <a:latin typeface="Calibri" pitchFamily="34" charset="0"/>
                <a:ea typeface="Calibri" pitchFamily="34" charset="-122"/>
                <a:cs typeface="Calibri" pitchFamily="34" charset="-120"/>
              </a:rPr>
              <a:t>16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02336"/>
            <a:ext cx="109728" cy="109728"/>
          </a:xfrm>
          <a:prstGeom prst="ellipse">
            <a:avLst/>
          </a:prstGeom>
          <a:solidFill>
            <a:srgbClr val="86BC25"/>
          </a:solidFill>
          <a:ln/>
        </p:spPr>
      </p:sp>
      <p:sp>
        <p:nvSpPr>
          <p:cNvPr id="3" name="Text 1"/>
          <p:cNvSpPr/>
          <p:nvPr/>
        </p:nvSpPr>
        <p:spPr>
          <a:xfrm>
            <a:off x="658368" y="329184"/>
            <a:ext cx="7955280" cy="256032"/>
          </a:xfrm>
          <a:prstGeom prst="rect">
            <a:avLst/>
          </a:prstGeom>
          <a:noFill/>
          <a:ln/>
        </p:spPr>
        <p:txBody>
          <a:bodyPr wrap="square" lIns="0" tIns="0" rIns="0" bIns="0" rtlCol="0" anchor="ctr"/>
          <a:lstStyle/>
          <a:p>
            <a:pPr indent="0" marL="0">
              <a:buNone/>
            </a:pPr>
            <a:r>
              <a:rPr lang="en-US" sz="1100" b="1" spc="200" kern="0" dirty="0">
                <a:solidFill>
                  <a:srgbClr val="5C8A1B"/>
                </a:solidFill>
                <a:latin typeface="Calibri" pitchFamily="34" charset="0"/>
                <a:ea typeface="Calibri" pitchFamily="34" charset="-122"/>
                <a:cs typeface="Calibri" pitchFamily="34" charset="-120"/>
              </a:rPr>
              <a:t>MODULE 4 · TECHNIQUES</a:t>
            </a:r>
            <a:endParaRPr lang="en-US" sz="1100" dirty="0"/>
          </a:p>
        </p:txBody>
      </p:sp>
      <p:sp>
        <p:nvSpPr>
          <p:cNvPr id="4" name="Text 2"/>
          <p:cNvSpPr/>
          <p:nvPr/>
        </p:nvSpPr>
        <p:spPr>
          <a:xfrm>
            <a:off x="457200" y="603504"/>
            <a:ext cx="8229600" cy="640080"/>
          </a:xfrm>
          <a:prstGeom prst="rect">
            <a:avLst/>
          </a:prstGeom>
          <a:noFill/>
          <a:ln/>
        </p:spPr>
        <p:txBody>
          <a:bodyPr wrap="square" lIns="0" tIns="0" rIns="0" bIns="0" rtlCol="0" anchor="ctr"/>
          <a:lstStyle/>
          <a:p>
            <a:pPr indent="0" marL="0">
              <a:buNone/>
            </a:pPr>
            <a:r>
              <a:rPr lang="en-US" sz="2900" b="1" dirty="0">
                <a:solidFill>
                  <a:srgbClr val="26282A"/>
                </a:solidFill>
                <a:latin typeface="Cambria" pitchFamily="34" charset="0"/>
                <a:ea typeface="Cambria" pitchFamily="34" charset="-122"/>
                <a:cs typeface="Cambria" pitchFamily="34" charset="-120"/>
              </a:rPr>
              <a:t>Zero-, one- &amp; few-shot prompting</a:t>
            </a:r>
            <a:endParaRPr lang="en-US" sz="2900" dirty="0"/>
          </a:p>
        </p:txBody>
      </p:sp>
      <p:sp>
        <p:nvSpPr>
          <p:cNvPr id="5" name="Text 3"/>
          <p:cNvSpPr/>
          <p:nvPr/>
        </p:nvSpPr>
        <p:spPr>
          <a:xfrm>
            <a:off x="457200" y="1371600"/>
            <a:ext cx="8229600" cy="365760"/>
          </a:xfrm>
          <a:prstGeom prst="rect">
            <a:avLst/>
          </a:prstGeom>
          <a:noFill/>
          <a:ln/>
        </p:spPr>
        <p:txBody>
          <a:bodyPr wrap="square" lIns="0" tIns="0" rIns="0" bIns="0" rtlCol="0" anchor="ctr"/>
          <a:lstStyle/>
          <a:p>
            <a:pPr indent="0" marL="0">
              <a:buNone/>
            </a:pPr>
            <a:r>
              <a:rPr lang="en-US" sz="1400" dirty="0">
                <a:solidFill>
                  <a:srgbClr val="26282A"/>
                </a:solidFill>
                <a:latin typeface="Calibri" pitchFamily="34" charset="0"/>
                <a:ea typeface="Calibri" pitchFamily="34" charset="-122"/>
                <a:cs typeface="Calibri" pitchFamily="34" charset="-120"/>
              </a:rPr>
              <a:t>A “shot” = an example you give the AI. More good examples → more on-target output.</a:t>
            </a:r>
            <a:endParaRPr lang="en-US" sz="1400" dirty="0"/>
          </a:p>
        </p:txBody>
      </p:sp>
      <p:sp>
        <p:nvSpPr>
          <p:cNvPr id="6" name="Shape 4"/>
          <p:cNvSpPr/>
          <p:nvPr/>
        </p:nvSpPr>
        <p:spPr>
          <a:xfrm>
            <a:off x="457200" y="1828800"/>
            <a:ext cx="2679192" cy="2468880"/>
          </a:xfrm>
          <a:prstGeom prst="roundRect">
            <a:avLst>
              <a:gd name="adj" fmla="val 2963"/>
            </a:avLst>
          </a:prstGeom>
          <a:solidFill>
            <a:srgbClr val="F4F5F6"/>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7" name="Text 5"/>
          <p:cNvSpPr/>
          <p:nvPr/>
        </p:nvSpPr>
        <p:spPr>
          <a:xfrm>
            <a:off x="658368" y="1993392"/>
            <a:ext cx="2286000" cy="292608"/>
          </a:xfrm>
          <a:prstGeom prst="rect">
            <a:avLst/>
          </a:prstGeom>
          <a:noFill/>
          <a:ln/>
        </p:spPr>
        <p:txBody>
          <a:bodyPr wrap="square" lIns="0" tIns="0" rIns="0" bIns="0" rtlCol="0" anchor="ctr"/>
          <a:lstStyle/>
          <a:p>
            <a:pPr indent="0" marL="0">
              <a:buNone/>
            </a:pPr>
            <a:r>
              <a:rPr lang="en-US" sz="1600" b="1" dirty="0">
                <a:solidFill>
                  <a:srgbClr val="5C8A1B"/>
                </a:solidFill>
                <a:latin typeface="Cambria" pitchFamily="34" charset="0"/>
                <a:ea typeface="Cambria" pitchFamily="34" charset="-122"/>
                <a:cs typeface="Cambria" pitchFamily="34" charset="-120"/>
              </a:rPr>
              <a:t>Zero-shot</a:t>
            </a:r>
            <a:endParaRPr lang="en-US" sz="1600" dirty="0"/>
          </a:p>
        </p:txBody>
      </p:sp>
      <p:sp>
        <p:nvSpPr>
          <p:cNvPr id="8" name="Text 6"/>
          <p:cNvSpPr/>
          <p:nvPr/>
        </p:nvSpPr>
        <p:spPr>
          <a:xfrm>
            <a:off x="658368" y="2340864"/>
            <a:ext cx="2331720" cy="457200"/>
          </a:xfrm>
          <a:prstGeom prst="rect">
            <a:avLst/>
          </a:prstGeom>
          <a:noFill/>
          <a:ln/>
        </p:spPr>
        <p:txBody>
          <a:bodyPr wrap="square" lIns="0" tIns="0" rIns="0" bIns="0" rtlCol="0" anchor="ctr"/>
          <a:lstStyle/>
          <a:p>
            <a:pPr indent="0" marL="0">
              <a:buNone/>
            </a:pPr>
            <a:r>
              <a:rPr lang="en-US" sz="1200" b="1" dirty="0">
                <a:solidFill>
                  <a:srgbClr val="26282A"/>
                </a:solidFill>
                <a:latin typeface="Calibri" pitchFamily="34" charset="0"/>
                <a:ea typeface="Calibri" pitchFamily="34" charset="-122"/>
                <a:cs typeface="Calibri" pitchFamily="34" charset="-120"/>
              </a:rPr>
              <a:t>No examples — just ask.</a:t>
            </a:r>
            <a:endParaRPr lang="en-US" sz="1200" dirty="0"/>
          </a:p>
        </p:txBody>
      </p:sp>
      <p:sp>
        <p:nvSpPr>
          <p:cNvPr id="9" name="Text 7"/>
          <p:cNvSpPr/>
          <p:nvPr/>
        </p:nvSpPr>
        <p:spPr>
          <a:xfrm>
            <a:off x="658368" y="2852928"/>
            <a:ext cx="2331720" cy="777240"/>
          </a:xfrm>
          <a:prstGeom prst="rect">
            <a:avLst/>
          </a:prstGeom>
          <a:noFill/>
          <a:ln/>
        </p:spPr>
        <p:txBody>
          <a:bodyPr wrap="square" lIns="0" tIns="0" rIns="0" bIns="0" rtlCol="0" anchor="ctr"/>
          <a:lstStyle/>
          <a:p>
            <a:pPr indent="0" marL="0">
              <a:buNone/>
            </a:pPr>
            <a:r>
              <a:rPr lang="en-US" sz="1100" i="1" dirty="0">
                <a:solidFill>
                  <a:srgbClr val="44474A"/>
                </a:solidFill>
                <a:latin typeface="Calibri" pitchFamily="34" charset="0"/>
                <a:ea typeface="Calibri" pitchFamily="34" charset="-122"/>
                <a:cs typeface="Calibri" pitchFamily="34" charset="-120"/>
              </a:rPr>
              <a:t>“Classify this review as positive or negative.”</a:t>
            </a:r>
            <a:endParaRPr lang="en-US" sz="1100" dirty="0"/>
          </a:p>
        </p:txBody>
      </p:sp>
      <p:sp>
        <p:nvSpPr>
          <p:cNvPr id="10" name="Text 8"/>
          <p:cNvSpPr/>
          <p:nvPr/>
        </p:nvSpPr>
        <p:spPr>
          <a:xfrm>
            <a:off x="658368" y="3703320"/>
            <a:ext cx="2286000" cy="201168"/>
          </a:xfrm>
          <a:prstGeom prst="rect">
            <a:avLst/>
          </a:prstGeom>
          <a:noFill/>
          <a:ln/>
        </p:spPr>
        <p:txBody>
          <a:bodyPr wrap="square" lIns="0" tIns="0" rIns="0" bIns="0" rtlCol="0" anchor="ctr"/>
          <a:lstStyle/>
          <a:p>
            <a:pPr indent="0" marL="0">
              <a:buNone/>
            </a:pPr>
            <a:r>
              <a:rPr lang="en-US" sz="900" b="1" spc="100" kern="0" dirty="0">
                <a:solidFill>
                  <a:srgbClr val="5C8A1B"/>
                </a:solidFill>
                <a:latin typeface="Calibri" pitchFamily="34" charset="0"/>
                <a:ea typeface="Calibri" pitchFamily="34" charset="-122"/>
                <a:cs typeface="Calibri" pitchFamily="34" charset="-120"/>
              </a:rPr>
              <a:t>BEST FOR</a:t>
            </a:r>
            <a:endParaRPr lang="en-US" sz="900" dirty="0"/>
          </a:p>
        </p:txBody>
      </p:sp>
      <p:sp>
        <p:nvSpPr>
          <p:cNvPr id="11" name="Text 9"/>
          <p:cNvSpPr/>
          <p:nvPr/>
        </p:nvSpPr>
        <p:spPr>
          <a:xfrm>
            <a:off x="658368" y="3904488"/>
            <a:ext cx="2331720" cy="347472"/>
          </a:xfrm>
          <a:prstGeom prst="rect">
            <a:avLst/>
          </a:prstGeom>
          <a:noFill/>
          <a:ln/>
        </p:spPr>
        <p:txBody>
          <a:bodyPr wrap="square" lIns="0" tIns="0" rIns="0" bIns="0" rtlCol="0" anchor="ctr"/>
          <a:lstStyle/>
          <a:p>
            <a:pPr indent="0" marL="0">
              <a:buNone/>
            </a:pPr>
            <a:r>
              <a:rPr lang="en-US" sz="1100" dirty="0">
                <a:solidFill>
                  <a:srgbClr val="26282A"/>
                </a:solidFill>
                <a:latin typeface="Calibri" pitchFamily="34" charset="0"/>
                <a:ea typeface="Calibri" pitchFamily="34" charset="-122"/>
                <a:cs typeface="Calibri" pitchFamily="34" charset="-120"/>
              </a:rPr>
              <a:t>Simple, familiar tasks</a:t>
            </a:r>
            <a:endParaRPr lang="en-US" sz="1100" dirty="0"/>
          </a:p>
        </p:txBody>
      </p:sp>
      <p:sp>
        <p:nvSpPr>
          <p:cNvPr id="12" name="Shape 10"/>
          <p:cNvSpPr/>
          <p:nvPr/>
        </p:nvSpPr>
        <p:spPr>
          <a:xfrm>
            <a:off x="3264408" y="1828800"/>
            <a:ext cx="2679192" cy="2468880"/>
          </a:xfrm>
          <a:prstGeom prst="roundRect">
            <a:avLst>
              <a:gd name="adj" fmla="val 2963"/>
            </a:avLst>
          </a:prstGeom>
          <a:solidFill>
            <a:srgbClr val="F4F5F6"/>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13" name="Text 11"/>
          <p:cNvSpPr/>
          <p:nvPr/>
        </p:nvSpPr>
        <p:spPr>
          <a:xfrm>
            <a:off x="3465576" y="1993392"/>
            <a:ext cx="2286000" cy="292608"/>
          </a:xfrm>
          <a:prstGeom prst="rect">
            <a:avLst/>
          </a:prstGeom>
          <a:noFill/>
          <a:ln/>
        </p:spPr>
        <p:txBody>
          <a:bodyPr wrap="square" lIns="0" tIns="0" rIns="0" bIns="0" rtlCol="0" anchor="ctr"/>
          <a:lstStyle/>
          <a:p>
            <a:pPr indent="0" marL="0">
              <a:buNone/>
            </a:pPr>
            <a:r>
              <a:rPr lang="en-US" sz="1600" b="1" dirty="0">
                <a:solidFill>
                  <a:srgbClr val="5C8A1B"/>
                </a:solidFill>
                <a:latin typeface="Cambria" pitchFamily="34" charset="0"/>
                <a:ea typeface="Cambria" pitchFamily="34" charset="-122"/>
                <a:cs typeface="Cambria" pitchFamily="34" charset="-120"/>
              </a:rPr>
              <a:t>One-shot</a:t>
            </a:r>
            <a:endParaRPr lang="en-US" sz="1600" dirty="0"/>
          </a:p>
        </p:txBody>
      </p:sp>
      <p:sp>
        <p:nvSpPr>
          <p:cNvPr id="14" name="Text 12"/>
          <p:cNvSpPr/>
          <p:nvPr/>
        </p:nvSpPr>
        <p:spPr>
          <a:xfrm>
            <a:off x="3465576" y="2340864"/>
            <a:ext cx="2331720" cy="457200"/>
          </a:xfrm>
          <a:prstGeom prst="rect">
            <a:avLst/>
          </a:prstGeom>
          <a:noFill/>
          <a:ln/>
        </p:spPr>
        <p:txBody>
          <a:bodyPr wrap="square" lIns="0" tIns="0" rIns="0" bIns="0" rtlCol="0" anchor="ctr"/>
          <a:lstStyle/>
          <a:p>
            <a:pPr indent="0" marL="0">
              <a:buNone/>
            </a:pPr>
            <a:r>
              <a:rPr lang="en-US" sz="1200" b="1" dirty="0">
                <a:solidFill>
                  <a:srgbClr val="26282A"/>
                </a:solidFill>
                <a:latin typeface="Calibri" pitchFamily="34" charset="0"/>
                <a:ea typeface="Calibri" pitchFamily="34" charset="-122"/>
                <a:cs typeface="Calibri" pitchFamily="34" charset="-120"/>
              </a:rPr>
              <a:t>Give one example first.</a:t>
            </a:r>
            <a:endParaRPr lang="en-US" sz="1200" dirty="0"/>
          </a:p>
        </p:txBody>
      </p:sp>
      <p:sp>
        <p:nvSpPr>
          <p:cNvPr id="15" name="Text 13"/>
          <p:cNvSpPr/>
          <p:nvPr/>
        </p:nvSpPr>
        <p:spPr>
          <a:xfrm>
            <a:off x="3465576" y="2852928"/>
            <a:ext cx="2331720" cy="777240"/>
          </a:xfrm>
          <a:prstGeom prst="rect">
            <a:avLst/>
          </a:prstGeom>
          <a:noFill/>
          <a:ln/>
        </p:spPr>
        <p:txBody>
          <a:bodyPr wrap="square" lIns="0" tIns="0" rIns="0" bIns="0" rtlCol="0" anchor="ctr"/>
          <a:lstStyle/>
          <a:p>
            <a:pPr indent="0" marL="0">
              <a:buNone/>
            </a:pPr>
            <a:r>
              <a:rPr lang="en-US" sz="1100" i="1" dirty="0">
                <a:solidFill>
                  <a:srgbClr val="44474A"/>
                </a:solidFill>
                <a:latin typeface="Calibri" pitchFamily="34" charset="0"/>
                <a:ea typeface="Calibri" pitchFamily="34" charset="-122"/>
                <a:cs typeface="Calibri" pitchFamily="34" charset="-120"/>
              </a:rPr>
              <a:t>Show one labelled review, then ask it to do the next.</a:t>
            </a:r>
            <a:endParaRPr lang="en-US" sz="1100" dirty="0"/>
          </a:p>
        </p:txBody>
      </p:sp>
      <p:sp>
        <p:nvSpPr>
          <p:cNvPr id="16" name="Text 14"/>
          <p:cNvSpPr/>
          <p:nvPr/>
        </p:nvSpPr>
        <p:spPr>
          <a:xfrm>
            <a:off x="3465576" y="3703320"/>
            <a:ext cx="2286000" cy="201168"/>
          </a:xfrm>
          <a:prstGeom prst="rect">
            <a:avLst/>
          </a:prstGeom>
          <a:noFill/>
          <a:ln/>
        </p:spPr>
        <p:txBody>
          <a:bodyPr wrap="square" lIns="0" tIns="0" rIns="0" bIns="0" rtlCol="0" anchor="ctr"/>
          <a:lstStyle/>
          <a:p>
            <a:pPr indent="0" marL="0">
              <a:buNone/>
            </a:pPr>
            <a:r>
              <a:rPr lang="en-US" sz="900" b="1" spc="100" kern="0" dirty="0">
                <a:solidFill>
                  <a:srgbClr val="5C8A1B"/>
                </a:solidFill>
                <a:latin typeface="Calibri" pitchFamily="34" charset="0"/>
                <a:ea typeface="Calibri" pitchFamily="34" charset="-122"/>
                <a:cs typeface="Calibri" pitchFamily="34" charset="-120"/>
              </a:rPr>
              <a:t>BEST FOR</a:t>
            </a:r>
            <a:endParaRPr lang="en-US" sz="900" dirty="0"/>
          </a:p>
        </p:txBody>
      </p:sp>
      <p:sp>
        <p:nvSpPr>
          <p:cNvPr id="17" name="Text 15"/>
          <p:cNvSpPr/>
          <p:nvPr/>
        </p:nvSpPr>
        <p:spPr>
          <a:xfrm>
            <a:off x="3465576" y="3904488"/>
            <a:ext cx="2331720" cy="347472"/>
          </a:xfrm>
          <a:prstGeom prst="rect">
            <a:avLst/>
          </a:prstGeom>
          <a:noFill/>
          <a:ln/>
        </p:spPr>
        <p:txBody>
          <a:bodyPr wrap="square" lIns="0" tIns="0" rIns="0" bIns="0" rtlCol="0" anchor="ctr"/>
          <a:lstStyle/>
          <a:p>
            <a:pPr indent="0" marL="0">
              <a:buNone/>
            </a:pPr>
            <a:r>
              <a:rPr lang="en-US" sz="1100" dirty="0">
                <a:solidFill>
                  <a:srgbClr val="26282A"/>
                </a:solidFill>
                <a:latin typeface="Calibri" pitchFamily="34" charset="0"/>
                <a:ea typeface="Calibri" pitchFamily="34" charset="-122"/>
                <a:cs typeface="Calibri" pitchFamily="34" charset="-120"/>
              </a:rPr>
              <a:t>When format matters</a:t>
            </a:r>
            <a:endParaRPr lang="en-US" sz="1100" dirty="0"/>
          </a:p>
        </p:txBody>
      </p:sp>
      <p:sp>
        <p:nvSpPr>
          <p:cNvPr id="18" name="Shape 16"/>
          <p:cNvSpPr/>
          <p:nvPr/>
        </p:nvSpPr>
        <p:spPr>
          <a:xfrm>
            <a:off x="6071616" y="1828800"/>
            <a:ext cx="2679192" cy="2468880"/>
          </a:xfrm>
          <a:prstGeom prst="roundRect">
            <a:avLst>
              <a:gd name="adj" fmla="val 2963"/>
            </a:avLst>
          </a:prstGeom>
          <a:solidFill>
            <a:srgbClr val="F4F5F6"/>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19" name="Text 17"/>
          <p:cNvSpPr/>
          <p:nvPr/>
        </p:nvSpPr>
        <p:spPr>
          <a:xfrm>
            <a:off x="6272784" y="1993392"/>
            <a:ext cx="2286000" cy="292608"/>
          </a:xfrm>
          <a:prstGeom prst="rect">
            <a:avLst/>
          </a:prstGeom>
          <a:noFill/>
          <a:ln/>
        </p:spPr>
        <p:txBody>
          <a:bodyPr wrap="square" lIns="0" tIns="0" rIns="0" bIns="0" rtlCol="0" anchor="ctr"/>
          <a:lstStyle/>
          <a:p>
            <a:pPr indent="0" marL="0">
              <a:buNone/>
            </a:pPr>
            <a:r>
              <a:rPr lang="en-US" sz="1600" b="1" dirty="0">
                <a:solidFill>
                  <a:srgbClr val="5C8A1B"/>
                </a:solidFill>
                <a:latin typeface="Cambria" pitchFamily="34" charset="0"/>
                <a:ea typeface="Cambria" pitchFamily="34" charset="-122"/>
                <a:cs typeface="Cambria" pitchFamily="34" charset="-120"/>
              </a:rPr>
              <a:t>Few-shot</a:t>
            </a:r>
            <a:endParaRPr lang="en-US" sz="1600" dirty="0"/>
          </a:p>
        </p:txBody>
      </p:sp>
      <p:sp>
        <p:nvSpPr>
          <p:cNvPr id="20" name="Text 18"/>
          <p:cNvSpPr/>
          <p:nvPr/>
        </p:nvSpPr>
        <p:spPr>
          <a:xfrm>
            <a:off x="6272784" y="2340864"/>
            <a:ext cx="2331720" cy="457200"/>
          </a:xfrm>
          <a:prstGeom prst="rect">
            <a:avLst/>
          </a:prstGeom>
          <a:noFill/>
          <a:ln/>
        </p:spPr>
        <p:txBody>
          <a:bodyPr wrap="square" lIns="0" tIns="0" rIns="0" bIns="0" rtlCol="0" anchor="ctr"/>
          <a:lstStyle/>
          <a:p>
            <a:pPr indent="0" marL="0">
              <a:buNone/>
            </a:pPr>
            <a:r>
              <a:rPr lang="en-US" sz="1200" b="1" dirty="0">
                <a:solidFill>
                  <a:srgbClr val="26282A"/>
                </a:solidFill>
                <a:latin typeface="Calibri" pitchFamily="34" charset="0"/>
                <a:ea typeface="Calibri" pitchFamily="34" charset="-122"/>
                <a:cs typeface="Calibri" pitchFamily="34" charset="-120"/>
              </a:rPr>
              <a:t>Give 2–5 examples.</a:t>
            </a:r>
            <a:endParaRPr lang="en-US" sz="1200" dirty="0"/>
          </a:p>
        </p:txBody>
      </p:sp>
      <p:sp>
        <p:nvSpPr>
          <p:cNvPr id="21" name="Text 19"/>
          <p:cNvSpPr/>
          <p:nvPr/>
        </p:nvSpPr>
        <p:spPr>
          <a:xfrm>
            <a:off x="6272784" y="2852928"/>
            <a:ext cx="2331720" cy="777240"/>
          </a:xfrm>
          <a:prstGeom prst="rect">
            <a:avLst/>
          </a:prstGeom>
          <a:noFill/>
          <a:ln/>
        </p:spPr>
        <p:txBody>
          <a:bodyPr wrap="square" lIns="0" tIns="0" rIns="0" bIns="0" rtlCol="0" anchor="ctr"/>
          <a:lstStyle/>
          <a:p>
            <a:pPr indent="0" marL="0">
              <a:buNone/>
            </a:pPr>
            <a:r>
              <a:rPr lang="en-US" sz="1100" i="1" dirty="0">
                <a:solidFill>
                  <a:srgbClr val="44474A"/>
                </a:solidFill>
                <a:latin typeface="Calibri" pitchFamily="34" charset="0"/>
                <a:ea typeface="Calibri" pitchFamily="34" charset="-122"/>
                <a:cs typeface="Calibri" pitchFamily="34" charset="-120"/>
              </a:rPr>
              <a:t>Show several labelled reviews, then the new one.</a:t>
            </a:r>
            <a:endParaRPr lang="en-US" sz="1100" dirty="0"/>
          </a:p>
        </p:txBody>
      </p:sp>
      <p:sp>
        <p:nvSpPr>
          <p:cNvPr id="22" name="Text 20"/>
          <p:cNvSpPr/>
          <p:nvPr/>
        </p:nvSpPr>
        <p:spPr>
          <a:xfrm>
            <a:off x="6272784" y="3703320"/>
            <a:ext cx="2286000" cy="201168"/>
          </a:xfrm>
          <a:prstGeom prst="rect">
            <a:avLst/>
          </a:prstGeom>
          <a:noFill/>
          <a:ln/>
        </p:spPr>
        <p:txBody>
          <a:bodyPr wrap="square" lIns="0" tIns="0" rIns="0" bIns="0" rtlCol="0" anchor="ctr"/>
          <a:lstStyle/>
          <a:p>
            <a:pPr indent="0" marL="0">
              <a:buNone/>
            </a:pPr>
            <a:r>
              <a:rPr lang="en-US" sz="900" b="1" spc="100" kern="0" dirty="0">
                <a:solidFill>
                  <a:srgbClr val="5C8A1B"/>
                </a:solidFill>
                <a:latin typeface="Calibri" pitchFamily="34" charset="0"/>
                <a:ea typeface="Calibri" pitchFamily="34" charset="-122"/>
                <a:cs typeface="Calibri" pitchFamily="34" charset="-120"/>
              </a:rPr>
              <a:t>BEST FOR</a:t>
            </a:r>
            <a:endParaRPr lang="en-US" sz="900" dirty="0"/>
          </a:p>
        </p:txBody>
      </p:sp>
      <p:sp>
        <p:nvSpPr>
          <p:cNvPr id="23" name="Text 21"/>
          <p:cNvSpPr/>
          <p:nvPr/>
        </p:nvSpPr>
        <p:spPr>
          <a:xfrm>
            <a:off x="6272784" y="3904488"/>
            <a:ext cx="2331720" cy="347472"/>
          </a:xfrm>
          <a:prstGeom prst="rect">
            <a:avLst/>
          </a:prstGeom>
          <a:noFill/>
          <a:ln/>
        </p:spPr>
        <p:txBody>
          <a:bodyPr wrap="square" lIns="0" tIns="0" rIns="0" bIns="0" rtlCol="0" anchor="ctr"/>
          <a:lstStyle/>
          <a:p>
            <a:pPr indent="0" marL="0">
              <a:buNone/>
            </a:pPr>
            <a:r>
              <a:rPr lang="en-US" sz="1100" dirty="0">
                <a:solidFill>
                  <a:srgbClr val="26282A"/>
                </a:solidFill>
                <a:latin typeface="Calibri" pitchFamily="34" charset="0"/>
                <a:ea typeface="Calibri" pitchFamily="34" charset="-122"/>
                <a:cs typeface="Calibri" pitchFamily="34" charset="-120"/>
              </a:rPr>
              <a:t>Tricky or specific style/format</a:t>
            </a:r>
            <a:endParaRPr lang="en-US" sz="1100" dirty="0"/>
          </a:p>
        </p:txBody>
      </p:sp>
      <p:sp>
        <p:nvSpPr>
          <p:cNvPr id="24" name="Text 22"/>
          <p:cNvSpPr/>
          <p:nvPr/>
        </p:nvSpPr>
        <p:spPr>
          <a:xfrm>
            <a:off x="457200" y="4873752"/>
            <a:ext cx="5486400" cy="228600"/>
          </a:xfrm>
          <a:prstGeom prst="rect">
            <a:avLst/>
          </a:prstGeom>
          <a:noFill/>
          <a:ln/>
        </p:spPr>
        <p:txBody>
          <a:bodyPr wrap="square" lIns="0" tIns="0" rIns="0" bIns="0" rtlCol="0" anchor="ctr"/>
          <a:lstStyle/>
          <a:p>
            <a:pPr indent="0" marL="0">
              <a:buNone/>
            </a:pPr>
            <a:r>
              <a:rPr lang="en-US" sz="800" dirty="0">
                <a:solidFill>
                  <a:srgbClr val="7A7D81"/>
                </a:solidFill>
                <a:latin typeface="Calibri" pitchFamily="34" charset="0"/>
                <a:ea typeface="Calibri" pitchFamily="34" charset="-122"/>
                <a:cs typeface="Calibri" pitchFamily="34" charset="-120"/>
              </a:rPr>
              <a:t>Basics of AI/ML &amp; Prompt Engineering</a:t>
            </a:r>
            <a:endParaRPr lang="en-US" sz="800" dirty="0"/>
          </a:p>
        </p:txBody>
      </p:sp>
      <p:sp>
        <p:nvSpPr>
          <p:cNvPr id="25" name="Text 23"/>
          <p:cNvSpPr/>
          <p:nvPr/>
        </p:nvSpPr>
        <p:spPr>
          <a:xfrm>
            <a:off x="8321040" y="4873752"/>
            <a:ext cx="365760" cy="228600"/>
          </a:xfrm>
          <a:prstGeom prst="rect">
            <a:avLst/>
          </a:prstGeom>
          <a:noFill/>
          <a:ln/>
        </p:spPr>
        <p:txBody>
          <a:bodyPr wrap="square" lIns="0" tIns="0" rIns="0" bIns="0" rtlCol="0" anchor="ctr"/>
          <a:lstStyle/>
          <a:p>
            <a:pPr algn="r" indent="0" marL="0">
              <a:buNone/>
            </a:pPr>
            <a:r>
              <a:rPr lang="en-US" sz="800" dirty="0">
                <a:solidFill>
                  <a:srgbClr val="7A7D81"/>
                </a:solidFill>
                <a:latin typeface="Calibri" pitchFamily="34" charset="0"/>
                <a:ea typeface="Calibri" pitchFamily="34" charset="-122"/>
                <a:cs typeface="Calibri" pitchFamily="34" charset="-120"/>
              </a:rPr>
              <a:t>17</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02336"/>
            <a:ext cx="109728" cy="109728"/>
          </a:xfrm>
          <a:prstGeom prst="ellipse">
            <a:avLst/>
          </a:prstGeom>
          <a:solidFill>
            <a:srgbClr val="86BC25"/>
          </a:solidFill>
          <a:ln/>
        </p:spPr>
      </p:sp>
      <p:sp>
        <p:nvSpPr>
          <p:cNvPr id="3" name="Text 1"/>
          <p:cNvSpPr/>
          <p:nvPr/>
        </p:nvSpPr>
        <p:spPr>
          <a:xfrm>
            <a:off x="658368" y="329184"/>
            <a:ext cx="7955280" cy="256032"/>
          </a:xfrm>
          <a:prstGeom prst="rect">
            <a:avLst/>
          </a:prstGeom>
          <a:noFill/>
          <a:ln/>
        </p:spPr>
        <p:txBody>
          <a:bodyPr wrap="square" lIns="0" tIns="0" rIns="0" bIns="0" rtlCol="0" anchor="ctr"/>
          <a:lstStyle/>
          <a:p>
            <a:pPr indent="0" marL="0">
              <a:buNone/>
            </a:pPr>
            <a:r>
              <a:rPr lang="en-US" sz="1100" b="1" spc="200" kern="0" dirty="0">
                <a:solidFill>
                  <a:srgbClr val="5C8A1B"/>
                </a:solidFill>
                <a:latin typeface="Calibri" pitchFamily="34" charset="0"/>
                <a:ea typeface="Calibri" pitchFamily="34" charset="-122"/>
                <a:cs typeface="Calibri" pitchFamily="34" charset="-120"/>
              </a:rPr>
              <a:t>MODULE 4 · TECHNIQUES</a:t>
            </a:r>
            <a:endParaRPr lang="en-US" sz="1100" dirty="0"/>
          </a:p>
        </p:txBody>
      </p:sp>
      <p:sp>
        <p:nvSpPr>
          <p:cNvPr id="4" name="Text 2"/>
          <p:cNvSpPr/>
          <p:nvPr/>
        </p:nvSpPr>
        <p:spPr>
          <a:xfrm>
            <a:off x="457200" y="603504"/>
            <a:ext cx="8229600" cy="640080"/>
          </a:xfrm>
          <a:prstGeom prst="rect">
            <a:avLst/>
          </a:prstGeom>
          <a:noFill/>
          <a:ln/>
        </p:spPr>
        <p:txBody>
          <a:bodyPr wrap="square" lIns="0" tIns="0" rIns="0" bIns="0" rtlCol="0" anchor="ctr"/>
          <a:lstStyle/>
          <a:p>
            <a:pPr indent="0" marL="0">
              <a:buNone/>
            </a:pPr>
            <a:r>
              <a:rPr lang="en-US" sz="2900" b="1" dirty="0">
                <a:solidFill>
                  <a:srgbClr val="26282A"/>
                </a:solidFill>
                <a:latin typeface="Cambria" pitchFamily="34" charset="0"/>
                <a:ea typeface="Cambria" pitchFamily="34" charset="-122"/>
                <a:cs typeface="Cambria" pitchFamily="34" charset="-120"/>
              </a:rPr>
              <a:t>Three more that punch above their weight</a:t>
            </a:r>
            <a:endParaRPr lang="en-US" sz="2900" dirty="0"/>
          </a:p>
        </p:txBody>
      </p:sp>
      <p:sp>
        <p:nvSpPr>
          <p:cNvPr id="5" name="Shape 3"/>
          <p:cNvSpPr/>
          <p:nvPr/>
        </p:nvSpPr>
        <p:spPr>
          <a:xfrm>
            <a:off x="457200" y="1600200"/>
            <a:ext cx="2679192" cy="2514600"/>
          </a:xfrm>
          <a:prstGeom prst="roundRect">
            <a:avLst>
              <a:gd name="adj" fmla="val 2909"/>
            </a:avLst>
          </a:prstGeom>
          <a:solidFill>
            <a:srgbClr val="F4F5F6"/>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6" name="Text 4"/>
          <p:cNvSpPr/>
          <p:nvPr/>
        </p:nvSpPr>
        <p:spPr>
          <a:xfrm>
            <a:off x="658368" y="1783080"/>
            <a:ext cx="2331720" cy="502920"/>
          </a:xfrm>
          <a:prstGeom prst="rect">
            <a:avLst/>
          </a:prstGeom>
          <a:noFill/>
          <a:ln/>
        </p:spPr>
        <p:txBody>
          <a:bodyPr wrap="square" lIns="0" tIns="0" rIns="0" bIns="0" rtlCol="0" anchor="ctr"/>
          <a:lstStyle/>
          <a:p>
            <a:pPr indent="0" marL="0">
              <a:buNone/>
            </a:pPr>
            <a:r>
              <a:rPr lang="en-US" sz="1500" b="1" dirty="0">
                <a:solidFill>
                  <a:srgbClr val="26282A"/>
                </a:solidFill>
                <a:latin typeface="Cambria" pitchFamily="34" charset="0"/>
                <a:ea typeface="Cambria" pitchFamily="34" charset="-122"/>
                <a:cs typeface="Cambria" pitchFamily="34" charset="-120"/>
              </a:rPr>
              <a:t>Chain-of-thought</a:t>
            </a:r>
            <a:endParaRPr lang="en-US" sz="1500" dirty="0"/>
          </a:p>
        </p:txBody>
      </p:sp>
      <p:sp>
        <p:nvSpPr>
          <p:cNvPr id="7" name="Text 5"/>
          <p:cNvSpPr/>
          <p:nvPr/>
        </p:nvSpPr>
        <p:spPr>
          <a:xfrm>
            <a:off x="658368" y="2377440"/>
            <a:ext cx="2331720" cy="914400"/>
          </a:xfrm>
          <a:prstGeom prst="rect">
            <a:avLst/>
          </a:prstGeom>
          <a:noFill/>
          <a:ln/>
        </p:spPr>
        <p:txBody>
          <a:bodyPr wrap="square" lIns="0" tIns="0" rIns="0" bIns="0" rtlCol="0" anchor="ctr"/>
          <a:lstStyle/>
          <a:p>
            <a:pPr indent="0" marL="0">
              <a:buNone/>
            </a:pPr>
            <a:r>
              <a:rPr lang="en-US" sz="1250" dirty="0">
                <a:solidFill>
                  <a:srgbClr val="44474A"/>
                </a:solidFill>
                <a:latin typeface="Calibri" pitchFamily="34" charset="0"/>
                <a:ea typeface="Calibri" pitchFamily="34" charset="-122"/>
                <a:cs typeface="Calibri" pitchFamily="34" charset="-120"/>
              </a:rPr>
              <a:t>Add “think step by step” or “show your reasoning.”</a:t>
            </a:r>
            <a:endParaRPr lang="en-US" sz="1250" dirty="0"/>
          </a:p>
        </p:txBody>
      </p:sp>
      <p:sp>
        <p:nvSpPr>
          <p:cNvPr id="8" name="Text 6"/>
          <p:cNvSpPr/>
          <p:nvPr/>
        </p:nvSpPr>
        <p:spPr>
          <a:xfrm>
            <a:off x="658368" y="3429000"/>
            <a:ext cx="2286000" cy="201168"/>
          </a:xfrm>
          <a:prstGeom prst="rect">
            <a:avLst/>
          </a:prstGeom>
          <a:noFill/>
          <a:ln/>
        </p:spPr>
        <p:txBody>
          <a:bodyPr wrap="square" lIns="0" tIns="0" rIns="0" bIns="0" rtlCol="0" anchor="ctr"/>
          <a:lstStyle/>
          <a:p>
            <a:pPr indent="0" marL="0">
              <a:buNone/>
            </a:pPr>
            <a:r>
              <a:rPr lang="en-US" sz="900" b="1" spc="100" kern="0" dirty="0">
                <a:solidFill>
                  <a:srgbClr val="5C8A1B"/>
                </a:solidFill>
                <a:latin typeface="Calibri" pitchFamily="34" charset="0"/>
                <a:ea typeface="Calibri" pitchFamily="34" charset="-122"/>
                <a:cs typeface="Calibri" pitchFamily="34" charset="-120"/>
              </a:rPr>
              <a:t>USE FOR</a:t>
            </a:r>
            <a:endParaRPr lang="en-US" sz="900" dirty="0"/>
          </a:p>
        </p:txBody>
      </p:sp>
      <p:sp>
        <p:nvSpPr>
          <p:cNvPr id="9" name="Text 7"/>
          <p:cNvSpPr/>
          <p:nvPr/>
        </p:nvSpPr>
        <p:spPr>
          <a:xfrm>
            <a:off x="658368" y="3630168"/>
            <a:ext cx="2331720" cy="457200"/>
          </a:xfrm>
          <a:prstGeom prst="rect">
            <a:avLst/>
          </a:prstGeom>
          <a:noFill/>
          <a:ln/>
        </p:spPr>
        <p:txBody>
          <a:bodyPr wrap="square" lIns="0" tIns="0" rIns="0" bIns="0" rtlCol="0" anchor="ctr"/>
          <a:lstStyle/>
          <a:p>
            <a:pPr indent="0" marL="0">
              <a:buNone/>
            </a:pPr>
            <a:r>
              <a:rPr lang="en-US" sz="1150" i="1" dirty="0">
                <a:solidFill>
                  <a:srgbClr val="26282A"/>
                </a:solidFill>
                <a:latin typeface="Calibri" pitchFamily="34" charset="0"/>
                <a:ea typeface="Calibri" pitchFamily="34" charset="-122"/>
                <a:cs typeface="Calibri" pitchFamily="34" charset="-120"/>
              </a:rPr>
              <a:t>Analysis, logic, multi-step problems</a:t>
            </a:r>
            <a:endParaRPr lang="en-US" sz="1150" dirty="0"/>
          </a:p>
        </p:txBody>
      </p:sp>
      <p:sp>
        <p:nvSpPr>
          <p:cNvPr id="10" name="Shape 8"/>
          <p:cNvSpPr/>
          <p:nvPr/>
        </p:nvSpPr>
        <p:spPr>
          <a:xfrm>
            <a:off x="3264408" y="1600200"/>
            <a:ext cx="2679192" cy="2514600"/>
          </a:xfrm>
          <a:prstGeom prst="roundRect">
            <a:avLst>
              <a:gd name="adj" fmla="val 2909"/>
            </a:avLst>
          </a:prstGeom>
          <a:solidFill>
            <a:srgbClr val="F4F5F6"/>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11" name="Text 9"/>
          <p:cNvSpPr/>
          <p:nvPr/>
        </p:nvSpPr>
        <p:spPr>
          <a:xfrm>
            <a:off x="3465576" y="1783080"/>
            <a:ext cx="2331720" cy="502920"/>
          </a:xfrm>
          <a:prstGeom prst="rect">
            <a:avLst/>
          </a:prstGeom>
          <a:noFill/>
          <a:ln/>
        </p:spPr>
        <p:txBody>
          <a:bodyPr wrap="square" lIns="0" tIns="0" rIns="0" bIns="0" rtlCol="0" anchor="ctr"/>
          <a:lstStyle/>
          <a:p>
            <a:pPr indent="0" marL="0">
              <a:buNone/>
            </a:pPr>
            <a:r>
              <a:rPr lang="en-US" sz="1500" b="1" dirty="0">
                <a:solidFill>
                  <a:srgbClr val="26282A"/>
                </a:solidFill>
                <a:latin typeface="Cambria" pitchFamily="34" charset="0"/>
                <a:ea typeface="Cambria" pitchFamily="34" charset="-122"/>
                <a:cs typeface="Cambria" pitchFamily="34" charset="-120"/>
              </a:rPr>
              <a:t>Role prompting</a:t>
            </a:r>
            <a:endParaRPr lang="en-US" sz="1500" dirty="0"/>
          </a:p>
        </p:txBody>
      </p:sp>
      <p:sp>
        <p:nvSpPr>
          <p:cNvPr id="12" name="Text 10"/>
          <p:cNvSpPr/>
          <p:nvPr/>
        </p:nvSpPr>
        <p:spPr>
          <a:xfrm>
            <a:off x="3465576" y="2377440"/>
            <a:ext cx="2331720" cy="914400"/>
          </a:xfrm>
          <a:prstGeom prst="rect">
            <a:avLst/>
          </a:prstGeom>
          <a:noFill/>
          <a:ln/>
        </p:spPr>
        <p:txBody>
          <a:bodyPr wrap="square" lIns="0" tIns="0" rIns="0" bIns="0" rtlCol="0" anchor="ctr"/>
          <a:lstStyle/>
          <a:p>
            <a:pPr indent="0" marL="0">
              <a:buNone/>
            </a:pPr>
            <a:r>
              <a:rPr lang="en-US" sz="1250" dirty="0">
                <a:solidFill>
                  <a:srgbClr val="44474A"/>
                </a:solidFill>
                <a:latin typeface="Calibri" pitchFamily="34" charset="0"/>
                <a:ea typeface="Calibri" pitchFamily="34" charset="-122"/>
                <a:cs typeface="Calibri" pitchFamily="34" charset="-120"/>
              </a:rPr>
              <a:t>Assign an expert persona to raise depth &amp; relevance.</a:t>
            </a:r>
            <a:endParaRPr lang="en-US" sz="1250" dirty="0"/>
          </a:p>
        </p:txBody>
      </p:sp>
      <p:sp>
        <p:nvSpPr>
          <p:cNvPr id="13" name="Text 11"/>
          <p:cNvSpPr/>
          <p:nvPr/>
        </p:nvSpPr>
        <p:spPr>
          <a:xfrm>
            <a:off x="3465576" y="3429000"/>
            <a:ext cx="2286000" cy="201168"/>
          </a:xfrm>
          <a:prstGeom prst="rect">
            <a:avLst/>
          </a:prstGeom>
          <a:noFill/>
          <a:ln/>
        </p:spPr>
        <p:txBody>
          <a:bodyPr wrap="square" lIns="0" tIns="0" rIns="0" bIns="0" rtlCol="0" anchor="ctr"/>
          <a:lstStyle/>
          <a:p>
            <a:pPr indent="0" marL="0">
              <a:buNone/>
            </a:pPr>
            <a:r>
              <a:rPr lang="en-US" sz="900" b="1" spc="100" kern="0" dirty="0">
                <a:solidFill>
                  <a:srgbClr val="5C8A1B"/>
                </a:solidFill>
                <a:latin typeface="Calibri" pitchFamily="34" charset="0"/>
                <a:ea typeface="Calibri" pitchFamily="34" charset="-122"/>
                <a:cs typeface="Calibri" pitchFamily="34" charset="-120"/>
              </a:rPr>
              <a:t>USE FOR</a:t>
            </a:r>
            <a:endParaRPr lang="en-US" sz="900" dirty="0"/>
          </a:p>
        </p:txBody>
      </p:sp>
      <p:sp>
        <p:nvSpPr>
          <p:cNvPr id="14" name="Text 12"/>
          <p:cNvSpPr/>
          <p:nvPr/>
        </p:nvSpPr>
        <p:spPr>
          <a:xfrm>
            <a:off x="3465576" y="3630168"/>
            <a:ext cx="2331720" cy="457200"/>
          </a:xfrm>
          <a:prstGeom prst="rect">
            <a:avLst/>
          </a:prstGeom>
          <a:noFill/>
          <a:ln/>
        </p:spPr>
        <p:txBody>
          <a:bodyPr wrap="square" lIns="0" tIns="0" rIns="0" bIns="0" rtlCol="0" anchor="ctr"/>
          <a:lstStyle/>
          <a:p>
            <a:pPr indent="0" marL="0">
              <a:buNone/>
            </a:pPr>
            <a:r>
              <a:rPr lang="en-US" sz="1150" i="1" dirty="0">
                <a:solidFill>
                  <a:srgbClr val="26282A"/>
                </a:solidFill>
                <a:latin typeface="Calibri" pitchFamily="34" charset="0"/>
                <a:ea typeface="Calibri" pitchFamily="34" charset="-122"/>
                <a:cs typeface="Calibri" pitchFamily="34" charset="-120"/>
              </a:rPr>
              <a:t>Specialist or technical tasks</a:t>
            </a:r>
            <a:endParaRPr lang="en-US" sz="1150" dirty="0"/>
          </a:p>
        </p:txBody>
      </p:sp>
      <p:sp>
        <p:nvSpPr>
          <p:cNvPr id="15" name="Shape 13"/>
          <p:cNvSpPr/>
          <p:nvPr/>
        </p:nvSpPr>
        <p:spPr>
          <a:xfrm>
            <a:off x="6071616" y="1600200"/>
            <a:ext cx="2679192" cy="2514600"/>
          </a:xfrm>
          <a:prstGeom prst="roundRect">
            <a:avLst>
              <a:gd name="adj" fmla="val 2909"/>
            </a:avLst>
          </a:prstGeom>
          <a:solidFill>
            <a:srgbClr val="F4F5F6"/>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16" name="Text 14"/>
          <p:cNvSpPr/>
          <p:nvPr/>
        </p:nvSpPr>
        <p:spPr>
          <a:xfrm>
            <a:off x="6272784" y="1783080"/>
            <a:ext cx="2331720" cy="502920"/>
          </a:xfrm>
          <a:prstGeom prst="rect">
            <a:avLst/>
          </a:prstGeom>
          <a:noFill/>
          <a:ln/>
        </p:spPr>
        <p:txBody>
          <a:bodyPr wrap="square" lIns="0" tIns="0" rIns="0" bIns="0" rtlCol="0" anchor="ctr"/>
          <a:lstStyle/>
          <a:p>
            <a:pPr indent="0" marL="0">
              <a:buNone/>
            </a:pPr>
            <a:r>
              <a:rPr lang="en-US" sz="1500" b="1" dirty="0">
                <a:solidFill>
                  <a:srgbClr val="26282A"/>
                </a:solidFill>
                <a:latin typeface="Cambria" pitchFamily="34" charset="0"/>
                <a:ea typeface="Cambria" pitchFamily="34" charset="-122"/>
                <a:cs typeface="Cambria" pitchFamily="34" charset="-120"/>
              </a:rPr>
              <a:t>Iterative refinement</a:t>
            </a:r>
            <a:endParaRPr lang="en-US" sz="1500" dirty="0"/>
          </a:p>
        </p:txBody>
      </p:sp>
      <p:sp>
        <p:nvSpPr>
          <p:cNvPr id="17" name="Text 15"/>
          <p:cNvSpPr/>
          <p:nvPr/>
        </p:nvSpPr>
        <p:spPr>
          <a:xfrm>
            <a:off x="6272784" y="2377440"/>
            <a:ext cx="2331720" cy="914400"/>
          </a:xfrm>
          <a:prstGeom prst="rect">
            <a:avLst/>
          </a:prstGeom>
          <a:noFill/>
          <a:ln/>
        </p:spPr>
        <p:txBody>
          <a:bodyPr wrap="square" lIns="0" tIns="0" rIns="0" bIns="0" rtlCol="0" anchor="ctr"/>
          <a:lstStyle/>
          <a:p>
            <a:pPr indent="0" marL="0">
              <a:buNone/>
            </a:pPr>
            <a:r>
              <a:rPr lang="en-US" sz="1250" dirty="0">
                <a:solidFill>
                  <a:srgbClr val="44474A"/>
                </a:solidFill>
                <a:latin typeface="Calibri" pitchFamily="34" charset="0"/>
                <a:ea typeface="Calibri" pitchFamily="34" charset="-122"/>
                <a:cs typeface="Calibri" pitchFamily="34" charset="-120"/>
              </a:rPr>
              <a:t>Treat it as a conversation — refine the output.</a:t>
            </a:r>
            <a:endParaRPr lang="en-US" sz="1250" dirty="0"/>
          </a:p>
        </p:txBody>
      </p:sp>
      <p:sp>
        <p:nvSpPr>
          <p:cNvPr id="18" name="Text 16"/>
          <p:cNvSpPr/>
          <p:nvPr/>
        </p:nvSpPr>
        <p:spPr>
          <a:xfrm>
            <a:off x="6272784" y="3429000"/>
            <a:ext cx="2286000" cy="201168"/>
          </a:xfrm>
          <a:prstGeom prst="rect">
            <a:avLst/>
          </a:prstGeom>
          <a:noFill/>
          <a:ln/>
        </p:spPr>
        <p:txBody>
          <a:bodyPr wrap="square" lIns="0" tIns="0" rIns="0" bIns="0" rtlCol="0" anchor="ctr"/>
          <a:lstStyle/>
          <a:p>
            <a:pPr indent="0" marL="0">
              <a:buNone/>
            </a:pPr>
            <a:r>
              <a:rPr lang="en-US" sz="900" b="1" spc="100" kern="0" dirty="0">
                <a:solidFill>
                  <a:srgbClr val="5C8A1B"/>
                </a:solidFill>
                <a:latin typeface="Calibri" pitchFamily="34" charset="0"/>
                <a:ea typeface="Calibri" pitchFamily="34" charset="-122"/>
                <a:cs typeface="Calibri" pitchFamily="34" charset="-120"/>
              </a:rPr>
              <a:t>USE FOR</a:t>
            </a:r>
            <a:endParaRPr lang="en-US" sz="900" dirty="0"/>
          </a:p>
        </p:txBody>
      </p:sp>
      <p:sp>
        <p:nvSpPr>
          <p:cNvPr id="19" name="Text 17"/>
          <p:cNvSpPr/>
          <p:nvPr/>
        </p:nvSpPr>
        <p:spPr>
          <a:xfrm>
            <a:off x="6272784" y="3630168"/>
            <a:ext cx="2331720" cy="457200"/>
          </a:xfrm>
          <a:prstGeom prst="rect">
            <a:avLst/>
          </a:prstGeom>
          <a:noFill/>
          <a:ln/>
        </p:spPr>
        <p:txBody>
          <a:bodyPr wrap="square" lIns="0" tIns="0" rIns="0" bIns="0" rtlCol="0" anchor="ctr"/>
          <a:lstStyle/>
          <a:p>
            <a:pPr indent="0" marL="0">
              <a:buNone/>
            </a:pPr>
            <a:r>
              <a:rPr lang="en-US" sz="1150" i="1" dirty="0">
                <a:solidFill>
                  <a:srgbClr val="26282A"/>
                </a:solidFill>
                <a:latin typeface="Calibri" pitchFamily="34" charset="0"/>
                <a:ea typeface="Calibri" pitchFamily="34" charset="-122"/>
                <a:cs typeface="Calibri" pitchFamily="34" charset="-120"/>
              </a:rPr>
              <a:t>Almost always; first drafts are rarely final</a:t>
            </a:r>
            <a:endParaRPr lang="en-US" sz="1150" dirty="0"/>
          </a:p>
        </p:txBody>
      </p:sp>
      <p:sp>
        <p:nvSpPr>
          <p:cNvPr id="20" name="Text 18"/>
          <p:cNvSpPr/>
          <p:nvPr/>
        </p:nvSpPr>
        <p:spPr>
          <a:xfrm>
            <a:off x="457200" y="4873752"/>
            <a:ext cx="5486400" cy="228600"/>
          </a:xfrm>
          <a:prstGeom prst="rect">
            <a:avLst/>
          </a:prstGeom>
          <a:noFill/>
          <a:ln/>
        </p:spPr>
        <p:txBody>
          <a:bodyPr wrap="square" lIns="0" tIns="0" rIns="0" bIns="0" rtlCol="0" anchor="ctr"/>
          <a:lstStyle/>
          <a:p>
            <a:pPr indent="0" marL="0">
              <a:buNone/>
            </a:pPr>
            <a:r>
              <a:rPr lang="en-US" sz="800" dirty="0">
                <a:solidFill>
                  <a:srgbClr val="7A7D81"/>
                </a:solidFill>
                <a:latin typeface="Calibri" pitchFamily="34" charset="0"/>
                <a:ea typeface="Calibri" pitchFamily="34" charset="-122"/>
                <a:cs typeface="Calibri" pitchFamily="34" charset="-120"/>
              </a:rPr>
              <a:t>Basics of AI/ML &amp; Prompt Engineering</a:t>
            </a:r>
            <a:endParaRPr lang="en-US" sz="800" dirty="0"/>
          </a:p>
        </p:txBody>
      </p:sp>
      <p:sp>
        <p:nvSpPr>
          <p:cNvPr id="21" name="Text 19"/>
          <p:cNvSpPr/>
          <p:nvPr/>
        </p:nvSpPr>
        <p:spPr>
          <a:xfrm>
            <a:off x="8321040" y="4873752"/>
            <a:ext cx="365760" cy="228600"/>
          </a:xfrm>
          <a:prstGeom prst="rect">
            <a:avLst/>
          </a:prstGeom>
          <a:noFill/>
          <a:ln/>
        </p:spPr>
        <p:txBody>
          <a:bodyPr wrap="square" lIns="0" tIns="0" rIns="0" bIns="0" rtlCol="0" anchor="ctr"/>
          <a:lstStyle/>
          <a:p>
            <a:pPr algn="r" indent="0" marL="0">
              <a:buNone/>
            </a:pPr>
            <a:r>
              <a:rPr lang="en-US" sz="800" dirty="0">
                <a:solidFill>
                  <a:srgbClr val="7A7D81"/>
                </a:solidFill>
                <a:latin typeface="Calibri" pitchFamily="34" charset="0"/>
                <a:ea typeface="Calibri" pitchFamily="34" charset="-122"/>
                <a:cs typeface="Calibri" pitchFamily="34" charset="-120"/>
              </a:rPr>
              <a:t>18</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02336"/>
            <a:ext cx="109728" cy="109728"/>
          </a:xfrm>
          <a:prstGeom prst="ellipse">
            <a:avLst/>
          </a:prstGeom>
          <a:solidFill>
            <a:srgbClr val="86BC25"/>
          </a:solidFill>
          <a:ln/>
        </p:spPr>
      </p:sp>
      <p:sp>
        <p:nvSpPr>
          <p:cNvPr id="3" name="Text 1"/>
          <p:cNvSpPr/>
          <p:nvPr/>
        </p:nvSpPr>
        <p:spPr>
          <a:xfrm>
            <a:off x="658368" y="329184"/>
            <a:ext cx="7955280" cy="256032"/>
          </a:xfrm>
          <a:prstGeom prst="rect">
            <a:avLst/>
          </a:prstGeom>
          <a:noFill/>
          <a:ln/>
        </p:spPr>
        <p:txBody>
          <a:bodyPr wrap="square" lIns="0" tIns="0" rIns="0" bIns="0" rtlCol="0" anchor="ctr"/>
          <a:lstStyle/>
          <a:p>
            <a:pPr indent="0" marL="0">
              <a:buNone/>
            </a:pPr>
            <a:r>
              <a:rPr lang="en-US" sz="1100" b="1" spc="200" kern="0" dirty="0">
                <a:solidFill>
                  <a:srgbClr val="5C8A1B"/>
                </a:solidFill>
                <a:latin typeface="Calibri" pitchFamily="34" charset="0"/>
                <a:ea typeface="Calibri" pitchFamily="34" charset="-122"/>
                <a:cs typeface="Calibri" pitchFamily="34" charset="-120"/>
              </a:rPr>
              <a:t>MODULE 4 · PROMPT ENGINEERING</a:t>
            </a:r>
            <a:endParaRPr lang="en-US" sz="1100" dirty="0"/>
          </a:p>
        </p:txBody>
      </p:sp>
      <p:sp>
        <p:nvSpPr>
          <p:cNvPr id="4" name="Text 2"/>
          <p:cNvSpPr/>
          <p:nvPr/>
        </p:nvSpPr>
        <p:spPr>
          <a:xfrm>
            <a:off x="457200" y="603504"/>
            <a:ext cx="8229600" cy="640080"/>
          </a:xfrm>
          <a:prstGeom prst="rect">
            <a:avLst/>
          </a:prstGeom>
          <a:noFill/>
          <a:ln/>
        </p:spPr>
        <p:txBody>
          <a:bodyPr wrap="square" lIns="0" tIns="0" rIns="0" bIns="0" rtlCol="0" anchor="ctr"/>
          <a:lstStyle/>
          <a:p>
            <a:pPr indent="0" marL="0">
              <a:buNone/>
            </a:pPr>
            <a:r>
              <a:rPr lang="en-US" sz="2900" b="1" dirty="0">
                <a:solidFill>
                  <a:srgbClr val="26282A"/>
                </a:solidFill>
                <a:latin typeface="Cambria" pitchFamily="34" charset="0"/>
                <a:ea typeface="Cambria" pitchFamily="34" charset="-122"/>
                <a:cs typeface="Cambria" pitchFamily="34" charset="-120"/>
              </a:rPr>
              <a:t>Weak prompt vs strong prompt</a:t>
            </a:r>
            <a:endParaRPr lang="en-US" sz="2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8229600" cy="2514600"/>
        </p:xfrm>
        <a:graphic>
          <a:graphicData uri="http://schemas.openxmlformats.org/drawingml/2006/table">
            <a:tbl>
              <a:tblPr/>
              <a:tblGrid>
                <a:gridCol w="3108960"/>
                <a:gridCol w="5120640"/>
              </a:tblGrid>
              <a:tr h="41148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Weak prompt</a:t>
                      </a:r>
                      <a:endParaRPr lang="en-US" sz="1300" dirty="0">
                        <a:latin typeface="Calibri" charset="0"/>
                        <a:ea typeface="Calibri" charset="0"/>
                        <a:cs typeface="Calibri" charset="0"/>
                      </a:endParaRPr>
                    </a:p>
                  </a:txBody>
                  <a:tcPr marL="101600" marR="101600" marT="63500" marB="63500" anchor="ctr">
                    <a:lnL w="9525" cap="flat" cmpd="sng" algn="ctr">
                      <a:solidFill>
                        <a:srgbClr val="DADDE0"/>
                      </a:solidFill>
                      <a:prstDash val="solid"/>
                      <a:round/>
                      <a:headEnd type="none" w="med" len="med"/>
                      <a:tailEnd type="none" w="med" len="med"/>
                    </a:lnL>
                    <a:lnR w="9525" cap="flat" cmpd="sng" algn="ctr">
                      <a:solidFill>
                        <a:srgbClr val="DADDE0"/>
                      </a:solidFill>
                      <a:prstDash val="solid"/>
                      <a:round/>
                      <a:headEnd type="none" w="med" len="med"/>
                      <a:tailEnd type="none" w="med" len="med"/>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26282A"/>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Strong prompt</a:t>
                      </a:r>
                      <a:endParaRPr lang="en-US" sz="1300" dirty="0">
                        <a:latin typeface="Calibri" charset="0"/>
                        <a:ea typeface="Calibri" charset="0"/>
                        <a:cs typeface="Calibri" charset="0"/>
                      </a:endParaRPr>
                    </a:p>
                  </a:txBody>
                  <a:tcPr marL="101600" marR="101600" marT="63500" marB="63500" anchor="ctr">
                    <a:lnL w="9525" cap="flat" cmpd="sng" algn="ctr">
                      <a:solidFill>
                        <a:srgbClr val="DADDE0"/>
                      </a:solidFill>
                      <a:prstDash val="solid"/>
                      <a:round/>
                      <a:headEnd type="none" w="med" len="med"/>
                      <a:tailEnd type="none" w="med" len="med"/>
                    </a:lnL>
                    <a:lnR w="9525" cap="flat" cmpd="sng" algn="ctr">
                      <a:solidFill>
                        <a:srgbClr val="DADDE0"/>
                      </a:solidFill>
                      <a:prstDash val="solid"/>
                      <a:round/>
                      <a:headEnd type="none" w="med" len="med"/>
                      <a:tailEnd type="none" w="med" len="med"/>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26282A"/>
                    </a:solidFill>
                  </a:tcPr>
                </a:tc>
              </a:tr>
              <a:tr h="1097280">
                <a:tc>
                  <a:txBody>
                    <a:bodyPr/>
                    <a:lstStyle/>
                    <a:p>
                      <a:pPr algn="l" indent="0" marL="0">
                        <a:buNone/>
                      </a:pPr>
                      <a:r>
                        <a:rPr lang="en-US" sz="1150" dirty="0">
                          <a:solidFill>
                            <a:srgbClr val="26282A"/>
                          </a:solidFill>
                          <a:latin typeface="Calibri" pitchFamily="34" charset="0"/>
                          <a:ea typeface="Calibri" pitchFamily="34" charset="-122"/>
                          <a:cs typeface="Calibri" pitchFamily="34" charset="-120"/>
                        </a:rPr>
                        <a:t>“Write about AI in banking.”</a:t>
                      </a:r>
                      <a:endParaRPr lang="en-US" sz="1150" dirty="0">
                        <a:latin typeface="Calibri" charset="0"/>
                        <a:ea typeface="Calibri" charset="0"/>
                        <a:cs typeface="Calibri" charset="0"/>
                      </a:endParaRPr>
                    </a:p>
                  </a:txBody>
                  <a:tcPr marL="101600" marR="101600" marT="63500" marB="63500" anchor="ctr">
                    <a:lnL w="9525" cap="flat" cmpd="sng" algn="ctr">
                      <a:solidFill>
                        <a:srgbClr val="DADDE0"/>
                      </a:solidFill>
                      <a:prstDash val="solid"/>
                      <a:round/>
                      <a:headEnd type="none" w="med" len="med"/>
                      <a:tailEnd type="none" w="med" len="med"/>
                    </a:lnL>
                    <a:lnR w="9525" cap="flat" cmpd="sng" algn="ctr">
                      <a:solidFill>
                        <a:srgbClr val="DADDE0"/>
                      </a:solidFill>
                      <a:prstDash val="solid"/>
                      <a:round/>
                      <a:headEnd type="none" w="med" len="med"/>
                      <a:tailEnd type="none" w="med" len="med"/>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BFBFB"/>
                    </a:solidFill>
                  </a:tcPr>
                </a:tc>
                <a:tc>
                  <a:txBody>
                    <a:bodyPr/>
                    <a:lstStyle/>
                    <a:p>
                      <a:pPr algn="l" indent="0" marL="0">
                        <a:buNone/>
                      </a:pPr>
                      <a:r>
                        <a:rPr lang="en-US" sz="1150" dirty="0">
                          <a:solidFill>
                            <a:srgbClr val="26282A"/>
                          </a:solidFill>
                          <a:latin typeface="Calibri" pitchFamily="34" charset="0"/>
                          <a:ea typeface="Calibri" pitchFamily="34" charset="-122"/>
                          <a:cs typeface="Calibri" pitchFamily="34" charset="-120"/>
                        </a:rPr>
                        <a:t>“Act as a consultant. Write a 150-word exec summary on 3 ways GenAI improves efficiency in retail banking, for a COO, as bullets with a one-line impact each.”</a:t>
                      </a:r>
                      <a:endParaRPr lang="en-US" sz="1150" dirty="0">
                        <a:latin typeface="Calibri" charset="0"/>
                        <a:ea typeface="Calibri" charset="0"/>
                        <a:cs typeface="Calibri" charset="0"/>
                      </a:endParaRPr>
                    </a:p>
                  </a:txBody>
                  <a:tcPr marL="101600" marR="101600" marT="63500" marB="63500" anchor="ctr">
                    <a:lnL w="9525" cap="flat" cmpd="sng" algn="ctr">
                      <a:solidFill>
                        <a:srgbClr val="DADDE0"/>
                      </a:solidFill>
                      <a:prstDash val="solid"/>
                      <a:round/>
                      <a:headEnd type="none" w="med" len="med"/>
                      <a:tailEnd type="none" w="med" len="med"/>
                    </a:lnL>
                    <a:lnR w="9525" cap="flat" cmpd="sng" algn="ctr">
                      <a:solidFill>
                        <a:srgbClr val="DADDE0"/>
                      </a:solidFill>
                      <a:prstDash val="solid"/>
                      <a:round/>
                      <a:headEnd type="none" w="med" len="med"/>
                      <a:tailEnd type="none" w="med" len="med"/>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BFBFB"/>
                    </a:solidFill>
                  </a:tcPr>
                </a:tc>
              </a:tr>
              <a:tr h="1005840">
                <a:tc>
                  <a:txBody>
                    <a:bodyPr/>
                    <a:lstStyle/>
                    <a:p>
                      <a:pPr algn="l" indent="0" marL="0">
                        <a:buNone/>
                      </a:pPr>
                      <a:r>
                        <a:rPr lang="en-US" sz="1150" dirty="0">
                          <a:solidFill>
                            <a:srgbClr val="26282A"/>
                          </a:solidFill>
                          <a:latin typeface="Calibri" pitchFamily="34" charset="0"/>
                          <a:ea typeface="Calibri" pitchFamily="34" charset="-122"/>
                          <a:cs typeface="Calibri" pitchFamily="34" charset="-120"/>
                        </a:rPr>
                        <a:t>“Summarise this.”</a:t>
                      </a:r>
                      <a:endParaRPr lang="en-US" sz="1150" dirty="0">
                        <a:latin typeface="Calibri" charset="0"/>
                        <a:ea typeface="Calibri" charset="0"/>
                        <a:cs typeface="Calibri" charset="0"/>
                      </a:endParaRPr>
                    </a:p>
                  </a:txBody>
                  <a:tcPr marL="101600" marR="101600" marT="63500" marB="63500" anchor="ctr">
                    <a:lnL w="9525" cap="flat" cmpd="sng" algn="ctr">
                      <a:solidFill>
                        <a:srgbClr val="DADDE0"/>
                      </a:solidFill>
                      <a:prstDash val="solid"/>
                      <a:round/>
                      <a:headEnd type="none" w="med" len="med"/>
                      <a:tailEnd type="none" w="med" len="med"/>
                    </a:lnL>
                    <a:lnR w="9525" cap="flat" cmpd="sng" algn="ctr">
                      <a:solidFill>
                        <a:srgbClr val="DADDE0"/>
                      </a:solidFill>
                      <a:prstDash val="solid"/>
                      <a:round/>
                      <a:headEnd type="none" w="med" len="med"/>
                      <a:tailEnd type="none" w="med" len="med"/>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BFBFB"/>
                    </a:solidFill>
                  </a:tcPr>
                </a:tc>
                <a:tc>
                  <a:txBody>
                    <a:bodyPr/>
                    <a:lstStyle/>
                    <a:p>
                      <a:pPr algn="l" indent="0" marL="0">
                        <a:buNone/>
                      </a:pPr>
                      <a:r>
                        <a:rPr lang="en-US" sz="1150" dirty="0">
                          <a:solidFill>
                            <a:srgbClr val="26282A"/>
                          </a:solidFill>
                          <a:latin typeface="Calibri" pitchFamily="34" charset="0"/>
                          <a:ea typeface="Calibri" pitchFamily="34" charset="-122"/>
                          <a:cs typeface="Calibri" pitchFamily="34" charset="-120"/>
                        </a:rPr>
                        <a:t>“Summarise this report in 5 bullets for a busy partner — highlight risks and recommended actions only.”</a:t>
                      </a:r>
                      <a:endParaRPr lang="en-US" sz="1150" dirty="0">
                        <a:latin typeface="Calibri" charset="0"/>
                        <a:ea typeface="Calibri" charset="0"/>
                        <a:cs typeface="Calibri" charset="0"/>
                      </a:endParaRPr>
                    </a:p>
                  </a:txBody>
                  <a:tcPr marL="101600" marR="101600" marT="63500" marB="63500" anchor="ctr">
                    <a:lnL w="9525" cap="flat" cmpd="sng" algn="ctr">
                      <a:solidFill>
                        <a:srgbClr val="DADDE0"/>
                      </a:solidFill>
                      <a:prstDash val="solid"/>
                      <a:round/>
                      <a:headEnd type="none" w="med" len="med"/>
                      <a:tailEnd type="none" w="med" len="med"/>
                    </a:lnL>
                    <a:lnR w="9525" cap="flat" cmpd="sng" algn="ctr">
                      <a:solidFill>
                        <a:srgbClr val="DADDE0"/>
                      </a:solidFill>
                      <a:prstDash val="solid"/>
                      <a:round/>
                      <a:headEnd type="none" w="med" len="med"/>
                      <a:tailEnd type="none" w="med" len="med"/>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BFBFB"/>
                    </a:solidFill>
                  </a:tcPr>
                </a:tc>
              </a:tr>
            </a:tbl>
          </a:graphicData>
        </a:graphic>
      </p:graphicFrame>
      <p:sp>
        <p:nvSpPr>
          <p:cNvPr id="6" name="Text 3"/>
          <p:cNvSpPr/>
          <p:nvPr/>
        </p:nvSpPr>
        <p:spPr>
          <a:xfrm>
            <a:off x="457200" y="4224528"/>
            <a:ext cx="8229600" cy="320040"/>
          </a:xfrm>
          <a:prstGeom prst="rect">
            <a:avLst/>
          </a:prstGeom>
          <a:noFill/>
          <a:ln/>
        </p:spPr>
        <p:txBody>
          <a:bodyPr wrap="square" lIns="0" tIns="0" rIns="0" bIns="0" rtlCol="0" anchor="ctr"/>
          <a:lstStyle/>
          <a:p>
            <a:pPr indent="0" marL="0">
              <a:buNone/>
            </a:pPr>
            <a:r>
              <a:rPr lang="en-US" sz="1250" b="1" i="1" dirty="0">
                <a:solidFill>
                  <a:srgbClr val="5C8A1B"/>
                </a:solidFill>
                <a:latin typeface="Calibri" pitchFamily="34" charset="0"/>
                <a:ea typeface="Calibri" pitchFamily="34" charset="-122"/>
                <a:cs typeface="Calibri" pitchFamily="34" charset="-120"/>
              </a:rPr>
              <a:t>Same tool. Same model. The only difference is the instruction.</a:t>
            </a:r>
            <a:endParaRPr lang="en-US" sz="1250" dirty="0"/>
          </a:p>
        </p:txBody>
      </p:sp>
      <p:sp>
        <p:nvSpPr>
          <p:cNvPr id="7" name="Text 4"/>
          <p:cNvSpPr/>
          <p:nvPr/>
        </p:nvSpPr>
        <p:spPr>
          <a:xfrm>
            <a:off x="457200" y="4873752"/>
            <a:ext cx="5486400" cy="228600"/>
          </a:xfrm>
          <a:prstGeom prst="rect">
            <a:avLst/>
          </a:prstGeom>
          <a:noFill/>
          <a:ln/>
        </p:spPr>
        <p:txBody>
          <a:bodyPr wrap="square" lIns="0" tIns="0" rIns="0" bIns="0" rtlCol="0" anchor="ctr"/>
          <a:lstStyle/>
          <a:p>
            <a:pPr indent="0" marL="0">
              <a:buNone/>
            </a:pPr>
            <a:r>
              <a:rPr lang="en-US" sz="800" dirty="0">
                <a:solidFill>
                  <a:srgbClr val="7A7D81"/>
                </a:solidFill>
                <a:latin typeface="Calibri" pitchFamily="34" charset="0"/>
                <a:ea typeface="Calibri" pitchFamily="34" charset="-122"/>
                <a:cs typeface="Calibri" pitchFamily="34" charset="-120"/>
              </a:rPr>
              <a:t>Basics of AI/ML &amp; Prompt Engineering</a:t>
            </a:r>
            <a:endParaRPr lang="en-US" sz="800" dirty="0"/>
          </a:p>
        </p:txBody>
      </p:sp>
      <p:sp>
        <p:nvSpPr>
          <p:cNvPr id="8" name="Text 5"/>
          <p:cNvSpPr/>
          <p:nvPr/>
        </p:nvSpPr>
        <p:spPr>
          <a:xfrm>
            <a:off x="8321040" y="4873752"/>
            <a:ext cx="365760" cy="228600"/>
          </a:xfrm>
          <a:prstGeom prst="rect">
            <a:avLst/>
          </a:prstGeom>
          <a:noFill/>
          <a:ln/>
        </p:spPr>
        <p:txBody>
          <a:bodyPr wrap="square" lIns="0" tIns="0" rIns="0" bIns="0" rtlCol="0" anchor="ctr"/>
          <a:lstStyle/>
          <a:p>
            <a:pPr algn="r" indent="0" marL="0">
              <a:buNone/>
            </a:pPr>
            <a:r>
              <a:rPr lang="en-US" sz="800" dirty="0">
                <a:solidFill>
                  <a:srgbClr val="7A7D81"/>
                </a:solidFill>
                <a:latin typeface="Calibri" pitchFamily="34" charset="0"/>
                <a:ea typeface="Calibri" pitchFamily="34" charset="-122"/>
                <a:cs typeface="Calibri" pitchFamily="34" charset="-120"/>
              </a:rPr>
              <a:t>19</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02336"/>
            <a:ext cx="109728" cy="109728"/>
          </a:xfrm>
          <a:prstGeom prst="ellipse">
            <a:avLst/>
          </a:prstGeom>
          <a:solidFill>
            <a:srgbClr val="86BC25"/>
          </a:solidFill>
          <a:ln/>
        </p:spPr>
      </p:sp>
      <p:sp>
        <p:nvSpPr>
          <p:cNvPr id="3" name="Text 1"/>
          <p:cNvSpPr/>
          <p:nvPr/>
        </p:nvSpPr>
        <p:spPr>
          <a:xfrm>
            <a:off x="658368" y="329184"/>
            <a:ext cx="7955280" cy="256032"/>
          </a:xfrm>
          <a:prstGeom prst="rect">
            <a:avLst/>
          </a:prstGeom>
          <a:noFill/>
          <a:ln/>
        </p:spPr>
        <p:txBody>
          <a:bodyPr wrap="square" lIns="0" tIns="0" rIns="0" bIns="0" rtlCol="0" anchor="ctr"/>
          <a:lstStyle/>
          <a:p>
            <a:pPr indent="0" marL="0">
              <a:buNone/>
            </a:pPr>
            <a:r>
              <a:rPr lang="en-US" sz="1100" b="1" spc="200" kern="0" dirty="0">
                <a:solidFill>
                  <a:srgbClr val="5C8A1B"/>
                </a:solidFill>
                <a:latin typeface="Calibri" pitchFamily="34" charset="0"/>
                <a:ea typeface="Calibri" pitchFamily="34" charset="-122"/>
                <a:cs typeface="Calibri" pitchFamily="34" charset="-120"/>
              </a:rPr>
              <a:t>MODULE 4 · PROMPT ENGINEERING</a:t>
            </a:r>
            <a:endParaRPr lang="en-US" sz="1100" dirty="0"/>
          </a:p>
        </p:txBody>
      </p:sp>
      <p:sp>
        <p:nvSpPr>
          <p:cNvPr id="4" name="Text 2"/>
          <p:cNvSpPr/>
          <p:nvPr/>
        </p:nvSpPr>
        <p:spPr>
          <a:xfrm>
            <a:off x="457200" y="603504"/>
            <a:ext cx="8229600" cy="640080"/>
          </a:xfrm>
          <a:prstGeom prst="rect">
            <a:avLst/>
          </a:prstGeom>
          <a:noFill/>
          <a:ln/>
        </p:spPr>
        <p:txBody>
          <a:bodyPr wrap="square" lIns="0" tIns="0" rIns="0" bIns="0" rtlCol="0" anchor="ctr"/>
          <a:lstStyle/>
          <a:p>
            <a:pPr indent="0" marL="0">
              <a:buNone/>
            </a:pPr>
            <a:r>
              <a:rPr lang="en-US" sz="2900" b="1" dirty="0">
                <a:solidFill>
                  <a:srgbClr val="26282A"/>
                </a:solidFill>
                <a:latin typeface="Cambria" pitchFamily="34" charset="0"/>
                <a:ea typeface="Cambria" pitchFamily="34" charset="-122"/>
                <a:cs typeface="Cambria" pitchFamily="34" charset="-120"/>
              </a:rPr>
              <a:t>Common mistakes — and the fix</a:t>
            </a:r>
            <a:endParaRPr lang="en-US" sz="2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8229600" cy="2606040"/>
        </p:xfrm>
        <a:graphic>
          <a:graphicData uri="http://schemas.openxmlformats.org/drawingml/2006/table">
            <a:tbl>
              <a:tblPr/>
              <a:tblGrid>
                <a:gridCol w="3931920"/>
                <a:gridCol w="4297680"/>
              </a:tblGrid>
              <a:tr h="372291">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Mistake</a:t>
                      </a:r>
                      <a:endParaRPr lang="en-US" sz="1250" dirty="0">
                        <a:latin typeface="Calibri" charset="0"/>
                        <a:ea typeface="Calibri" charset="0"/>
                        <a:cs typeface="Calibri" charset="0"/>
                      </a:endParaRPr>
                    </a:p>
                  </a:txBody>
                  <a:tcPr marL="101600" marR="101600" marT="50800" marB="50800">
                    <a:lnL w="9525" cap="flat" cmpd="sng" algn="ctr">
                      <a:solidFill>
                        <a:srgbClr val="DADDE0"/>
                      </a:solidFill>
                      <a:prstDash val="solid"/>
                      <a:round/>
                      <a:headEnd type="none" w="med" len="med"/>
                      <a:tailEnd type="none" w="med" len="med"/>
                    </a:lnL>
                    <a:lnR w="9525" cap="flat" cmpd="sng" algn="ctr">
                      <a:solidFill>
                        <a:srgbClr val="DADDE0"/>
                      </a:solidFill>
                      <a:prstDash val="solid"/>
                      <a:round/>
                      <a:headEnd type="none" w="med" len="med"/>
                      <a:tailEnd type="none" w="med" len="med"/>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26282A"/>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Fix</a:t>
                      </a:r>
                      <a:endParaRPr lang="en-US" sz="1250" dirty="0">
                        <a:latin typeface="Calibri" charset="0"/>
                        <a:ea typeface="Calibri" charset="0"/>
                        <a:cs typeface="Calibri" charset="0"/>
                      </a:endParaRPr>
                    </a:p>
                  </a:txBody>
                  <a:tcPr marL="101600" marR="101600" marT="50800" marB="50800">
                    <a:lnL w="9525" cap="flat" cmpd="sng" algn="ctr">
                      <a:solidFill>
                        <a:srgbClr val="DADDE0"/>
                      </a:solidFill>
                      <a:prstDash val="solid"/>
                      <a:round/>
                      <a:headEnd type="none" w="med" len="med"/>
                      <a:tailEnd type="none" w="med" len="med"/>
                    </a:lnL>
                    <a:lnR w="9525" cap="flat" cmpd="sng" algn="ctr">
                      <a:solidFill>
                        <a:srgbClr val="DADDE0"/>
                      </a:solidFill>
                      <a:prstDash val="solid"/>
                      <a:round/>
                      <a:headEnd type="none" w="med" len="med"/>
                      <a:tailEnd type="none" w="med" len="med"/>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26282A"/>
                    </a:solidFill>
                  </a:tcPr>
                </a:tc>
              </a:tr>
              <a:tr h="372291">
                <a:tc>
                  <a:txBody>
                    <a:bodyPr/>
                    <a:lstStyle/>
                    <a:p>
                      <a:pPr indent="0" marL="0">
                        <a:buNone/>
                      </a:pPr>
                      <a:r>
                        <a:rPr lang="en-US" sz="1150" dirty="0">
                          <a:solidFill>
                            <a:srgbClr val="26282A"/>
                          </a:solidFill>
                          <a:latin typeface="Calibri" pitchFamily="34" charset="0"/>
                          <a:ea typeface="Calibri" pitchFamily="34" charset="-122"/>
                          <a:cs typeface="Calibri" pitchFamily="34" charset="-120"/>
                        </a:rPr>
                        <a:t>Too vague / one-liners</a:t>
                      </a:r>
                      <a:endParaRPr lang="en-US" sz="1150" dirty="0">
                        <a:latin typeface="Calibri" charset="0"/>
                        <a:ea typeface="Calibri" charset="0"/>
                        <a:cs typeface="Calibri" charset="0"/>
                      </a:endParaRPr>
                    </a:p>
                  </a:txBody>
                  <a:tcPr marL="101600" marR="101600" marT="50800" marB="50800" anchor="ctr">
                    <a:lnL w="9525" cap="flat" cmpd="sng" algn="ctr">
                      <a:solidFill>
                        <a:srgbClr val="DADDE0"/>
                      </a:solidFill>
                      <a:prstDash val="solid"/>
                      <a:round/>
                      <a:headEnd type="none" w="med" len="med"/>
                      <a:tailEnd type="none" w="med" len="med"/>
                    </a:lnL>
                    <a:lnR w="9525" cap="flat" cmpd="sng" algn="ctr">
                      <a:solidFill>
                        <a:srgbClr val="DADDE0"/>
                      </a:solidFill>
                      <a:prstDash val="solid"/>
                      <a:round/>
                      <a:headEnd type="none" w="med" len="med"/>
                      <a:tailEnd type="none" w="med" len="med"/>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BFBFB"/>
                    </a:solidFill>
                  </a:tcPr>
                </a:tc>
                <a:tc>
                  <a:txBody>
                    <a:bodyPr/>
                    <a:lstStyle/>
                    <a:p>
                      <a:pPr indent="0" marL="0">
                        <a:buNone/>
                      </a:pPr>
                      <a:r>
                        <a:rPr lang="en-US" sz="1150" dirty="0">
                          <a:solidFill>
                            <a:srgbClr val="44474A"/>
                          </a:solidFill>
                          <a:latin typeface="Calibri" pitchFamily="34" charset="0"/>
                          <a:ea typeface="Calibri" pitchFamily="34" charset="-122"/>
                          <a:cs typeface="Calibri" pitchFamily="34" charset="-120"/>
                        </a:rPr>
                        <a:t>Add role, context and desired format</a:t>
                      </a:r>
                      <a:endParaRPr lang="en-US" sz="1150" dirty="0">
                        <a:latin typeface="Calibri" charset="0"/>
                        <a:ea typeface="Calibri" charset="0"/>
                        <a:cs typeface="Calibri" charset="0"/>
                      </a:endParaRPr>
                    </a:p>
                  </a:txBody>
                  <a:tcPr marL="101600" marR="101600" marT="50800" marB="50800" anchor="ctr">
                    <a:lnL w="9525" cap="flat" cmpd="sng" algn="ctr">
                      <a:solidFill>
                        <a:srgbClr val="DADDE0"/>
                      </a:solidFill>
                      <a:prstDash val="solid"/>
                      <a:round/>
                      <a:headEnd type="none" w="med" len="med"/>
                      <a:tailEnd type="none" w="med" len="med"/>
                    </a:lnL>
                    <a:lnR w="9525" cap="flat" cmpd="sng" algn="ctr">
                      <a:solidFill>
                        <a:srgbClr val="DADDE0"/>
                      </a:solidFill>
                      <a:prstDash val="solid"/>
                      <a:round/>
                      <a:headEnd type="none" w="med" len="med"/>
                      <a:tailEnd type="none" w="med" len="med"/>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r>
              <a:tr h="372291">
                <a:tc>
                  <a:txBody>
                    <a:bodyPr/>
                    <a:lstStyle/>
                    <a:p>
                      <a:pPr indent="0" marL="0">
                        <a:buNone/>
                      </a:pPr>
                      <a:r>
                        <a:rPr lang="en-US" sz="1150" dirty="0">
                          <a:solidFill>
                            <a:srgbClr val="26282A"/>
                          </a:solidFill>
                          <a:latin typeface="Calibri" pitchFamily="34" charset="0"/>
                          <a:ea typeface="Calibri" pitchFamily="34" charset="-122"/>
                          <a:cs typeface="Calibri" pitchFamily="34" charset="-120"/>
                        </a:rPr>
                        <a:t>Cramming 5 asks into one prompt</a:t>
                      </a:r>
                      <a:endParaRPr lang="en-US" sz="1150" dirty="0">
                        <a:latin typeface="Calibri" charset="0"/>
                        <a:ea typeface="Calibri" charset="0"/>
                        <a:cs typeface="Calibri" charset="0"/>
                      </a:endParaRPr>
                    </a:p>
                  </a:txBody>
                  <a:tcPr marL="101600" marR="101600" marT="50800" marB="50800" anchor="ctr">
                    <a:lnL w="9525" cap="flat" cmpd="sng" algn="ctr">
                      <a:solidFill>
                        <a:srgbClr val="DADDE0"/>
                      </a:solidFill>
                      <a:prstDash val="solid"/>
                      <a:round/>
                      <a:headEnd type="none" w="med" len="med"/>
                      <a:tailEnd type="none" w="med" len="med"/>
                    </a:lnL>
                    <a:lnR w="9525" cap="flat" cmpd="sng" algn="ctr">
                      <a:solidFill>
                        <a:srgbClr val="DADDE0"/>
                      </a:solidFill>
                      <a:prstDash val="solid"/>
                      <a:round/>
                      <a:headEnd type="none" w="med" len="med"/>
                      <a:tailEnd type="none" w="med" len="med"/>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BFBFB"/>
                    </a:solidFill>
                  </a:tcPr>
                </a:tc>
                <a:tc>
                  <a:txBody>
                    <a:bodyPr/>
                    <a:lstStyle/>
                    <a:p>
                      <a:pPr indent="0" marL="0">
                        <a:buNone/>
                      </a:pPr>
                      <a:r>
                        <a:rPr lang="en-US" sz="1150" dirty="0">
                          <a:solidFill>
                            <a:srgbClr val="44474A"/>
                          </a:solidFill>
                          <a:latin typeface="Calibri" pitchFamily="34" charset="0"/>
                          <a:ea typeface="Calibri" pitchFamily="34" charset="-122"/>
                          <a:cs typeface="Calibri" pitchFamily="34" charset="-120"/>
                        </a:rPr>
                        <a:t>Break it into steps; iterate</a:t>
                      </a:r>
                      <a:endParaRPr lang="en-US" sz="1150" dirty="0">
                        <a:latin typeface="Calibri" charset="0"/>
                        <a:ea typeface="Calibri" charset="0"/>
                        <a:cs typeface="Calibri" charset="0"/>
                      </a:endParaRPr>
                    </a:p>
                  </a:txBody>
                  <a:tcPr marL="101600" marR="101600" marT="50800" marB="50800" anchor="ctr">
                    <a:lnL w="9525" cap="flat" cmpd="sng" algn="ctr">
                      <a:solidFill>
                        <a:srgbClr val="DADDE0"/>
                      </a:solidFill>
                      <a:prstDash val="solid"/>
                      <a:round/>
                      <a:headEnd type="none" w="med" len="med"/>
                      <a:tailEnd type="none" w="med" len="med"/>
                    </a:lnL>
                    <a:lnR w="9525" cap="flat" cmpd="sng" algn="ctr">
                      <a:solidFill>
                        <a:srgbClr val="DADDE0"/>
                      </a:solidFill>
                      <a:prstDash val="solid"/>
                      <a:round/>
                      <a:headEnd type="none" w="med" len="med"/>
                      <a:tailEnd type="none" w="med" len="med"/>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r>
              <a:tr h="372291">
                <a:tc>
                  <a:txBody>
                    <a:bodyPr/>
                    <a:lstStyle/>
                    <a:p>
                      <a:pPr indent="0" marL="0">
                        <a:buNone/>
                      </a:pPr>
                      <a:r>
                        <a:rPr lang="en-US" sz="1150" dirty="0">
                          <a:solidFill>
                            <a:srgbClr val="26282A"/>
                          </a:solidFill>
                          <a:latin typeface="Calibri" pitchFamily="34" charset="0"/>
                          <a:ea typeface="Calibri" pitchFamily="34" charset="-122"/>
                          <a:cs typeface="Calibri" pitchFamily="34" charset="-120"/>
                        </a:rPr>
                        <a:t>No audience specified</a:t>
                      </a:r>
                      <a:endParaRPr lang="en-US" sz="1150" dirty="0">
                        <a:latin typeface="Calibri" charset="0"/>
                        <a:ea typeface="Calibri" charset="0"/>
                        <a:cs typeface="Calibri" charset="0"/>
                      </a:endParaRPr>
                    </a:p>
                  </a:txBody>
                  <a:tcPr marL="101600" marR="101600" marT="50800" marB="50800" anchor="ctr">
                    <a:lnL w="9525" cap="flat" cmpd="sng" algn="ctr">
                      <a:solidFill>
                        <a:srgbClr val="DADDE0"/>
                      </a:solidFill>
                      <a:prstDash val="solid"/>
                      <a:round/>
                      <a:headEnd type="none" w="med" len="med"/>
                      <a:tailEnd type="none" w="med" len="med"/>
                    </a:lnL>
                    <a:lnR w="9525" cap="flat" cmpd="sng" algn="ctr">
                      <a:solidFill>
                        <a:srgbClr val="DADDE0"/>
                      </a:solidFill>
                      <a:prstDash val="solid"/>
                      <a:round/>
                      <a:headEnd type="none" w="med" len="med"/>
                      <a:tailEnd type="none" w="med" len="med"/>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BFBFB"/>
                    </a:solidFill>
                  </a:tcPr>
                </a:tc>
                <a:tc>
                  <a:txBody>
                    <a:bodyPr/>
                    <a:lstStyle/>
                    <a:p>
                      <a:pPr indent="0" marL="0">
                        <a:buNone/>
                      </a:pPr>
                      <a:r>
                        <a:rPr lang="en-US" sz="1150" dirty="0">
                          <a:solidFill>
                            <a:srgbClr val="44474A"/>
                          </a:solidFill>
                          <a:latin typeface="Calibri" pitchFamily="34" charset="0"/>
                          <a:ea typeface="Calibri" pitchFamily="34" charset="-122"/>
                          <a:cs typeface="Calibri" pitchFamily="34" charset="-120"/>
                        </a:rPr>
                        <a:t>Always say who it's for</a:t>
                      </a:r>
                      <a:endParaRPr lang="en-US" sz="1150" dirty="0">
                        <a:latin typeface="Calibri" charset="0"/>
                        <a:ea typeface="Calibri" charset="0"/>
                        <a:cs typeface="Calibri" charset="0"/>
                      </a:endParaRPr>
                    </a:p>
                  </a:txBody>
                  <a:tcPr marL="101600" marR="101600" marT="50800" marB="50800" anchor="ctr">
                    <a:lnL w="9525" cap="flat" cmpd="sng" algn="ctr">
                      <a:solidFill>
                        <a:srgbClr val="DADDE0"/>
                      </a:solidFill>
                      <a:prstDash val="solid"/>
                      <a:round/>
                      <a:headEnd type="none" w="med" len="med"/>
                      <a:tailEnd type="none" w="med" len="med"/>
                    </a:lnL>
                    <a:lnR w="9525" cap="flat" cmpd="sng" algn="ctr">
                      <a:solidFill>
                        <a:srgbClr val="DADDE0"/>
                      </a:solidFill>
                      <a:prstDash val="solid"/>
                      <a:round/>
                      <a:headEnd type="none" w="med" len="med"/>
                      <a:tailEnd type="none" w="med" len="med"/>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r>
              <a:tr h="372291">
                <a:tc>
                  <a:txBody>
                    <a:bodyPr/>
                    <a:lstStyle/>
                    <a:p>
                      <a:pPr indent="0" marL="0">
                        <a:buNone/>
                      </a:pPr>
                      <a:r>
                        <a:rPr lang="en-US" sz="1150" dirty="0">
                          <a:solidFill>
                            <a:srgbClr val="26282A"/>
                          </a:solidFill>
                          <a:latin typeface="Calibri" pitchFamily="34" charset="0"/>
                          <a:ea typeface="Calibri" pitchFamily="34" charset="-122"/>
                          <a:cs typeface="Calibri" pitchFamily="34" charset="-120"/>
                        </a:rPr>
                        <a:t>Accepting the first draft</a:t>
                      </a:r>
                      <a:endParaRPr lang="en-US" sz="1150" dirty="0">
                        <a:latin typeface="Calibri" charset="0"/>
                        <a:ea typeface="Calibri" charset="0"/>
                        <a:cs typeface="Calibri" charset="0"/>
                      </a:endParaRPr>
                    </a:p>
                  </a:txBody>
                  <a:tcPr marL="101600" marR="101600" marT="50800" marB="50800" anchor="ctr">
                    <a:lnL w="9525" cap="flat" cmpd="sng" algn="ctr">
                      <a:solidFill>
                        <a:srgbClr val="DADDE0"/>
                      </a:solidFill>
                      <a:prstDash val="solid"/>
                      <a:round/>
                      <a:headEnd type="none" w="med" len="med"/>
                      <a:tailEnd type="none" w="med" len="med"/>
                    </a:lnL>
                    <a:lnR w="9525" cap="flat" cmpd="sng" algn="ctr">
                      <a:solidFill>
                        <a:srgbClr val="DADDE0"/>
                      </a:solidFill>
                      <a:prstDash val="solid"/>
                      <a:round/>
                      <a:headEnd type="none" w="med" len="med"/>
                      <a:tailEnd type="none" w="med" len="med"/>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BFBFB"/>
                    </a:solidFill>
                  </a:tcPr>
                </a:tc>
                <a:tc>
                  <a:txBody>
                    <a:bodyPr/>
                    <a:lstStyle/>
                    <a:p>
                      <a:pPr indent="0" marL="0">
                        <a:buNone/>
                      </a:pPr>
                      <a:r>
                        <a:rPr lang="en-US" sz="1150" dirty="0">
                          <a:solidFill>
                            <a:srgbClr val="44474A"/>
                          </a:solidFill>
                          <a:latin typeface="Calibri" pitchFamily="34" charset="0"/>
                          <a:ea typeface="Calibri" pitchFamily="34" charset="-122"/>
                          <a:cs typeface="Calibri" pitchFamily="34" charset="-120"/>
                        </a:rPr>
                        <a:t>Refine: shorter / more formal / add data</a:t>
                      </a:r>
                      <a:endParaRPr lang="en-US" sz="1150" dirty="0">
                        <a:latin typeface="Calibri" charset="0"/>
                        <a:ea typeface="Calibri" charset="0"/>
                        <a:cs typeface="Calibri" charset="0"/>
                      </a:endParaRPr>
                    </a:p>
                  </a:txBody>
                  <a:tcPr marL="101600" marR="101600" marT="50800" marB="50800" anchor="ctr">
                    <a:lnL w="9525" cap="flat" cmpd="sng" algn="ctr">
                      <a:solidFill>
                        <a:srgbClr val="DADDE0"/>
                      </a:solidFill>
                      <a:prstDash val="solid"/>
                      <a:round/>
                      <a:headEnd type="none" w="med" len="med"/>
                      <a:tailEnd type="none" w="med" len="med"/>
                    </a:lnL>
                    <a:lnR w="9525" cap="flat" cmpd="sng" algn="ctr">
                      <a:solidFill>
                        <a:srgbClr val="DADDE0"/>
                      </a:solidFill>
                      <a:prstDash val="solid"/>
                      <a:round/>
                      <a:headEnd type="none" w="med" len="med"/>
                      <a:tailEnd type="none" w="med" len="med"/>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r>
              <a:tr h="372291">
                <a:tc>
                  <a:txBody>
                    <a:bodyPr/>
                    <a:lstStyle/>
                    <a:p>
                      <a:pPr indent="0" marL="0">
                        <a:buNone/>
                      </a:pPr>
                      <a:r>
                        <a:rPr lang="en-US" sz="1150" dirty="0">
                          <a:solidFill>
                            <a:srgbClr val="26282A"/>
                          </a:solidFill>
                          <a:latin typeface="Calibri" pitchFamily="34" charset="0"/>
                          <a:ea typeface="Calibri" pitchFamily="34" charset="-122"/>
                          <a:cs typeface="Calibri" pitchFamily="34" charset="-120"/>
                        </a:rPr>
                        <a:t>Trusting output blindly</a:t>
                      </a:r>
                      <a:endParaRPr lang="en-US" sz="1150" dirty="0">
                        <a:latin typeface="Calibri" charset="0"/>
                        <a:ea typeface="Calibri" charset="0"/>
                        <a:cs typeface="Calibri" charset="0"/>
                      </a:endParaRPr>
                    </a:p>
                  </a:txBody>
                  <a:tcPr marL="101600" marR="101600" marT="50800" marB="50800" anchor="ctr">
                    <a:lnL w="9525" cap="flat" cmpd="sng" algn="ctr">
                      <a:solidFill>
                        <a:srgbClr val="DADDE0"/>
                      </a:solidFill>
                      <a:prstDash val="solid"/>
                      <a:round/>
                      <a:headEnd type="none" w="med" len="med"/>
                      <a:tailEnd type="none" w="med" len="med"/>
                    </a:lnL>
                    <a:lnR w="9525" cap="flat" cmpd="sng" algn="ctr">
                      <a:solidFill>
                        <a:srgbClr val="DADDE0"/>
                      </a:solidFill>
                      <a:prstDash val="solid"/>
                      <a:round/>
                      <a:headEnd type="none" w="med" len="med"/>
                      <a:tailEnd type="none" w="med" len="med"/>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BFBFB"/>
                    </a:solidFill>
                  </a:tcPr>
                </a:tc>
                <a:tc>
                  <a:txBody>
                    <a:bodyPr/>
                    <a:lstStyle/>
                    <a:p>
                      <a:pPr indent="0" marL="0">
                        <a:buNone/>
                      </a:pPr>
                      <a:r>
                        <a:rPr lang="en-US" sz="1150" dirty="0">
                          <a:solidFill>
                            <a:srgbClr val="44474A"/>
                          </a:solidFill>
                          <a:latin typeface="Calibri" pitchFamily="34" charset="0"/>
                          <a:ea typeface="Calibri" pitchFamily="34" charset="-122"/>
                          <a:cs typeface="Calibri" pitchFamily="34" charset="-120"/>
                        </a:rPr>
                        <a:t>Verify every fact and figure</a:t>
                      </a:r>
                      <a:endParaRPr lang="en-US" sz="1150" dirty="0">
                        <a:latin typeface="Calibri" charset="0"/>
                        <a:ea typeface="Calibri" charset="0"/>
                        <a:cs typeface="Calibri" charset="0"/>
                      </a:endParaRPr>
                    </a:p>
                  </a:txBody>
                  <a:tcPr marL="101600" marR="101600" marT="50800" marB="50800" anchor="ctr">
                    <a:lnL w="9525" cap="flat" cmpd="sng" algn="ctr">
                      <a:solidFill>
                        <a:srgbClr val="DADDE0"/>
                      </a:solidFill>
                      <a:prstDash val="solid"/>
                      <a:round/>
                      <a:headEnd type="none" w="med" len="med"/>
                      <a:tailEnd type="none" w="med" len="med"/>
                    </a:lnL>
                    <a:lnR w="9525" cap="flat" cmpd="sng" algn="ctr">
                      <a:solidFill>
                        <a:srgbClr val="DADDE0"/>
                      </a:solidFill>
                      <a:prstDash val="solid"/>
                      <a:round/>
                      <a:headEnd type="none" w="med" len="med"/>
                      <a:tailEnd type="none" w="med" len="med"/>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r>
              <a:tr h="372291">
                <a:tc>
                  <a:txBody>
                    <a:bodyPr/>
                    <a:lstStyle/>
                    <a:p>
                      <a:pPr indent="0" marL="0">
                        <a:buNone/>
                      </a:pPr>
                      <a:r>
                        <a:rPr lang="en-US" sz="1150" b="1" dirty="0">
                          <a:solidFill>
                            <a:srgbClr val="26282A"/>
                          </a:solidFill>
                          <a:latin typeface="Calibri" pitchFamily="34" charset="0"/>
                          <a:ea typeface="Calibri" pitchFamily="34" charset="-122"/>
                          <a:cs typeface="Calibri" pitchFamily="34" charset="-120"/>
                        </a:rPr>
                        <a:t>Pasting confidential data into public tools</a:t>
                      </a:r>
                      <a:endParaRPr lang="en-US" sz="1150" dirty="0">
                        <a:latin typeface="Calibri" charset="0"/>
                        <a:ea typeface="Calibri" charset="0"/>
                        <a:cs typeface="Calibri" charset="0"/>
                      </a:endParaRPr>
                    </a:p>
                  </a:txBody>
                  <a:tcPr marL="101600" marR="101600" marT="50800" marB="50800" anchor="ctr">
                    <a:lnL w="9525" cap="flat" cmpd="sng" algn="ctr">
                      <a:solidFill>
                        <a:srgbClr val="DADDE0"/>
                      </a:solidFill>
                      <a:prstDash val="solid"/>
                      <a:round/>
                      <a:headEnd type="none" w="med" len="med"/>
                      <a:tailEnd type="none" w="med" len="med"/>
                    </a:lnL>
                    <a:lnR w="9525" cap="flat" cmpd="sng" algn="ctr">
                      <a:solidFill>
                        <a:srgbClr val="DADDE0"/>
                      </a:solidFill>
                      <a:prstDash val="solid"/>
                      <a:round/>
                      <a:headEnd type="none" w="med" len="med"/>
                      <a:tailEnd type="none" w="med" len="med"/>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6E7E4"/>
                    </a:solidFill>
                  </a:tcPr>
                </a:tc>
                <a:tc>
                  <a:txBody>
                    <a:bodyPr/>
                    <a:lstStyle/>
                    <a:p>
                      <a:pPr indent="0" marL="0">
                        <a:buNone/>
                      </a:pPr>
                      <a:r>
                        <a:rPr lang="en-US" sz="1150" b="1" dirty="0">
                          <a:solidFill>
                            <a:srgbClr val="B23A2E"/>
                          </a:solidFill>
                          <a:latin typeface="Calibri" pitchFamily="34" charset="0"/>
                          <a:ea typeface="Calibri" pitchFamily="34" charset="-122"/>
                          <a:cs typeface="Calibri" pitchFamily="34" charset="-120"/>
                        </a:rPr>
                        <a:t>Use approved tools only — never share sensitive data</a:t>
                      </a:r>
                      <a:endParaRPr lang="en-US" sz="1150" dirty="0">
                        <a:latin typeface="Calibri" charset="0"/>
                        <a:ea typeface="Calibri" charset="0"/>
                        <a:cs typeface="Calibri" charset="0"/>
                      </a:endParaRPr>
                    </a:p>
                  </a:txBody>
                  <a:tcPr marL="101600" marR="101600" marT="50800" marB="50800" anchor="ctr">
                    <a:lnL w="9525" cap="flat" cmpd="sng" algn="ctr">
                      <a:solidFill>
                        <a:srgbClr val="DADDE0"/>
                      </a:solidFill>
                      <a:prstDash val="solid"/>
                      <a:round/>
                      <a:headEnd type="none" w="med" len="med"/>
                      <a:tailEnd type="none" w="med" len="med"/>
                    </a:lnL>
                    <a:lnR w="9525" cap="flat" cmpd="sng" algn="ctr">
                      <a:solidFill>
                        <a:srgbClr val="DADDE0"/>
                      </a:solidFill>
                      <a:prstDash val="solid"/>
                      <a:round/>
                      <a:headEnd type="none" w="med" len="med"/>
                      <a:tailEnd type="none" w="med" len="med"/>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6E7E4"/>
                    </a:solidFill>
                  </a:tcPr>
                </a:tc>
              </a:tr>
            </a:tbl>
          </a:graphicData>
        </a:graphic>
      </p:graphicFrame>
      <p:sp>
        <p:nvSpPr>
          <p:cNvPr id="6" name="Text 3"/>
          <p:cNvSpPr/>
          <p:nvPr/>
        </p:nvSpPr>
        <p:spPr>
          <a:xfrm>
            <a:off x="457200" y="4873752"/>
            <a:ext cx="5486400" cy="228600"/>
          </a:xfrm>
          <a:prstGeom prst="rect">
            <a:avLst/>
          </a:prstGeom>
          <a:noFill/>
          <a:ln/>
        </p:spPr>
        <p:txBody>
          <a:bodyPr wrap="square" lIns="0" tIns="0" rIns="0" bIns="0" rtlCol="0" anchor="ctr"/>
          <a:lstStyle/>
          <a:p>
            <a:pPr indent="0" marL="0">
              <a:buNone/>
            </a:pPr>
            <a:r>
              <a:rPr lang="en-US" sz="800" dirty="0">
                <a:solidFill>
                  <a:srgbClr val="7A7D81"/>
                </a:solidFill>
                <a:latin typeface="Calibri" pitchFamily="34" charset="0"/>
                <a:ea typeface="Calibri" pitchFamily="34" charset="-122"/>
                <a:cs typeface="Calibri" pitchFamily="34" charset="-120"/>
              </a:rPr>
              <a:t>Basics of AI/ML &amp; Prompt Engineering</a:t>
            </a:r>
            <a:endParaRPr lang="en-US" sz="800" dirty="0"/>
          </a:p>
        </p:txBody>
      </p:sp>
      <p:sp>
        <p:nvSpPr>
          <p:cNvPr id="7" name="Text 4"/>
          <p:cNvSpPr/>
          <p:nvPr/>
        </p:nvSpPr>
        <p:spPr>
          <a:xfrm>
            <a:off x="8321040" y="4873752"/>
            <a:ext cx="365760" cy="228600"/>
          </a:xfrm>
          <a:prstGeom prst="rect">
            <a:avLst/>
          </a:prstGeom>
          <a:noFill/>
          <a:ln/>
        </p:spPr>
        <p:txBody>
          <a:bodyPr wrap="square" lIns="0" tIns="0" rIns="0" bIns="0" rtlCol="0" anchor="ctr"/>
          <a:lstStyle/>
          <a:p>
            <a:pPr algn="r" indent="0" marL="0">
              <a:buNone/>
            </a:pPr>
            <a:r>
              <a:rPr lang="en-US" sz="800" dirty="0">
                <a:solidFill>
                  <a:srgbClr val="7A7D81"/>
                </a:solidFill>
                <a:latin typeface="Calibri" pitchFamily="34" charset="0"/>
                <a:ea typeface="Calibri" pitchFamily="34" charset="-122"/>
                <a:cs typeface="Calibri" pitchFamily="34" charset="-120"/>
              </a:rPr>
              <a:t>20</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02336"/>
            <a:ext cx="109728" cy="109728"/>
          </a:xfrm>
          <a:prstGeom prst="ellipse">
            <a:avLst/>
          </a:prstGeom>
          <a:solidFill>
            <a:srgbClr val="86BC25"/>
          </a:solidFill>
          <a:ln/>
        </p:spPr>
      </p:sp>
      <p:sp>
        <p:nvSpPr>
          <p:cNvPr id="3" name="Text 1"/>
          <p:cNvSpPr/>
          <p:nvPr/>
        </p:nvSpPr>
        <p:spPr>
          <a:xfrm>
            <a:off x="658368" y="329184"/>
            <a:ext cx="7955280" cy="256032"/>
          </a:xfrm>
          <a:prstGeom prst="rect">
            <a:avLst/>
          </a:prstGeom>
          <a:noFill/>
          <a:ln/>
        </p:spPr>
        <p:txBody>
          <a:bodyPr wrap="square" lIns="0" tIns="0" rIns="0" bIns="0" rtlCol="0" anchor="ctr"/>
          <a:lstStyle/>
          <a:p>
            <a:pPr indent="0" marL="0">
              <a:buNone/>
            </a:pPr>
            <a:r>
              <a:rPr lang="en-US" sz="1100" b="1" spc="200" kern="0" dirty="0">
                <a:solidFill>
                  <a:srgbClr val="5C8A1B"/>
                </a:solidFill>
                <a:latin typeface="Calibri" pitchFamily="34" charset="0"/>
                <a:ea typeface="Calibri" pitchFamily="34" charset="-122"/>
                <a:cs typeface="Calibri" pitchFamily="34" charset="-120"/>
              </a:rPr>
              <a:t>MODULE 4 · YOUR TURN</a:t>
            </a:r>
            <a:endParaRPr lang="en-US" sz="1100" dirty="0"/>
          </a:p>
        </p:txBody>
      </p:sp>
      <p:sp>
        <p:nvSpPr>
          <p:cNvPr id="4" name="Text 2"/>
          <p:cNvSpPr/>
          <p:nvPr/>
        </p:nvSpPr>
        <p:spPr>
          <a:xfrm>
            <a:off x="457200" y="603504"/>
            <a:ext cx="8229600" cy="640080"/>
          </a:xfrm>
          <a:prstGeom prst="rect">
            <a:avLst/>
          </a:prstGeom>
          <a:noFill/>
          <a:ln/>
        </p:spPr>
        <p:txBody>
          <a:bodyPr wrap="square" lIns="0" tIns="0" rIns="0" bIns="0" rtlCol="0" anchor="ctr"/>
          <a:lstStyle/>
          <a:p>
            <a:pPr indent="0" marL="0">
              <a:buNone/>
            </a:pPr>
            <a:r>
              <a:rPr lang="en-US" sz="2900" b="1" dirty="0">
                <a:solidFill>
                  <a:srgbClr val="26282A"/>
                </a:solidFill>
                <a:latin typeface="Cambria" pitchFamily="34" charset="0"/>
                <a:ea typeface="Cambria" pitchFamily="34" charset="-122"/>
                <a:cs typeface="Cambria" pitchFamily="34" charset="-120"/>
              </a:rPr>
              <a:t>Activity: Prompt Makeover</a:t>
            </a:r>
            <a:endParaRPr lang="en-US" sz="2900" dirty="0"/>
          </a:p>
        </p:txBody>
      </p:sp>
      <p:sp>
        <p:nvSpPr>
          <p:cNvPr id="5" name="Shape 3"/>
          <p:cNvSpPr/>
          <p:nvPr/>
        </p:nvSpPr>
        <p:spPr>
          <a:xfrm>
            <a:off x="457200" y="1417320"/>
            <a:ext cx="1394460" cy="292608"/>
          </a:xfrm>
          <a:prstGeom prst="roundRect">
            <a:avLst>
              <a:gd name="adj" fmla="val 50000"/>
            </a:avLst>
          </a:prstGeom>
          <a:solidFill>
            <a:srgbClr val="86BC25"/>
          </a:solidFill>
          <a:ln/>
        </p:spPr>
      </p:sp>
      <p:sp>
        <p:nvSpPr>
          <p:cNvPr id="6" name="Text 4"/>
          <p:cNvSpPr/>
          <p:nvPr/>
        </p:nvSpPr>
        <p:spPr>
          <a:xfrm>
            <a:off x="457200" y="1417320"/>
            <a:ext cx="1394460" cy="292608"/>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ACTIVITY · CHAT</a:t>
            </a:r>
            <a:endParaRPr lang="en-US" sz="1000" dirty="0"/>
          </a:p>
        </p:txBody>
      </p:sp>
      <p:sp>
        <p:nvSpPr>
          <p:cNvPr id="7" name="Shape 5"/>
          <p:cNvSpPr/>
          <p:nvPr/>
        </p:nvSpPr>
        <p:spPr>
          <a:xfrm>
            <a:off x="457200" y="1920240"/>
            <a:ext cx="8229600" cy="1234440"/>
          </a:xfrm>
          <a:prstGeom prst="roundRect">
            <a:avLst>
              <a:gd name="adj" fmla="val 5926"/>
            </a:avLst>
          </a:prstGeom>
          <a:solidFill>
            <a:srgbClr val="F4F5F6"/>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8" name="Text 6"/>
          <p:cNvSpPr/>
          <p:nvPr/>
        </p:nvSpPr>
        <p:spPr>
          <a:xfrm>
            <a:off x="685800" y="2057400"/>
            <a:ext cx="4572000" cy="256032"/>
          </a:xfrm>
          <a:prstGeom prst="rect">
            <a:avLst/>
          </a:prstGeom>
          <a:noFill/>
          <a:ln/>
        </p:spPr>
        <p:txBody>
          <a:bodyPr wrap="square" lIns="0" tIns="0" rIns="0" bIns="0" rtlCol="0" anchor="ctr"/>
          <a:lstStyle/>
          <a:p>
            <a:pPr indent="0" marL="0">
              <a:buNone/>
            </a:pPr>
            <a:r>
              <a:rPr lang="en-US" sz="1100" b="1" spc="100" kern="0" dirty="0">
                <a:solidFill>
                  <a:srgbClr val="5C8A1B"/>
                </a:solidFill>
                <a:latin typeface="Calibri" pitchFamily="34" charset="0"/>
                <a:ea typeface="Calibri" pitchFamily="34" charset="-122"/>
                <a:cs typeface="Calibri" pitchFamily="34" charset="-120"/>
              </a:rPr>
              <a:t>WEAK PROMPT ON SCREEN</a:t>
            </a:r>
            <a:endParaRPr lang="en-US" sz="1100" dirty="0"/>
          </a:p>
        </p:txBody>
      </p:sp>
      <p:sp>
        <p:nvSpPr>
          <p:cNvPr id="9" name="Text 7"/>
          <p:cNvSpPr/>
          <p:nvPr/>
        </p:nvSpPr>
        <p:spPr>
          <a:xfrm>
            <a:off x="685800" y="2331720"/>
            <a:ext cx="7772400" cy="411480"/>
          </a:xfrm>
          <a:prstGeom prst="rect">
            <a:avLst/>
          </a:prstGeom>
          <a:noFill/>
          <a:ln/>
        </p:spPr>
        <p:txBody>
          <a:bodyPr wrap="square" lIns="0" tIns="0" rIns="0" bIns="0" rtlCol="0" anchor="ctr"/>
          <a:lstStyle/>
          <a:p>
            <a:pPr indent="0" marL="0">
              <a:buNone/>
            </a:pPr>
            <a:r>
              <a:rPr lang="en-US" sz="1800" b="1" dirty="0">
                <a:solidFill>
                  <a:srgbClr val="26282A"/>
                </a:solidFill>
                <a:latin typeface="Cambria" pitchFamily="34" charset="0"/>
                <a:ea typeface="Cambria" pitchFamily="34" charset="-122"/>
                <a:cs typeface="Cambria" pitchFamily="34" charset="-120"/>
              </a:rPr>
              <a:t>“Make a study plan for my exams.”</a:t>
            </a:r>
            <a:endParaRPr lang="en-US" sz="1800" dirty="0"/>
          </a:p>
        </p:txBody>
      </p:sp>
      <p:sp>
        <p:nvSpPr>
          <p:cNvPr id="10" name="Text 8"/>
          <p:cNvSpPr/>
          <p:nvPr/>
        </p:nvSpPr>
        <p:spPr>
          <a:xfrm>
            <a:off x="685800" y="2788920"/>
            <a:ext cx="7772400" cy="320040"/>
          </a:xfrm>
          <a:prstGeom prst="rect">
            <a:avLst/>
          </a:prstGeom>
          <a:noFill/>
          <a:ln/>
        </p:spPr>
        <p:txBody>
          <a:bodyPr wrap="square" lIns="0" tIns="0" rIns="0" bIns="0" rtlCol="0" anchor="ctr"/>
          <a:lstStyle/>
          <a:p>
            <a:pPr indent="0" marL="0">
              <a:buNone/>
            </a:pPr>
            <a:r>
              <a:rPr lang="en-US" sz="1250" dirty="0">
                <a:solidFill>
                  <a:srgbClr val="44474A"/>
                </a:solidFill>
                <a:latin typeface="Calibri" pitchFamily="34" charset="0"/>
                <a:ea typeface="Calibri" pitchFamily="34" charset="-122"/>
                <a:cs typeface="Calibri" pitchFamily="34" charset="-120"/>
              </a:rPr>
              <a:t>Rewrite it using TAG, RACE or RTCROS — no tool access needed, just type.</a:t>
            </a:r>
            <a:endParaRPr lang="en-US" sz="1250" dirty="0"/>
          </a:p>
        </p:txBody>
      </p:sp>
      <p:sp>
        <p:nvSpPr>
          <p:cNvPr id="11" name="Text 9"/>
          <p:cNvSpPr/>
          <p:nvPr/>
        </p:nvSpPr>
        <p:spPr>
          <a:xfrm>
            <a:off x="685800" y="3337560"/>
            <a:ext cx="7772400" cy="914400"/>
          </a:xfrm>
          <a:prstGeom prst="rect">
            <a:avLst/>
          </a:prstGeom>
          <a:noFill/>
          <a:ln/>
        </p:spPr>
        <p:txBody>
          <a:bodyPr wrap="square" lIns="0" tIns="0" rIns="0" bIns="0" rtlCol="0" anchor="ctr"/>
          <a:lstStyle/>
          <a:p>
            <a:pPr marL="342900" indent="-342900">
              <a:spcAft>
                <a:spcPts val="700"/>
              </a:spcAft>
              <a:buSzPct val="100000"/>
              <a:buFont typeface="+mj-lt"/>
              <a:buAutoNum type="arabicPeriod" startAt="1"/>
            </a:pPr>
            <a:r>
              <a:rPr lang="en-US" sz="1300" dirty="0">
                <a:solidFill>
                  <a:srgbClr val="26282A"/>
                </a:solidFill>
                <a:latin typeface="Calibri" pitchFamily="34" charset="0"/>
                <a:ea typeface="Calibri" pitchFamily="34" charset="-122"/>
                <a:cs typeface="Calibri" pitchFamily="34" charset="-120"/>
              </a:rPr>
              <a:t>Rewrite the prompt and drop it in the chat  (3 min)</a:t>
            </a:r>
            <a:endParaRPr lang="en-US" sz="1300" dirty="0"/>
          </a:p>
          <a:p>
            <a:pPr marL="342900" indent="-342900">
              <a:spcAft>
                <a:spcPts val="700"/>
              </a:spcAft>
              <a:buSzPct val="100000"/>
              <a:buFont typeface="+mj-lt"/>
              <a:buAutoNum type="arabicPeriod" startAt="1"/>
            </a:pPr>
            <a:r>
              <a:rPr lang="en-US" sz="1300" dirty="0">
                <a:solidFill>
                  <a:srgbClr val="26282A"/>
                </a:solidFill>
                <a:latin typeface="Calibri" pitchFamily="34" charset="0"/>
                <a:ea typeface="Calibri" pitchFamily="34" charset="-122"/>
                <a:cs typeface="Calibri" pitchFamily="34" charset="-120"/>
              </a:rPr>
              <a:t>We pick 2–3 of the best and run them live on screen  (4 min)</a:t>
            </a:r>
            <a:endParaRPr lang="en-US" sz="1300" dirty="0"/>
          </a:p>
          <a:p>
            <a:pPr marL="342900" indent="-342900">
              <a:spcAft>
                <a:spcPts val="700"/>
              </a:spcAft>
              <a:buSzPct val="100000"/>
              <a:buFont typeface="+mj-lt"/>
              <a:buAutoNum type="arabicPeriod" startAt="1"/>
            </a:pPr>
            <a:r>
              <a:rPr lang="en-US" sz="1300" dirty="0">
                <a:solidFill>
                  <a:srgbClr val="26282A"/>
                </a:solidFill>
                <a:latin typeface="Calibri" pitchFamily="34" charset="0"/>
                <a:ea typeface="Calibri" pitchFamily="34" charset="-122"/>
                <a:cs typeface="Calibri" pitchFamily="34" charset="-120"/>
              </a:rPr>
              <a:t>Compare outputs — see how much the prompt changed the result</a:t>
            </a:r>
            <a:endParaRPr lang="en-US" sz="1300" dirty="0"/>
          </a:p>
        </p:txBody>
      </p:sp>
      <p:sp>
        <p:nvSpPr>
          <p:cNvPr id="12" name="Text 10"/>
          <p:cNvSpPr/>
          <p:nvPr/>
        </p:nvSpPr>
        <p:spPr>
          <a:xfrm>
            <a:off x="457200" y="4873752"/>
            <a:ext cx="5486400" cy="228600"/>
          </a:xfrm>
          <a:prstGeom prst="rect">
            <a:avLst/>
          </a:prstGeom>
          <a:noFill/>
          <a:ln/>
        </p:spPr>
        <p:txBody>
          <a:bodyPr wrap="square" lIns="0" tIns="0" rIns="0" bIns="0" rtlCol="0" anchor="ctr"/>
          <a:lstStyle/>
          <a:p>
            <a:pPr indent="0" marL="0">
              <a:buNone/>
            </a:pPr>
            <a:r>
              <a:rPr lang="en-US" sz="800" dirty="0">
                <a:solidFill>
                  <a:srgbClr val="7A7D81"/>
                </a:solidFill>
                <a:latin typeface="Calibri" pitchFamily="34" charset="0"/>
                <a:ea typeface="Calibri" pitchFamily="34" charset="-122"/>
                <a:cs typeface="Calibri" pitchFamily="34" charset="-120"/>
              </a:rPr>
              <a:t>Basics of AI/ML &amp; Prompt Engineering</a:t>
            </a:r>
            <a:endParaRPr lang="en-US" sz="800" dirty="0"/>
          </a:p>
        </p:txBody>
      </p:sp>
      <p:sp>
        <p:nvSpPr>
          <p:cNvPr id="13" name="Text 11"/>
          <p:cNvSpPr/>
          <p:nvPr/>
        </p:nvSpPr>
        <p:spPr>
          <a:xfrm>
            <a:off x="8321040" y="4873752"/>
            <a:ext cx="365760" cy="228600"/>
          </a:xfrm>
          <a:prstGeom prst="rect">
            <a:avLst/>
          </a:prstGeom>
          <a:noFill/>
          <a:ln/>
        </p:spPr>
        <p:txBody>
          <a:bodyPr wrap="square" lIns="0" tIns="0" rIns="0" bIns="0" rtlCol="0" anchor="ctr"/>
          <a:lstStyle/>
          <a:p>
            <a:pPr algn="r" indent="0" marL="0">
              <a:buNone/>
            </a:pPr>
            <a:r>
              <a:rPr lang="en-US" sz="800" dirty="0">
                <a:solidFill>
                  <a:srgbClr val="7A7D81"/>
                </a:solidFill>
                <a:latin typeface="Calibri" pitchFamily="34" charset="0"/>
                <a:ea typeface="Calibri" pitchFamily="34" charset="-122"/>
                <a:cs typeface="Calibri" pitchFamily="34" charset="-120"/>
              </a:rPr>
              <a:t>21</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8F9"/>
        </a:solidFill>
      </p:bgPr>
    </p:bg>
    <p:spTree>
      <p:nvGrpSpPr>
        <p:cNvPr id="1" name=""/>
        <p:cNvGrpSpPr/>
        <p:nvPr/>
      </p:nvGrpSpPr>
      <p:grpSpPr>
        <a:xfrm>
          <a:off x="0" y="0"/>
          <a:ext cx="0" cy="0"/>
          <a:chOff x="0" y="0"/>
          <a:chExt cx="0" cy="0"/>
        </a:xfrm>
      </p:grpSpPr>
      <p:sp>
        <p:nvSpPr>
          <p:cNvPr id="2" name="Shape 0"/>
          <p:cNvSpPr/>
          <p:nvPr/>
        </p:nvSpPr>
        <p:spPr>
          <a:xfrm>
            <a:off x="457200" y="402336"/>
            <a:ext cx="109728" cy="109728"/>
          </a:xfrm>
          <a:prstGeom prst="ellipse">
            <a:avLst/>
          </a:prstGeom>
          <a:solidFill>
            <a:srgbClr val="86BC25"/>
          </a:solidFill>
          <a:ln/>
        </p:spPr>
      </p:sp>
      <p:sp>
        <p:nvSpPr>
          <p:cNvPr id="3" name="Text 1"/>
          <p:cNvSpPr/>
          <p:nvPr/>
        </p:nvSpPr>
        <p:spPr>
          <a:xfrm>
            <a:off x="658368" y="329184"/>
            <a:ext cx="7955280" cy="256032"/>
          </a:xfrm>
          <a:prstGeom prst="rect">
            <a:avLst/>
          </a:prstGeom>
          <a:noFill/>
          <a:ln/>
        </p:spPr>
        <p:txBody>
          <a:bodyPr wrap="square" lIns="0" tIns="0" rIns="0" bIns="0" rtlCol="0" anchor="ctr"/>
          <a:lstStyle/>
          <a:p>
            <a:pPr indent="0" marL="0">
              <a:buNone/>
            </a:pPr>
            <a:r>
              <a:rPr lang="en-US" sz="1100" b="1" spc="200" kern="0" dirty="0">
                <a:solidFill>
                  <a:srgbClr val="5C8A1B"/>
                </a:solidFill>
                <a:latin typeface="Calibri" pitchFamily="34" charset="0"/>
                <a:ea typeface="Calibri" pitchFamily="34" charset="-122"/>
                <a:cs typeface="Calibri" pitchFamily="34" charset="-120"/>
              </a:rPr>
              <a:t>MODULE 5 · AI FOR PRODUCTIVITY</a:t>
            </a:r>
            <a:endParaRPr lang="en-US" sz="1100" dirty="0"/>
          </a:p>
        </p:txBody>
      </p:sp>
      <p:sp>
        <p:nvSpPr>
          <p:cNvPr id="4" name="Text 2"/>
          <p:cNvSpPr/>
          <p:nvPr/>
        </p:nvSpPr>
        <p:spPr>
          <a:xfrm>
            <a:off x="457200" y="603504"/>
            <a:ext cx="8229600" cy="640080"/>
          </a:xfrm>
          <a:prstGeom prst="rect">
            <a:avLst/>
          </a:prstGeom>
          <a:noFill/>
          <a:ln/>
        </p:spPr>
        <p:txBody>
          <a:bodyPr wrap="square" lIns="0" tIns="0" rIns="0" bIns="0" rtlCol="0" anchor="ctr"/>
          <a:lstStyle/>
          <a:p>
            <a:pPr indent="0" marL="0">
              <a:buNone/>
            </a:pPr>
            <a:r>
              <a:rPr lang="en-US" sz="2900" b="1" dirty="0">
                <a:solidFill>
                  <a:srgbClr val="26282A"/>
                </a:solidFill>
                <a:latin typeface="Cambria" pitchFamily="34" charset="0"/>
                <a:ea typeface="Cambria" pitchFamily="34" charset="-122"/>
                <a:cs typeface="Cambria" pitchFamily="34" charset="-120"/>
              </a:rPr>
              <a:t>Use Cases</a:t>
            </a:r>
            <a:endParaRPr lang="en-US" sz="2900" dirty="0"/>
          </a:p>
        </p:txBody>
      </p:sp>
      <p:sp>
        <p:nvSpPr>
          <p:cNvPr id="5" name="Shape 3"/>
          <p:cNvSpPr/>
          <p:nvPr/>
        </p:nvSpPr>
        <p:spPr>
          <a:xfrm>
            <a:off x="1280160" y="1828800"/>
            <a:ext cx="6583680" cy="1874520"/>
          </a:xfrm>
          <a:prstGeom prst="roundRect">
            <a:avLst>
              <a:gd name="adj" fmla="val 4878"/>
            </a:avLst>
          </a:prstGeom>
          <a:solidFill>
            <a:srgbClr val="FFFFFF"/>
          </a:solidFill>
          <a:ln w="12700">
            <a:solidFill>
              <a:srgbClr val="DADDE0"/>
            </a:solidFill>
            <a:prstDash val="dash"/>
          </a:ln>
        </p:spPr>
      </p:sp>
      <p:sp>
        <p:nvSpPr>
          <p:cNvPr id="6" name="Text 4"/>
          <p:cNvSpPr/>
          <p:nvPr/>
        </p:nvSpPr>
        <p:spPr>
          <a:xfrm>
            <a:off x="1463040" y="2240280"/>
            <a:ext cx="6217920" cy="457200"/>
          </a:xfrm>
          <a:prstGeom prst="rect">
            <a:avLst/>
          </a:prstGeom>
          <a:noFill/>
          <a:ln/>
        </p:spPr>
        <p:txBody>
          <a:bodyPr wrap="square" lIns="0" tIns="0" rIns="0" bIns="0" rtlCol="0" anchor="ctr"/>
          <a:lstStyle/>
          <a:p>
            <a:pPr algn="ctr" indent="0" marL="0">
              <a:buNone/>
            </a:pPr>
            <a:r>
              <a:rPr lang="en-US" sz="2000" b="1" dirty="0">
                <a:solidFill>
                  <a:srgbClr val="7A7D81"/>
                </a:solidFill>
                <a:latin typeface="Cambria" pitchFamily="34" charset="0"/>
                <a:ea typeface="Cambria" pitchFamily="34" charset="-122"/>
                <a:cs typeface="Cambria" pitchFamily="34" charset="-120"/>
              </a:rPr>
              <a:t>Deloitte use-case slides to be inserted here</a:t>
            </a:r>
            <a:endParaRPr lang="en-US" sz="2000" dirty="0"/>
          </a:p>
        </p:txBody>
      </p:sp>
      <p:sp>
        <p:nvSpPr>
          <p:cNvPr id="7" name="Text 5"/>
          <p:cNvSpPr/>
          <p:nvPr/>
        </p:nvSpPr>
        <p:spPr>
          <a:xfrm>
            <a:off x="1554480" y="2834640"/>
            <a:ext cx="6035040" cy="731520"/>
          </a:xfrm>
          <a:prstGeom prst="rect">
            <a:avLst/>
          </a:prstGeom>
          <a:noFill/>
          <a:ln/>
        </p:spPr>
        <p:txBody>
          <a:bodyPr wrap="square" lIns="0" tIns="0" rIns="0" bIns="0" rtlCol="0" anchor="ctr"/>
          <a:lstStyle/>
          <a:p>
            <a:pPr algn="ctr" indent="0" marL="0">
              <a:buNone/>
            </a:pPr>
            <a:r>
              <a:rPr lang="en-US" sz="1250" dirty="0">
                <a:solidFill>
                  <a:srgbClr val="44474A"/>
                </a:solidFill>
                <a:latin typeface="Calibri" pitchFamily="34" charset="0"/>
                <a:ea typeface="Calibri" pitchFamily="34" charset="-122"/>
                <a:cs typeface="Calibri" pitchFamily="34" charset="-120"/>
              </a:rPr>
              <a:t>Placeholder — add function-specific examples (Consulting, Risk, Tax, Audit, Finance, Operations, HR, Tech) and the intern day-one use cases from existing Deloitte decks.</a:t>
            </a:r>
            <a:endParaRPr lang="en-US" sz="1250" dirty="0"/>
          </a:p>
        </p:txBody>
      </p:sp>
      <p:sp>
        <p:nvSpPr>
          <p:cNvPr id="8" name="Text 6"/>
          <p:cNvSpPr/>
          <p:nvPr/>
        </p:nvSpPr>
        <p:spPr>
          <a:xfrm>
            <a:off x="457200" y="4873752"/>
            <a:ext cx="5486400" cy="228600"/>
          </a:xfrm>
          <a:prstGeom prst="rect">
            <a:avLst/>
          </a:prstGeom>
          <a:noFill/>
          <a:ln/>
        </p:spPr>
        <p:txBody>
          <a:bodyPr wrap="square" lIns="0" tIns="0" rIns="0" bIns="0" rtlCol="0" anchor="ctr"/>
          <a:lstStyle/>
          <a:p>
            <a:pPr indent="0" marL="0">
              <a:buNone/>
            </a:pPr>
            <a:r>
              <a:rPr lang="en-US" sz="800" dirty="0">
                <a:solidFill>
                  <a:srgbClr val="7A7D81"/>
                </a:solidFill>
                <a:latin typeface="Calibri" pitchFamily="34" charset="0"/>
                <a:ea typeface="Calibri" pitchFamily="34" charset="-122"/>
                <a:cs typeface="Calibri" pitchFamily="34" charset="-120"/>
              </a:rPr>
              <a:t>Basics of AI/ML &amp; Prompt Engineering</a:t>
            </a:r>
            <a:endParaRPr lang="en-US" sz="800" dirty="0"/>
          </a:p>
        </p:txBody>
      </p:sp>
      <p:sp>
        <p:nvSpPr>
          <p:cNvPr id="9" name="Text 7"/>
          <p:cNvSpPr/>
          <p:nvPr/>
        </p:nvSpPr>
        <p:spPr>
          <a:xfrm>
            <a:off x="8321040" y="4873752"/>
            <a:ext cx="365760" cy="228600"/>
          </a:xfrm>
          <a:prstGeom prst="rect">
            <a:avLst/>
          </a:prstGeom>
          <a:noFill/>
          <a:ln/>
        </p:spPr>
        <p:txBody>
          <a:bodyPr wrap="square" lIns="0" tIns="0" rIns="0" bIns="0" rtlCol="0" anchor="ctr"/>
          <a:lstStyle/>
          <a:p>
            <a:pPr algn="r" indent="0" marL="0">
              <a:buNone/>
            </a:pPr>
            <a:r>
              <a:rPr lang="en-US" sz="800" dirty="0">
                <a:solidFill>
                  <a:srgbClr val="7A7D81"/>
                </a:solidFill>
                <a:latin typeface="Calibri" pitchFamily="34" charset="0"/>
                <a:ea typeface="Calibri" pitchFamily="34" charset="-122"/>
                <a:cs typeface="Calibri" pitchFamily="34" charset="-120"/>
              </a:rPr>
              <a:t>22</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02336"/>
            <a:ext cx="109728" cy="109728"/>
          </a:xfrm>
          <a:prstGeom prst="ellipse">
            <a:avLst/>
          </a:prstGeom>
          <a:solidFill>
            <a:srgbClr val="86BC25"/>
          </a:solidFill>
          <a:ln/>
        </p:spPr>
      </p:sp>
      <p:sp>
        <p:nvSpPr>
          <p:cNvPr id="3" name="Text 1"/>
          <p:cNvSpPr/>
          <p:nvPr/>
        </p:nvSpPr>
        <p:spPr>
          <a:xfrm>
            <a:off x="658368" y="329184"/>
            <a:ext cx="7955280" cy="256032"/>
          </a:xfrm>
          <a:prstGeom prst="rect">
            <a:avLst/>
          </a:prstGeom>
          <a:noFill/>
          <a:ln/>
        </p:spPr>
        <p:txBody>
          <a:bodyPr wrap="square" lIns="0" tIns="0" rIns="0" bIns="0" rtlCol="0" anchor="ctr"/>
          <a:lstStyle/>
          <a:p>
            <a:pPr indent="0" marL="0">
              <a:buNone/>
            </a:pPr>
            <a:r>
              <a:rPr lang="en-US" sz="1100" b="1" spc="200" kern="0" dirty="0">
                <a:solidFill>
                  <a:srgbClr val="5C8A1B"/>
                </a:solidFill>
                <a:latin typeface="Calibri" pitchFamily="34" charset="0"/>
                <a:ea typeface="Calibri" pitchFamily="34" charset="-122"/>
                <a:cs typeface="Calibri" pitchFamily="34" charset="-120"/>
              </a:rPr>
              <a:t>MODULE 6 · RESPONSIBLE AI</a:t>
            </a:r>
            <a:endParaRPr lang="en-US" sz="1100" dirty="0"/>
          </a:p>
        </p:txBody>
      </p:sp>
      <p:sp>
        <p:nvSpPr>
          <p:cNvPr id="4" name="Text 2"/>
          <p:cNvSpPr/>
          <p:nvPr/>
        </p:nvSpPr>
        <p:spPr>
          <a:xfrm>
            <a:off x="457200" y="603504"/>
            <a:ext cx="8229600" cy="640080"/>
          </a:xfrm>
          <a:prstGeom prst="rect">
            <a:avLst/>
          </a:prstGeom>
          <a:noFill/>
          <a:ln/>
        </p:spPr>
        <p:txBody>
          <a:bodyPr wrap="square" lIns="0" tIns="0" rIns="0" bIns="0" rtlCol="0" anchor="ctr"/>
          <a:lstStyle/>
          <a:p>
            <a:pPr indent="0" marL="0">
              <a:buNone/>
            </a:pPr>
            <a:r>
              <a:rPr lang="en-US" sz="2900" b="1" dirty="0">
                <a:solidFill>
                  <a:srgbClr val="26282A"/>
                </a:solidFill>
                <a:latin typeface="Cambria" pitchFamily="34" charset="0"/>
                <a:ea typeface="Cambria" pitchFamily="34" charset="-122"/>
                <a:cs typeface="Cambria" pitchFamily="34" charset="-120"/>
              </a:rPr>
              <a:t>The mindset shift that matters most</a:t>
            </a:r>
            <a:endParaRPr lang="en-US" sz="2900" dirty="0"/>
          </a:p>
        </p:txBody>
      </p:sp>
      <p:sp>
        <p:nvSpPr>
          <p:cNvPr id="5" name="Shape 3"/>
          <p:cNvSpPr/>
          <p:nvPr/>
        </p:nvSpPr>
        <p:spPr>
          <a:xfrm>
            <a:off x="457200" y="1463040"/>
            <a:ext cx="4023360" cy="2148840"/>
          </a:xfrm>
          <a:prstGeom prst="roundRect">
            <a:avLst>
              <a:gd name="adj" fmla="val 3404"/>
            </a:avLst>
          </a:prstGeom>
          <a:solidFill>
            <a:srgbClr val="F4F5F6"/>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6" name="Text 4"/>
          <p:cNvSpPr/>
          <p:nvPr/>
        </p:nvSpPr>
        <p:spPr>
          <a:xfrm>
            <a:off x="685800" y="1600200"/>
            <a:ext cx="3657600" cy="274320"/>
          </a:xfrm>
          <a:prstGeom prst="rect">
            <a:avLst/>
          </a:prstGeom>
          <a:noFill/>
          <a:ln/>
        </p:spPr>
        <p:txBody>
          <a:bodyPr wrap="square" lIns="0" tIns="0" rIns="0" bIns="0" rtlCol="0" anchor="ctr"/>
          <a:lstStyle/>
          <a:p>
            <a:pPr indent="0" marL="0">
              <a:buNone/>
            </a:pPr>
            <a:r>
              <a:rPr lang="en-US" sz="1150" b="1" spc="100" kern="0" dirty="0">
                <a:solidFill>
                  <a:srgbClr val="7A7D81"/>
                </a:solidFill>
                <a:latin typeface="Calibri" pitchFamily="34" charset="0"/>
                <a:ea typeface="Calibri" pitchFamily="34" charset="-122"/>
                <a:cs typeface="Calibri" pitchFamily="34" charset="-120"/>
              </a:rPr>
              <a:t>AS A STUDENT YOU COULD…</a:t>
            </a:r>
            <a:endParaRPr lang="en-US" sz="1150" dirty="0"/>
          </a:p>
        </p:txBody>
      </p:sp>
      <p:sp>
        <p:nvSpPr>
          <p:cNvPr id="7" name="Text 5"/>
          <p:cNvSpPr/>
          <p:nvPr/>
        </p:nvSpPr>
        <p:spPr>
          <a:xfrm>
            <a:off x="685800" y="1920240"/>
            <a:ext cx="3611880" cy="155448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44474A"/>
                </a:solidFill>
                <a:latin typeface="Calibri" pitchFamily="34" charset="0"/>
                <a:ea typeface="Calibri" pitchFamily="34" charset="-122"/>
                <a:cs typeface="Calibri" pitchFamily="34" charset="-120"/>
              </a:rPr>
              <a:t>Paste anything into any free tool</a:t>
            </a:r>
            <a:endParaRPr lang="en-US" sz="1250" dirty="0"/>
          </a:p>
          <a:p>
            <a:pPr marL="342900" indent="-342900">
              <a:spcAft>
                <a:spcPts val="800"/>
              </a:spcAft>
              <a:buSzPct val="100000"/>
              <a:buChar char="•"/>
            </a:pPr>
            <a:r>
              <a:rPr lang="en-US" sz="1250" dirty="0">
                <a:solidFill>
                  <a:srgbClr val="44474A"/>
                </a:solidFill>
                <a:latin typeface="Calibri" pitchFamily="34" charset="0"/>
                <a:ea typeface="Calibri" pitchFamily="34" charset="-122"/>
                <a:cs typeface="Calibri" pitchFamily="34" charset="-120"/>
              </a:rPr>
              <a:t>Trust an answer if it sounded right</a:t>
            </a:r>
            <a:endParaRPr lang="en-US" sz="1250" dirty="0"/>
          </a:p>
          <a:p>
            <a:pPr marL="342900" indent="-342900">
              <a:spcAft>
                <a:spcPts val="800"/>
              </a:spcAft>
              <a:buSzPct val="100000"/>
              <a:buChar char="•"/>
            </a:pPr>
            <a:r>
              <a:rPr lang="en-US" sz="1250" dirty="0">
                <a:solidFill>
                  <a:srgbClr val="44474A"/>
                </a:solidFill>
                <a:latin typeface="Calibri" pitchFamily="34" charset="0"/>
                <a:ea typeface="Calibri" pitchFamily="34" charset="-122"/>
                <a:cs typeface="Calibri" pitchFamily="34" charset="-120"/>
              </a:rPr>
              <a:t>Submit AI output as-is</a:t>
            </a:r>
            <a:endParaRPr lang="en-US" sz="1250" dirty="0"/>
          </a:p>
          <a:p>
            <a:pPr marL="342900" indent="-342900">
              <a:buSzPct val="100000"/>
              <a:buChar char="•"/>
            </a:pPr>
            <a:r>
              <a:rPr lang="en-US" sz="1250" dirty="0">
                <a:solidFill>
                  <a:srgbClr val="44474A"/>
                </a:solidFill>
                <a:latin typeface="Calibri" pitchFamily="34" charset="0"/>
                <a:ea typeface="Calibri" pitchFamily="34" charset="-122"/>
                <a:cs typeface="Calibri" pitchFamily="34" charset="-120"/>
              </a:rPr>
              <a:t>Use it invisibly</a:t>
            </a:r>
            <a:endParaRPr lang="en-US" sz="1250" dirty="0"/>
          </a:p>
        </p:txBody>
      </p:sp>
      <p:sp>
        <p:nvSpPr>
          <p:cNvPr id="8" name="Shape 6"/>
          <p:cNvSpPr/>
          <p:nvPr/>
        </p:nvSpPr>
        <p:spPr>
          <a:xfrm>
            <a:off x="4663440" y="1463040"/>
            <a:ext cx="4023360" cy="2148840"/>
          </a:xfrm>
          <a:prstGeom prst="roundRect">
            <a:avLst>
              <a:gd name="adj" fmla="val 3404"/>
            </a:avLst>
          </a:prstGeom>
          <a:solidFill>
            <a:srgbClr val="EDF4DF"/>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9" name="Text 7"/>
          <p:cNvSpPr/>
          <p:nvPr/>
        </p:nvSpPr>
        <p:spPr>
          <a:xfrm>
            <a:off x="4892040" y="1600200"/>
            <a:ext cx="3657600" cy="274320"/>
          </a:xfrm>
          <a:prstGeom prst="rect">
            <a:avLst/>
          </a:prstGeom>
          <a:noFill/>
          <a:ln/>
        </p:spPr>
        <p:txBody>
          <a:bodyPr wrap="square" lIns="0" tIns="0" rIns="0" bIns="0" rtlCol="0" anchor="ctr"/>
          <a:lstStyle/>
          <a:p>
            <a:pPr indent="0" marL="0">
              <a:buNone/>
            </a:pPr>
            <a:r>
              <a:rPr lang="en-US" sz="1150" b="1" spc="100" kern="0" dirty="0">
                <a:solidFill>
                  <a:srgbClr val="5C8A1B"/>
                </a:solidFill>
                <a:latin typeface="Calibri" pitchFamily="34" charset="0"/>
                <a:ea typeface="Calibri" pitchFamily="34" charset="-122"/>
                <a:cs typeface="Calibri" pitchFamily="34" charset="-120"/>
              </a:rPr>
              <a:t>AS A DELOITTE INTERN YOU MUST…</a:t>
            </a:r>
            <a:endParaRPr lang="en-US" sz="1150" dirty="0"/>
          </a:p>
        </p:txBody>
      </p:sp>
      <p:sp>
        <p:nvSpPr>
          <p:cNvPr id="10" name="Text 8"/>
          <p:cNvSpPr/>
          <p:nvPr/>
        </p:nvSpPr>
        <p:spPr>
          <a:xfrm>
            <a:off x="4892040" y="1920240"/>
            <a:ext cx="3611880" cy="1554480"/>
          </a:xfrm>
          <a:prstGeom prst="rect">
            <a:avLst/>
          </a:prstGeom>
          <a:noFill/>
          <a:ln/>
        </p:spPr>
        <p:txBody>
          <a:bodyPr wrap="square" lIns="0" tIns="0" rIns="0" bIns="0" rtlCol="0" anchor="ctr"/>
          <a:lstStyle/>
          <a:p>
            <a:pPr marL="342900" indent="-342900">
              <a:spcAft>
                <a:spcPts val="700"/>
              </a:spcAft>
              <a:buSzPct val="100000"/>
              <a:buChar char="•"/>
            </a:pPr>
            <a:r>
              <a:rPr lang="en-US" sz="1250" dirty="0">
                <a:solidFill>
                  <a:srgbClr val="26282A"/>
                </a:solidFill>
                <a:latin typeface="Calibri" pitchFamily="34" charset="0"/>
                <a:ea typeface="Calibri" pitchFamily="34" charset="-122"/>
                <a:cs typeface="Calibri" pitchFamily="34" charset="-120"/>
              </a:rPr>
              <a:t>Use only approved tools — never paste client/personal data</a:t>
            </a:r>
            <a:endParaRPr lang="en-US" sz="1250" dirty="0"/>
          </a:p>
          <a:p>
            <a:pPr marL="342900" indent="-342900">
              <a:spcAft>
                <a:spcPts val="700"/>
              </a:spcAft>
              <a:buSzPct val="100000"/>
              <a:buChar char="•"/>
            </a:pPr>
            <a:r>
              <a:rPr lang="en-US" sz="1250" dirty="0">
                <a:solidFill>
                  <a:srgbClr val="26282A"/>
                </a:solidFill>
                <a:latin typeface="Calibri" pitchFamily="34" charset="0"/>
                <a:ea typeface="Calibri" pitchFamily="34" charset="-122"/>
                <a:cs typeface="Calibri" pitchFamily="34" charset="-120"/>
              </a:rPr>
              <a:t>Verify every fact, figure and name</a:t>
            </a:r>
            <a:endParaRPr lang="en-US" sz="1250" dirty="0"/>
          </a:p>
          <a:p>
            <a:pPr marL="342900" indent="-342900">
              <a:spcAft>
                <a:spcPts val="700"/>
              </a:spcAft>
              <a:buSzPct val="100000"/>
              <a:buChar char="•"/>
            </a:pPr>
            <a:r>
              <a:rPr lang="en-US" sz="1250" dirty="0">
                <a:solidFill>
                  <a:srgbClr val="26282A"/>
                </a:solidFill>
                <a:latin typeface="Calibri" pitchFamily="34" charset="0"/>
                <a:ea typeface="Calibri" pitchFamily="34" charset="-122"/>
                <a:cs typeface="Calibri" pitchFamily="34" charset="-120"/>
              </a:rPr>
              <a:t>Add your own judgement — you own it</a:t>
            </a:r>
            <a:endParaRPr lang="en-US" sz="1250" dirty="0"/>
          </a:p>
          <a:p>
            <a:pPr marL="342900" indent="-342900">
              <a:buSzPct val="100000"/>
              <a:buChar char="•"/>
            </a:pPr>
            <a:r>
              <a:rPr lang="en-US" sz="1250" dirty="0">
                <a:solidFill>
                  <a:srgbClr val="26282A"/>
                </a:solidFill>
                <a:latin typeface="Calibri" pitchFamily="34" charset="0"/>
                <a:ea typeface="Calibri" pitchFamily="34" charset="-122"/>
                <a:cs typeface="Calibri" pitchFamily="34" charset="-120"/>
              </a:rPr>
              <a:t>Disclose AI use per firm guidance</a:t>
            </a:r>
            <a:endParaRPr lang="en-US" sz="1250" dirty="0"/>
          </a:p>
        </p:txBody>
      </p:sp>
      <p:sp>
        <p:nvSpPr>
          <p:cNvPr id="11" name="Text 9"/>
          <p:cNvSpPr/>
          <p:nvPr/>
        </p:nvSpPr>
        <p:spPr>
          <a:xfrm>
            <a:off x="457200" y="3794760"/>
            <a:ext cx="8229600" cy="365760"/>
          </a:xfrm>
          <a:prstGeom prst="rect">
            <a:avLst/>
          </a:prstGeom>
          <a:noFill/>
          <a:ln/>
        </p:spPr>
        <p:txBody>
          <a:bodyPr wrap="square" lIns="0" tIns="0" rIns="0" bIns="0" rtlCol="0" anchor="ctr"/>
          <a:lstStyle/>
          <a:p>
            <a:pPr indent="0" marL="0">
              <a:buNone/>
            </a:pPr>
            <a:r>
              <a:rPr lang="en-US" sz="1300" b="1" dirty="0">
                <a:solidFill>
                  <a:srgbClr val="B23A2E"/>
                </a:solidFill>
                <a:latin typeface="Calibri" pitchFamily="34" charset="0"/>
                <a:ea typeface="Calibri" pitchFamily="34" charset="-122"/>
                <a:cs typeface="Calibri" pitchFamily="34" charset="-120"/>
              </a:rPr>
              <a:t>Same tool, completely different stakes. </a:t>
            </a:r>
            <a:pPr indent="0" marL="0">
              <a:buNone/>
            </a:pPr>
            <a:r>
              <a:rPr lang="en-US" sz="1300" dirty="0">
                <a:solidFill>
                  <a:srgbClr val="26282A"/>
                </a:solidFill>
                <a:latin typeface="Calibri" pitchFamily="34" charset="0"/>
                <a:ea typeface="Calibri" pitchFamily="34" charset="-122"/>
                <a:cs typeface="Calibri" pitchFamily="34" charset="-120"/>
              </a:rPr>
              <a:t>At Deloitte you're handling firm and client information.</a:t>
            </a:r>
            <a:endParaRPr lang="en-US" sz="1300" dirty="0"/>
          </a:p>
        </p:txBody>
      </p:sp>
      <p:sp>
        <p:nvSpPr>
          <p:cNvPr id="12" name="Text 10"/>
          <p:cNvSpPr/>
          <p:nvPr/>
        </p:nvSpPr>
        <p:spPr>
          <a:xfrm>
            <a:off x="457200" y="4873752"/>
            <a:ext cx="5486400" cy="228600"/>
          </a:xfrm>
          <a:prstGeom prst="rect">
            <a:avLst/>
          </a:prstGeom>
          <a:noFill/>
          <a:ln/>
        </p:spPr>
        <p:txBody>
          <a:bodyPr wrap="square" lIns="0" tIns="0" rIns="0" bIns="0" rtlCol="0" anchor="ctr"/>
          <a:lstStyle/>
          <a:p>
            <a:pPr indent="0" marL="0">
              <a:buNone/>
            </a:pPr>
            <a:r>
              <a:rPr lang="en-US" sz="800" dirty="0">
                <a:solidFill>
                  <a:srgbClr val="7A7D81"/>
                </a:solidFill>
                <a:latin typeface="Calibri" pitchFamily="34" charset="0"/>
                <a:ea typeface="Calibri" pitchFamily="34" charset="-122"/>
                <a:cs typeface="Calibri" pitchFamily="34" charset="-120"/>
              </a:rPr>
              <a:t>Basics of AI/ML &amp; Prompt Engineering</a:t>
            </a:r>
            <a:endParaRPr lang="en-US" sz="800" dirty="0"/>
          </a:p>
        </p:txBody>
      </p:sp>
      <p:sp>
        <p:nvSpPr>
          <p:cNvPr id="13" name="Text 11"/>
          <p:cNvSpPr/>
          <p:nvPr/>
        </p:nvSpPr>
        <p:spPr>
          <a:xfrm>
            <a:off x="8321040" y="4873752"/>
            <a:ext cx="365760" cy="228600"/>
          </a:xfrm>
          <a:prstGeom prst="rect">
            <a:avLst/>
          </a:prstGeom>
          <a:noFill/>
          <a:ln/>
        </p:spPr>
        <p:txBody>
          <a:bodyPr wrap="square" lIns="0" tIns="0" rIns="0" bIns="0" rtlCol="0" anchor="ctr"/>
          <a:lstStyle/>
          <a:p>
            <a:pPr algn="r" indent="0" marL="0">
              <a:buNone/>
            </a:pPr>
            <a:r>
              <a:rPr lang="en-US" sz="800" dirty="0">
                <a:solidFill>
                  <a:srgbClr val="7A7D81"/>
                </a:solidFill>
                <a:latin typeface="Calibri" pitchFamily="34" charset="0"/>
                <a:ea typeface="Calibri" pitchFamily="34" charset="-122"/>
                <a:cs typeface="Calibri" pitchFamily="34" charset="-120"/>
              </a:rPr>
              <a:t>23</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02336"/>
            <a:ext cx="109728" cy="109728"/>
          </a:xfrm>
          <a:prstGeom prst="ellipse">
            <a:avLst/>
          </a:prstGeom>
          <a:solidFill>
            <a:srgbClr val="86BC25"/>
          </a:solidFill>
          <a:ln/>
        </p:spPr>
      </p:sp>
      <p:sp>
        <p:nvSpPr>
          <p:cNvPr id="3" name="Text 1"/>
          <p:cNvSpPr/>
          <p:nvPr/>
        </p:nvSpPr>
        <p:spPr>
          <a:xfrm>
            <a:off x="658368" y="329184"/>
            <a:ext cx="7955280" cy="256032"/>
          </a:xfrm>
          <a:prstGeom prst="rect">
            <a:avLst/>
          </a:prstGeom>
          <a:noFill/>
          <a:ln/>
        </p:spPr>
        <p:txBody>
          <a:bodyPr wrap="square" lIns="0" tIns="0" rIns="0" bIns="0" rtlCol="0" anchor="ctr"/>
          <a:lstStyle/>
          <a:p>
            <a:pPr indent="0" marL="0">
              <a:buNone/>
            </a:pPr>
            <a:r>
              <a:rPr lang="en-US" sz="1100" b="1" spc="200" kern="0" dirty="0">
                <a:solidFill>
                  <a:srgbClr val="5C8A1B"/>
                </a:solidFill>
                <a:latin typeface="Calibri" pitchFamily="34" charset="0"/>
                <a:ea typeface="Calibri" pitchFamily="34" charset="-122"/>
                <a:cs typeface="Calibri" pitchFamily="34" charset="-120"/>
              </a:rPr>
              <a:t>MODULE 6 · RESPONSIBLE AI</a:t>
            </a:r>
            <a:endParaRPr lang="en-US" sz="1100" dirty="0"/>
          </a:p>
        </p:txBody>
      </p:sp>
      <p:sp>
        <p:nvSpPr>
          <p:cNvPr id="4" name="Text 2"/>
          <p:cNvSpPr/>
          <p:nvPr/>
        </p:nvSpPr>
        <p:spPr>
          <a:xfrm>
            <a:off x="457200" y="603504"/>
            <a:ext cx="8229600" cy="640080"/>
          </a:xfrm>
          <a:prstGeom prst="rect">
            <a:avLst/>
          </a:prstGeom>
          <a:noFill/>
          <a:ln/>
        </p:spPr>
        <p:txBody>
          <a:bodyPr wrap="square" lIns="0" tIns="0" rIns="0" bIns="0" rtlCol="0" anchor="ctr"/>
          <a:lstStyle/>
          <a:p>
            <a:pPr indent="0" marL="0">
              <a:buNone/>
            </a:pPr>
            <a:r>
              <a:rPr lang="en-US" sz="2900" b="1" dirty="0">
                <a:solidFill>
                  <a:srgbClr val="26282A"/>
                </a:solidFill>
                <a:latin typeface="Cambria" pitchFamily="34" charset="0"/>
                <a:ea typeface="Cambria" pitchFamily="34" charset="-122"/>
                <a:cs typeface="Cambria" pitchFamily="34" charset="-120"/>
              </a:rPr>
              <a:t>Trustworthy AI — what it means for you</a:t>
            </a:r>
            <a:endParaRPr lang="en-US" sz="2900" dirty="0"/>
          </a:p>
        </p:txBody>
      </p:sp>
      <p:sp>
        <p:nvSpPr>
          <p:cNvPr id="5" name="Shape 3"/>
          <p:cNvSpPr/>
          <p:nvPr/>
        </p:nvSpPr>
        <p:spPr>
          <a:xfrm>
            <a:off x="457200" y="1481328"/>
            <a:ext cx="2679192" cy="1234440"/>
          </a:xfrm>
          <a:prstGeom prst="roundRect">
            <a:avLst>
              <a:gd name="adj" fmla="val 5926"/>
            </a:avLst>
          </a:prstGeom>
          <a:solidFill>
            <a:srgbClr val="F4F5F6"/>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6" name="Text 4"/>
          <p:cNvSpPr/>
          <p:nvPr/>
        </p:nvSpPr>
        <p:spPr>
          <a:xfrm>
            <a:off x="640080" y="1627632"/>
            <a:ext cx="2377440" cy="502920"/>
          </a:xfrm>
          <a:prstGeom prst="rect">
            <a:avLst/>
          </a:prstGeom>
          <a:noFill/>
          <a:ln/>
        </p:spPr>
        <p:txBody>
          <a:bodyPr wrap="square" lIns="0" tIns="0" rIns="0" bIns="0" rtlCol="0" anchor="ctr"/>
          <a:lstStyle/>
          <a:p>
            <a:pPr indent="0" marL="0">
              <a:buNone/>
            </a:pPr>
            <a:r>
              <a:rPr lang="en-US" sz="1250" b="1" dirty="0">
                <a:solidFill>
                  <a:srgbClr val="5C8A1B"/>
                </a:solidFill>
                <a:latin typeface="Calibri" pitchFamily="34" charset="0"/>
                <a:ea typeface="Calibri" pitchFamily="34" charset="-122"/>
                <a:cs typeface="Calibri" pitchFamily="34" charset="-120"/>
              </a:rPr>
              <a:t>Transparent &amp; Explainable</a:t>
            </a:r>
            <a:endParaRPr lang="en-US" sz="1250" dirty="0"/>
          </a:p>
        </p:txBody>
      </p:sp>
      <p:sp>
        <p:nvSpPr>
          <p:cNvPr id="7" name="Text 5"/>
          <p:cNvSpPr/>
          <p:nvPr/>
        </p:nvSpPr>
        <p:spPr>
          <a:xfrm>
            <a:off x="640080" y="2139696"/>
            <a:ext cx="2377440" cy="457200"/>
          </a:xfrm>
          <a:prstGeom prst="rect">
            <a:avLst/>
          </a:prstGeom>
          <a:noFill/>
          <a:ln/>
        </p:spPr>
        <p:txBody>
          <a:bodyPr wrap="square" lIns="0" tIns="0" rIns="0" bIns="0" rtlCol="0" anchor="ctr"/>
          <a:lstStyle/>
          <a:p>
            <a:pPr indent="0" marL="0">
              <a:buNone/>
            </a:pPr>
            <a:r>
              <a:rPr lang="en-US" sz="1100" dirty="0">
                <a:solidFill>
                  <a:srgbClr val="44474A"/>
                </a:solidFill>
                <a:latin typeface="Calibri" pitchFamily="34" charset="0"/>
                <a:ea typeface="Calibri" pitchFamily="34" charset="-122"/>
                <a:cs typeface="Calibri" pitchFamily="34" charset="-120"/>
              </a:rPr>
              <a:t>Be able to explain how you used AI</a:t>
            </a:r>
            <a:endParaRPr lang="en-US" sz="1100" dirty="0"/>
          </a:p>
        </p:txBody>
      </p:sp>
      <p:sp>
        <p:nvSpPr>
          <p:cNvPr id="8" name="Shape 6"/>
          <p:cNvSpPr/>
          <p:nvPr/>
        </p:nvSpPr>
        <p:spPr>
          <a:xfrm>
            <a:off x="3264408" y="1481328"/>
            <a:ext cx="2679192" cy="1234440"/>
          </a:xfrm>
          <a:prstGeom prst="roundRect">
            <a:avLst>
              <a:gd name="adj" fmla="val 5926"/>
            </a:avLst>
          </a:prstGeom>
          <a:solidFill>
            <a:srgbClr val="F4F5F6"/>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9" name="Text 7"/>
          <p:cNvSpPr/>
          <p:nvPr/>
        </p:nvSpPr>
        <p:spPr>
          <a:xfrm>
            <a:off x="3447288" y="1627632"/>
            <a:ext cx="2377440" cy="502920"/>
          </a:xfrm>
          <a:prstGeom prst="rect">
            <a:avLst/>
          </a:prstGeom>
          <a:noFill/>
          <a:ln/>
        </p:spPr>
        <p:txBody>
          <a:bodyPr wrap="square" lIns="0" tIns="0" rIns="0" bIns="0" rtlCol="0" anchor="ctr"/>
          <a:lstStyle/>
          <a:p>
            <a:pPr indent="0" marL="0">
              <a:buNone/>
            </a:pPr>
            <a:r>
              <a:rPr lang="en-US" sz="1250" b="1" dirty="0">
                <a:solidFill>
                  <a:srgbClr val="5C8A1B"/>
                </a:solidFill>
                <a:latin typeface="Calibri" pitchFamily="34" charset="0"/>
                <a:ea typeface="Calibri" pitchFamily="34" charset="-122"/>
                <a:cs typeface="Calibri" pitchFamily="34" charset="-120"/>
              </a:rPr>
              <a:t>Fair &amp; Impartial</a:t>
            </a:r>
            <a:endParaRPr lang="en-US" sz="1250" dirty="0"/>
          </a:p>
        </p:txBody>
      </p:sp>
      <p:sp>
        <p:nvSpPr>
          <p:cNvPr id="10" name="Text 8"/>
          <p:cNvSpPr/>
          <p:nvPr/>
        </p:nvSpPr>
        <p:spPr>
          <a:xfrm>
            <a:off x="3447288" y="2139696"/>
            <a:ext cx="2377440" cy="457200"/>
          </a:xfrm>
          <a:prstGeom prst="rect">
            <a:avLst/>
          </a:prstGeom>
          <a:noFill/>
          <a:ln/>
        </p:spPr>
        <p:txBody>
          <a:bodyPr wrap="square" lIns="0" tIns="0" rIns="0" bIns="0" rtlCol="0" anchor="ctr"/>
          <a:lstStyle/>
          <a:p>
            <a:pPr indent="0" marL="0">
              <a:buNone/>
            </a:pPr>
            <a:r>
              <a:rPr lang="en-US" sz="1100" dirty="0">
                <a:solidFill>
                  <a:srgbClr val="44474A"/>
                </a:solidFill>
                <a:latin typeface="Calibri" pitchFamily="34" charset="0"/>
                <a:ea typeface="Calibri" pitchFamily="34" charset="-122"/>
                <a:cs typeface="Calibri" pitchFamily="34" charset="-120"/>
              </a:rPr>
              <a:t>Watch for and challenge biased output</a:t>
            </a:r>
            <a:endParaRPr lang="en-US" sz="1100" dirty="0"/>
          </a:p>
        </p:txBody>
      </p:sp>
      <p:sp>
        <p:nvSpPr>
          <p:cNvPr id="11" name="Shape 9"/>
          <p:cNvSpPr/>
          <p:nvPr/>
        </p:nvSpPr>
        <p:spPr>
          <a:xfrm>
            <a:off x="6071616" y="1481328"/>
            <a:ext cx="2679192" cy="1234440"/>
          </a:xfrm>
          <a:prstGeom prst="roundRect">
            <a:avLst>
              <a:gd name="adj" fmla="val 5926"/>
            </a:avLst>
          </a:prstGeom>
          <a:solidFill>
            <a:srgbClr val="F4F5F6"/>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12" name="Text 10"/>
          <p:cNvSpPr/>
          <p:nvPr/>
        </p:nvSpPr>
        <p:spPr>
          <a:xfrm>
            <a:off x="6254496" y="1627632"/>
            <a:ext cx="2377440" cy="502920"/>
          </a:xfrm>
          <a:prstGeom prst="rect">
            <a:avLst/>
          </a:prstGeom>
          <a:noFill/>
          <a:ln/>
        </p:spPr>
        <p:txBody>
          <a:bodyPr wrap="square" lIns="0" tIns="0" rIns="0" bIns="0" rtlCol="0" anchor="ctr"/>
          <a:lstStyle/>
          <a:p>
            <a:pPr indent="0" marL="0">
              <a:buNone/>
            </a:pPr>
            <a:r>
              <a:rPr lang="en-US" sz="1250" b="1" dirty="0">
                <a:solidFill>
                  <a:srgbClr val="5C8A1B"/>
                </a:solidFill>
                <a:latin typeface="Calibri" pitchFamily="34" charset="0"/>
                <a:ea typeface="Calibri" pitchFamily="34" charset="-122"/>
                <a:cs typeface="Calibri" pitchFamily="34" charset="-120"/>
              </a:rPr>
              <a:t>Robust &amp; Reliable</a:t>
            </a:r>
            <a:endParaRPr lang="en-US" sz="1250" dirty="0"/>
          </a:p>
        </p:txBody>
      </p:sp>
      <p:sp>
        <p:nvSpPr>
          <p:cNvPr id="13" name="Text 11"/>
          <p:cNvSpPr/>
          <p:nvPr/>
        </p:nvSpPr>
        <p:spPr>
          <a:xfrm>
            <a:off x="6254496" y="2139696"/>
            <a:ext cx="2377440" cy="457200"/>
          </a:xfrm>
          <a:prstGeom prst="rect">
            <a:avLst/>
          </a:prstGeom>
          <a:noFill/>
          <a:ln/>
        </p:spPr>
        <p:txBody>
          <a:bodyPr wrap="square" lIns="0" tIns="0" rIns="0" bIns="0" rtlCol="0" anchor="ctr"/>
          <a:lstStyle/>
          <a:p>
            <a:pPr indent="0" marL="0">
              <a:buNone/>
            </a:pPr>
            <a:r>
              <a:rPr lang="en-US" sz="1100" dirty="0">
                <a:solidFill>
                  <a:srgbClr val="44474A"/>
                </a:solidFill>
                <a:latin typeface="Calibri" pitchFamily="34" charset="0"/>
                <a:ea typeface="Calibri" pitchFamily="34" charset="-122"/>
                <a:cs typeface="Calibri" pitchFamily="34" charset="-120"/>
              </a:rPr>
              <a:t>Don't rely on what you can't verify</a:t>
            </a:r>
            <a:endParaRPr lang="en-US" sz="1100" dirty="0"/>
          </a:p>
        </p:txBody>
      </p:sp>
      <p:sp>
        <p:nvSpPr>
          <p:cNvPr id="14" name="Shape 12"/>
          <p:cNvSpPr/>
          <p:nvPr/>
        </p:nvSpPr>
        <p:spPr>
          <a:xfrm>
            <a:off x="457200" y="2852928"/>
            <a:ext cx="2679192" cy="1234440"/>
          </a:xfrm>
          <a:prstGeom prst="roundRect">
            <a:avLst>
              <a:gd name="adj" fmla="val 5926"/>
            </a:avLst>
          </a:prstGeom>
          <a:solidFill>
            <a:srgbClr val="F4F5F6"/>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15" name="Text 13"/>
          <p:cNvSpPr/>
          <p:nvPr/>
        </p:nvSpPr>
        <p:spPr>
          <a:xfrm>
            <a:off x="640080" y="2999232"/>
            <a:ext cx="2377440" cy="502920"/>
          </a:xfrm>
          <a:prstGeom prst="rect">
            <a:avLst/>
          </a:prstGeom>
          <a:noFill/>
          <a:ln/>
        </p:spPr>
        <p:txBody>
          <a:bodyPr wrap="square" lIns="0" tIns="0" rIns="0" bIns="0" rtlCol="0" anchor="ctr"/>
          <a:lstStyle/>
          <a:p>
            <a:pPr indent="0" marL="0">
              <a:buNone/>
            </a:pPr>
            <a:r>
              <a:rPr lang="en-US" sz="1250" b="1" dirty="0">
                <a:solidFill>
                  <a:srgbClr val="5C8A1B"/>
                </a:solidFill>
                <a:latin typeface="Calibri" pitchFamily="34" charset="0"/>
                <a:ea typeface="Calibri" pitchFamily="34" charset="-122"/>
                <a:cs typeface="Calibri" pitchFamily="34" charset="-120"/>
              </a:rPr>
              <a:t>Respectful of Privacy</a:t>
            </a:r>
            <a:endParaRPr lang="en-US" sz="1250" dirty="0"/>
          </a:p>
        </p:txBody>
      </p:sp>
      <p:sp>
        <p:nvSpPr>
          <p:cNvPr id="16" name="Text 14"/>
          <p:cNvSpPr/>
          <p:nvPr/>
        </p:nvSpPr>
        <p:spPr>
          <a:xfrm>
            <a:off x="640080" y="3511296"/>
            <a:ext cx="2377440" cy="457200"/>
          </a:xfrm>
          <a:prstGeom prst="rect">
            <a:avLst/>
          </a:prstGeom>
          <a:noFill/>
          <a:ln/>
        </p:spPr>
        <p:txBody>
          <a:bodyPr wrap="square" lIns="0" tIns="0" rIns="0" bIns="0" rtlCol="0" anchor="ctr"/>
          <a:lstStyle/>
          <a:p>
            <a:pPr indent="0" marL="0">
              <a:buNone/>
            </a:pPr>
            <a:r>
              <a:rPr lang="en-US" sz="1100" dirty="0">
                <a:solidFill>
                  <a:srgbClr val="44474A"/>
                </a:solidFill>
                <a:latin typeface="Calibri" pitchFamily="34" charset="0"/>
                <a:ea typeface="Calibri" pitchFamily="34" charset="-122"/>
                <a:cs typeface="Calibri" pitchFamily="34" charset="-120"/>
              </a:rPr>
              <a:t>Never input confidential or personal data</a:t>
            </a:r>
            <a:endParaRPr lang="en-US" sz="1100" dirty="0"/>
          </a:p>
        </p:txBody>
      </p:sp>
      <p:sp>
        <p:nvSpPr>
          <p:cNvPr id="17" name="Shape 15"/>
          <p:cNvSpPr/>
          <p:nvPr/>
        </p:nvSpPr>
        <p:spPr>
          <a:xfrm>
            <a:off x="3264408" y="2852928"/>
            <a:ext cx="2679192" cy="1234440"/>
          </a:xfrm>
          <a:prstGeom prst="roundRect">
            <a:avLst>
              <a:gd name="adj" fmla="val 5926"/>
            </a:avLst>
          </a:prstGeom>
          <a:solidFill>
            <a:srgbClr val="F4F5F6"/>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18" name="Text 16"/>
          <p:cNvSpPr/>
          <p:nvPr/>
        </p:nvSpPr>
        <p:spPr>
          <a:xfrm>
            <a:off x="3447288" y="2999232"/>
            <a:ext cx="2377440" cy="502920"/>
          </a:xfrm>
          <a:prstGeom prst="rect">
            <a:avLst/>
          </a:prstGeom>
          <a:noFill/>
          <a:ln/>
        </p:spPr>
        <p:txBody>
          <a:bodyPr wrap="square" lIns="0" tIns="0" rIns="0" bIns="0" rtlCol="0" anchor="ctr"/>
          <a:lstStyle/>
          <a:p>
            <a:pPr indent="0" marL="0">
              <a:buNone/>
            </a:pPr>
            <a:r>
              <a:rPr lang="en-US" sz="1250" b="1" dirty="0">
                <a:solidFill>
                  <a:srgbClr val="5C8A1B"/>
                </a:solidFill>
                <a:latin typeface="Calibri" pitchFamily="34" charset="0"/>
                <a:ea typeface="Calibri" pitchFamily="34" charset="-122"/>
                <a:cs typeface="Calibri" pitchFamily="34" charset="-120"/>
              </a:rPr>
              <a:t>Safe &amp; Secure</a:t>
            </a:r>
            <a:endParaRPr lang="en-US" sz="1250" dirty="0"/>
          </a:p>
        </p:txBody>
      </p:sp>
      <p:sp>
        <p:nvSpPr>
          <p:cNvPr id="19" name="Text 17"/>
          <p:cNvSpPr/>
          <p:nvPr/>
        </p:nvSpPr>
        <p:spPr>
          <a:xfrm>
            <a:off x="3447288" y="3511296"/>
            <a:ext cx="2377440" cy="457200"/>
          </a:xfrm>
          <a:prstGeom prst="rect">
            <a:avLst/>
          </a:prstGeom>
          <a:noFill/>
          <a:ln/>
        </p:spPr>
        <p:txBody>
          <a:bodyPr wrap="square" lIns="0" tIns="0" rIns="0" bIns="0" rtlCol="0" anchor="ctr"/>
          <a:lstStyle/>
          <a:p>
            <a:pPr indent="0" marL="0">
              <a:buNone/>
            </a:pPr>
            <a:r>
              <a:rPr lang="en-US" sz="1100" dirty="0">
                <a:solidFill>
                  <a:srgbClr val="44474A"/>
                </a:solidFill>
                <a:latin typeface="Calibri" pitchFamily="34" charset="0"/>
                <a:ea typeface="Calibri" pitchFamily="34" charset="-122"/>
                <a:cs typeface="Calibri" pitchFamily="34" charset="-120"/>
              </a:rPr>
              <a:t>Use only firm-approved tools &amp; channels</a:t>
            </a:r>
            <a:endParaRPr lang="en-US" sz="1100" dirty="0"/>
          </a:p>
        </p:txBody>
      </p:sp>
      <p:sp>
        <p:nvSpPr>
          <p:cNvPr id="20" name="Shape 18"/>
          <p:cNvSpPr/>
          <p:nvPr/>
        </p:nvSpPr>
        <p:spPr>
          <a:xfrm>
            <a:off x="6071616" y="2852928"/>
            <a:ext cx="2679192" cy="1234440"/>
          </a:xfrm>
          <a:prstGeom prst="roundRect">
            <a:avLst>
              <a:gd name="adj" fmla="val 5926"/>
            </a:avLst>
          </a:prstGeom>
          <a:solidFill>
            <a:srgbClr val="F4F5F6"/>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21" name="Text 19"/>
          <p:cNvSpPr/>
          <p:nvPr/>
        </p:nvSpPr>
        <p:spPr>
          <a:xfrm>
            <a:off x="6254496" y="2999232"/>
            <a:ext cx="2377440" cy="502920"/>
          </a:xfrm>
          <a:prstGeom prst="rect">
            <a:avLst/>
          </a:prstGeom>
          <a:noFill/>
          <a:ln/>
        </p:spPr>
        <p:txBody>
          <a:bodyPr wrap="square" lIns="0" tIns="0" rIns="0" bIns="0" rtlCol="0" anchor="ctr"/>
          <a:lstStyle/>
          <a:p>
            <a:pPr indent="0" marL="0">
              <a:buNone/>
            </a:pPr>
            <a:r>
              <a:rPr lang="en-US" sz="1250" b="1" dirty="0">
                <a:solidFill>
                  <a:srgbClr val="5C8A1B"/>
                </a:solidFill>
                <a:latin typeface="Calibri" pitchFamily="34" charset="0"/>
                <a:ea typeface="Calibri" pitchFamily="34" charset="-122"/>
                <a:cs typeface="Calibri" pitchFamily="34" charset="-120"/>
              </a:rPr>
              <a:t>Responsible &amp; Accountable</a:t>
            </a:r>
            <a:endParaRPr lang="en-US" sz="1250" dirty="0"/>
          </a:p>
        </p:txBody>
      </p:sp>
      <p:sp>
        <p:nvSpPr>
          <p:cNvPr id="22" name="Text 20"/>
          <p:cNvSpPr/>
          <p:nvPr/>
        </p:nvSpPr>
        <p:spPr>
          <a:xfrm>
            <a:off x="6254496" y="3511296"/>
            <a:ext cx="2377440" cy="457200"/>
          </a:xfrm>
          <a:prstGeom prst="rect">
            <a:avLst/>
          </a:prstGeom>
          <a:noFill/>
          <a:ln/>
        </p:spPr>
        <p:txBody>
          <a:bodyPr wrap="square" lIns="0" tIns="0" rIns="0" bIns="0" rtlCol="0" anchor="ctr"/>
          <a:lstStyle/>
          <a:p>
            <a:pPr indent="0" marL="0">
              <a:buNone/>
            </a:pPr>
            <a:r>
              <a:rPr lang="en-US" sz="1100" dirty="0">
                <a:solidFill>
                  <a:srgbClr val="44474A"/>
                </a:solidFill>
                <a:latin typeface="Calibri" pitchFamily="34" charset="0"/>
                <a:ea typeface="Calibri" pitchFamily="34" charset="-122"/>
                <a:cs typeface="Calibri" pitchFamily="34" charset="-120"/>
              </a:rPr>
              <a:t>You own the output — not the AI</a:t>
            </a:r>
            <a:endParaRPr lang="en-US" sz="1100" dirty="0"/>
          </a:p>
        </p:txBody>
      </p:sp>
      <p:sp>
        <p:nvSpPr>
          <p:cNvPr id="23" name="Text 21"/>
          <p:cNvSpPr/>
          <p:nvPr/>
        </p:nvSpPr>
        <p:spPr>
          <a:xfrm>
            <a:off x="457200" y="4279392"/>
            <a:ext cx="8229600" cy="274320"/>
          </a:xfrm>
          <a:prstGeom prst="rect">
            <a:avLst/>
          </a:prstGeom>
          <a:noFill/>
          <a:ln/>
        </p:spPr>
        <p:txBody>
          <a:bodyPr wrap="square" lIns="0" tIns="0" rIns="0" bIns="0" rtlCol="0" anchor="ctr"/>
          <a:lstStyle/>
          <a:p>
            <a:pPr indent="0" marL="0">
              <a:buNone/>
            </a:pPr>
            <a:r>
              <a:rPr lang="en-US" sz="1000" i="1" dirty="0">
                <a:solidFill>
                  <a:srgbClr val="7A7D81"/>
                </a:solidFill>
                <a:latin typeface="Calibri" pitchFamily="34" charset="0"/>
                <a:ea typeface="Calibri" pitchFamily="34" charset="-122"/>
                <a:cs typeface="Calibri" pitchFamily="34" charset="-120"/>
              </a:rPr>
              <a:t>Align to the current internal Deloitte Trustworthy AI framework before delivery.</a:t>
            </a:r>
            <a:endParaRPr lang="en-US" sz="1000" dirty="0"/>
          </a:p>
        </p:txBody>
      </p:sp>
      <p:sp>
        <p:nvSpPr>
          <p:cNvPr id="24" name="Text 22"/>
          <p:cNvSpPr/>
          <p:nvPr/>
        </p:nvSpPr>
        <p:spPr>
          <a:xfrm>
            <a:off x="457200" y="4873752"/>
            <a:ext cx="5486400" cy="228600"/>
          </a:xfrm>
          <a:prstGeom prst="rect">
            <a:avLst/>
          </a:prstGeom>
          <a:noFill/>
          <a:ln/>
        </p:spPr>
        <p:txBody>
          <a:bodyPr wrap="square" lIns="0" tIns="0" rIns="0" bIns="0" rtlCol="0" anchor="ctr"/>
          <a:lstStyle/>
          <a:p>
            <a:pPr indent="0" marL="0">
              <a:buNone/>
            </a:pPr>
            <a:r>
              <a:rPr lang="en-US" sz="800" dirty="0">
                <a:solidFill>
                  <a:srgbClr val="7A7D81"/>
                </a:solidFill>
                <a:latin typeface="Calibri" pitchFamily="34" charset="0"/>
                <a:ea typeface="Calibri" pitchFamily="34" charset="-122"/>
                <a:cs typeface="Calibri" pitchFamily="34" charset="-120"/>
              </a:rPr>
              <a:t>Basics of AI/ML &amp; Prompt Engineering</a:t>
            </a:r>
            <a:endParaRPr lang="en-US" sz="800" dirty="0"/>
          </a:p>
        </p:txBody>
      </p:sp>
      <p:sp>
        <p:nvSpPr>
          <p:cNvPr id="25" name="Text 23"/>
          <p:cNvSpPr/>
          <p:nvPr/>
        </p:nvSpPr>
        <p:spPr>
          <a:xfrm>
            <a:off x="8321040" y="4873752"/>
            <a:ext cx="365760" cy="228600"/>
          </a:xfrm>
          <a:prstGeom prst="rect">
            <a:avLst/>
          </a:prstGeom>
          <a:noFill/>
          <a:ln/>
        </p:spPr>
        <p:txBody>
          <a:bodyPr wrap="square" lIns="0" tIns="0" rIns="0" bIns="0" rtlCol="0" anchor="ctr"/>
          <a:lstStyle/>
          <a:p>
            <a:pPr algn="r" indent="0" marL="0">
              <a:buNone/>
            </a:pPr>
            <a:r>
              <a:rPr lang="en-US" sz="800" dirty="0">
                <a:solidFill>
                  <a:srgbClr val="7A7D81"/>
                </a:solidFill>
                <a:latin typeface="Calibri" pitchFamily="34" charset="0"/>
                <a:ea typeface="Calibri" pitchFamily="34" charset="-122"/>
                <a:cs typeface="Calibri" pitchFamily="34" charset="-120"/>
              </a:rPr>
              <a:t>24</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02336"/>
            <a:ext cx="109728" cy="109728"/>
          </a:xfrm>
          <a:prstGeom prst="ellipse">
            <a:avLst/>
          </a:prstGeom>
          <a:solidFill>
            <a:srgbClr val="86BC25"/>
          </a:solidFill>
          <a:ln/>
        </p:spPr>
      </p:sp>
      <p:sp>
        <p:nvSpPr>
          <p:cNvPr id="3" name="Text 1"/>
          <p:cNvSpPr/>
          <p:nvPr/>
        </p:nvSpPr>
        <p:spPr>
          <a:xfrm>
            <a:off x="658368" y="329184"/>
            <a:ext cx="7955280" cy="256032"/>
          </a:xfrm>
          <a:prstGeom prst="rect">
            <a:avLst/>
          </a:prstGeom>
          <a:noFill/>
          <a:ln/>
        </p:spPr>
        <p:txBody>
          <a:bodyPr wrap="square" lIns="0" tIns="0" rIns="0" bIns="0" rtlCol="0" anchor="ctr"/>
          <a:lstStyle/>
          <a:p>
            <a:pPr indent="0" marL="0">
              <a:buNone/>
            </a:pPr>
            <a:r>
              <a:rPr lang="en-US" sz="1100" b="1" spc="200" kern="0" dirty="0">
                <a:solidFill>
                  <a:srgbClr val="5C8A1B"/>
                </a:solidFill>
                <a:latin typeface="Calibri" pitchFamily="34" charset="0"/>
                <a:ea typeface="Calibri" pitchFamily="34" charset="-122"/>
                <a:cs typeface="Calibri" pitchFamily="34" charset="-120"/>
              </a:rPr>
              <a:t>MODULE 6 · RESPONSIBLE AI</a:t>
            </a:r>
            <a:endParaRPr lang="en-US" sz="1100" dirty="0"/>
          </a:p>
        </p:txBody>
      </p:sp>
      <p:sp>
        <p:nvSpPr>
          <p:cNvPr id="4" name="Text 2"/>
          <p:cNvSpPr/>
          <p:nvPr/>
        </p:nvSpPr>
        <p:spPr>
          <a:xfrm>
            <a:off x="457200" y="603504"/>
            <a:ext cx="8229600" cy="640080"/>
          </a:xfrm>
          <a:prstGeom prst="rect">
            <a:avLst/>
          </a:prstGeom>
          <a:noFill/>
          <a:ln/>
        </p:spPr>
        <p:txBody>
          <a:bodyPr wrap="square" lIns="0" tIns="0" rIns="0" bIns="0" rtlCol="0" anchor="ctr"/>
          <a:lstStyle/>
          <a:p>
            <a:pPr indent="0" marL="0">
              <a:buNone/>
            </a:pPr>
            <a:r>
              <a:rPr lang="en-US" sz="2900" b="1" dirty="0">
                <a:solidFill>
                  <a:srgbClr val="26282A"/>
                </a:solidFill>
                <a:latin typeface="Cambria" pitchFamily="34" charset="0"/>
                <a:ea typeface="Cambria" pitchFamily="34" charset="-122"/>
                <a:cs typeface="Cambria" pitchFamily="34" charset="-120"/>
              </a:rPr>
              <a:t>The 4 golden rules — screenshot this</a:t>
            </a:r>
            <a:endParaRPr lang="en-US" sz="2900" dirty="0"/>
          </a:p>
        </p:txBody>
      </p:sp>
      <p:sp>
        <p:nvSpPr>
          <p:cNvPr id="5" name="Shape 3"/>
          <p:cNvSpPr/>
          <p:nvPr/>
        </p:nvSpPr>
        <p:spPr>
          <a:xfrm>
            <a:off x="457200" y="1554480"/>
            <a:ext cx="8229600" cy="713232"/>
          </a:xfrm>
          <a:prstGeom prst="roundRect">
            <a:avLst>
              <a:gd name="adj" fmla="val 10256"/>
            </a:avLst>
          </a:prstGeom>
          <a:solidFill>
            <a:srgbClr val="EDF4DF"/>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6" name="Shape 4"/>
          <p:cNvSpPr/>
          <p:nvPr/>
        </p:nvSpPr>
        <p:spPr>
          <a:xfrm>
            <a:off x="658368" y="1682496"/>
            <a:ext cx="457200" cy="457200"/>
          </a:xfrm>
          <a:prstGeom prst="ellipse">
            <a:avLst/>
          </a:prstGeom>
          <a:solidFill>
            <a:srgbClr val="86BC25"/>
          </a:solidFill>
          <a:ln/>
        </p:spPr>
      </p:sp>
      <p:sp>
        <p:nvSpPr>
          <p:cNvPr id="7" name="Text 5"/>
          <p:cNvSpPr/>
          <p:nvPr/>
        </p:nvSpPr>
        <p:spPr>
          <a:xfrm>
            <a:off x="658368" y="1682496"/>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6"/>
          <p:cNvSpPr/>
          <p:nvPr/>
        </p:nvSpPr>
        <p:spPr>
          <a:xfrm>
            <a:off x="1280160" y="1673352"/>
            <a:ext cx="1645920" cy="475488"/>
          </a:xfrm>
          <a:prstGeom prst="rect">
            <a:avLst/>
          </a:prstGeom>
          <a:noFill/>
          <a:ln/>
        </p:spPr>
        <p:txBody>
          <a:bodyPr wrap="square" lIns="0" tIns="0" rIns="0" bIns="0" rtlCol="0" anchor="ctr"/>
          <a:lstStyle/>
          <a:p>
            <a:pPr indent="0" marL="0">
              <a:buNone/>
            </a:pPr>
            <a:r>
              <a:rPr lang="en-US" sz="1600" b="1" dirty="0">
                <a:solidFill>
                  <a:srgbClr val="26282A"/>
                </a:solidFill>
                <a:latin typeface="Cambria" pitchFamily="34" charset="0"/>
                <a:ea typeface="Cambria" pitchFamily="34" charset="-122"/>
                <a:cs typeface="Cambria" pitchFamily="34" charset="-120"/>
              </a:rPr>
              <a:t>Verify</a:t>
            </a:r>
            <a:endParaRPr lang="en-US" sz="1600" dirty="0"/>
          </a:p>
        </p:txBody>
      </p:sp>
      <p:sp>
        <p:nvSpPr>
          <p:cNvPr id="9" name="Text 7"/>
          <p:cNvSpPr/>
          <p:nvPr/>
        </p:nvSpPr>
        <p:spPr>
          <a:xfrm>
            <a:off x="2926080" y="1673352"/>
            <a:ext cx="5577840" cy="475488"/>
          </a:xfrm>
          <a:prstGeom prst="rect">
            <a:avLst/>
          </a:prstGeom>
          <a:noFill/>
          <a:ln/>
        </p:spPr>
        <p:txBody>
          <a:bodyPr wrap="square" lIns="0" tIns="0" rIns="0" bIns="0" rtlCol="0" anchor="ctr"/>
          <a:lstStyle/>
          <a:p>
            <a:pPr indent="0" marL="0">
              <a:buNone/>
            </a:pPr>
            <a:r>
              <a:rPr lang="en-US" sz="1250" dirty="0">
                <a:solidFill>
                  <a:srgbClr val="44474A"/>
                </a:solidFill>
                <a:latin typeface="Calibri" pitchFamily="34" charset="0"/>
                <a:ea typeface="Calibri" pitchFamily="34" charset="-122"/>
                <a:cs typeface="Calibri" pitchFamily="34" charset="-120"/>
              </a:rPr>
              <a:t>Check every fact, figure, name and citation. It hallucinates confidently.</a:t>
            </a:r>
            <a:endParaRPr lang="en-US" sz="1250" dirty="0"/>
          </a:p>
        </p:txBody>
      </p:sp>
      <p:sp>
        <p:nvSpPr>
          <p:cNvPr id="10" name="Shape 8"/>
          <p:cNvSpPr/>
          <p:nvPr/>
        </p:nvSpPr>
        <p:spPr>
          <a:xfrm>
            <a:off x="457200" y="2340864"/>
            <a:ext cx="8229600" cy="713232"/>
          </a:xfrm>
          <a:prstGeom prst="roundRect">
            <a:avLst>
              <a:gd name="adj" fmla="val 10256"/>
            </a:avLst>
          </a:prstGeom>
          <a:solidFill>
            <a:srgbClr val="F4F5F6"/>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11" name="Shape 9"/>
          <p:cNvSpPr/>
          <p:nvPr/>
        </p:nvSpPr>
        <p:spPr>
          <a:xfrm>
            <a:off x="658368" y="2468880"/>
            <a:ext cx="457200" cy="457200"/>
          </a:xfrm>
          <a:prstGeom prst="ellipse">
            <a:avLst/>
          </a:prstGeom>
          <a:solidFill>
            <a:srgbClr val="86BC25"/>
          </a:solidFill>
          <a:ln/>
        </p:spPr>
      </p:sp>
      <p:sp>
        <p:nvSpPr>
          <p:cNvPr id="12" name="Text 10"/>
          <p:cNvSpPr/>
          <p:nvPr/>
        </p:nvSpPr>
        <p:spPr>
          <a:xfrm>
            <a:off x="658368" y="24688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p:nvPr/>
        </p:nvSpPr>
        <p:spPr>
          <a:xfrm>
            <a:off x="1280160" y="2459736"/>
            <a:ext cx="1645920" cy="475488"/>
          </a:xfrm>
          <a:prstGeom prst="rect">
            <a:avLst/>
          </a:prstGeom>
          <a:noFill/>
          <a:ln/>
        </p:spPr>
        <p:txBody>
          <a:bodyPr wrap="square" lIns="0" tIns="0" rIns="0" bIns="0" rtlCol="0" anchor="ctr"/>
          <a:lstStyle/>
          <a:p>
            <a:pPr indent="0" marL="0">
              <a:buNone/>
            </a:pPr>
            <a:r>
              <a:rPr lang="en-US" sz="1600" b="1" dirty="0">
                <a:solidFill>
                  <a:srgbClr val="26282A"/>
                </a:solidFill>
                <a:latin typeface="Cambria" pitchFamily="34" charset="0"/>
                <a:ea typeface="Cambria" pitchFamily="34" charset="-122"/>
                <a:cs typeface="Cambria" pitchFamily="34" charset="-120"/>
              </a:rPr>
              <a:t>Protect</a:t>
            </a:r>
            <a:endParaRPr lang="en-US" sz="1600" dirty="0"/>
          </a:p>
        </p:txBody>
      </p:sp>
      <p:sp>
        <p:nvSpPr>
          <p:cNvPr id="14" name="Text 12"/>
          <p:cNvSpPr/>
          <p:nvPr/>
        </p:nvSpPr>
        <p:spPr>
          <a:xfrm>
            <a:off x="2926080" y="2459736"/>
            <a:ext cx="5577840" cy="475488"/>
          </a:xfrm>
          <a:prstGeom prst="rect">
            <a:avLst/>
          </a:prstGeom>
          <a:noFill/>
          <a:ln/>
        </p:spPr>
        <p:txBody>
          <a:bodyPr wrap="square" lIns="0" tIns="0" rIns="0" bIns="0" rtlCol="0" anchor="ctr"/>
          <a:lstStyle/>
          <a:p>
            <a:pPr indent="0" marL="0">
              <a:buNone/>
            </a:pPr>
            <a:r>
              <a:rPr lang="en-US" sz="1250" dirty="0">
                <a:solidFill>
                  <a:srgbClr val="44474A"/>
                </a:solidFill>
                <a:latin typeface="Calibri" pitchFamily="34" charset="0"/>
                <a:ea typeface="Calibri" pitchFamily="34" charset="-122"/>
                <a:cs typeface="Calibri" pitchFamily="34" charset="-120"/>
              </a:rPr>
              <a:t>Never paste confidential, client or personal data into public tools.</a:t>
            </a:r>
            <a:endParaRPr lang="en-US" sz="1250" dirty="0"/>
          </a:p>
        </p:txBody>
      </p:sp>
      <p:sp>
        <p:nvSpPr>
          <p:cNvPr id="15" name="Shape 13"/>
          <p:cNvSpPr/>
          <p:nvPr/>
        </p:nvSpPr>
        <p:spPr>
          <a:xfrm>
            <a:off x="457200" y="3127248"/>
            <a:ext cx="8229600" cy="713232"/>
          </a:xfrm>
          <a:prstGeom prst="roundRect">
            <a:avLst>
              <a:gd name="adj" fmla="val 10256"/>
            </a:avLst>
          </a:prstGeom>
          <a:solidFill>
            <a:srgbClr val="EDF4DF"/>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16" name="Shape 14"/>
          <p:cNvSpPr/>
          <p:nvPr/>
        </p:nvSpPr>
        <p:spPr>
          <a:xfrm>
            <a:off x="658368" y="3255264"/>
            <a:ext cx="457200" cy="457200"/>
          </a:xfrm>
          <a:prstGeom prst="ellipse">
            <a:avLst/>
          </a:prstGeom>
          <a:solidFill>
            <a:srgbClr val="86BC25"/>
          </a:solidFill>
          <a:ln/>
        </p:spPr>
      </p:sp>
      <p:sp>
        <p:nvSpPr>
          <p:cNvPr id="17" name="Text 15"/>
          <p:cNvSpPr/>
          <p:nvPr/>
        </p:nvSpPr>
        <p:spPr>
          <a:xfrm>
            <a:off x="658368" y="3255264"/>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8" name="Text 16"/>
          <p:cNvSpPr/>
          <p:nvPr/>
        </p:nvSpPr>
        <p:spPr>
          <a:xfrm>
            <a:off x="1280160" y="3246120"/>
            <a:ext cx="1645920" cy="475488"/>
          </a:xfrm>
          <a:prstGeom prst="rect">
            <a:avLst/>
          </a:prstGeom>
          <a:noFill/>
          <a:ln/>
        </p:spPr>
        <p:txBody>
          <a:bodyPr wrap="square" lIns="0" tIns="0" rIns="0" bIns="0" rtlCol="0" anchor="ctr"/>
          <a:lstStyle/>
          <a:p>
            <a:pPr indent="0" marL="0">
              <a:buNone/>
            </a:pPr>
            <a:r>
              <a:rPr lang="en-US" sz="1600" b="1" dirty="0">
                <a:solidFill>
                  <a:srgbClr val="26282A"/>
                </a:solidFill>
                <a:latin typeface="Cambria" pitchFamily="34" charset="0"/>
                <a:ea typeface="Cambria" pitchFamily="34" charset="-122"/>
                <a:cs typeface="Cambria" pitchFamily="34" charset="-120"/>
              </a:rPr>
              <a:t>Own</a:t>
            </a:r>
            <a:endParaRPr lang="en-US" sz="1600" dirty="0"/>
          </a:p>
        </p:txBody>
      </p:sp>
      <p:sp>
        <p:nvSpPr>
          <p:cNvPr id="19" name="Text 17"/>
          <p:cNvSpPr/>
          <p:nvPr/>
        </p:nvSpPr>
        <p:spPr>
          <a:xfrm>
            <a:off x="2926080" y="3246120"/>
            <a:ext cx="5577840" cy="475488"/>
          </a:xfrm>
          <a:prstGeom prst="rect">
            <a:avLst/>
          </a:prstGeom>
          <a:noFill/>
          <a:ln/>
        </p:spPr>
        <p:txBody>
          <a:bodyPr wrap="square" lIns="0" tIns="0" rIns="0" bIns="0" rtlCol="0" anchor="ctr"/>
          <a:lstStyle/>
          <a:p>
            <a:pPr indent="0" marL="0">
              <a:buNone/>
            </a:pPr>
            <a:r>
              <a:rPr lang="en-US" sz="1250" dirty="0">
                <a:solidFill>
                  <a:srgbClr val="44474A"/>
                </a:solidFill>
                <a:latin typeface="Calibri" pitchFamily="34" charset="0"/>
                <a:ea typeface="Calibri" pitchFamily="34" charset="-122"/>
                <a:cs typeface="Calibri" pitchFamily="34" charset="-120"/>
              </a:rPr>
              <a:t>You are accountable for anything you send, present or file.</a:t>
            </a:r>
            <a:endParaRPr lang="en-US" sz="1250" dirty="0"/>
          </a:p>
        </p:txBody>
      </p:sp>
      <p:sp>
        <p:nvSpPr>
          <p:cNvPr id="20" name="Shape 18"/>
          <p:cNvSpPr/>
          <p:nvPr/>
        </p:nvSpPr>
        <p:spPr>
          <a:xfrm>
            <a:off x="457200" y="3913632"/>
            <a:ext cx="8229600" cy="713232"/>
          </a:xfrm>
          <a:prstGeom prst="roundRect">
            <a:avLst>
              <a:gd name="adj" fmla="val 10256"/>
            </a:avLst>
          </a:prstGeom>
          <a:solidFill>
            <a:srgbClr val="F4F5F6"/>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21" name="Shape 19"/>
          <p:cNvSpPr/>
          <p:nvPr/>
        </p:nvSpPr>
        <p:spPr>
          <a:xfrm>
            <a:off x="658368" y="4041648"/>
            <a:ext cx="457200" cy="457200"/>
          </a:xfrm>
          <a:prstGeom prst="ellipse">
            <a:avLst/>
          </a:prstGeom>
          <a:solidFill>
            <a:srgbClr val="86BC25"/>
          </a:solidFill>
          <a:ln/>
        </p:spPr>
      </p:sp>
      <p:sp>
        <p:nvSpPr>
          <p:cNvPr id="22" name="Text 20"/>
          <p:cNvSpPr/>
          <p:nvPr/>
        </p:nvSpPr>
        <p:spPr>
          <a:xfrm>
            <a:off x="658368" y="404164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3" name="Text 21"/>
          <p:cNvSpPr/>
          <p:nvPr/>
        </p:nvSpPr>
        <p:spPr>
          <a:xfrm>
            <a:off x="1280160" y="4032504"/>
            <a:ext cx="1645920" cy="475488"/>
          </a:xfrm>
          <a:prstGeom prst="rect">
            <a:avLst/>
          </a:prstGeom>
          <a:noFill/>
          <a:ln/>
        </p:spPr>
        <p:txBody>
          <a:bodyPr wrap="square" lIns="0" tIns="0" rIns="0" bIns="0" rtlCol="0" anchor="ctr"/>
          <a:lstStyle/>
          <a:p>
            <a:pPr indent="0" marL="0">
              <a:buNone/>
            </a:pPr>
            <a:r>
              <a:rPr lang="en-US" sz="1600" b="1" dirty="0">
                <a:solidFill>
                  <a:srgbClr val="26282A"/>
                </a:solidFill>
                <a:latin typeface="Cambria" pitchFamily="34" charset="0"/>
                <a:ea typeface="Cambria" pitchFamily="34" charset="-122"/>
                <a:cs typeface="Cambria" pitchFamily="34" charset="-120"/>
              </a:rPr>
              <a:t>Disclose</a:t>
            </a:r>
            <a:endParaRPr lang="en-US" sz="1600" dirty="0"/>
          </a:p>
        </p:txBody>
      </p:sp>
      <p:sp>
        <p:nvSpPr>
          <p:cNvPr id="24" name="Text 22"/>
          <p:cNvSpPr/>
          <p:nvPr/>
        </p:nvSpPr>
        <p:spPr>
          <a:xfrm>
            <a:off x="2926080" y="4032504"/>
            <a:ext cx="5577840" cy="475488"/>
          </a:xfrm>
          <a:prstGeom prst="rect">
            <a:avLst/>
          </a:prstGeom>
          <a:noFill/>
          <a:ln/>
        </p:spPr>
        <p:txBody>
          <a:bodyPr wrap="square" lIns="0" tIns="0" rIns="0" bIns="0" rtlCol="0" anchor="ctr"/>
          <a:lstStyle/>
          <a:p>
            <a:pPr indent="0" marL="0">
              <a:buNone/>
            </a:pPr>
            <a:r>
              <a:rPr lang="en-US" sz="1250" dirty="0">
                <a:solidFill>
                  <a:srgbClr val="44474A"/>
                </a:solidFill>
                <a:latin typeface="Calibri" pitchFamily="34" charset="0"/>
                <a:ea typeface="Calibri" pitchFamily="34" charset="-122"/>
                <a:cs typeface="Calibri" pitchFamily="34" charset="-120"/>
              </a:rPr>
              <a:t>Follow firm guidance on flagging AI-assisted work.</a:t>
            </a:r>
            <a:endParaRPr lang="en-US" sz="1250" dirty="0"/>
          </a:p>
        </p:txBody>
      </p:sp>
      <p:sp>
        <p:nvSpPr>
          <p:cNvPr id="25" name="Text 23"/>
          <p:cNvSpPr/>
          <p:nvPr/>
        </p:nvSpPr>
        <p:spPr>
          <a:xfrm>
            <a:off x="457200" y="4873752"/>
            <a:ext cx="5486400" cy="228600"/>
          </a:xfrm>
          <a:prstGeom prst="rect">
            <a:avLst/>
          </a:prstGeom>
          <a:noFill/>
          <a:ln/>
        </p:spPr>
        <p:txBody>
          <a:bodyPr wrap="square" lIns="0" tIns="0" rIns="0" bIns="0" rtlCol="0" anchor="ctr"/>
          <a:lstStyle/>
          <a:p>
            <a:pPr indent="0" marL="0">
              <a:buNone/>
            </a:pPr>
            <a:r>
              <a:rPr lang="en-US" sz="800" dirty="0">
                <a:solidFill>
                  <a:srgbClr val="7A7D81"/>
                </a:solidFill>
                <a:latin typeface="Calibri" pitchFamily="34" charset="0"/>
                <a:ea typeface="Calibri" pitchFamily="34" charset="-122"/>
                <a:cs typeface="Calibri" pitchFamily="34" charset="-120"/>
              </a:rPr>
              <a:t>Basics of AI/ML &amp; Prompt Engineering</a:t>
            </a:r>
            <a:endParaRPr lang="en-US" sz="800" dirty="0"/>
          </a:p>
        </p:txBody>
      </p:sp>
      <p:sp>
        <p:nvSpPr>
          <p:cNvPr id="26" name="Text 24"/>
          <p:cNvSpPr/>
          <p:nvPr/>
        </p:nvSpPr>
        <p:spPr>
          <a:xfrm>
            <a:off x="8321040" y="4873752"/>
            <a:ext cx="365760" cy="228600"/>
          </a:xfrm>
          <a:prstGeom prst="rect">
            <a:avLst/>
          </a:prstGeom>
          <a:noFill/>
          <a:ln/>
        </p:spPr>
        <p:txBody>
          <a:bodyPr wrap="square" lIns="0" tIns="0" rIns="0" bIns="0" rtlCol="0" anchor="ctr"/>
          <a:lstStyle/>
          <a:p>
            <a:pPr algn="r" indent="0" marL="0">
              <a:buNone/>
            </a:pPr>
            <a:r>
              <a:rPr lang="en-US" sz="800" dirty="0">
                <a:solidFill>
                  <a:srgbClr val="7A7D81"/>
                </a:solidFill>
                <a:latin typeface="Calibri" pitchFamily="34" charset="0"/>
                <a:ea typeface="Calibri" pitchFamily="34" charset="-122"/>
                <a:cs typeface="Calibri" pitchFamily="34" charset="-120"/>
              </a:rPr>
              <a:t>25</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02336"/>
            <a:ext cx="109728" cy="109728"/>
          </a:xfrm>
          <a:prstGeom prst="ellipse">
            <a:avLst/>
          </a:prstGeom>
          <a:solidFill>
            <a:srgbClr val="86BC25"/>
          </a:solidFill>
          <a:ln/>
        </p:spPr>
      </p:sp>
      <p:sp>
        <p:nvSpPr>
          <p:cNvPr id="3" name="Text 1"/>
          <p:cNvSpPr/>
          <p:nvPr/>
        </p:nvSpPr>
        <p:spPr>
          <a:xfrm>
            <a:off x="658368" y="329184"/>
            <a:ext cx="7955280" cy="256032"/>
          </a:xfrm>
          <a:prstGeom prst="rect">
            <a:avLst/>
          </a:prstGeom>
          <a:noFill/>
          <a:ln/>
        </p:spPr>
        <p:txBody>
          <a:bodyPr wrap="square" lIns="0" tIns="0" rIns="0" bIns="0" rtlCol="0" anchor="ctr"/>
          <a:lstStyle/>
          <a:p>
            <a:pPr indent="0" marL="0">
              <a:buNone/>
            </a:pPr>
            <a:r>
              <a:rPr lang="en-US" sz="1100" b="1" spc="200" kern="0" dirty="0">
                <a:solidFill>
                  <a:srgbClr val="5C8A1B"/>
                </a:solidFill>
                <a:latin typeface="Calibri" pitchFamily="34" charset="0"/>
                <a:ea typeface="Calibri" pitchFamily="34" charset="-122"/>
                <a:cs typeface="Calibri" pitchFamily="34" charset="-120"/>
              </a:rPr>
              <a:t>MODULE 6 · RESPONSIBLE AI</a:t>
            </a:r>
            <a:endParaRPr lang="en-US" sz="1100" dirty="0"/>
          </a:p>
        </p:txBody>
      </p:sp>
      <p:sp>
        <p:nvSpPr>
          <p:cNvPr id="4" name="Text 2"/>
          <p:cNvSpPr/>
          <p:nvPr/>
        </p:nvSpPr>
        <p:spPr>
          <a:xfrm>
            <a:off x="457200" y="603504"/>
            <a:ext cx="8229600" cy="640080"/>
          </a:xfrm>
          <a:prstGeom prst="rect">
            <a:avLst/>
          </a:prstGeom>
          <a:noFill/>
          <a:ln/>
        </p:spPr>
        <p:txBody>
          <a:bodyPr wrap="square" lIns="0" tIns="0" rIns="0" bIns="0" rtlCol="0" anchor="ctr"/>
          <a:lstStyle/>
          <a:p>
            <a:pPr indent="0" marL="0">
              <a:buNone/>
            </a:pPr>
            <a:r>
              <a:rPr lang="en-US" sz="2900" b="1" dirty="0">
                <a:solidFill>
                  <a:srgbClr val="26282A"/>
                </a:solidFill>
                <a:latin typeface="Cambria" pitchFamily="34" charset="0"/>
                <a:ea typeface="Cambria" pitchFamily="34" charset="-122"/>
                <a:cs typeface="Cambria" pitchFamily="34" charset="-120"/>
              </a:rPr>
              <a:t>See it, then judge it</a:t>
            </a:r>
            <a:endParaRPr lang="en-US" sz="2900" dirty="0"/>
          </a:p>
        </p:txBody>
      </p:sp>
      <p:sp>
        <p:nvSpPr>
          <p:cNvPr id="5" name="Shape 3"/>
          <p:cNvSpPr/>
          <p:nvPr/>
        </p:nvSpPr>
        <p:spPr>
          <a:xfrm>
            <a:off x="457200" y="1417320"/>
            <a:ext cx="939089" cy="292608"/>
          </a:xfrm>
          <a:prstGeom prst="roundRect">
            <a:avLst>
              <a:gd name="adj" fmla="val 50000"/>
            </a:avLst>
          </a:prstGeom>
          <a:solidFill>
            <a:srgbClr val="86BC25"/>
          </a:solidFill>
          <a:ln/>
        </p:spPr>
      </p:sp>
      <p:sp>
        <p:nvSpPr>
          <p:cNvPr id="6" name="Text 4"/>
          <p:cNvSpPr/>
          <p:nvPr/>
        </p:nvSpPr>
        <p:spPr>
          <a:xfrm>
            <a:off x="457200" y="1417320"/>
            <a:ext cx="939089" cy="292608"/>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REACTIONS</a:t>
            </a:r>
            <a:endParaRPr lang="en-US" sz="1000" dirty="0"/>
          </a:p>
        </p:txBody>
      </p:sp>
      <p:sp>
        <p:nvSpPr>
          <p:cNvPr id="7" name="Shape 5"/>
          <p:cNvSpPr/>
          <p:nvPr/>
        </p:nvSpPr>
        <p:spPr>
          <a:xfrm>
            <a:off x="457200" y="1874520"/>
            <a:ext cx="4023360" cy="2331720"/>
          </a:xfrm>
          <a:prstGeom prst="roundRect">
            <a:avLst>
              <a:gd name="adj" fmla="val 3137"/>
            </a:avLst>
          </a:prstGeom>
          <a:solidFill>
            <a:srgbClr val="F6E7E4"/>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8" name="Text 6"/>
          <p:cNvSpPr/>
          <p:nvPr/>
        </p:nvSpPr>
        <p:spPr>
          <a:xfrm>
            <a:off x="685800" y="2011680"/>
            <a:ext cx="3657600" cy="457200"/>
          </a:xfrm>
          <a:prstGeom prst="rect">
            <a:avLst/>
          </a:prstGeom>
          <a:noFill/>
          <a:ln/>
        </p:spPr>
        <p:txBody>
          <a:bodyPr wrap="square" lIns="0" tIns="0" rIns="0" bIns="0" rtlCol="0" anchor="ctr"/>
          <a:lstStyle/>
          <a:p>
            <a:pPr indent="0" marL="0">
              <a:buNone/>
            </a:pPr>
            <a:r>
              <a:rPr lang="en-US" sz="1100" b="1" spc="50" kern="0" dirty="0">
                <a:solidFill>
                  <a:srgbClr val="B23A2E"/>
                </a:solidFill>
                <a:latin typeface="Calibri" pitchFamily="34" charset="0"/>
                <a:ea typeface="Calibri" pitchFamily="34" charset="-122"/>
                <a:cs typeface="Calibri" pitchFamily="34" charset="-120"/>
              </a:rPr>
              <a:t>QUICK DEMO: THE CONFIDENT WRONG ANSWER</a:t>
            </a:r>
            <a:endParaRPr lang="en-US" sz="1100" dirty="0"/>
          </a:p>
        </p:txBody>
      </p:sp>
      <p:sp>
        <p:nvSpPr>
          <p:cNvPr id="9" name="Text 7"/>
          <p:cNvSpPr/>
          <p:nvPr/>
        </p:nvSpPr>
        <p:spPr>
          <a:xfrm>
            <a:off x="685800" y="2514600"/>
            <a:ext cx="3611880" cy="822960"/>
          </a:xfrm>
          <a:prstGeom prst="rect">
            <a:avLst/>
          </a:prstGeom>
          <a:noFill/>
          <a:ln/>
        </p:spPr>
        <p:txBody>
          <a:bodyPr wrap="square" lIns="0" tIns="0" rIns="0" bIns="0" rtlCol="0" anchor="ctr"/>
          <a:lstStyle/>
          <a:p>
            <a:pPr indent="0" marL="0">
              <a:buNone/>
            </a:pPr>
            <a:r>
              <a:rPr lang="en-US" sz="1250" dirty="0">
                <a:solidFill>
                  <a:srgbClr val="26282A"/>
                </a:solidFill>
                <a:latin typeface="Calibri" pitchFamily="34" charset="0"/>
                <a:ea typeface="Calibri" pitchFamily="34" charset="-122"/>
                <a:cs typeface="Calibri" pitchFamily="34" charset="-120"/>
              </a:rPr>
              <a:t>Ask the AI for an obscure statistic or a citation. It will often invent a convincing, wrong one.</a:t>
            </a:r>
            <a:endParaRPr lang="en-US" sz="1250" dirty="0"/>
          </a:p>
        </p:txBody>
      </p:sp>
      <p:sp>
        <p:nvSpPr>
          <p:cNvPr id="10" name="Text 8"/>
          <p:cNvSpPr/>
          <p:nvPr/>
        </p:nvSpPr>
        <p:spPr>
          <a:xfrm>
            <a:off x="685800" y="3383280"/>
            <a:ext cx="3611880" cy="731520"/>
          </a:xfrm>
          <a:prstGeom prst="rect">
            <a:avLst/>
          </a:prstGeom>
          <a:noFill/>
          <a:ln/>
        </p:spPr>
        <p:txBody>
          <a:bodyPr wrap="square" lIns="0" tIns="0" rIns="0" bIns="0" rtlCol="0" anchor="ctr"/>
          <a:lstStyle/>
          <a:p>
            <a:pPr indent="0" marL="0">
              <a:buNone/>
            </a:pPr>
            <a:r>
              <a:rPr lang="en-US" sz="1200" i="1" dirty="0">
                <a:solidFill>
                  <a:srgbClr val="44474A"/>
                </a:solidFill>
                <a:latin typeface="Calibri" pitchFamily="34" charset="0"/>
                <a:ea typeface="Calibri" pitchFamily="34" charset="-122"/>
                <a:cs typeface="Calibri" pitchFamily="34" charset="-120"/>
              </a:rPr>
              <a:t>Nothing teaches “always verify” faster than watching it happen.</a:t>
            </a:r>
            <a:endParaRPr lang="en-US" sz="1200" dirty="0"/>
          </a:p>
        </p:txBody>
      </p:sp>
      <p:sp>
        <p:nvSpPr>
          <p:cNvPr id="11" name="Shape 9"/>
          <p:cNvSpPr/>
          <p:nvPr/>
        </p:nvSpPr>
        <p:spPr>
          <a:xfrm>
            <a:off x="4663440" y="1874520"/>
            <a:ext cx="4023360" cy="2331720"/>
          </a:xfrm>
          <a:prstGeom prst="roundRect">
            <a:avLst>
              <a:gd name="adj" fmla="val 3137"/>
            </a:avLst>
          </a:prstGeom>
          <a:solidFill>
            <a:srgbClr val="F4F5F6"/>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12" name="Text 10"/>
          <p:cNvSpPr/>
          <p:nvPr/>
        </p:nvSpPr>
        <p:spPr>
          <a:xfrm>
            <a:off x="4892040" y="2011680"/>
            <a:ext cx="3657600" cy="274320"/>
          </a:xfrm>
          <a:prstGeom prst="rect">
            <a:avLst/>
          </a:prstGeom>
          <a:noFill/>
          <a:ln/>
        </p:spPr>
        <p:txBody>
          <a:bodyPr wrap="square" lIns="0" tIns="0" rIns="0" bIns="0" rtlCol="0" anchor="ctr"/>
          <a:lstStyle/>
          <a:p>
            <a:pPr indent="0" marL="0">
              <a:buNone/>
            </a:pPr>
            <a:r>
              <a:rPr lang="en-US" sz="1100" b="1" spc="50" kern="0" dirty="0">
                <a:solidFill>
                  <a:srgbClr val="5C8A1B"/>
                </a:solidFill>
                <a:latin typeface="Calibri" pitchFamily="34" charset="0"/>
                <a:ea typeface="Calibri" pitchFamily="34" charset="-122"/>
                <a:cs typeface="Calibri" pitchFamily="34" charset="-120"/>
              </a:rPr>
              <a:t>RED FLAG / GREEN FLAG  🔴🟢</a:t>
            </a:r>
            <a:endParaRPr lang="en-US" sz="1100" dirty="0"/>
          </a:p>
        </p:txBody>
      </p:sp>
      <p:sp>
        <p:nvSpPr>
          <p:cNvPr id="13" name="Text 11"/>
          <p:cNvSpPr/>
          <p:nvPr/>
        </p:nvSpPr>
        <p:spPr>
          <a:xfrm>
            <a:off x="4892040" y="2331720"/>
            <a:ext cx="3611880" cy="1783080"/>
          </a:xfrm>
          <a:prstGeom prst="rect">
            <a:avLst/>
          </a:prstGeom>
          <a:noFill/>
          <a:ln/>
        </p:spPr>
        <p:txBody>
          <a:bodyPr wrap="square" lIns="0" tIns="0" rIns="0" bIns="0" rtlCol="0" anchor="ctr"/>
          <a:lstStyle/>
          <a:p>
            <a:pPr indent="0" marL="0">
              <a:spcAft>
                <a:spcPts val="600"/>
              </a:spcAft>
              <a:buNone/>
            </a:pPr>
            <a:r>
              <a:rPr lang="en-US" sz="1150" dirty="0">
                <a:solidFill>
                  <a:srgbClr val="26282A"/>
                </a:solidFill>
                <a:latin typeface="Calibri" pitchFamily="34" charset="0"/>
                <a:ea typeface="Calibri" pitchFamily="34" charset="-122"/>
                <a:cs typeface="Calibri" pitchFamily="34" charset="-120"/>
              </a:rPr>
              <a:t>🟢  Ask AI to explain a public regulation, then verify</a:t>
            </a:r>
            <a:endParaRPr lang="en-US" sz="1150" dirty="0"/>
          </a:p>
          <a:p>
            <a:pPr indent="0" marL="0">
              <a:spcAft>
                <a:spcPts val="600"/>
              </a:spcAft>
              <a:buNone/>
            </a:pPr>
            <a:r>
              <a:rPr lang="en-US" sz="1150" dirty="0">
                <a:solidFill>
                  <a:srgbClr val="26282A"/>
                </a:solidFill>
                <a:latin typeface="Calibri" pitchFamily="34" charset="0"/>
                <a:ea typeface="Calibri" pitchFamily="34" charset="-122"/>
                <a:cs typeface="Calibri" pitchFamily="34" charset="-120"/>
              </a:rPr>
              <a:t>🔴  Paste a client's financials into a public chatbot</a:t>
            </a:r>
            <a:endParaRPr lang="en-US" sz="1150" dirty="0"/>
          </a:p>
          <a:p>
            <a:pPr indent="0" marL="0">
              <a:spcAft>
                <a:spcPts val="600"/>
              </a:spcAft>
              <a:buNone/>
            </a:pPr>
            <a:r>
              <a:rPr lang="en-US" sz="1150" dirty="0">
                <a:solidFill>
                  <a:srgbClr val="26282A"/>
                </a:solidFill>
                <a:latin typeface="Calibri" pitchFamily="34" charset="0"/>
                <a:ea typeface="Calibri" pitchFamily="34" charset="-122"/>
                <a:cs typeface="Calibri" pitchFamily="34" charset="-120"/>
              </a:rPr>
              <a:t>🔴  Send an AI memo with unchecked figures to a client</a:t>
            </a:r>
            <a:endParaRPr lang="en-US" sz="1150" dirty="0"/>
          </a:p>
          <a:p>
            <a:pPr indent="0" marL="0">
              <a:buNone/>
            </a:pPr>
            <a:r>
              <a:rPr lang="en-US" sz="1150" dirty="0">
                <a:solidFill>
                  <a:srgbClr val="26282A"/>
                </a:solidFill>
                <a:latin typeface="Calibri" pitchFamily="34" charset="0"/>
                <a:ea typeface="Calibri" pitchFamily="34" charset="-122"/>
                <a:cs typeface="Calibri" pitchFamily="34" charset="-120"/>
              </a:rPr>
              <a:t>🟢  Draft an email from your own non-confidential notes</a:t>
            </a:r>
            <a:endParaRPr lang="en-US" sz="1150" dirty="0"/>
          </a:p>
        </p:txBody>
      </p:sp>
      <p:sp>
        <p:nvSpPr>
          <p:cNvPr id="14" name="Text 12"/>
          <p:cNvSpPr/>
          <p:nvPr/>
        </p:nvSpPr>
        <p:spPr>
          <a:xfrm>
            <a:off x="457200" y="4873752"/>
            <a:ext cx="5486400" cy="228600"/>
          </a:xfrm>
          <a:prstGeom prst="rect">
            <a:avLst/>
          </a:prstGeom>
          <a:noFill/>
          <a:ln/>
        </p:spPr>
        <p:txBody>
          <a:bodyPr wrap="square" lIns="0" tIns="0" rIns="0" bIns="0" rtlCol="0" anchor="ctr"/>
          <a:lstStyle/>
          <a:p>
            <a:pPr indent="0" marL="0">
              <a:buNone/>
            </a:pPr>
            <a:r>
              <a:rPr lang="en-US" sz="800" dirty="0">
                <a:solidFill>
                  <a:srgbClr val="7A7D81"/>
                </a:solidFill>
                <a:latin typeface="Calibri" pitchFamily="34" charset="0"/>
                <a:ea typeface="Calibri" pitchFamily="34" charset="-122"/>
                <a:cs typeface="Calibri" pitchFamily="34" charset="-120"/>
              </a:rPr>
              <a:t>Basics of AI/ML &amp; Prompt Engineering</a:t>
            </a:r>
            <a:endParaRPr lang="en-US" sz="800" dirty="0"/>
          </a:p>
        </p:txBody>
      </p:sp>
      <p:sp>
        <p:nvSpPr>
          <p:cNvPr id="15" name="Text 13"/>
          <p:cNvSpPr/>
          <p:nvPr/>
        </p:nvSpPr>
        <p:spPr>
          <a:xfrm>
            <a:off x="8321040" y="4873752"/>
            <a:ext cx="365760" cy="228600"/>
          </a:xfrm>
          <a:prstGeom prst="rect">
            <a:avLst/>
          </a:prstGeom>
          <a:noFill/>
          <a:ln/>
        </p:spPr>
        <p:txBody>
          <a:bodyPr wrap="square" lIns="0" tIns="0" rIns="0" bIns="0" rtlCol="0" anchor="ctr"/>
          <a:lstStyle/>
          <a:p>
            <a:pPr algn="r" indent="0" marL="0">
              <a:buNone/>
            </a:pPr>
            <a:r>
              <a:rPr lang="en-US" sz="800" dirty="0">
                <a:solidFill>
                  <a:srgbClr val="7A7D81"/>
                </a:solidFill>
                <a:latin typeface="Calibri" pitchFamily="34" charset="0"/>
                <a:ea typeface="Calibri" pitchFamily="34" charset="-122"/>
                <a:cs typeface="Calibri" pitchFamily="34" charset="-120"/>
              </a:rPr>
              <a:t>26</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02336"/>
            <a:ext cx="109728" cy="109728"/>
          </a:xfrm>
          <a:prstGeom prst="ellipse">
            <a:avLst/>
          </a:prstGeom>
          <a:solidFill>
            <a:srgbClr val="86BC25"/>
          </a:solidFill>
          <a:ln/>
        </p:spPr>
      </p:sp>
      <p:sp>
        <p:nvSpPr>
          <p:cNvPr id="3" name="Text 1"/>
          <p:cNvSpPr/>
          <p:nvPr/>
        </p:nvSpPr>
        <p:spPr>
          <a:xfrm>
            <a:off x="658368" y="329184"/>
            <a:ext cx="7955280" cy="256032"/>
          </a:xfrm>
          <a:prstGeom prst="rect">
            <a:avLst/>
          </a:prstGeom>
          <a:noFill/>
          <a:ln/>
        </p:spPr>
        <p:txBody>
          <a:bodyPr wrap="square" lIns="0" tIns="0" rIns="0" bIns="0" rtlCol="0" anchor="ctr"/>
          <a:lstStyle/>
          <a:p>
            <a:pPr indent="0" marL="0">
              <a:buNone/>
            </a:pPr>
            <a:r>
              <a:rPr lang="en-US" sz="1100" b="1" spc="200" kern="0" dirty="0">
                <a:solidFill>
                  <a:srgbClr val="5C8A1B"/>
                </a:solidFill>
                <a:latin typeface="Calibri" pitchFamily="34" charset="0"/>
                <a:ea typeface="Calibri" pitchFamily="34" charset="-122"/>
                <a:cs typeface="Calibri" pitchFamily="34" charset="-120"/>
              </a:rPr>
              <a:t>WRAP-UP</a:t>
            </a:r>
            <a:endParaRPr lang="en-US" sz="1100" dirty="0"/>
          </a:p>
        </p:txBody>
      </p:sp>
      <p:sp>
        <p:nvSpPr>
          <p:cNvPr id="4" name="Text 2"/>
          <p:cNvSpPr/>
          <p:nvPr/>
        </p:nvSpPr>
        <p:spPr>
          <a:xfrm>
            <a:off x="457200" y="603504"/>
            <a:ext cx="8229600" cy="640080"/>
          </a:xfrm>
          <a:prstGeom prst="rect">
            <a:avLst/>
          </a:prstGeom>
          <a:noFill/>
          <a:ln/>
        </p:spPr>
        <p:txBody>
          <a:bodyPr wrap="square" lIns="0" tIns="0" rIns="0" bIns="0" rtlCol="0" anchor="ctr"/>
          <a:lstStyle/>
          <a:p>
            <a:pPr indent="0" marL="0">
              <a:buNone/>
            </a:pPr>
            <a:r>
              <a:rPr lang="en-US" sz="2900" b="1" dirty="0">
                <a:solidFill>
                  <a:srgbClr val="26282A"/>
                </a:solidFill>
                <a:latin typeface="Cambria" pitchFamily="34" charset="0"/>
                <a:ea typeface="Cambria" pitchFamily="34" charset="-122"/>
                <a:cs typeface="Cambria" pitchFamily="34" charset="-120"/>
              </a:rPr>
              <a:t>Key takeaways — your cheat sheet</a:t>
            </a:r>
            <a:endParaRPr lang="en-US" sz="2900" dirty="0"/>
          </a:p>
        </p:txBody>
      </p:sp>
      <p:sp>
        <p:nvSpPr>
          <p:cNvPr id="5" name="Shape 3"/>
          <p:cNvSpPr/>
          <p:nvPr/>
        </p:nvSpPr>
        <p:spPr>
          <a:xfrm>
            <a:off x="457200" y="1508760"/>
            <a:ext cx="8229600" cy="685800"/>
          </a:xfrm>
          <a:prstGeom prst="roundRect">
            <a:avLst>
              <a:gd name="adj" fmla="val 10667"/>
            </a:avLst>
          </a:prstGeom>
          <a:solidFill>
            <a:srgbClr val="F4F5F6"/>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6" name="Text 4"/>
          <p:cNvSpPr/>
          <p:nvPr/>
        </p:nvSpPr>
        <p:spPr>
          <a:xfrm>
            <a:off x="685800" y="1618488"/>
            <a:ext cx="2011680" cy="475488"/>
          </a:xfrm>
          <a:prstGeom prst="rect">
            <a:avLst/>
          </a:prstGeom>
          <a:noFill/>
          <a:ln/>
        </p:spPr>
        <p:txBody>
          <a:bodyPr wrap="square" lIns="0" tIns="0" rIns="0" bIns="0" rtlCol="0" anchor="ctr"/>
          <a:lstStyle/>
          <a:p>
            <a:pPr indent="0" marL="0">
              <a:buNone/>
            </a:pPr>
            <a:r>
              <a:rPr lang="en-US" sz="1400" b="1" dirty="0">
                <a:solidFill>
                  <a:srgbClr val="5C8A1B"/>
                </a:solidFill>
                <a:latin typeface="Cambria" pitchFamily="34" charset="0"/>
                <a:ea typeface="Cambria" pitchFamily="34" charset="-122"/>
                <a:cs typeface="Cambria" pitchFamily="34" charset="-120"/>
              </a:rPr>
              <a:t>The big picture</a:t>
            </a:r>
            <a:endParaRPr lang="en-US" sz="1400" dirty="0"/>
          </a:p>
        </p:txBody>
      </p:sp>
      <p:sp>
        <p:nvSpPr>
          <p:cNvPr id="7" name="Text 5"/>
          <p:cNvSpPr/>
          <p:nvPr/>
        </p:nvSpPr>
        <p:spPr>
          <a:xfrm>
            <a:off x="2743200" y="1618488"/>
            <a:ext cx="5760720" cy="475488"/>
          </a:xfrm>
          <a:prstGeom prst="rect">
            <a:avLst/>
          </a:prstGeom>
          <a:noFill/>
          <a:ln/>
        </p:spPr>
        <p:txBody>
          <a:bodyPr wrap="square" lIns="0" tIns="0" rIns="0" bIns="0" rtlCol="0" anchor="ctr"/>
          <a:lstStyle/>
          <a:p>
            <a:pPr indent="0" marL="0">
              <a:buNone/>
            </a:pPr>
            <a:r>
              <a:rPr lang="en-US" sz="1250" dirty="0">
                <a:solidFill>
                  <a:srgbClr val="26282A"/>
                </a:solidFill>
                <a:latin typeface="Calibri" pitchFamily="34" charset="0"/>
                <a:ea typeface="Calibri" pitchFamily="34" charset="-122"/>
                <a:cs typeface="Calibri" pitchFamily="34" charset="-120"/>
              </a:rPr>
              <a:t>AI ⊃ ML ⊃ Deep Learning ⊃ GenAI. LLMs = super-autocomplete that predicts the next word.</a:t>
            </a:r>
            <a:endParaRPr lang="en-US" sz="1250" dirty="0"/>
          </a:p>
        </p:txBody>
      </p:sp>
      <p:sp>
        <p:nvSpPr>
          <p:cNvPr id="8" name="Shape 6"/>
          <p:cNvSpPr/>
          <p:nvPr/>
        </p:nvSpPr>
        <p:spPr>
          <a:xfrm>
            <a:off x="457200" y="2258568"/>
            <a:ext cx="8229600" cy="685800"/>
          </a:xfrm>
          <a:prstGeom prst="roundRect">
            <a:avLst>
              <a:gd name="adj" fmla="val 10667"/>
            </a:avLst>
          </a:prstGeom>
          <a:solidFill>
            <a:srgbClr val="F4F5F6"/>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9" name="Text 7"/>
          <p:cNvSpPr/>
          <p:nvPr/>
        </p:nvSpPr>
        <p:spPr>
          <a:xfrm>
            <a:off x="685800" y="2368296"/>
            <a:ext cx="2011680" cy="475488"/>
          </a:xfrm>
          <a:prstGeom prst="rect">
            <a:avLst/>
          </a:prstGeom>
          <a:noFill/>
          <a:ln/>
        </p:spPr>
        <p:txBody>
          <a:bodyPr wrap="square" lIns="0" tIns="0" rIns="0" bIns="0" rtlCol="0" anchor="ctr"/>
          <a:lstStyle/>
          <a:p>
            <a:pPr indent="0" marL="0">
              <a:buNone/>
            </a:pPr>
            <a:r>
              <a:rPr lang="en-US" sz="1400" b="1" dirty="0">
                <a:solidFill>
                  <a:srgbClr val="5C8A1B"/>
                </a:solidFill>
                <a:latin typeface="Cambria" pitchFamily="34" charset="0"/>
                <a:ea typeface="Cambria" pitchFamily="34" charset="-122"/>
                <a:cs typeface="Cambria" pitchFamily="34" charset="-120"/>
              </a:rPr>
              <a:t>Prompting</a:t>
            </a:r>
            <a:endParaRPr lang="en-US" sz="1400" dirty="0"/>
          </a:p>
        </p:txBody>
      </p:sp>
      <p:sp>
        <p:nvSpPr>
          <p:cNvPr id="10" name="Text 8"/>
          <p:cNvSpPr/>
          <p:nvPr/>
        </p:nvSpPr>
        <p:spPr>
          <a:xfrm>
            <a:off x="2743200" y="2368296"/>
            <a:ext cx="5760720" cy="475488"/>
          </a:xfrm>
          <a:prstGeom prst="rect">
            <a:avLst/>
          </a:prstGeom>
          <a:noFill/>
          <a:ln/>
        </p:spPr>
        <p:txBody>
          <a:bodyPr wrap="square" lIns="0" tIns="0" rIns="0" bIns="0" rtlCol="0" anchor="ctr"/>
          <a:lstStyle/>
          <a:p>
            <a:pPr indent="0" marL="0">
              <a:buNone/>
            </a:pPr>
            <a:r>
              <a:rPr lang="en-US" sz="1250" dirty="0">
                <a:solidFill>
                  <a:srgbClr val="26282A"/>
                </a:solidFill>
                <a:latin typeface="Calibri" pitchFamily="34" charset="0"/>
                <a:ea typeface="Calibri" pitchFamily="34" charset="-122"/>
                <a:cs typeface="Calibri" pitchFamily="34" charset="-120"/>
              </a:rPr>
              <a:t>Structure it: TAG (quick) · RACE (expert) · RTCROS (thorough). Add examples, ask it to reason, and iterate.</a:t>
            </a:r>
            <a:endParaRPr lang="en-US" sz="1250" dirty="0"/>
          </a:p>
        </p:txBody>
      </p:sp>
      <p:sp>
        <p:nvSpPr>
          <p:cNvPr id="11" name="Shape 9"/>
          <p:cNvSpPr/>
          <p:nvPr/>
        </p:nvSpPr>
        <p:spPr>
          <a:xfrm>
            <a:off x="457200" y="3008376"/>
            <a:ext cx="8229600" cy="685800"/>
          </a:xfrm>
          <a:prstGeom prst="roundRect">
            <a:avLst>
              <a:gd name="adj" fmla="val 10667"/>
            </a:avLst>
          </a:prstGeom>
          <a:solidFill>
            <a:srgbClr val="F4F5F6"/>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12" name="Text 10"/>
          <p:cNvSpPr/>
          <p:nvPr/>
        </p:nvSpPr>
        <p:spPr>
          <a:xfrm>
            <a:off x="685800" y="3118104"/>
            <a:ext cx="2011680" cy="475488"/>
          </a:xfrm>
          <a:prstGeom prst="rect">
            <a:avLst/>
          </a:prstGeom>
          <a:noFill/>
          <a:ln/>
        </p:spPr>
        <p:txBody>
          <a:bodyPr wrap="square" lIns="0" tIns="0" rIns="0" bIns="0" rtlCol="0" anchor="ctr"/>
          <a:lstStyle/>
          <a:p>
            <a:pPr indent="0" marL="0">
              <a:buNone/>
            </a:pPr>
            <a:r>
              <a:rPr lang="en-US" sz="1400" b="1" dirty="0">
                <a:solidFill>
                  <a:srgbClr val="5C8A1B"/>
                </a:solidFill>
                <a:latin typeface="Cambria" pitchFamily="34" charset="0"/>
                <a:ea typeface="Cambria" pitchFamily="34" charset="-122"/>
                <a:cs typeface="Cambria" pitchFamily="34" charset="-120"/>
              </a:rPr>
              <a:t>At work</a:t>
            </a:r>
            <a:endParaRPr lang="en-US" sz="1400" dirty="0"/>
          </a:p>
        </p:txBody>
      </p:sp>
      <p:sp>
        <p:nvSpPr>
          <p:cNvPr id="13" name="Text 11"/>
          <p:cNvSpPr/>
          <p:nvPr/>
        </p:nvSpPr>
        <p:spPr>
          <a:xfrm>
            <a:off x="2743200" y="3118104"/>
            <a:ext cx="5760720" cy="475488"/>
          </a:xfrm>
          <a:prstGeom prst="rect">
            <a:avLst/>
          </a:prstGeom>
          <a:noFill/>
          <a:ln/>
        </p:spPr>
        <p:txBody>
          <a:bodyPr wrap="square" lIns="0" tIns="0" rIns="0" bIns="0" rtlCol="0" anchor="ctr"/>
          <a:lstStyle/>
          <a:p>
            <a:pPr indent="0" marL="0">
              <a:buNone/>
            </a:pPr>
            <a:r>
              <a:rPr lang="en-US" sz="1250" dirty="0">
                <a:solidFill>
                  <a:srgbClr val="26282A"/>
                </a:solidFill>
                <a:latin typeface="Calibri" pitchFamily="34" charset="0"/>
                <a:ea typeface="Calibri" pitchFamily="34" charset="-122"/>
                <a:cs typeface="Calibri" pitchFamily="34" charset="-120"/>
              </a:rPr>
              <a:t>AI drafts. You decide. You're accountable.</a:t>
            </a:r>
            <a:endParaRPr lang="en-US" sz="1250" dirty="0"/>
          </a:p>
        </p:txBody>
      </p:sp>
      <p:sp>
        <p:nvSpPr>
          <p:cNvPr id="14" name="Shape 12"/>
          <p:cNvSpPr/>
          <p:nvPr/>
        </p:nvSpPr>
        <p:spPr>
          <a:xfrm>
            <a:off x="457200" y="3758184"/>
            <a:ext cx="8229600" cy="685800"/>
          </a:xfrm>
          <a:prstGeom prst="roundRect">
            <a:avLst>
              <a:gd name="adj" fmla="val 10667"/>
            </a:avLst>
          </a:prstGeom>
          <a:solidFill>
            <a:srgbClr val="EDF4DF"/>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15" name="Text 13"/>
          <p:cNvSpPr/>
          <p:nvPr/>
        </p:nvSpPr>
        <p:spPr>
          <a:xfrm>
            <a:off x="685800" y="3867912"/>
            <a:ext cx="2011680" cy="475488"/>
          </a:xfrm>
          <a:prstGeom prst="rect">
            <a:avLst/>
          </a:prstGeom>
          <a:noFill/>
          <a:ln/>
        </p:spPr>
        <p:txBody>
          <a:bodyPr wrap="square" lIns="0" tIns="0" rIns="0" bIns="0" rtlCol="0" anchor="ctr"/>
          <a:lstStyle/>
          <a:p>
            <a:pPr indent="0" marL="0">
              <a:buNone/>
            </a:pPr>
            <a:r>
              <a:rPr lang="en-US" sz="1400" b="1" dirty="0">
                <a:solidFill>
                  <a:srgbClr val="5C8A1B"/>
                </a:solidFill>
                <a:latin typeface="Cambria" pitchFamily="34" charset="0"/>
                <a:ea typeface="Cambria" pitchFamily="34" charset="-122"/>
                <a:cs typeface="Cambria" pitchFamily="34" charset="-120"/>
              </a:rPr>
              <a:t>The 4 rules</a:t>
            </a:r>
            <a:endParaRPr lang="en-US" sz="1400" dirty="0"/>
          </a:p>
        </p:txBody>
      </p:sp>
      <p:sp>
        <p:nvSpPr>
          <p:cNvPr id="16" name="Text 14"/>
          <p:cNvSpPr/>
          <p:nvPr/>
        </p:nvSpPr>
        <p:spPr>
          <a:xfrm>
            <a:off x="2743200" y="3867912"/>
            <a:ext cx="5760720" cy="475488"/>
          </a:xfrm>
          <a:prstGeom prst="rect">
            <a:avLst/>
          </a:prstGeom>
          <a:noFill/>
          <a:ln/>
        </p:spPr>
        <p:txBody>
          <a:bodyPr wrap="square" lIns="0" tIns="0" rIns="0" bIns="0" rtlCol="0" anchor="ctr"/>
          <a:lstStyle/>
          <a:p>
            <a:pPr indent="0" marL="0">
              <a:buNone/>
            </a:pPr>
            <a:r>
              <a:rPr lang="en-US" sz="1250" dirty="0">
                <a:solidFill>
                  <a:srgbClr val="26282A"/>
                </a:solidFill>
                <a:latin typeface="Calibri" pitchFamily="34" charset="0"/>
                <a:ea typeface="Calibri" pitchFamily="34" charset="-122"/>
                <a:cs typeface="Calibri" pitchFamily="34" charset="-120"/>
              </a:rPr>
              <a:t>Verify · Protect · Own · Disclose.</a:t>
            </a:r>
            <a:endParaRPr lang="en-US" sz="1250" dirty="0"/>
          </a:p>
        </p:txBody>
      </p:sp>
      <p:sp>
        <p:nvSpPr>
          <p:cNvPr id="17" name="Text 15"/>
          <p:cNvSpPr/>
          <p:nvPr/>
        </p:nvSpPr>
        <p:spPr>
          <a:xfrm>
            <a:off x="457200" y="4873752"/>
            <a:ext cx="5486400" cy="228600"/>
          </a:xfrm>
          <a:prstGeom prst="rect">
            <a:avLst/>
          </a:prstGeom>
          <a:noFill/>
          <a:ln/>
        </p:spPr>
        <p:txBody>
          <a:bodyPr wrap="square" lIns="0" tIns="0" rIns="0" bIns="0" rtlCol="0" anchor="ctr"/>
          <a:lstStyle/>
          <a:p>
            <a:pPr indent="0" marL="0">
              <a:buNone/>
            </a:pPr>
            <a:r>
              <a:rPr lang="en-US" sz="800" dirty="0">
                <a:solidFill>
                  <a:srgbClr val="7A7D81"/>
                </a:solidFill>
                <a:latin typeface="Calibri" pitchFamily="34" charset="0"/>
                <a:ea typeface="Calibri" pitchFamily="34" charset="-122"/>
                <a:cs typeface="Calibri" pitchFamily="34" charset="-120"/>
              </a:rPr>
              <a:t>Basics of AI/ML &amp; Prompt Engineering</a:t>
            </a:r>
            <a:endParaRPr lang="en-US" sz="800" dirty="0"/>
          </a:p>
        </p:txBody>
      </p:sp>
      <p:sp>
        <p:nvSpPr>
          <p:cNvPr id="18" name="Text 16"/>
          <p:cNvSpPr/>
          <p:nvPr/>
        </p:nvSpPr>
        <p:spPr>
          <a:xfrm>
            <a:off x="8321040" y="4873752"/>
            <a:ext cx="365760" cy="228600"/>
          </a:xfrm>
          <a:prstGeom prst="rect">
            <a:avLst/>
          </a:prstGeom>
          <a:noFill/>
          <a:ln/>
        </p:spPr>
        <p:txBody>
          <a:bodyPr wrap="square" lIns="0" tIns="0" rIns="0" bIns="0" rtlCol="0" anchor="ctr"/>
          <a:lstStyle/>
          <a:p>
            <a:pPr algn="r" indent="0" marL="0">
              <a:buNone/>
            </a:pPr>
            <a:r>
              <a:rPr lang="en-US" sz="800" dirty="0">
                <a:solidFill>
                  <a:srgbClr val="7A7D81"/>
                </a:solidFill>
                <a:latin typeface="Calibri" pitchFamily="34" charset="0"/>
                <a:ea typeface="Calibri" pitchFamily="34" charset="-122"/>
                <a:cs typeface="Calibri" pitchFamily="34" charset="-120"/>
              </a:rPr>
              <a:t>27</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02336"/>
            <a:ext cx="109728" cy="109728"/>
          </a:xfrm>
          <a:prstGeom prst="ellipse">
            <a:avLst/>
          </a:prstGeom>
          <a:solidFill>
            <a:srgbClr val="86BC25"/>
          </a:solidFill>
          <a:ln/>
        </p:spPr>
      </p:sp>
      <p:sp>
        <p:nvSpPr>
          <p:cNvPr id="3" name="Text 1"/>
          <p:cNvSpPr/>
          <p:nvPr/>
        </p:nvSpPr>
        <p:spPr>
          <a:xfrm>
            <a:off x="658368" y="329184"/>
            <a:ext cx="7955280" cy="256032"/>
          </a:xfrm>
          <a:prstGeom prst="rect">
            <a:avLst/>
          </a:prstGeom>
          <a:noFill/>
          <a:ln/>
        </p:spPr>
        <p:txBody>
          <a:bodyPr wrap="square" lIns="0" tIns="0" rIns="0" bIns="0" rtlCol="0" anchor="ctr"/>
          <a:lstStyle/>
          <a:p>
            <a:pPr indent="0" marL="0">
              <a:buNone/>
            </a:pPr>
            <a:r>
              <a:rPr lang="en-US" sz="1100" b="1" spc="200" kern="0" dirty="0">
                <a:solidFill>
                  <a:srgbClr val="5C8A1B"/>
                </a:solidFill>
                <a:latin typeface="Calibri" pitchFamily="34" charset="0"/>
                <a:ea typeface="Calibri" pitchFamily="34" charset="-122"/>
                <a:cs typeface="Calibri" pitchFamily="34" charset="-120"/>
              </a:rPr>
              <a:t>WRAP-UP</a:t>
            </a:r>
            <a:endParaRPr lang="en-US" sz="1100" dirty="0"/>
          </a:p>
        </p:txBody>
      </p:sp>
      <p:sp>
        <p:nvSpPr>
          <p:cNvPr id="4" name="Text 2"/>
          <p:cNvSpPr/>
          <p:nvPr/>
        </p:nvSpPr>
        <p:spPr>
          <a:xfrm>
            <a:off x="457200" y="603504"/>
            <a:ext cx="8229600" cy="640080"/>
          </a:xfrm>
          <a:prstGeom prst="rect">
            <a:avLst/>
          </a:prstGeom>
          <a:noFill/>
          <a:ln/>
        </p:spPr>
        <p:txBody>
          <a:bodyPr wrap="square" lIns="0" tIns="0" rIns="0" bIns="0" rtlCol="0" anchor="ctr"/>
          <a:lstStyle/>
          <a:p>
            <a:pPr indent="0" marL="0">
              <a:buNone/>
            </a:pPr>
            <a:r>
              <a:rPr lang="en-US" sz="2900" b="1" dirty="0">
                <a:solidFill>
                  <a:srgbClr val="26282A"/>
                </a:solidFill>
                <a:latin typeface="Cambria" pitchFamily="34" charset="0"/>
                <a:ea typeface="Cambria" pitchFamily="34" charset="-122"/>
                <a:cs typeface="Cambria" pitchFamily="34" charset="-120"/>
              </a:rPr>
              <a:t>Rapid quiz</a:t>
            </a:r>
            <a:endParaRPr lang="en-US" sz="2900" dirty="0"/>
          </a:p>
        </p:txBody>
      </p:sp>
      <p:sp>
        <p:nvSpPr>
          <p:cNvPr id="5" name="Shape 3"/>
          <p:cNvSpPr/>
          <p:nvPr/>
        </p:nvSpPr>
        <p:spPr>
          <a:xfrm>
            <a:off x="457200" y="1417320"/>
            <a:ext cx="1622146" cy="292608"/>
          </a:xfrm>
          <a:prstGeom prst="roundRect">
            <a:avLst>
              <a:gd name="adj" fmla="val 50000"/>
            </a:avLst>
          </a:prstGeom>
          <a:solidFill>
            <a:srgbClr val="86BC25"/>
          </a:solidFill>
          <a:ln/>
        </p:spPr>
      </p:sp>
      <p:sp>
        <p:nvSpPr>
          <p:cNvPr id="6" name="Text 4"/>
          <p:cNvSpPr/>
          <p:nvPr/>
        </p:nvSpPr>
        <p:spPr>
          <a:xfrm>
            <a:off x="457200" y="1417320"/>
            <a:ext cx="1622146" cy="292608"/>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QUIZ · LEADERBOARD</a:t>
            </a:r>
            <a:endParaRPr lang="en-US" sz="1000" dirty="0"/>
          </a:p>
        </p:txBody>
      </p:sp>
      <p:sp>
        <p:nvSpPr>
          <p:cNvPr id="7" name="Shape 5"/>
          <p:cNvSpPr/>
          <p:nvPr/>
        </p:nvSpPr>
        <p:spPr>
          <a:xfrm>
            <a:off x="457200" y="1920240"/>
            <a:ext cx="8229600" cy="2194560"/>
          </a:xfrm>
          <a:prstGeom prst="roundRect">
            <a:avLst>
              <a:gd name="adj" fmla="val 3333"/>
            </a:avLst>
          </a:prstGeom>
          <a:solidFill>
            <a:srgbClr val="F4F5F6"/>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8" name="Text 6"/>
          <p:cNvSpPr/>
          <p:nvPr/>
        </p:nvSpPr>
        <p:spPr>
          <a:xfrm>
            <a:off x="685800" y="2057400"/>
            <a:ext cx="3657600" cy="274320"/>
          </a:xfrm>
          <a:prstGeom prst="rect">
            <a:avLst/>
          </a:prstGeom>
          <a:noFill/>
          <a:ln/>
        </p:spPr>
        <p:txBody>
          <a:bodyPr wrap="square" lIns="0" tIns="0" rIns="0" bIns="0" rtlCol="0" anchor="ctr"/>
          <a:lstStyle/>
          <a:p>
            <a:pPr indent="0" marL="0">
              <a:buNone/>
            </a:pPr>
            <a:r>
              <a:rPr lang="en-US" sz="1100" b="1" spc="100" kern="0" dirty="0">
                <a:solidFill>
                  <a:srgbClr val="5C8A1B"/>
                </a:solidFill>
                <a:latin typeface="Calibri" pitchFamily="34" charset="0"/>
                <a:ea typeface="Calibri" pitchFamily="34" charset="-122"/>
                <a:cs typeface="Calibri" pitchFamily="34" charset="-120"/>
              </a:rPr>
              <a:t>Sample questions</a:t>
            </a:r>
            <a:endParaRPr lang="en-US" sz="1100" dirty="0"/>
          </a:p>
        </p:txBody>
      </p:sp>
      <p:sp>
        <p:nvSpPr>
          <p:cNvPr id="9" name="Text 7"/>
          <p:cNvSpPr/>
          <p:nvPr/>
        </p:nvSpPr>
        <p:spPr>
          <a:xfrm>
            <a:off x="685800" y="2377440"/>
            <a:ext cx="7772400" cy="1645920"/>
          </a:xfrm>
          <a:prstGeom prst="rect">
            <a:avLst/>
          </a:prstGeom>
          <a:noFill/>
          <a:ln/>
        </p:spPr>
        <p:txBody>
          <a:bodyPr wrap="square" lIns="0" tIns="0" rIns="0" bIns="0" rtlCol="0" anchor="ctr"/>
          <a:lstStyle/>
          <a:p>
            <a:pPr indent="0" marL="0">
              <a:spcAft>
                <a:spcPts val="900"/>
              </a:spcAft>
              <a:buNone/>
            </a:pPr>
            <a:r>
              <a:rPr lang="en-US" sz="1300" dirty="0">
                <a:solidFill>
                  <a:srgbClr val="26282A"/>
                </a:solidFill>
                <a:latin typeface="Calibri" pitchFamily="34" charset="0"/>
                <a:ea typeface="Calibri" pitchFamily="34" charset="-122"/>
                <a:cs typeface="Calibri" pitchFamily="34" charset="-120"/>
              </a:rPr>
              <a:t>1.  Which is the broadest term — ML, Deep Learning, AI, or GenAI?</a:t>
            </a:r>
            <a:endParaRPr lang="en-US" sz="1300" dirty="0"/>
          </a:p>
          <a:p>
            <a:pPr indent="0" marL="0">
              <a:spcAft>
                <a:spcPts val="900"/>
              </a:spcAft>
              <a:buNone/>
            </a:pPr>
            <a:r>
              <a:rPr lang="en-US" sz="1300" dirty="0">
                <a:solidFill>
                  <a:srgbClr val="26282A"/>
                </a:solidFill>
                <a:latin typeface="Calibri" pitchFamily="34" charset="0"/>
                <a:ea typeface="Calibri" pitchFamily="34" charset="-122"/>
                <a:cs typeface="Calibri" pitchFamily="34" charset="-120"/>
              </a:rPr>
              <a:t>2.  An LLM mainly works by… (searching / next-word prediction / a database)</a:t>
            </a:r>
            <a:endParaRPr lang="en-US" sz="1300" dirty="0"/>
          </a:p>
          <a:p>
            <a:pPr indent="0" marL="0">
              <a:spcAft>
                <a:spcPts val="900"/>
              </a:spcAft>
              <a:buNone/>
            </a:pPr>
            <a:r>
              <a:rPr lang="en-US" sz="1300" dirty="0">
                <a:solidFill>
                  <a:srgbClr val="26282A"/>
                </a:solidFill>
                <a:latin typeface="Calibri" pitchFamily="34" charset="0"/>
                <a:ea typeface="Calibri" pitchFamily="34" charset="-122"/>
                <a:cs typeface="Calibri" pitchFamily="34" charset="-120"/>
              </a:rPr>
              <a:t>3.  A confident but false AI answer is called a…</a:t>
            </a:r>
            <a:endParaRPr lang="en-US" sz="1300" dirty="0"/>
          </a:p>
          <a:p>
            <a:pPr indent="0" marL="0">
              <a:buNone/>
            </a:pPr>
            <a:r>
              <a:rPr lang="en-US" sz="1300" dirty="0">
                <a:solidFill>
                  <a:srgbClr val="26282A"/>
                </a:solidFill>
                <a:latin typeface="Calibri" pitchFamily="34" charset="0"/>
                <a:ea typeface="Calibri" pitchFamily="34" charset="-122"/>
                <a:cs typeface="Calibri" pitchFamily="34" charset="-120"/>
              </a:rPr>
              <a:t>4.  Who is accountable for AI-assisted work you submit?</a:t>
            </a:r>
            <a:endParaRPr lang="en-US" sz="1300" dirty="0"/>
          </a:p>
        </p:txBody>
      </p:sp>
      <p:sp>
        <p:nvSpPr>
          <p:cNvPr id="10" name="Text 8"/>
          <p:cNvSpPr/>
          <p:nvPr/>
        </p:nvSpPr>
        <p:spPr>
          <a:xfrm>
            <a:off x="457200" y="4251960"/>
            <a:ext cx="8229600" cy="274320"/>
          </a:xfrm>
          <a:prstGeom prst="rect">
            <a:avLst/>
          </a:prstGeom>
          <a:noFill/>
          <a:ln/>
        </p:spPr>
        <p:txBody>
          <a:bodyPr wrap="square" lIns="0" tIns="0" rIns="0" bIns="0" rtlCol="0" anchor="ctr"/>
          <a:lstStyle/>
          <a:p>
            <a:pPr indent="0" marL="0">
              <a:buNone/>
            </a:pPr>
            <a:r>
              <a:rPr lang="en-US" sz="1100" i="1" dirty="0">
                <a:solidFill>
                  <a:srgbClr val="7A7D81"/>
                </a:solidFill>
                <a:latin typeface="Calibri" pitchFamily="34" charset="0"/>
                <a:ea typeface="Calibri" pitchFamily="34" charset="-122"/>
                <a:cs typeface="Calibri" pitchFamily="34" charset="-120"/>
              </a:rPr>
              <a:t>Run as a live quiz with a leaderboard.  (Answers: AI  ·  next-word prediction  ·  hallucination  ·  you.)</a:t>
            </a:r>
            <a:endParaRPr lang="en-US" sz="1100" dirty="0"/>
          </a:p>
        </p:txBody>
      </p:sp>
      <p:sp>
        <p:nvSpPr>
          <p:cNvPr id="11" name="Text 9"/>
          <p:cNvSpPr/>
          <p:nvPr/>
        </p:nvSpPr>
        <p:spPr>
          <a:xfrm>
            <a:off x="457200" y="4873752"/>
            <a:ext cx="5486400" cy="228600"/>
          </a:xfrm>
          <a:prstGeom prst="rect">
            <a:avLst/>
          </a:prstGeom>
          <a:noFill/>
          <a:ln/>
        </p:spPr>
        <p:txBody>
          <a:bodyPr wrap="square" lIns="0" tIns="0" rIns="0" bIns="0" rtlCol="0" anchor="ctr"/>
          <a:lstStyle/>
          <a:p>
            <a:pPr indent="0" marL="0">
              <a:buNone/>
            </a:pPr>
            <a:r>
              <a:rPr lang="en-US" sz="800" dirty="0">
                <a:solidFill>
                  <a:srgbClr val="7A7D81"/>
                </a:solidFill>
                <a:latin typeface="Calibri" pitchFamily="34" charset="0"/>
                <a:ea typeface="Calibri" pitchFamily="34" charset="-122"/>
                <a:cs typeface="Calibri" pitchFamily="34" charset="-120"/>
              </a:rPr>
              <a:t>Basics of AI/ML &amp; Prompt Engineering</a:t>
            </a:r>
            <a:endParaRPr lang="en-US" sz="800" dirty="0"/>
          </a:p>
        </p:txBody>
      </p:sp>
      <p:sp>
        <p:nvSpPr>
          <p:cNvPr id="12" name="Text 10"/>
          <p:cNvSpPr/>
          <p:nvPr/>
        </p:nvSpPr>
        <p:spPr>
          <a:xfrm>
            <a:off x="8321040" y="4873752"/>
            <a:ext cx="365760" cy="228600"/>
          </a:xfrm>
          <a:prstGeom prst="rect">
            <a:avLst/>
          </a:prstGeom>
          <a:noFill/>
          <a:ln/>
        </p:spPr>
        <p:txBody>
          <a:bodyPr wrap="square" lIns="0" tIns="0" rIns="0" bIns="0" rtlCol="0" anchor="ctr"/>
          <a:lstStyle/>
          <a:p>
            <a:pPr algn="r" indent="0" marL="0">
              <a:buNone/>
            </a:pPr>
            <a:r>
              <a:rPr lang="en-US" sz="800" dirty="0">
                <a:solidFill>
                  <a:srgbClr val="7A7D81"/>
                </a:solidFill>
                <a:latin typeface="Calibri" pitchFamily="34" charset="0"/>
                <a:ea typeface="Calibri" pitchFamily="34" charset="-122"/>
                <a:cs typeface="Calibri" pitchFamily="34" charset="-120"/>
              </a:rPr>
              <a:t>28</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02336"/>
            <a:ext cx="109728" cy="109728"/>
          </a:xfrm>
          <a:prstGeom prst="ellipse">
            <a:avLst/>
          </a:prstGeom>
          <a:solidFill>
            <a:srgbClr val="86BC25"/>
          </a:solidFill>
          <a:ln/>
        </p:spPr>
      </p:sp>
      <p:sp>
        <p:nvSpPr>
          <p:cNvPr id="3" name="Text 1"/>
          <p:cNvSpPr/>
          <p:nvPr/>
        </p:nvSpPr>
        <p:spPr>
          <a:xfrm>
            <a:off x="658368" y="329184"/>
            <a:ext cx="7955280" cy="256032"/>
          </a:xfrm>
          <a:prstGeom prst="rect">
            <a:avLst/>
          </a:prstGeom>
          <a:noFill/>
          <a:ln/>
        </p:spPr>
        <p:txBody>
          <a:bodyPr wrap="square" lIns="0" tIns="0" rIns="0" bIns="0" rtlCol="0" anchor="ctr"/>
          <a:lstStyle/>
          <a:p>
            <a:pPr indent="0" marL="0">
              <a:buNone/>
            </a:pPr>
            <a:r>
              <a:rPr lang="en-US" sz="1100" b="1" spc="200" kern="0" dirty="0">
                <a:solidFill>
                  <a:srgbClr val="5C8A1B"/>
                </a:solidFill>
                <a:latin typeface="Calibri" pitchFamily="34" charset="0"/>
                <a:ea typeface="Calibri" pitchFamily="34" charset="-122"/>
                <a:cs typeface="Calibri" pitchFamily="34" charset="-120"/>
              </a:rPr>
              <a:t>WRAP-UP</a:t>
            </a:r>
            <a:endParaRPr lang="en-US" sz="1100" dirty="0"/>
          </a:p>
        </p:txBody>
      </p:sp>
      <p:sp>
        <p:nvSpPr>
          <p:cNvPr id="4" name="Text 2"/>
          <p:cNvSpPr/>
          <p:nvPr/>
        </p:nvSpPr>
        <p:spPr>
          <a:xfrm>
            <a:off x="457200" y="603504"/>
            <a:ext cx="8229600" cy="640080"/>
          </a:xfrm>
          <a:prstGeom prst="rect">
            <a:avLst/>
          </a:prstGeom>
          <a:noFill/>
          <a:ln/>
        </p:spPr>
        <p:txBody>
          <a:bodyPr wrap="square" lIns="0" tIns="0" rIns="0" bIns="0" rtlCol="0" anchor="ctr"/>
          <a:lstStyle/>
          <a:p>
            <a:pPr indent="0" marL="0">
              <a:buNone/>
            </a:pPr>
            <a:r>
              <a:rPr lang="en-US" sz="2900" b="1" dirty="0">
                <a:solidFill>
                  <a:srgbClr val="26282A"/>
                </a:solidFill>
                <a:latin typeface="Cambria" pitchFamily="34" charset="0"/>
                <a:ea typeface="Cambria" pitchFamily="34" charset="-122"/>
                <a:cs typeface="Cambria" pitchFamily="34" charset="-120"/>
              </a:rPr>
              <a:t>Where to go next</a:t>
            </a:r>
            <a:endParaRPr lang="en-US" sz="2900" dirty="0"/>
          </a:p>
        </p:txBody>
      </p:sp>
      <p:sp>
        <p:nvSpPr>
          <p:cNvPr id="5" name="Shape 3"/>
          <p:cNvSpPr/>
          <p:nvPr/>
        </p:nvSpPr>
        <p:spPr>
          <a:xfrm>
            <a:off x="457200" y="1508760"/>
            <a:ext cx="4023360" cy="1143000"/>
          </a:xfrm>
          <a:prstGeom prst="roundRect">
            <a:avLst>
              <a:gd name="adj" fmla="val 6400"/>
            </a:avLst>
          </a:prstGeom>
          <a:solidFill>
            <a:srgbClr val="F4F5F6"/>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6" name="Text 4"/>
          <p:cNvSpPr/>
          <p:nvPr/>
        </p:nvSpPr>
        <p:spPr>
          <a:xfrm>
            <a:off x="658368" y="1645920"/>
            <a:ext cx="3657600" cy="292608"/>
          </a:xfrm>
          <a:prstGeom prst="rect">
            <a:avLst/>
          </a:prstGeom>
          <a:noFill/>
          <a:ln/>
        </p:spPr>
        <p:txBody>
          <a:bodyPr wrap="square" lIns="0" tIns="0" rIns="0" bIns="0" rtlCol="0" anchor="ctr"/>
          <a:lstStyle/>
          <a:p>
            <a:pPr indent="0" marL="0">
              <a:buNone/>
            </a:pPr>
            <a:r>
              <a:rPr lang="en-US" sz="1350" b="1" dirty="0">
                <a:solidFill>
                  <a:srgbClr val="5C8A1B"/>
                </a:solidFill>
                <a:latin typeface="Calibri" pitchFamily="34" charset="0"/>
                <a:ea typeface="Calibri" pitchFamily="34" charset="-122"/>
                <a:cs typeface="Calibri" pitchFamily="34" charset="-120"/>
              </a:rPr>
              <a:t>Approved AI tools</a:t>
            </a:r>
            <a:endParaRPr lang="en-US" sz="1350" dirty="0"/>
          </a:p>
        </p:txBody>
      </p:sp>
      <p:sp>
        <p:nvSpPr>
          <p:cNvPr id="7" name="Text 5"/>
          <p:cNvSpPr/>
          <p:nvPr/>
        </p:nvSpPr>
        <p:spPr>
          <a:xfrm>
            <a:off x="658368" y="1965960"/>
            <a:ext cx="3657600" cy="594360"/>
          </a:xfrm>
          <a:prstGeom prst="rect">
            <a:avLst/>
          </a:prstGeom>
          <a:noFill/>
          <a:ln/>
        </p:spPr>
        <p:txBody>
          <a:bodyPr wrap="square" lIns="0" tIns="0" rIns="0" bIns="0" rtlCol="0" anchor="ctr"/>
          <a:lstStyle/>
          <a:p>
            <a:pPr indent="0" marL="0">
              <a:buNone/>
            </a:pPr>
            <a:r>
              <a:rPr lang="en-US" sz="1150" dirty="0">
                <a:solidFill>
                  <a:srgbClr val="44474A"/>
                </a:solidFill>
                <a:latin typeface="Calibri" pitchFamily="34" charset="0"/>
                <a:ea typeface="Calibri" pitchFamily="34" charset="-122"/>
                <a:cs typeface="Calibri" pitchFamily="34" charset="-120"/>
              </a:rPr>
              <a:t>Use only firm-sanctioned tools — links &amp; access in your onboarding portal.</a:t>
            </a:r>
            <a:endParaRPr lang="en-US" sz="1150" dirty="0"/>
          </a:p>
        </p:txBody>
      </p:sp>
      <p:sp>
        <p:nvSpPr>
          <p:cNvPr id="8" name="Shape 6"/>
          <p:cNvSpPr/>
          <p:nvPr/>
        </p:nvSpPr>
        <p:spPr>
          <a:xfrm>
            <a:off x="4663440" y="1508760"/>
            <a:ext cx="4023360" cy="1143000"/>
          </a:xfrm>
          <a:prstGeom prst="roundRect">
            <a:avLst>
              <a:gd name="adj" fmla="val 6400"/>
            </a:avLst>
          </a:prstGeom>
          <a:solidFill>
            <a:srgbClr val="F4F5F6"/>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9" name="Text 7"/>
          <p:cNvSpPr/>
          <p:nvPr/>
        </p:nvSpPr>
        <p:spPr>
          <a:xfrm>
            <a:off x="4864608" y="1645920"/>
            <a:ext cx="3657600" cy="292608"/>
          </a:xfrm>
          <a:prstGeom prst="rect">
            <a:avLst/>
          </a:prstGeom>
          <a:noFill/>
          <a:ln/>
        </p:spPr>
        <p:txBody>
          <a:bodyPr wrap="square" lIns="0" tIns="0" rIns="0" bIns="0" rtlCol="0" anchor="ctr"/>
          <a:lstStyle/>
          <a:p>
            <a:pPr indent="0" marL="0">
              <a:buNone/>
            </a:pPr>
            <a:r>
              <a:rPr lang="en-US" sz="1350" b="1" dirty="0">
                <a:solidFill>
                  <a:srgbClr val="5C8A1B"/>
                </a:solidFill>
                <a:latin typeface="Calibri" pitchFamily="34" charset="0"/>
                <a:ea typeface="Calibri" pitchFamily="34" charset="-122"/>
                <a:cs typeface="Calibri" pitchFamily="34" charset="-120"/>
              </a:rPr>
              <a:t>GenAI usage policy</a:t>
            </a:r>
            <a:endParaRPr lang="en-US" sz="1350" dirty="0"/>
          </a:p>
        </p:txBody>
      </p:sp>
      <p:sp>
        <p:nvSpPr>
          <p:cNvPr id="10" name="Text 8"/>
          <p:cNvSpPr/>
          <p:nvPr/>
        </p:nvSpPr>
        <p:spPr>
          <a:xfrm>
            <a:off x="4864608" y="1965960"/>
            <a:ext cx="3657600" cy="594360"/>
          </a:xfrm>
          <a:prstGeom prst="rect">
            <a:avLst/>
          </a:prstGeom>
          <a:noFill/>
          <a:ln/>
        </p:spPr>
        <p:txBody>
          <a:bodyPr wrap="square" lIns="0" tIns="0" rIns="0" bIns="0" rtlCol="0" anchor="ctr"/>
          <a:lstStyle/>
          <a:p>
            <a:pPr indent="0" marL="0">
              <a:buNone/>
            </a:pPr>
            <a:r>
              <a:rPr lang="en-US" sz="1150" dirty="0">
                <a:solidFill>
                  <a:srgbClr val="44474A"/>
                </a:solidFill>
                <a:latin typeface="Calibri" pitchFamily="34" charset="0"/>
                <a:ea typeface="Calibri" pitchFamily="34" charset="-122"/>
                <a:cs typeface="Calibri" pitchFamily="34" charset="-120"/>
              </a:rPr>
              <a:t>Read the internal Trustworthy AI / GenAI policy before using AI on real work.</a:t>
            </a:r>
            <a:endParaRPr lang="en-US" sz="1150" dirty="0"/>
          </a:p>
        </p:txBody>
      </p:sp>
      <p:sp>
        <p:nvSpPr>
          <p:cNvPr id="11" name="Shape 9"/>
          <p:cNvSpPr/>
          <p:nvPr/>
        </p:nvSpPr>
        <p:spPr>
          <a:xfrm>
            <a:off x="457200" y="2834640"/>
            <a:ext cx="4023360" cy="1143000"/>
          </a:xfrm>
          <a:prstGeom prst="roundRect">
            <a:avLst>
              <a:gd name="adj" fmla="val 6400"/>
            </a:avLst>
          </a:prstGeom>
          <a:solidFill>
            <a:srgbClr val="F4F5F6"/>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12" name="Text 10"/>
          <p:cNvSpPr/>
          <p:nvPr/>
        </p:nvSpPr>
        <p:spPr>
          <a:xfrm>
            <a:off x="658368" y="2971800"/>
            <a:ext cx="3657600" cy="292608"/>
          </a:xfrm>
          <a:prstGeom prst="rect">
            <a:avLst/>
          </a:prstGeom>
          <a:noFill/>
          <a:ln/>
        </p:spPr>
        <p:txBody>
          <a:bodyPr wrap="square" lIns="0" tIns="0" rIns="0" bIns="0" rtlCol="0" anchor="ctr"/>
          <a:lstStyle/>
          <a:p>
            <a:pPr indent="0" marL="0">
              <a:buNone/>
            </a:pPr>
            <a:r>
              <a:rPr lang="en-US" sz="1350" b="1" dirty="0">
                <a:solidFill>
                  <a:srgbClr val="5C8A1B"/>
                </a:solidFill>
                <a:latin typeface="Calibri" pitchFamily="34" charset="0"/>
                <a:ea typeface="Calibri" pitchFamily="34" charset="-122"/>
                <a:cs typeface="Calibri" pitchFamily="34" charset="-120"/>
              </a:rPr>
              <a:t>Prompt library</a:t>
            </a:r>
            <a:endParaRPr lang="en-US" sz="1350" dirty="0"/>
          </a:p>
        </p:txBody>
      </p:sp>
      <p:sp>
        <p:nvSpPr>
          <p:cNvPr id="13" name="Text 11"/>
          <p:cNvSpPr/>
          <p:nvPr/>
        </p:nvSpPr>
        <p:spPr>
          <a:xfrm>
            <a:off x="658368" y="3291840"/>
            <a:ext cx="3657600" cy="594360"/>
          </a:xfrm>
          <a:prstGeom prst="rect">
            <a:avLst/>
          </a:prstGeom>
          <a:noFill/>
          <a:ln/>
        </p:spPr>
        <p:txBody>
          <a:bodyPr wrap="square" lIns="0" tIns="0" rIns="0" bIns="0" rtlCol="0" anchor="ctr"/>
          <a:lstStyle/>
          <a:p>
            <a:pPr indent="0" marL="0">
              <a:buNone/>
            </a:pPr>
            <a:r>
              <a:rPr lang="en-US" sz="1150" dirty="0">
                <a:solidFill>
                  <a:srgbClr val="44474A"/>
                </a:solidFill>
                <a:latin typeface="Calibri" pitchFamily="34" charset="0"/>
                <a:ea typeface="Calibri" pitchFamily="34" charset="-122"/>
                <a:cs typeface="Calibri" pitchFamily="34" charset="-120"/>
              </a:rPr>
              <a:t>Reuse and adapt tested prompts for common tasks.</a:t>
            </a:r>
            <a:endParaRPr lang="en-US" sz="1150" dirty="0"/>
          </a:p>
        </p:txBody>
      </p:sp>
      <p:sp>
        <p:nvSpPr>
          <p:cNvPr id="14" name="Shape 12"/>
          <p:cNvSpPr/>
          <p:nvPr/>
        </p:nvSpPr>
        <p:spPr>
          <a:xfrm>
            <a:off x="4663440" y="2834640"/>
            <a:ext cx="4023360" cy="1143000"/>
          </a:xfrm>
          <a:prstGeom prst="roundRect">
            <a:avLst>
              <a:gd name="adj" fmla="val 6400"/>
            </a:avLst>
          </a:prstGeom>
          <a:solidFill>
            <a:srgbClr val="F4F5F6"/>
          </a:solidFill>
          <a:ln w="9525">
            <a:solidFill>
              <a:srgbClr val="DADDE0"/>
            </a:solidFill>
            <a:prstDash val="solid"/>
          </a:ln>
          <a:effectLst>
            <a:outerShdw sx="100000" sy="100000" kx="0" ky="0" algn="bl" rotWithShape="0" blurRad="88900" dist="25400" dir="5400000">
              <a:srgbClr val="000000">
                <a:alpha val="10000"/>
              </a:srgbClr>
            </a:outerShdw>
          </a:effectLst>
        </p:spPr>
      </p:sp>
      <p:sp>
        <p:nvSpPr>
          <p:cNvPr id="15" name="Text 13"/>
          <p:cNvSpPr/>
          <p:nvPr/>
        </p:nvSpPr>
        <p:spPr>
          <a:xfrm>
            <a:off x="4864608" y="2971800"/>
            <a:ext cx="3657600" cy="292608"/>
          </a:xfrm>
          <a:prstGeom prst="rect">
            <a:avLst/>
          </a:prstGeom>
          <a:noFill/>
          <a:ln/>
        </p:spPr>
        <p:txBody>
          <a:bodyPr wrap="square" lIns="0" tIns="0" rIns="0" bIns="0" rtlCol="0" anchor="ctr"/>
          <a:lstStyle/>
          <a:p>
            <a:pPr indent="0" marL="0">
              <a:buNone/>
            </a:pPr>
            <a:r>
              <a:rPr lang="en-US" sz="1350" b="1" dirty="0">
                <a:solidFill>
                  <a:srgbClr val="5C8A1B"/>
                </a:solidFill>
                <a:latin typeface="Calibri" pitchFamily="34" charset="0"/>
                <a:ea typeface="Calibri" pitchFamily="34" charset="-122"/>
                <a:cs typeface="Calibri" pitchFamily="34" charset="-120"/>
              </a:rPr>
              <a:t>Who to ask</a:t>
            </a:r>
            <a:endParaRPr lang="en-US" sz="1350" dirty="0"/>
          </a:p>
        </p:txBody>
      </p:sp>
      <p:sp>
        <p:nvSpPr>
          <p:cNvPr id="16" name="Text 14"/>
          <p:cNvSpPr/>
          <p:nvPr/>
        </p:nvSpPr>
        <p:spPr>
          <a:xfrm>
            <a:off x="4864608" y="3291840"/>
            <a:ext cx="3657600" cy="594360"/>
          </a:xfrm>
          <a:prstGeom prst="rect">
            <a:avLst/>
          </a:prstGeom>
          <a:noFill/>
          <a:ln/>
        </p:spPr>
        <p:txBody>
          <a:bodyPr wrap="square" lIns="0" tIns="0" rIns="0" bIns="0" rtlCol="0" anchor="ctr"/>
          <a:lstStyle/>
          <a:p>
            <a:pPr indent="0" marL="0">
              <a:buNone/>
            </a:pPr>
            <a:r>
              <a:rPr lang="en-US" sz="1150" dirty="0">
                <a:solidFill>
                  <a:srgbClr val="44474A"/>
                </a:solidFill>
                <a:latin typeface="Calibri" pitchFamily="34" charset="0"/>
                <a:ea typeface="Calibri" pitchFamily="34" charset="-122"/>
                <a:cs typeface="Calibri" pitchFamily="34" charset="-120"/>
              </a:rPr>
              <a:t>Escalate AI or data-security questions to your team lead / the stated contact.</a:t>
            </a:r>
            <a:endParaRPr lang="en-US" sz="1150" dirty="0"/>
          </a:p>
        </p:txBody>
      </p:sp>
      <p:sp>
        <p:nvSpPr>
          <p:cNvPr id="17" name="Text 15"/>
          <p:cNvSpPr/>
          <p:nvPr/>
        </p:nvSpPr>
        <p:spPr>
          <a:xfrm>
            <a:off x="457200" y="4873752"/>
            <a:ext cx="5486400" cy="228600"/>
          </a:xfrm>
          <a:prstGeom prst="rect">
            <a:avLst/>
          </a:prstGeom>
          <a:noFill/>
          <a:ln/>
        </p:spPr>
        <p:txBody>
          <a:bodyPr wrap="square" lIns="0" tIns="0" rIns="0" bIns="0" rtlCol="0" anchor="ctr"/>
          <a:lstStyle/>
          <a:p>
            <a:pPr indent="0" marL="0">
              <a:buNone/>
            </a:pPr>
            <a:r>
              <a:rPr lang="en-US" sz="800" dirty="0">
                <a:solidFill>
                  <a:srgbClr val="7A7D81"/>
                </a:solidFill>
                <a:latin typeface="Calibri" pitchFamily="34" charset="0"/>
                <a:ea typeface="Calibri" pitchFamily="34" charset="-122"/>
                <a:cs typeface="Calibri" pitchFamily="34" charset="-120"/>
              </a:rPr>
              <a:t>Basics of AI/ML &amp; Prompt Engineering</a:t>
            </a:r>
            <a:endParaRPr lang="en-US" sz="800" dirty="0"/>
          </a:p>
        </p:txBody>
      </p:sp>
      <p:sp>
        <p:nvSpPr>
          <p:cNvPr id="18" name="Text 16"/>
          <p:cNvSpPr/>
          <p:nvPr/>
        </p:nvSpPr>
        <p:spPr>
          <a:xfrm>
            <a:off x="8321040" y="4873752"/>
            <a:ext cx="365760" cy="228600"/>
          </a:xfrm>
          <a:prstGeom prst="rect">
            <a:avLst/>
          </a:prstGeom>
          <a:noFill/>
          <a:ln/>
        </p:spPr>
        <p:txBody>
          <a:bodyPr wrap="square" lIns="0" tIns="0" rIns="0" bIns="0" rtlCol="0" anchor="ctr"/>
          <a:lstStyle/>
          <a:p>
            <a:pPr algn="r" indent="0" marL="0">
              <a:buNone/>
            </a:pPr>
            <a:r>
              <a:rPr lang="en-US" sz="800" dirty="0">
                <a:solidFill>
                  <a:srgbClr val="7A7D81"/>
                </a:solidFill>
                <a:latin typeface="Calibri" pitchFamily="34" charset="0"/>
                <a:ea typeface="Calibri" pitchFamily="34" charset="-122"/>
                <a:cs typeface="Calibri" pitchFamily="34" charset="-120"/>
              </a:rPr>
              <a:t>29</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26282A"/>
        </a:solidFill>
      </p:bgPr>
    </p:bg>
    <p:spTree>
      <p:nvGrpSpPr>
        <p:cNvPr id="1" name=""/>
        <p:cNvGrpSpPr/>
        <p:nvPr/>
      </p:nvGrpSpPr>
      <p:grpSpPr>
        <a:xfrm>
          <a:off x="0" y="0"/>
          <a:ext cx="0" cy="0"/>
          <a:chOff x="0" y="0"/>
          <a:chExt cx="0" cy="0"/>
        </a:xfrm>
      </p:grpSpPr>
      <p:sp>
        <p:nvSpPr>
          <p:cNvPr id="2" name="Shape 0"/>
          <p:cNvSpPr/>
          <p:nvPr/>
        </p:nvSpPr>
        <p:spPr>
          <a:xfrm>
            <a:off x="822960" y="1737360"/>
            <a:ext cx="146304" cy="146304"/>
          </a:xfrm>
          <a:prstGeom prst="ellipse">
            <a:avLst/>
          </a:prstGeom>
          <a:solidFill>
            <a:srgbClr val="86BC25"/>
          </a:solidFill>
          <a:ln/>
        </p:spPr>
      </p:sp>
      <p:sp>
        <p:nvSpPr>
          <p:cNvPr id="3" name="Text 1"/>
          <p:cNvSpPr/>
          <p:nvPr/>
        </p:nvSpPr>
        <p:spPr>
          <a:xfrm>
            <a:off x="1051560" y="1691640"/>
            <a:ext cx="7315200" cy="274320"/>
          </a:xfrm>
          <a:prstGeom prst="rect">
            <a:avLst/>
          </a:prstGeom>
          <a:noFill/>
          <a:ln/>
        </p:spPr>
        <p:txBody>
          <a:bodyPr wrap="square" lIns="0" tIns="0" rIns="0" bIns="0" rtlCol="0" anchor="ctr"/>
          <a:lstStyle/>
          <a:p>
            <a:pPr indent="0" marL="0">
              <a:buNone/>
            </a:pPr>
            <a:r>
              <a:rPr lang="en-US" sz="1300" b="1" spc="300" kern="0" dirty="0">
                <a:solidFill>
                  <a:srgbClr val="86BC25"/>
                </a:solidFill>
                <a:latin typeface="Calibri" pitchFamily="34" charset="0"/>
                <a:ea typeface="Calibri" pitchFamily="34" charset="-122"/>
                <a:cs typeface="Calibri" pitchFamily="34" charset="-120"/>
              </a:rPr>
              <a:t>THANK YOU</a:t>
            </a:r>
            <a:endParaRPr lang="en-US" sz="1300" dirty="0"/>
          </a:p>
        </p:txBody>
      </p:sp>
      <p:sp>
        <p:nvSpPr>
          <p:cNvPr id="4" name="Text 2"/>
          <p:cNvSpPr/>
          <p:nvPr/>
        </p:nvSpPr>
        <p:spPr>
          <a:xfrm>
            <a:off x="777240" y="2057400"/>
            <a:ext cx="7772400" cy="100584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Questions?</a:t>
            </a:r>
            <a:endParaRPr lang="en-US" sz="4600" dirty="0"/>
          </a:p>
        </p:txBody>
      </p:sp>
      <p:sp>
        <p:nvSpPr>
          <p:cNvPr id="5" name="Text 3"/>
          <p:cNvSpPr/>
          <p:nvPr/>
        </p:nvSpPr>
        <p:spPr>
          <a:xfrm>
            <a:off x="822960" y="3200400"/>
            <a:ext cx="7498080" cy="457200"/>
          </a:xfrm>
          <a:prstGeom prst="rect">
            <a:avLst/>
          </a:prstGeom>
          <a:noFill/>
          <a:ln/>
        </p:spPr>
        <p:txBody>
          <a:bodyPr wrap="square" lIns="0" tIns="0" rIns="0" bIns="0" rtlCol="0" anchor="ctr"/>
          <a:lstStyle/>
          <a:p>
            <a:pPr indent="0" marL="0">
              <a:buNone/>
            </a:pPr>
            <a:r>
              <a:rPr lang="en-US" sz="1500" dirty="0">
                <a:solidFill>
                  <a:srgbClr val="C9CCD0"/>
                </a:solidFill>
                <a:latin typeface="Calibri" pitchFamily="34" charset="0"/>
                <a:ea typeface="Calibri" pitchFamily="34" charset="-122"/>
                <a:cs typeface="Calibri" pitchFamily="34" charset="-120"/>
              </a:rPr>
              <a:t>You don't need to be an AI expert — just a confident, responsible user. You're there.</a:t>
            </a:r>
            <a:endParaRPr lang="en-US" sz="1500" dirty="0"/>
          </a:p>
        </p:txBody>
      </p:sp>
      <p:sp>
        <p:nvSpPr>
          <p:cNvPr id="6" name="Text 4"/>
          <p:cNvSpPr/>
          <p:nvPr/>
        </p:nvSpPr>
        <p:spPr>
          <a:xfrm>
            <a:off x="822960" y="3977640"/>
            <a:ext cx="7772400" cy="320040"/>
          </a:xfrm>
          <a:prstGeom prst="rect">
            <a:avLst/>
          </a:prstGeom>
          <a:noFill/>
          <a:ln/>
        </p:spPr>
        <p:txBody>
          <a:bodyPr wrap="square" lIns="0" tIns="0" rIns="0" bIns="0" rtlCol="0" anchor="ctr"/>
          <a:lstStyle/>
          <a:p>
            <a:pPr indent="0" marL="0">
              <a:buNone/>
            </a:pPr>
            <a:r>
              <a:rPr lang="en-US" sz="1200" b="1" dirty="0">
                <a:solidFill>
                  <a:srgbClr val="86BC25"/>
                </a:solidFill>
                <a:latin typeface="Calibri" pitchFamily="34" charset="0"/>
                <a:ea typeface="Calibri" pitchFamily="34" charset="-122"/>
                <a:cs typeface="Calibri" pitchFamily="34" charset="-120"/>
              </a:rPr>
              <a:t>Drop final questions in the chat  ·  cheat sheet &amp; resources shared after the session.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Basics of AI/ML &amp; Prompt Engineering</dc:title>
  <dc:subject>PptxGenJS Presentation</dc:subject>
  <dc:creator>L&amp;D</dc:creator>
  <cp:lastModifiedBy>L&amp;D</cp:lastModifiedBy>
  <cp:revision>1</cp:revision>
  <dcterms:created xsi:type="dcterms:W3CDTF">2026-07-01T11:19:50Z</dcterms:created>
  <dcterms:modified xsi:type="dcterms:W3CDTF">2026-07-01T11:19:50Z</dcterms:modified>
</cp:coreProperties>
</file>